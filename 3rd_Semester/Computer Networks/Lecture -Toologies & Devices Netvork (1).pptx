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7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C687F-8B5E-4812-859F-A6ED2EB9021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AAB15-A055-46E1-A646-A87295469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787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23166-A136-41C7-A385-589B8B10359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BE497-D7C1-4905-8CD8-0A296DE4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044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0844" y="3264462"/>
            <a:ext cx="8137271" cy="19009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134995" y="3430615"/>
            <a:ext cx="5922009" cy="1734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E7D45-88CE-405E-A383-4190A798AA37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BCD07-4E2B-4981-867D-489236501E09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01071-066A-4815-94DC-6F8F5A541906}" type="datetime1">
              <a:rPr lang="en-US" smtClean="0"/>
              <a:t>9/8/2025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BC75D-0A6B-4C7D-A14F-11E087F67406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943EC-5A36-47BF-BCC6-294C6B98BC01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68499" y="609676"/>
            <a:ext cx="725500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9661"/>
            <a:ext cx="10335260" cy="4374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82005" y="6464985"/>
            <a:ext cx="14255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04987-AC5D-4779-804F-EC0326CC2D8A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557" y="6464985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1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6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xfrm>
            <a:off x="381000" y="1981200"/>
            <a:ext cx="9677400" cy="1908637"/>
          </a:xfrm>
          <a:prstGeom prst="rect">
            <a:avLst/>
          </a:prstGeom>
        </p:spPr>
        <p:txBody>
          <a:bodyPr vert="horz" wrap="square" lIns="0" tIns="289978" rIns="0" bIns="0" rtlCol="0">
            <a:spAutoFit/>
          </a:bodyPr>
          <a:lstStyle/>
          <a:p>
            <a:pPr marL="2223770" algn="ctr">
              <a:lnSpc>
                <a:spcPct val="100000"/>
              </a:lnSpc>
              <a:spcBef>
                <a:spcPts val="975"/>
              </a:spcBef>
            </a:pPr>
            <a:r>
              <a:rPr sz="6000" dirty="0">
                <a:latin typeface="Calibri Light"/>
                <a:cs typeface="Calibri Light"/>
              </a:rPr>
              <a:t>Computer</a:t>
            </a:r>
            <a:r>
              <a:rPr sz="6000" spc="-70" dirty="0">
                <a:latin typeface="Calibri Light"/>
                <a:cs typeface="Calibri Light"/>
              </a:rPr>
              <a:t> </a:t>
            </a:r>
            <a:r>
              <a:rPr sz="6000" spc="-10" dirty="0">
                <a:latin typeface="Calibri Light"/>
                <a:cs typeface="Calibri Light"/>
              </a:rPr>
              <a:t>Network</a:t>
            </a:r>
            <a:endParaRPr sz="6000" dirty="0">
              <a:latin typeface="Calibri Light"/>
              <a:cs typeface="Calibri Light"/>
            </a:endParaRPr>
          </a:p>
          <a:p>
            <a:pPr marL="2223770" algn="ctr">
              <a:lnSpc>
                <a:spcPct val="100000"/>
              </a:lnSpc>
              <a:spcBef>
                <a:spcPts val="580"/>
              </a:spcBef>
            </a:pPr>
            <a:r>
              <a:rPr sz="4000" spc="-25" dirty="0">
                <a:solidFill>
                  <a:srgbClr val="888888"/>
                </a:solidFill>
              </a:rPr>
              <a:t>Transmission</a:t>
            </a:r>
            <a:r>
              <a:rPr sz="4000" spc="-135" dirty="0">
                <a:solidFill>
                  <a:srgbClr val="888888"/>
                </a:solidFill>
              </a:rPr>
              <a:t> </a:t>
            </a:r>
            <a:r>
              <a:rPr sz="4000" spc="-10" dirty="0" smtClean="0">
                <a:solidFill>
                  <a:srgbClr val="888888"/>
                </a:solidFill>
              </a:rPr>
              <a:t>Modes</a:t>
            </a:r>
            <a:r>
              <a:rPr lang="en-US" sz="4000" spc="-10" dirty="0" smtClean="0">
                <a:solidFill>
                  <a:srgbClr val="888888"/>
                </a:solidFill>
              </a:rPr>
              <a:t> /Topologies</a:t>
            </a:r>
            <a:endParaRPr sz="4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4995" y="3541598"/>
            <a:ext cx="591121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Computer</a:t>
            </a:r>
            <a:r>
              <a:rPr sz="6000" spc="-60" dirty="0"/>
              <a:t> </a:t>
            </a:r>
            <a:r>
              <a:rPr sz="6000" spc="-20" dirty="0"/>
              <a:t>Network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31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5061" y="609676"/>
            <a:ext cx="4340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Computer</a:t>
            </a:r>
            <a:r>
              <a:rPr spc="-65" dirty="0"/>
              <a:t> </a:t>
            </a:r>
            <a:r>
              <a:rPr spc="-15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546"/>
            <a:ext cx="10287635" cy="420497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Network:</a:t>
            </a:r>
            <a:r>
              <a:rPr sz="2800" b="1" spc="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group </a:t>
            </a: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system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interconnected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people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things.</a:t>
            </a:r>
            <a:endParaRPr sz="2800">
              <a:latin typeface="Times New Roman"/>
              <a:cs typeface="Times New Roman"/>
            </a:endParaRPr>
          </a:p>
          <a:p>
            <a:pPr marL="241300" marR="615315" indent="-228600">
              <a:lnSpc>
                <a:spcPts val="269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Computer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Network:</a:t>
            </a:r>
            <a:r>
              <a:rPr sz="2800" b="1" spc="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term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refers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two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linked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together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able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exchange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information.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computer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network</a:t>
            </a:r>
            <a:r>
              <a:rPr sz="2800" b="1" spc="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connected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computers.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Computers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nodes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69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connection </a:t>
            </a:r>
            <a:r>
              <a:rPr sz="2800" spc="-5" dirty="0">
                <a:latin typeface="Times New Roman"/>
                <a:cs typeface="Times New Roman"/>
              </a:rPr>
              <a:t>between computers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done </a:t>
            </a:r>
            <a:r>
              <a:rPr sz="2800" spc="-5" dirty="0">
                <a:latin typeface="Times New Roman"/>
                <a:cs typeface="Times New Roman"/>
              </a:rPr>
              <a:t>via cabling (wired),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most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commonly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Ethernet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cable,</a:t>
            </a:r>
            <a:r>
              <a:rPr sz="2800" dirty="0">
                <a:latin typeface="Times New Roman"/>
                <a:cs typeface="Times New Roman"/>
              </a:rPr>
              <a:t> or </a:t>
            </a:r>
            <a:r>
              <a:rPr sz="2800" spc="-5" dirty="0">
                <a:latin typeface="Times New Roman"/>
                <a:cs typeface="Times New Roman"/>
              </a:rPr>
              <a:t>wirelessly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radio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waves.</a:t>
            </a:r>
            <a:endParaRPr sz="2800">
              <a:latin typeface="Times New Roman"/>
              <a:cs typeface="Times New Roman"/>
            </a:endParaRPr>
          </a:p>
          <a:p>
            <a:pPr marL="241300" marR="228600" indent="-228600">
              <a:lnSpc>
                <a:spcPct val="8000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Connected computers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share </a:t>
            </a:r>
            <a:r>
              <a:rPr sz="2800" spc="-5" dirty="0">
                <a:latin typeface="Times New Roman"/>
                <a:cs typeface="Times New Roman"/>
              </a:rPr>
              <a:t>resources,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like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the </a:t>
            </a:r>
            <a:r>
              <a:rPr sz="2800" spc="-5" dirty="0">
                <a:latin typeface="Times New Roman"/>
                <a:cs typeface="Times New Roman"/>
              </a:rPr>
              <a:t>Internet,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printers,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file servers, and</a:t>
            </a:r>
            <a:r>
              <a:rPr sz="2800" dirty="0">
                <a:latin typeface="Times New Roman"/>
                <a:cs typeface="Times New Roman"/>
              </a:rPr>
              <a:t> others.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53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3746" y="609676"/>
            <a:ext cx="40627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Uses</a:t>
            </a:r>
            <a:r>
              <a:rPr spc="-5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Computer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509"/>
            <a:ext cx="9832975" cy="194563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Resource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Sharing: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Printer,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Communication</a:t>
            </a:r>
            <a:r>
              <a:rPr sz="2800" b="1" spc="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Medium: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People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communicate easily (email,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Facebook,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twitter etc.)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5" dirty="0">
                <a:latin typeface="Times New Roman"/>
                <a:cs typeface="Times New Roman"/>
              </a:rPr>
              <a:t>ecommerce: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Online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business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8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434" y="609676"/>
            <a:ext cx="5245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Advantages</a:t>
            </a:r>
            <a:r>
              <a:rPr spc="-6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5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8758"/>
            <a:ext cx="9154795" cy="446849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Speed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Accuracy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Stores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huge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amount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Online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trading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Online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education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|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Distance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Learning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/>
                <a:cs typeface="Times New Roman"/>
              </a:rPr>
              <a:t>Research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/>
                <a:cs typeface="Times New Roman"/>
              </a:rPr>
              <a:t>Forecasting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weather,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predicting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earthquakes,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volcano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eruptions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Produce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Employment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Internet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Business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2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2616" y="3541598"/>
            <a:ext cx="53543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65" dirty="0"/>
              <a:t>Types</a:t>
            </a:r>
            <a:r>
              <a:rPr sz="6000" spc="-40" dirty="0"/>
              <a:t> </a:t>
            </a:r>
            <a:r>
              <a:rPr sz="6000" spc="-5" dirty="0"/>
              <a:t>of</a:t>
            </a:r>
            <a:r>
              <a:rPr sz="6000" spc="-45" dirty="0"/>
              <a:t> </a:t>
            </a:r>
            <a:r>
              <a:rPr sz="6000" spc="-20" dirty="0"/>
              <a:t>Network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5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7753" y="609676"/>
            <a:ext cx="39344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5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3857"/>
            <a:ext cx="10350500" cy="47123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473075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several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different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networks. </a:t>
            </a:r>
            <a:r>
              <a:rPr sz="2800" spc="-5" dirty="0">
                <a:latin typeface="Times New Roman"/>
                <a:cs typeface="Times New Roman"/>
              </a:rPr>
              <a:t>Computer </a:t>
            </a:r>
            <a:r>
              <a:rPr sz="2800" dirty="0">
                <a:latin typeface="Times New Roman"/>
                <a:cs typeface="Times New Roman"/>
              </a:rPr>
              <a:t> networks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 characterized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their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size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well as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their </a:t>
            </a:r>
            <a:r>
              <a:rPr sz="2800" dirty="0">
                <a:latin typeface="Times New Roman"/>
                <a:cs typeface="Times New Roman"/>
              </a:rPr>
              <a:t>purpose.</a:t>
            </a:r>
            <a:endParaRPr sz="2800">
              <a:latin typeface="Times New Roman"/>
              <a:cs typeface="Times New Roman"/>
            </a:endParaRPr>
          </a:p>
          <a:p>
            <a:pPr marL="241300" marR="512445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size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expressed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geographic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area they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occupy</a:t>
            </a:r>
            <a:r>
              <a:rPr sz="2800" spc="-5" dirty="0">
                <a:latin typeface="Times New Roman"/>
                <a:cs typeface="Times New Roman"/>
              </a:rPr>
              <a:t> 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number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part</a:t>
            </a:r>
            <a:r>
              <a:rPr sz="2800" dirty="0">
                <a:latin typeface="Times New Roman"/>
                <a:cs typeface="Times New Roman"/>
              </a:rPr>
              <a:t> of 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Networks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cover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anything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5" dirty="0">
                <a:latin typeface="Times New Roman"/>
                <a:cs typeface="Times New Roman"/>
              </a:rPr>
              <a:t> 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handful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devices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within a</a:t>
            </a:r>
            <a:r>
              <a:rPr sz="2800" dirty="0">
                <a:latin typeface="Times New Roman"/>
                <a:cs typeface="Times New Roman"/>
              </a:rPr>
              <a:t> single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millions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devices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spread across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entire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globe.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Some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different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size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are:</a:t>
            </a:r>
            <a:endParaRPr sz="28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Times New Roman"/>
                <a:cs typeface="Times New Roman"/>
              </a:rPr>
              <a:t>Personal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PAN</a:t>
            </a:r>
            <a:endParaRPr sz="24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dirty="0">
                <a:latin typeface="Times New Roman"/>
                <a:cs typeface="Times New Roman"/>
              </a:rPr>
              <a:t>Local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LAN</a:t>
            </a:r>
            <a:endParaRPr sz="24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dirty="0">
                <a:latin typeface="Times New Roman"/>
                <a:cs typeface="Times New Roman"/>
              </a:rPr>
              <a:t>Metropolitan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</a:t>
            </a:r>
            <a:endParaRPr sz="24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30" dirty="0">
                <a:latin typeface="Times New Roman"/>
                <a:cs typeface="Times New Roman"/>
              </a:rPr>
              <a:t>Wide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WAN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89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6836" y="609676"/>
            <a:ext cx="6417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Personal</a:t>
            </a:r>
            <a:r>
              <a:rPr spc="-20" dirty="0"/>
              <a:t> </a:t>
            </a:r>
            <a:r>
              <a:rPr spc="-15" dirty="0"/>
              <a:t>area</a:t>
            </a:r>
            <a:r>
              <a:rPr spc="-35" dirty="0"/>
              <a:t> </a:t>
            </a:r>
            <a:r>
              <a:rPr spc="-10" dirty="0"/>
              <a:t>network</a:t>
            </a:r>
            <a:r>
              <a:rPr spc="-20" dirty="0"/>
              <a:t> </a:t>
            </a:r>
            <a:r>
              <a:rPr spc="-75" dirty="0"/>
              <a:t>(PAN)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3857"/>
            <a:ext cx="10088245" cy="42545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personal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area</a:t>
            </a:r>
            <a:r>
              <a:rPr sz="2800" b="1" spc="-10" dirty="0">
                <a:latin typeface="Times New Roman"/>
                <a:cs typeface="Times New Roman"/>
              </a:rPr>
              <a:t> network</a:t>
            </a:r>
            <a:r>
              <a:rPr sz="2800" spc="-10" dirty="0">
                <a:latin typeface="Times New Roman"/>
                <a:cs typeface="Times New Roman"/>
              </a:rPr>
              <a:t>,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spc="-60" dirty="0">
                <a:latin typeface="Times New Roman"/>
                <a:cs typeface="Times New Roman"/>
              </a:rPr>
              <a:t>PAN</a:t>
            </a:r>
            <a:r>
              <a:rPr sz="2800" spc="-60" dirty="0">
                <a:latin typeface="Times New Roman"/>
                <a:cs typeface="Times New Roman"/>
              </a:rPr>
              <a:t>,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 </a:t>
            </a:r>
            <a:r>
              <a:rPr sz="2800" spc="-10" dirty="0">
                <a:latin typeface="Times New Roman"/>
                <a:cs typeface="Times New Roman"/>
              </a:rPr>
              <a:t>organized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around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 </a:t>
            </a:r>
            <a:r>
              <a:rPr sz="2800" dirty="0">
                <a:latin typeface="Times New Roman"/>
                <a:cs typeface="Times New Roman"/>
              </a:rPr>
              <a:t>individual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person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building.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 could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 </a:t>
            </a:r>
            <a:r>
              <a:rPr sz="2800" dirty="0">
                <a:latin typeface="Times New Roman"/>
                <a:cs typeface="Times New Roman"/>
              </a:rPr>
              <a:t>inside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small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office</a:t>
            </a:r>
            <a:r>
              <a:rPr sz="2800" spc="-5" dirty="0">
                <a:latin typeface="Times New Roman"/>
                <a:cs typeface="Times New Roman"/>
              </a:rPr>
              <a:t> 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residence.</a:t>
            </a:r>
            <a:endParaRPr sz="2800">
              <a:latin typeface="Times New Roman"/>
              <a:cs typeface="Times New Roman"/>
            </a:endParaRPr>
          </a:p>
          <a:p>
            <a:pPr marL="241300" marR="509270" indent="-228600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typical </a:t>
            </a:r>
            <a:r>
              <a:rPr sz="2800" spc="-90" dirty="0">
                <a:latin typeface="Times New Roman"/>
                <a:cs typeface="Times New Roman"/>
              </a:rPr>
              <a:t>PAN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would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include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computers,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telephones,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peripheral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devices,</a:t>
            </a:r>
            <a:r>
              <a:rPr sz="2800" dirty="0">
                <a:latin typeface="Times New Roman"/>
                <a:cs typeface="Times New Roman"/>
              </a:rPr>
              <a:t> video</a:t>
            </a:r>
            <a:r>
              <a:rPr sz="2800" spc="-10" dirty="0">
                <a:latin typeface="Times New Roman"/>
                <a:cs typeface="Times New Roman"/>
              </a:rPr>
              <a:t> game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consoles 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other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personal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entertainment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allows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to:</a:t>
            </a:r>
            <a:endParaRPr sz="2800">
              <a:latin typeface="Times New Roman"/>
              <a:cs typeface="Times New Roman"/>
            </a:endParaRPr>
          </a:p>
          <a:p>
            <a:pPr marL="698500" marR="121920" lvl="1" indent="-228600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dirty="0">
                <a:latin typeface="Times New Roman"/>
                <a:cs typeface="Times New Roman"/>
              </a:rPr>
              <a:t>Send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document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office</a:t>
            </a:r>
            <a:r>
              <a:rPr sz="2400" dirty="0">
                <a:latin typeface="Times New Roman"/>
                <a:cs typeface="Times New Roman"/>
              </a:rPr>
              <a:t> upstairs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 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sitting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 laptop.</a:t>
            </a:r>
            <a:endParaRPr sz="24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Times New Roman"/>
                <a:cs typeface="Times New Roman"/>
              </a:rPr>
              <a:t>Upload</a:t>
            </a:r>
            <a:r>
              <a:rPr sz="2400" dirty="0">
                <a:latin typeface="Times New Roman"/>
                <a:cs typeface="Times New Roman"/>
              </a:rPr>
              <a:t> 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photo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 cell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phone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desktop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computer.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70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6836" y="609676"/>
            <a:ext cx="6417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Personal</a:t>
            </a:r>
            <a:r>
              <a:rPr spc="-20" dirty="0"/>
              <a:t> </a:t>
            </a:r>
            <a:r>
              <a:rPr spc="-15" dirty="0"/>
              <a:t>area</a:t>
            </a:r>
            <a:r>
              <a:rPr spc="-35" dirty="0"/>
              <a:t> </a:t>
            </a:r>
            <a:r>
              <a:rPr spc="-10" dirty="0"/>
              <a:t>network</a:t>
            </a:r>
            <a:r>
              <a:rPr spc="-20" dirty="0"/>
              <a:t> </a:t>
            </a:r>
            <a:r>
              <a:rPr spc="-75" dirty="0"/>
              <a:t>(PAN)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8830" y="2096001"/>
            <a:ext cx="4809709" cy="37362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0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3933" y="609676"/>
            <a:ext cx="56438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Local</a:t>
            </a:r>
            <a:r>
              <a:rPr spc="-20" dirty="0"/>
              <a:t> </a:t>
            </a:r>
            <a:r>
              <a:rPr spc="-15" dirty="0"/>
              <a:t>area</a:t>
            </a:r>
            <a:r>
              <a:rPr spc="-35" dirty="0"/>
              <a:t> </a:t>
            </a:r>
            <a:r>
              <a:rPr spc="-10" dirty="0"/>
              <a:t>network</a:t>
            </a:r>
            <a:r>
              <a:rPr spc="-25" dirty="0"/>
              <a:t> </a:t>
            </a:r>
            <a:r>
              <a:rPr dirty="0"/>
              <a:t>(LAN)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7281"/>
            <a:ext cx="10342245" cy="422910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243204" indent="-228600">
              <a:lnSpc>
                <a:spcPts val="2500"/>
              </a:lnSpc>
              <a:spcBef>
                <a:spcPts val="7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local</a:t>
            </a:r>
            <a:r>
              <a:rPr sz="2600" b="1" spc="-10" dirty="0">
                <a:latin typeface="Times New Roman"/>
                <a:cs typeface="Times New Roman"/>
              </a:rPr>
              <a:t> area </a:t>
            </a:r>
            <a:r>
              <a:rPr sz="2600" b="1" spc="-5" dirty="0">
                <a:latin typeface="Times New Roman"/>
                <a:cs typeface="Times New Roman"/>
              </a:rPr>
              <a:t>network</a:t>
            </a:r>
            <a:r>
              <a:rPr sz="2600" spc="-5" dirty="0">
                <a:latin typeface="Times New Roman"/>
                <a:cs typeface="Times New Roman"/>
              </a:rPr>
              <a:t>,</a:t>
            </a:r>
            <a:r>
              <a:rPr sz="2600" dirty="0">
                <a:latin typeface="Times New Roman"/>
                <a:cs typeface="Times New Roman"/>
              </a:rPr>
              <a:t> or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LAN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consists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 a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computer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network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single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site, </a:t>
            </a:r>
            <a:r>
              <a:rPr sz="2600" dirty="0">
                <a:latin typeface="Times New Roman"/>
                <a:cs typeface="Times New Roman"/>
              </a:rPr>
              <a:t>typically an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individual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office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building.</a:t>
            </a:r>
            <a:endParaRPr sz="2600">
              <a:latin typeface="Times New Roman"/>
              <a:cs typeface="Times New Roman"/>
            </a:endParaRPr>
          </a:p>
          <a:p>
            <a:pPr marL="241300" marR="1052830" indent="-228600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LAN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very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useful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 sharing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resources,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such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storage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printers.</a:t>
            </a:r>
            <a:endParaRPr sz="2600">
              <a:latin typeface="Times New Roman"/>
              <a:cs typeface="Times New Roman"/>
            </a:endParaRPr>
          </a:p>
          <a:p>
            <a:pPr marL="241300" marR="781050" indent="-228600">
              <a:lnSpc>
                <a:spcPts val="25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LANs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can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built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with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relatively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inexpensive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hardware,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such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 hubs,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network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adapters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Ethernet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cables.</a:t>
            </a:r>
            <a:endParaRPr sz="2600">
              <a:latin typeface="Times New Roman"/>
              <a:cs typeface="Times New Roman"/>
            </a:endParaRPr>
          </a:p>
          <a:p>
            <a:pPr marL="241300" marR="600075" indent="-228600">
              <a:lnSpc>
                <a:spcPts val="25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5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smallest </a:t>
            </a:r>
            <a:r>
              <a:rPr sz="2600" spc="5" dirty="0">
                <a:latin typeface="Times New Roman"/>
                <a:cs typeface="Times New Roman"/>
              </a:rPr>
              <a:t>LAN </a:t>
            </a:r>
            <a:r>
              <a:rPr sz="2600" spc="-5" dirty="0">
                <a:latin typeface="Times New Roman"/>
                <a:cs typeface="Times New Roman"/>
              </a:rPr>
              <a:t>may </a:t>
            </a:r>
            <a:r>
              <a:rPr sz="2600" dirty="0">
                <a:latin typeface="Times New Roman"/>
                <a:cs typeface="Times New Roman"/>
              </a:rPr>
              <a:t>only use two </a:t>
            </a:r>
            <a:r>
              <a:rPr sz="2600" spc="-5" dirty="0">
                <a:latin typeface="Times New Roman"/>
                <a:cs typeface="Times New Roman"/>
              </a:rPr>
              <a:t>computers, </a:t>
            </a:r>
            <a:r>
              <a:rPr sz="2600" dirty="0">
                <a:latin typeface="Times New Roman"/>
                <a:cs typeface="Times New Roman"/>
              </a:rPr>
              <a:t>while </a:t>
            </a:r>
            <a:r>
              <a:rPr sz="2600" spc="-10" dirty="0">
                <a:latin typeface="Times New Roman"/>
                <a:cs typeface="Times New Roman"/>
              </a:rPr>
              <a:t>larger </a:t>
            </a:r>
            <a:r>
              <a:rPr sz="2600" dirty="0">
                <a:latin typeface="Times New Roman"/>
                <a:cs typeface="Times New Roman"/>
              </a:rPr>
              <a:t>LANs </a:t>
            </a:r>
            <a:r>
              <a:rPr sz="2600" spc="-5" dirty="0">
                <a:latin typeface="Times New Roman"/>
                <a:cs typeface="Times New Roman"/>
              </a:rPr>
              <a:t>can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accommodate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thousands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computers.</a:t>
            </a: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LAN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typically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relies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mostly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wired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connections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5" dirty="0">
                <a:latin typeface="Times New Roman"/>
                <a:cs typeface="Times New Roman"/>
              </a:rPr>
              <a:t> increased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speed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security,</a:t>
            </a:r>
            <a:r>
              <a:rPr sz="2600" dirty="0">
                <a:latin typeface="Times New Roman"/>
                <a:cs typeface="Times New Roman"/>
              </a:rPr>
              <a:t> but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wireless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connections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can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also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 part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 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LAN.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High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speed </a:t>
            </a:r>
            <a:r>
              <a:rPr sz="2600" dirty="0">
                <a:latin typeface="Times New Roman"/>
                <a:cs typeface="Times New Roman"/>
              </a:rPr>
              <a:t>and </a:t>
            </a:r>
            <a:r>
              <a:rPr sz="2600" spc="-5" dirty="0">
                <a:latin typeface="Times New Roman"/>
                <a:cs typeface="Times New Roman"/>
              </a:rPr>
              <a:t>relatively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low </a:t>
            </a:r>
            <a:r>
              <a:rPr sz="2600" dirty="0">
                <a:latin typeface="Times New Roman"/>
                <a:cs typeface="Times New Roman"/>
              </a:rPr>
              <a:t>cost </a:t>
            </a:r>
            <a:r>
              <a:rPr sz="2600" spc="-5" dirty="0">
                <a:latin typeface="Times New Roman"/>
                <a:cs typeface="Times New Roman"/>
              </a:rPr>
              <a:t>are the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defining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characteristics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LANs.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48968" cy="165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830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3933" y="609676"/>
            <a:ext cx="56438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Local</a:t>
            </a:r>
            <a:r>
              <a:rPr spc="-20" dirty="0"/>
              <a:t> </a:t>
            </a:r>
            <a:r>
              <a:rPr spc="-15" dirty="0"/>
              <a:t>area</a:t>
            </a:r>
            <a:r>
              <a:rPr spc="-35" dirty="0"/>
              <a:t> </a:t>
            </a:r>
            <a:r>
              <a:rPr spc="-10" dirty="0"/>
              <a:t>network</a:t>
            </a:r>
            <a:r>
              <a:rPr spc="-25" dirty="0"/>
              <a:t> </a:t>
            </a:r>
            <a:r>
              <a:rPr dirty="0"/>
              <a:t>(LAN)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4615" y="2292071"/>
            <a:ext cx="5192227" cy="33517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648968" cy="165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05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264" y="609676"/>
            <a:ext cx="76962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Metropolitan</a:t>
            </a:r>
            <a:r>
              <a:rPr spc="-35" dirty="0"/>
              <a:t> </a:t>
            </a:r>
            <a:r>
              <a:rPr spc="-15" dirty="0"/>
              <a:t>area</a:t>
            </a:r>
            <a:r>
              <a:rPr spc="-40" dirty="0"/>
              <a:t> </a:t>
            </a:r>
            <a:r>
              <a:rPr spc="-10" dirty="0"/>
              <a:t>network</a:t>
            </a:r>
            <a:r>
              <a:rPr spc="-25" dirty="0"/>
              <a:t> </a:t>
            </a:r>
            <a:r>
              <a:rPr dirty="0"/>
              <a:t>(MAN)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3857"/>
            <a:ext cx="9758045" cy="35223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330835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b="1" spc="-5" dirty="0">
                <a:latin typeface="Times New Roman"/>
                <a:cs typeface="Times New Roman"/>
              </a:rPr>
              <a:t>metropolitan </a:t>
            </a:r>
            <a:r>
              <a:rPr sz="2800" b="1" spc="-15" dirty="0">
                <a:latin typeface="Times New Roman"/>
                <a:cs typeface="Times New Roman"/>
              </a:rPr>
              <a:t>area </a:t>
            </a:r>
            <a:r>
              <a:rPr sz="2800" b="1" spc="-10" dirty="0">
                <a:latin typeface="Times New Roman"/>
                <a:cs typeface="Times New Roman"/>
              </a:rPr>
              <a:t>network</a:t>
            </a:r>
            <a:r>
              <a:rPr sz="2800" spc="-10" dirty="0">
                <a:latin typeface="Times New Roman"/>
                <a:cs typeface="Times New Roman"/>
              </a:rPr>
              <a:t>, </a:t>
            </a:r>
            <a:r>
              <a:rPr sz="2800" spc="-5" dirty="0">
                <a:latin typeface="Times New Roman"/>
                <a:cs typeface="Times New Roman"/>
              </a:rPr>
              <a:t>or </a:t>
            </a:r>
            <a:r>
              <a:rPr sz="2800" b="1" spc="-5" dirty="0">
                <a:latin typeface="Times New Roman"/>
                <a:cs typeface="Times New Roman"/>
              </a:rPr>
              <a:t>MAN</a:t>
            </a:r>
            <a:r>
              <a:rPr sz="2800" spc="-5" dirty="0">
                <a:latin typeface="Times New Roman"/>
                <a:cs typeface="Times New Roman"/>
              </a:rPr>
              <a:t>, consists of a computer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across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entire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city,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college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campus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small</a:t>
            </a:r>
            <a:r>
              <a:rPr sz="2800" dirty="0">
                <a:latin typeface="Times New Roman"/>
                <a:cs typeface="Times New Roman"/>
              </a:rPr>
              <a:t> region.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spc="-10" dirty="0">
                <a:latin typeface="Times New Roman"/>
                <a:cs typeface="Times New Roman"/>
              </a:rPr>
              <a:t>larger</a:t>
            </a:r>
            <a:r>
              <a:rPr sz="2800" spc="-5" dirty="0">
                <a:latin typeface="Times New Roman"/>
                <a:cs typeface="Times New Roman"/>
              </a:rPr>
              <a:t> than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LAN,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which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typically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limited to a </a:t>
            </a:r>
            <a:r>
              <a:rPr sz="2800" dirty="0">
                <a:latin typeface="Times New Roman"/>
                <a:cs typeface="Times New Roman"/>
              </a:rPr>
              <a:t>single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site.</a:t>
            </a:r>
            <a:endParaRPr sz="2800">
              <a:latin typeface="Times New Roman"/>
              <a:cs typeface="Times New Roman"/>
            </a:endParaRPr>
          </a:p>
          <a:p>
            <a:pPr marL="241300" marR="70485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Depending 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configuration,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type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cover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several miles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tens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miles.</a:t>
            </a:r>
            <a:endParaRPr sz="2800">
              <a:latin typeface="Times New Roman"/>
              <a:cs typeface="Times New Roman"/>
            </a:endParaRPr>
          </a:p>
          <a:p>
            <a:pPr marL="241300" marR="215900" indent="-228600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often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 connect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several</a:t>
            </a:r>
            <a:r>
              <a:rPr sz="2800" spc="-10" dirty="0">
                <a:latin typeface="Times New Roman"/>
                <a:cs typeface="Times New Roman"/>
              </a:rPr>
              <a:t> LANs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together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bigger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75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264" y="609676"/>
            <a:ext cx="76962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Metropolitan</a:t>
            </a:r>
            <a:r>
              <a:rPr spc="-35" dirty="0"/>
              <a:t> </a:t>
            </a:r>
            <a:r>
              <a:rPr spc="-15" dirty="0"/>
              <a:t>area</a:t>
            </a:r>
            <a:r>
              <a:rPr spc="-40" dirty="0"/>
              <a:t> </a:t>
            </a:r>
            <a:r>
              <a:rPr spc="-10" dirty="0"/>
              <a:t>network</a:t>
            </a:r>
            <a:r>
              <a:rPr spc="-25" dirty="0"/>
              <a:t> </a:t>
            </a:r>
            <a:r>
              <a:rPr dirty="0"/>
              <a:t>(MAN)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9399" y="1938084"/>
            <a:ext cx="6530816" cy="40814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69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7525">
              <a:lnSpc>
                <a:spcPct val="100000"/>
              </a:lnSpc>
              <a:spcBef>
                <a:spcPts val="105"/>
              </a:spcBef>
            </a:pPr>
            <a:r>
              <a:rPr dirty="0"/>
              <a:t>Wide</a:t>
            </a:r>
            <a:r>
              <a:rPr spc="-50" dirty="0"/>
              <a:t> </a:t>
            </a:r>
            <a:r>
              <a:rPr spc="-15" dirty="0"/>
              <a:t>area</a:t>
            </a:r>
            <a:r>
              <a:rPr spc="-45" dirty="0"/>
              <a:t> </a:t>
            </a:r>
            <a:r>
              <a:rPr spc="-10" dirty="0"/>
              <a:t>network</a:t>
            </a:r>
            <a:r>
              <a:rPr spc="-25" dirty="0"/>
              <a:t> </a:t>
            </a:r>
            <a:r>
              <a:rPr spc="-40" dirty="0"/>
              <a:t>(WAN)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3857"/>
            <a:ext cx="10285095" cy="22434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wide</a:t>
            </a:r>
            <a:r>
              <a:rPr sz="2800" b="1" spc="30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area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network</a:t>
            </a:r>
            <a:r>
              <a:rPr sz="2800" spc="-10" dirty="0">
                <a:latin typeface="Times New Roman"/>
                <a:cs typeface="Times New Roman"/>
              </a:rPr>
              <a:t>,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spc="-85" dirty="0">
                <a:latin typeface="Times New Roman"/>
                <a:cs typeface="Times New Roman"/>
              </a:rPr>
              <a:t>WAN</a:t>
            </a:r>
            <a:r>
              <a:rPr sz="2800" spc="-85" dirty="0">
                <a:latin typeface="Times New Roman"/>
                <a:cs typeface="Times New Roman"/>
              </a:rPr>
              <a:t>,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occupies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very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large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area,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entire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country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entire </a:t>
            </a:r>
            <a:r>
              <a:rPr sz="2800" dirty="0">
                <a:latin typeface="Times New Roman"/>
                <a:cs typeface="Times New Roman"/>
              </a:rPr>
              <a:t>world.</a:t>
            </a:r>
            <a:endParaRPr sz="2800">
              <a:latin typeface="Times New Roman"/>
              <a:cs typeface="Times New Roman"/>
            </a:endParaRPr>
          </a:p>
          <a:p>
            <a:pPr marL="241300" marR="840740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spc="-110" dirty="0">
                <a:latin typeface="Times New Roman"/>
                <a:cs typeface="Times New Roman"/>
              </a:rPr>
              <a:t>WAN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spc="-5" dirty="0">
                <a:latin typeface="Times New Roman"/>
                <a:cs typeface="Times New Roman"/>
              </a:rPr>
              <a:t>contain multiple smaller networks, such as </a:t>
            </a:r>
            <a:r>
              <a:rPr sz="2800" spc="-10" dirty="0">
                <a:latin typeface="Times New Roman"/>
                <a:cs typeface="Times New Roman"/>
              </a:rPr>
              <a:t>LANs </a:t>
            </a:r>
            <a:r>
              <a:rPr sz="2800" spc="-5" dirty="0">
                <a:latin typeface="Times New Roman"/>
                <a:cs typeface="Times New Roman"/>
              </a:rPr>
              <a:t>or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MANs.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Internet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best-known example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WAN.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100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7525">
              <a:lnSpc>
                <a:spcPct val="100000"/>
              </a:lnSpc>
              <a:spcBef>
                <a:spcPts val="105"/>
              </a:spcBef>
            </a:pPr>
            <a:r>
              <a:rPr dirty="0"/>
              <a:t>Wide</a:t>
            </a:r>
            <a:r>
              <a:rPr spc="-50" dirty="0"/>
              <a:t> </a:t>
            </a:r>
            <a:r>
              <a:rPr spc="-15" dirty="0"/>
              <a:t>area</a:t>
            </a:r>
            <a:r>
              <a:rPr spc="-45" dirty="0"/>
              <a:t> </a:t>
            </a:r>
            <a:r>
              <a:rPr spc="-10" dirty="0"/>
              <a:t>network</a:t>
            </a:r>
            <a:r>
              <a:rPr spc="-25" dirty="0"/>
              <a:t> </a:t>
            </a:r>
            <a:r>
              <a:rPr spc="-40" dirty="0"/>
              <a:t>(WAN)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2526792"/>
            <a:ext cx="6096000" cy="3009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38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4" y="3541598"/>
            <a:ext cx="93522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5" dirty="0"/>
              <a:t>Ethernet,</a:t>
            </a:r>
            <a:r>
              <a:rPr sz="6000" spc="5" dirty="0"/>
              <a:t> </a:t>
            </a:r>
            <a:r>
              <a:rPr sz="6000" spc="-20" dirty="0"/>
              <a:t>Bluetooth,</a:t>
            </a:r>
            <a:r>
              <a:rPr sz="6000" spc="-5" dirty="0"/>
              <a:t> </a:t>
            </a:r>
            <a:r>
              <a:rPr sz="6000" spc="-10" dirty="0"/>
              <a:t>and</a:t>
            </a:r>
            <a:r>
              <a:rPr sz="6000" spc="10" dirty="0"/>
              <a:t> </a:t>
            </a:r>
            <a:r>
              <a:rPr sz="6000" spc="-5" dirty="0"/>
              <a:t>Wi-Fi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68557" y="6464985"/>
            <a:ext cx="2317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16</a:t>
            </a:fld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416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3114" y="609676"/>
            <a:ext cx="1985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E</a:t>
            </a:r>
            <a:r>
              <a:rPr dirty="0"/>
              <a:t>thern</a:t>
            </a:r>
            <a:r>
              <a:rPr spc="-25" dirty="0"/>
              <a:t>e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3857"/>
            <a:ext cx="10346055" cy="26289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Ethernet is primarily a </a:t>
            </a:r>
            <a:r>
              <a:rPr sz="2800" dirty="0">
                <a:latin typeface="Times New Roman"/>
                <a:cs typeface="Times New Roman"/>
              </a:rPr>
              <a:t>standard </a:t>
            </a:r>
            <a:r>
              <a:rPr sz="2800" spc="-5" dirty="0">
                <a:latin typeface="Times New Roman"/>
                <a:cs typeface="Times New Roman"/>
              </a:rPr>
              <a:t>communication </a:t>
            </a:r>
            <a:r>
              <a:rPr sz="2800" dirty="0">
                <a:latin typeface="Times New Roman"/>
                <a:cs typeface="Times New Roman"/>
              </a:rPr>
              <a:t>protocol used </a:t>
            </a:r>
            <a:r>
              <a:rPr sz="2800" spc="-5" dirty="0">
                <a:latin typeface="Times New Roman"/>
                <a:cs typeface="Times New Roman"/>
              </a:rPr>
              <a:t>to create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networks.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It transmits and receives data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cables.</a:t>
            </a:r>
            <a:endParaRPr sz="2800">
              <a:latin typeface="Times New Roman"/>
              <a:cs typeface="Times New Roman"/>
            </a:endParaRPr>
          </a:p>
          <a:p>
            <a:pPr marL="241300" marR="44450" indent="-228600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facilitates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communication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between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two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more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different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types of </a:t>
            </a:r>
            <a:r>
              <a:rPr sz="2800" spc="-5" dirty="0">
                <a:latin typeface="Times New Roman"/>
                <a:cs typeface="Times New Roman"/>
              </a:rPr>
              <a:t>network cables </a:t>
            </a:r>
            <a:r>
              <a:rPr sz="2800" dirty="0">
                <a:latin typeface="Times New Roman"/>
                <a:cs typeface="Times New Roman"/>
              </a:rPr>
              <a:t>such </a:t>
            </a:r>
            <a:r>
              <a:rPr sz="2800" spc="-5" dirty="0">
                <a:latin typeface="Times New Roman"/>
                <a:cs typeface="Times New Roman"/>
              </a:rPr>
              <a:t>as </a:t>
            </a:r>
            <a:r>
              <a:rPr sz="2800" dirty="0">
                <a:latin typeface="Times New Roman"/>
                <a:cs typeface="Times New Roman"/>
              </a:rPr>
              <a:t>from </a:t>
            </a:r>
            <a:r>
              <a:rPr sz="2800" spc="-5" dirty="0">
                <a:latin typeface="Times New Roman"/>
                <a:cs typeface="Times New Roman"/>
              </a:rPr>
              <a:t>copper to </a:t>
            </a:r>
            <a:r>
              <a:rPr sz="2800" dirty="0">
                <a:latin typeface="Times New Roman"/>
                <a:cs typeface="Times New Roman"/>
              </a:rPr>
              <a:t>fiber optic </a:t>
            </a:r>
            <a:r>
              <a:rPr sz="2800" spc="-5" dirty="0">
                <a:latin typeface="Times New Roman"/>
                <a:cs typeface="Times New Roman"/>
              </a:rPr>
              <a:t>and vice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versa.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0600" y="4600107"/>
            <a:ext cx="2168652" cy="124075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68557" y="6464985"/>
            <a:ext cx="2317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17</a:t>
            </a:fld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5124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2050" y="609676"/>
            <a:ext cx="2246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Bluetooth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3857"/>
            <a:ext cx="10207625" cy="173291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409575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Bluetooth </a:t>
            </a:r>
            <a:r>
              <a:rPr sz="2800" spc="-5" dirty="0">
                <a:latin typeface="Times New Roman"/>
                <a:cs typeface="Times New Roman"/>
              </a:rPr>
              <a:t>is a wireless </a:t>
            </a:r>
            <a:r>
              <a:rPr sz="2800" dirty="0">
                <a:latin typeface="Times New Roman"/>
                <a:cs typeface="Times New Roman"/>
              </a:rPr>
              <a:t>technology that </a:t>
            </a:r>
            <a:r>
              <a:rPr sz="2800" spc="-5" dirty="0">
                <a:latin typeface="Times New Roman"/>
                <a:cs typeface="Times New Roman"/>
              </a:rPr>
              <a:t>allows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exchange of data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between</a:t>
            </a:r>
            <a:r>
              <a:rPr sz="2800" spc="-10" dirty="0">
                <a:latin typeface="Times New Roman"/>
                <a:cs typeface="Times New Roman"/>
              </a:rPr>
              <a:t> different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While Bluetooth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wavelength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generally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within a</a:t>
            </a:r>
            <a:r>
              <a:rPr sz="2800" dirty="0">
                <a:latin typeface="Times New Roman"/>
                <a:cs typeface="Times New Roman"/>
              </a:rPr>
              <a:t> short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distance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stay connected.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6862" y="4416723"/>
            <a:ext cx="1249796" cy="16225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68557" y="6464985"/>
            <a:ext cx="2317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18</a:t>
            </a:fld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2847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9353" y="609676"/>
            <a:ext cx="1193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Wi-</a:t>
            </a:r>
            <a:r>
              <a:rPr dirty="0"/>
              <a:t>Fi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3857"/>
            <a:ext cx="10339070" cy="25012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429259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imes New Roman"/>
                <a:cs typeface="Times New Roman"/>
              </a:rPr>
              <a:t>Wi-Fi</a:t>
            </a:r>
            <a:r>
              <a:rPr sz="2800" spc="-5" dirty="0">
                <a:latin typeface="Times New Roman"/>
                <a:cs typeface="Times New Roman"/>
              </a:rPr>
              <a:t> is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wireless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technology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 connect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computers,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tablets,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smartphones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5" dirty="0">
                <a:latin typeface="Times New Roman"/>
                <a:cs typeface="Times New Roman"/>
              </a:rPr>
              <a:t> devices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internet.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imes New Roman"/>
                <a:cs typeface="Times New Roman"/>
              </a:rPr>
              <a:t>Wi-Fi</a:t>
            </a:r>
            <a:r>
              <a:rPr sz="2800" spc="-5" dirty="0">
                <a:latin typeface="Times New Roman"/>
                <a:cs typeface="Times New Roman"/>
              </a:rPr>
              <a:t> 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radio </a:t>
            </a:r>
            <a:r>
              <a:rPr sz="2800" dirty="0">
                <a:latin typeface="Times New Roman"/>
                <a:cs typeface="Times New Roman"/>
              </a:rPr>
              <a:t>signal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sent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from 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wireless</a:t>
            </a:r>
            <a:r>
              <a:rPr sz="2800" dirty="0">
                <a:latin typeface="Times New Roman"/>
                <a:cs typeface="Times New Roman"/>
              </a:rPr>
              <a:t> router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nearby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device,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which translates </a:t>
            </a:r>
            <a:r>
              <a:rPr sz="2800" dirty="0">
                <a:latin typeface="Times New Roman"/>
                <a:cs typeface="Times New Roman"/>
              </a:rPr>
              <a:t>the signal into </a:t>
            </a:r>
            <a:r>
              <a:rPr sz="2800" spc="-5" dirty="0">
                <a:latin typeface="Times New Roman"/>
                <a:cs typeface="Times New Roman"/>
              </a:rPr>
              <a:t>data you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spc="-5" dirty="0">
                <a:latin typeface="Times New Roman"/>
                <a:cs typeface="Times New Roman"/>
              </a:rPr>
              <a:t>see and </a:t>
            </a:r>
            <a:r>
              <a:rPr sz="2800" dirty="0">
                <a:latin typeface="Times New Roman"/>
                <a:cs typeface="Times New Roman"/>
              </a:rPr>
              <a:t>use. </a:t>
            </a: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device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transmits a radio </a:t>
            </a:r>
            <a:r>
              <a:rPr sz="2800" dirty="0">
                <a:latin typeface="Times New Roman"/>
                <a:cs typeface="Times New Roman"/>
              </a:rPr>
              <a:t>signal </a:t>
            </a:r>
            <a:r>
              <a:rPr sz="2800" spc="-5" dirty="0">
                <a:latin typeface="Times New Roman"/>
                <a:cs typeface="Times New Roman"/>
              </a:rPr>
              <a:t>back to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20" dirty="0">
                <a:latin typeface="Times New Roman"/>
                <a:cs typeface="Times New Roman"/>
              </a:rPr>
              <a:t>router, </a:t>
            </a:r>
            <a:r>
              <a:rPr sz="2800" spc="-5" dirty="0">
                <a:latin typeface="Times New Roman"/>
                <a:cs typeface="Times New Roman"/>
              </a:rPr>
              <a:t>which connects to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internet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cable.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1049" y="4264226"/>
            <a:ext cx="2904088" cy="19549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68557" y="6464985"/>
            <a:ext cx="2317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19</a:t>
            </a:fld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7465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844" y="3264462"/>
            <a:ext cx="3415665" cy="1694180"/>
          </a:xfrm>
          <a:prstGeom prst="rect">
            <a:avLst/>
          </a:prstGeom>
        </p:spPr>
        <p:txBody>
          <a:bodyPr vert="horz" wrap="square" lIns="0" tIns="290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85"/>
              </a:spcBef>
            </a:pPr>
            <a:r>
              <a:rPr sz="6000" spc="-5" dirty="0">
                <a:latin typeface="Calibri Light"/>
                <a:cs typeface="Calibri Light"/>
              </a:rPr>
              <a:t>Thank</a:t>
            </a:r>
            <a:r>
              <a:rPr sz="6000" spc="-70" dirty="0">
                <a:latin typeface="Calibri Light"/>
                <a:cs typeface="Calibri Light"/>
              </a:rPr>
              <a:t> </a:t>
            </a:r>
            <a:r>
              <a:rPr sz="6000" spc="-30" dirty="0">
                <a:latin typeface="Calibri Light"/>
                <a:cs typeface="Calibri Light"/>
              </a:rPr>
              <a:t>you!</a:t>
            </a:r>
            <a:endParaRPr sz="6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400" spc="-15" dirty="0">
                <a:solidFill>
                  <a:srgbClr val="888888"/>
                </a:solidFill>
                <a:latin typeface="Calibri"/>
                <a:cs typeface="Calibri"/>
              </a:rPr>
              <a:t>Any</a:t>
            </a:r>
            <a:r>
              <a:rPr sz="2400" spc="-3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Calibri"/>
                <a:cs typeface="Calibri"/>
              </a:rPr>
              <a:t>Questions???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68557" y="6464985"/>
            <a:ext cx="2317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20</a:t>
            </a:fld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7609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1426" y="3541598"/>
            <a:ext cx="66211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Network</a:t>
            </a:r>
            <a:r>
              <a:rPr sz="6000" spc="-105" dirty="0"/>
              <a:t> </a:t>
            </a:r>
            <a:r>
              <a:rPr sz="6000" spc="-10" dirty="0"/>
              <a:t>Architecture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Computer</a:t>
            </a:r>
            <a:r>
              <a:rPr spc="-105" dirty="0"/>
              <a:t> </a:t>
            </a:r>
            <a:r>
              <a:rPr dirty="0"/>
              <a:t>Network</a:t>
            </a:r>
            <a:r>
              <a:rPr spc="-10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195560" cy="32988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physical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logical 	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hardware,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protocols,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transmission</a:t>
            </a:r>
            <a:r>
              <a:rPr sz="2800" dirty="0">
                <a:latin typeface="Calibri"/>
                <a:cs typeface="Calibri"/>
              </a:rPr>
              <a:t> 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  <a:p>
            <a:pPr marL="240029" marR="183515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Simply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organized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tasks 	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allocated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computer.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Client/Server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Peer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3475">
              <a:lnSpc>
                <a:spcPct val="100000"/>
              </a:lnSpc>
              <a:spcBef>
                <a:spcPts val="105"/>
              </a:spcBef>
            </a:pPr>
            <a:r>
              <a:rPr dirty="0"/>
              <a:t>Client/Server</a:t>
            </a:r>
            <a:r>
              <a:rPr spc="-10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5012" y="2815991"/>
            <a:ext cx="3428643" cy="24578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3475">
              <a:lnSpc>
                <a:spcPct val="100000"/>
              </a:lnSpc>
              <a:spcBef>
                <a:spcPts val="105"/>
              </a:spcBef>
            </a:pPr>
            <a:r>
              <a:rPr dirty="0"/>
              <a:t>Client/Server</a:t>
            </a:r>
            <a:r>
              <a:rPr spc="-10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5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/>
              <a:t>Client/Server</a:t>
            </a:r>
            <a:r>
              <a:rPr sz="2600" spc="-70" dirty="0"/>
              <a:t> </a:t>
            </a:r>
            <a:r>
              <a:rPr sz="2600" dirty="0"/>
              <a:t>network</a:t>
            </a:r>
            <a:r>
              <a:rPr sz="2600" spc="-60" dirty="0"/>
              <a:t> </a:t>
            </a:r>
            <a:r>
              <a:rPr sz="2600" dirty="0"/>
              <a:t>is</a:t>
            </a:r>
            <a:r>
              <a:rPr sz="2600" spc="-45" dirty="0"/>
              <a:t> </a:t>
            </a:r>
            <a:r>
              <a:rPr sz="2600" dirty="0"/>
              <a:t>a</a:t>
            </a:r>
            <a:r>
              <a:rPr sz="2600" spc="-45" dirty="0"/>
              <a:t> </a:t>
            </a:r>
            <a:r>
              <a:rPr sz="2600" dirty="0"/>
              <a:t>network</a:t>
            </a:r>
            <a:r>
              <a:rPr sz="2600" spc="-55" dirty="0"/>
              <a:t> </a:t>
            </a:r>
            <a:r>
              <a:rPr sz="2600" dirty="0"/>
              <a:t>model</a:t>
            </a:r>
            <a:r>
              <a:rPr sz="2600" spc="-45" dirty="0"/>
              <a:t> </a:t>
            </a:r>
            <a:r>
              <a:rPr sz="2600" dirty="0"/>
              <a:t>designed</a:t>
            </a:r>
            <a:r>
              <a:rPr sz="2600" spc="-95" dirty="0"/>
              <a:t> </a:t>
            </a:r>
            <a:r>
              <a:rPr sz="2600" dirty="0"/>
              <a:t>for</a:t>
            </a:r>
            <a:r>
              <a:rPr sz="2600" spc="-45" dirty="0"/>
              <a:t> </a:t>
            </a:r>
            <a:r>
              <a:rPr sz="2600" dirty="0"/>
              <a:t>the</a:t>
            </a:r>
            <a:r>
              <a:rPr sz="2600" spc="-55" dirty="0"/>
              <a:t> </a:t>
            </a:r>
            <a:r>
              <a:rPr sz="2600" dirty="0"/>
              <a:t>end</a:t>
            </a:r>
            <a:r>
              <a:rPr sz="2600" spc="-75" dirty="0"/>
              <a:t> </a:t>
            </a:r>
            <a:r>
              <a:rPr sz="2600" dirty="0"/>
              <a:t>users</a:t>
            </a:r>
            <a:r>
              <a:rPr sz="2600" spc="-65" dirty="0"/>
              <a:t> </a:t>
            </a:r>
            <a:r>
              <a:rPr sz="2600" spc="-10" dirty="0"/>
              <a:t>called</a:t>
            </a:r>
            <a:endParaRPr sz="2600"/>
          </a:p>
          <a:p>
            <a:pPr marL="241300" marR="572135">
              <a:lnSpc>
                <a:spcPct val="70000"/>
              </a:lnSpc>
              <a:spcBef>
                <a:spcPts val="470"/>
              </a:spcBef>
            </a:pPr>
            <a:r>
              <a:rPr sz="2600" dirty="0"/>
              <a:t>clients,</a:t>
            </a:r>
            <a:r>
              <a:rPr sz="2600" spc="-60" dirty="0"/>
              <a:t> </a:t>
            </a:r>
            <a:r>
              <a:rPr sz="2600" dirty="0"/>
              <a:t>to</a:t>
            </a:r>
            <a:r>
              <a:rPr sz="2600" spc="-40" dirty="0"/>
              <a:t> </a:t>
            </a:r>
            <a:r>
              <a:rPr sz="2600" dirty="0"/>
              <a:t>access</a:t>
            </a:r>
            <a:r>
              <a:rPr sz="2600" spc="-55" dirty="0"/>
              <a:t> </a:t>
            </a:r>
            <a:r>
              <a:rPr sz="2600" dirty="0"/>
              <a:t>the</a:t>
            </a:r>
            <a:r>
              <a:rPr sz="2600" spc="-60" dirty="0"/>
              <a:t> </a:t>
            </a:r>
            <a:r>
              <a:rPr sz="2600" dirty="0"/>
              <a:t>resources</a:t>
            </a:r>
            <a:r>
              <a:rPr sz="2600" spc="-55" dirty="0"/>
              <a:t> </a:t>
            </a:r>
            <a:r>
              <a:rPr sz="2600" dirty="0"/>
              <a:t>such</a:t>
            </a:r>
            <a:r>
              <a:rPr sz="2600" spc="-55" dirty="0"/>
              <a:t> </a:t>
            </a:r>
            <a:r>
              <a:rPr sz="2600" dirty="0"/>
              <a:t>as</a:t>
            </a:r>
            <a:r>
              <a:rPr sz="2600" spc="-45" dirty="0"/>
              <a:t> </a:t>
            </a:r>
            <a:r>
              <a:rPr sz="2600" dirty="0"/>
              <a:t>songs,</a:t>
            </a:r>
            <a:r>
              <a:rPr sz="2600" spc="-55" dirty="0"/>
              <a:t> </a:t>
            </a:r>
            <a:r>
              <a:rPr sz="2600" dirty="0"/>
              <a:t>video,</a:t>
            </a:r>
            <a:r>
              <a:rPr sz="2600" spc="-35" dirty="0"/>
              <a:t> </a:t>
            </a:r>
            <a:r>
              <a:rPr sz="2600" dirty="0"/>
              <a:t>etc.</a:t>
            </a:r>
            <a:r>
              <a:rPr sz="2600" spc="-45" dirty="0"/>
              <a:t> </a:t>
            </a:r>
            <a:r>
              <a:rPr sz="2600" dirty="0"/>
              <a:t>from</a:t>
            </a:r>
            <a:r>
              <a:rPr sz="2600" spc="-35" dirty="0"/>
              <a:t> </a:t>
            </a:r>
            <a:r>
              <a:rPr sz="2600" dirty="0"/>
              <a:t>a</a:t>
            </a:r>
            <a:r>
              <a:rPr sz="2600" spc="-40" dirty="0"/>
              <a:t> </a:t>
            </a:r>
            <a:r>
              <a:rPr sz="2600" spc="-10" dirty="0"/>
              <a:t>central </a:t>
            </a:r>
            <a:r>
              <a:rPr sz="2600" dirty="0"/>
              <a:t>computer</a:t>
            </a:r>
            <a:r>
              <a:rPr sz="2600" spc="-55" dirty="0"/>
              <a:t> </a:t>
            </a:r>
            <a:r>
              <a:rPr sz="2600" dirty="0"/>
              <a:t>known</a:t>
            </a:r>
            <a:r>
              <a:rPr sz="2600" spc="-30" dirty="0"/>
              <a:t> </a:t>
            </a:r>
            <a:r>
              <a:rPr sz="2600" dirty="0"/>
              <a:t>as</a:t>
            </a:r>
            <a:r>
              <a:rPr sz="2600" spc="-20" dirty="0"/>
              <a:t> </a:t>
            </a:r>
            <a:r>
              <a:rPr sz="2600" spc="-10" dirty="0"/>
              <a:t>Server.</a:t>
            </a:r>
            <a:endParaRPr sz="2600"/>
          </a:p>
          <a:p>
            <a:pPr marL="241300" marR="67945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/>
              <a:t>The</a:t>
            </a:r>
            <a:r>
              <a:rPr sz="2600" spc="-50" dirty="0"/>
              <a:t> </a:t>
            </a:r>
            <a:r>
              <a:rPr sz="2600" dirty="0"/>
              <a:t>central</a:t>
            </a:r>
            <a:r>
              <a:rPr sz="2600" spc="-55" dirty="0"/>
              <a:t> </a:t>
            </a:r>
            <a:r>
              <a:rPr sz="2600" spc="-10" dirty="0"/>
              <a:t>controller</a:t>
            </a:r>
            <a:r>
              <a:rPr sz="2600" spc="-35" dirty="0"/>
              <a:t> </a:t>
            </a:r>
            <a:r>
              <a:rPr sz="2600" dirty="0"/>
              <a:t>is</a:t>
            </a:r>
            <a:r>
              <a:rPr sz="2600" spc="-30" dirty="0"/>
              <a:t> </a:t>
            </a:r>
            <a:r>
              <a:rPr sz="2600" dirty="0"/>
              <a:t>known</a:t>
            </a:r>
            <a:r>
              <a:rPr sz="2600" spc="-35" dirty="0"/>
              <a:t> </a:t>
            </a:r>
            <a:r>
              <a:rPr sz="2600" dirty="0"/>
              <a:t>as</a:t>
            </a:r>
            <a:r>
              <a:rPr sz="2600" spc="-30" dirty="0"/>
              <a:t> </a:t>
            </a:r>
            <a:r>
              <a:rPr sz="2600" dirty="0"/>
              <a:t>a</a:t>
            </a:r>
            <a:r>
              <a:rPr sz="2600" spc="-60" dirty="0"/>
              <a:t> </a:t>
            </a:r>
            <a:r>
              <a:rPr sz="2600" b="1" dirty="0">
                <a:latin typeface="Calibri"/>
                <a:cs typeface="Calibri"/>
              </a:rPr>
              <a:t>server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dirty="0"/>
              <a:t>while</a:t>
            </a:r>
            <a:r>
              <a:rPr sz="2600" spc="-45" dirty="0"/>
              <a:t> </a:t>
            </a:r>
            <a:r>
              <a:rPr sz="2600" dirty="0"/>
              <a:t>all</a:t>
            </a:r>
            <a:r>
              <a:rPr sz="2600" spc="-30" dirty="0"/>
              <a:t> </a:t>
            </a:r>
            <a:r>
              <a:rPr sz="2600" dirty="0"/>
              <a:t>other</a:t>
            </a:r>
            <a:r>
              <a:rPr sz="2600" spc="-35" dirty="0"/>
              <a:t> </a:t>
            </a:r>
            <a:r>
              <a:rPr sz="2600" dirty="0"/>
              <a:t>computers</a:t>
            </a:r>
            <a:r>
              <a:rPr sz="2600" spc="-55" dirty="0"/>
              <a:t> </a:t>
            </a:r>
            <a:r>
              <a:rPr sz="2600" dirty="0"/>
              <a:t>in</a:t>
            </a:r>
            <a:r>
              <a:rPr sz="2600" spc="-35" dirty="0"/>
              <a:t> </a:t>
            </a:r>
            <a:r>
              <a:rPr sz="2600" spc="-25" dirty="0"/>
              <a:t>the </a:t>
            </a:r>
            <a:r>
              <a:rPr sz="2600" dirty="0"/>
              <a:t>network</a:t>
            </a:r>
            <a:r>
              <a:rPr sz="2600" spc="-85" dirty="0"/>
              <a:t> </a:t>
            </a:r>
            <a:r>
              <a:rPr sz="2600" dirty="0"/>
              <a:t>are</a:t>
            </a:r>
            <a:r>
              <a:rPr sz="2600" spc="-70" dirty="0"/>
              <a:t> </a:t>
            </a:r>
            <a:r>
              <a:rPr sz="2600" dirty="0"/>
              <a:t>called</a:t>
            </a:r>
            <a:r>
              <a:rPr sz="2600" spc="-85" dirty="0"/>
              <a:t> </a:t>
            </a:r>
            <a:r>
              <a:rPr sz="2600" b="1" spc="-10" dirty="0">
                <a:latin typeface="Calibri"/>
                <a:cs typeface="Calibri"/>
              </a:rPr>
              <a:t>clients</a:t>
            </a:r>
            <a:r>
              <a:rPr sz="2600" spc="-10" dirty="0"/>
              <a:t>.</a:t>
            </a:r>
            <a:endParaRPr sz="2600">
              <a:latin typeface="Calibri"/>
              <a:cs typeface="Calibri"/>
            </a:endParaRPr>
          </a:p>
          <a:p>
            <a:pPr marL="241300" marR="436245" indent="-228600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/>
              <a:t>A</a:t>
            </a:r>
            <a:r>
              <a:rPr sz="2600" spc="-35" dirty="0"/>
              <a:t> </a:t>
            </a:r>
            <a:r>
              <a:rPr sz="2600" dirty="0"/>
              <a:t>server</a:t>
            </a:r>
            <a:r>
              <a:rPr sz="2600" spc="-50" dirty="0"/>
              <a:t> </a:t>
            </a:r>
            <a:r>
              <a:rPr sz="2600" dirty="0"/>
              <a:t>performs</a:t>
            </a:r>
            <a:r>
              <a:rPr sz="2600" spc="-40" dirty="0"/>
              <a:t> </a:t>
            </a:r>
            <a:r>
              <a:rPr sz="2600" dirty="0"/>
              <a:t>all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55" dirty="0"/>
              <a:t> </a:t>
            </a:r>
            <a:r>
              <a:rPr sz="2600" dirty="0"/>
              <a:t>major</a:t>
            </a:r>
            <a:r>
              <a:rPr sz="2600" spc="-20" dirty="0"/>
              <a:t> </a:t>
            </a:r>
            <a:r>
              <a:rPr sz="2600" dirty="0"/>
              <a:t>operations</a:t>
            </a:r>
            <a:r>
              <a:rPr sz="2600" spc="-40" dirty="0"/>
              <a:t> </a:t>
            </a:r>
            <a:r>
              <a:rPr sz="2600" dirty="0"/>
              <a:t>such</a:t>
            </a:r>
            <a:r>
              <a:rPr sz="2600" spc="-50" dirty="0"/>
              <a:t> </a:t>
            </a:r>
            <a:r>
              <a:rPr sz="2600" dirty="0"/>
              <a:t>as</a:t>
            </a:r>
            <a:r>
              <a:rPr sz="2600" spc="-40" dirty="0"/>
              <a:t> </a:t>
            </a:r>
            <a:r>
              <a:rPr sz="2600" dirty="0"/>
              <a:t>security</a:t>
            </a:r>
            <a:r>
              <a:rPr sz="2600" spc="-60" dirty="0"/>
              <a:t> </a:t>
            </a:r>
            <a:r>
              <a:rPr sz="2600" dirty="0"/>
              <a:t>and</a:t>
            </a:r>
            <a:r>
              <a:rPr sz="2600" spc="-35" dirty="0"/>
              <a:t> </a:t>
            </a:r>
            <a:r>
              <a:rPr sz="2600" spc="-10" dirty="0"/>
              <a:t>network management.</a:t>
            </a:r>
            <a:endParaRPr sz="2600"/>
          </a:p>
          <a:p>
            <a:pPr marL="241300" marR="1210945" indent="-228600">
              <a:lnSpc>
                <a:spcPct val="7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/>
              <a:t>A</a:t>
            </a:r>
            <a:r>
              <a:rPr sz="2600" spc="-30" dirty="0"/>
              <a:t> </a:t>
            </a:r>
            <a:r>
              <a:rPr sz="2600" dirty="0"/>
              <a:t>server</a:t>
            </a:r>
            <a:r>
              <a:rPr sz="2600" spc="-50" dirty="0"/>
              <a:t> </a:t>
            </a:r>
            <a:r>
              <a:rPr sz="2600" dirty="0"/>
              <a:t>is</a:t>
            </a:r>
            <a:r>
              <a:rPr sz="2600" spc="-35" dirty="0"/>
              <a:t> </a:t>
            </a:r>
            <a:r>
              <a:rPr sz="2600" dirty="0"/>
              <a:t>responsible</a:t>
            </a:r>
            <a:r>
              <a:rPr sz="2600" spc="-60" dirty="0"/>
              <a:t> </a:t>
            </a:r>
            <a:r>
              <a:rPr sz="2600" dirty="0"/>
              <a:t>for</a:t>
            </a:r>
            <a:r>
              <a:rPr sz="2600" spc="-30" dirty="0"/>
              <a:t> </a:t>
            </a:r>
            <a:r>
              <a:rPr sz="2600" dirty="0"/>
              <a:t>managing</a:t>
            </a:r>
            <a:r>
              <a:rPr sz="2600" spc="-25" dirty="0"/>
              <a:t> </a:t>
            </a:r>
            <a:r>
              <a:rPr sz="2600" dirty="0"/>
              <a:t>all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30" dirty="0"/>
              <a:t> </a:t>
            </a:r>
            <a:r>
              <a:rPr sz="2600" dirty="0"/>
              <a:t>resources</a:t>
            </a:r>
            <a:r>
              <a:rPr sz="2600" spc="-60" dirty="0"/>
              <a:t> </a:t>
            </a:r>
            <a:r>
              <a:rPr sz="2600" dirty="0"/>
              <a:t>such</a:t>
            </a:r>
            <a:r>
              <a:rPr sz="2600" spc="-50" dirty="0"/>
              <a:t> </a:t>
            </a:r>
            <a:r>
              <a:rPr sz="2600" dirty="0"/>
              <a:t>as</a:t>
            </a:r>
            <a:r>
              <a:rPr sz="2600" spc="-35" dirty="0"/>
              <a:t> </a:t>
            </a:r>
            <a:r>
              <a:rPr sz="2600" spc="-10" dirty="0"/>
              <a:t>files, </a:t>
            </a:r>
            <a:r>
              <a:rPr sz="2600" dirty="0"/>
              <a:t>directories,</a:t>
            </a:r>
            <a:r>
              <a:rPr sz="2600" spc="-90" dirty="0"/>
              <a:t> </a:t>
            </a:r>
            <a:r>
              <a:rPr sz="2600" spc="-30" dirty="0"/>
              <a:t>printer,</a:t>
            </a:r>
            <a:r>
              <a:rPr sz="2600" spc="-90" dirty="0"/>
              <a:t> </a:t>
            </a:r>
            <a:r>
              <a:rPr sz="2600" spc="-20" dirty="0"/>
              <a:t>etc.</a:t>
            </a:r>
            <a:endParaRPr sz="2600"/>
          </a:p>
          <a:p>
            <a:pPr marL="241300" indent="-228600">
              <a:lnSpc>
                <a:spcPts val="2650"/>
              </a:lnSpc>
              <a:spcBef>
                <a:spcPts val="6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/>
              <a:t>All</a:t>
            </a:r>
            <a:r>
              <a:rPr sz="2600" spc="-55" dirty="0"/>
              <a:t> </a:t>
            </a:r>
            <a:r>
              <a:rPr sz="2600" dirty="0"/>
              <a:t>the</a:t>
            </a:r>
            <a:r>
              <a:rPr sz="2600" spc="-55" dirty="0"/>
              <a:t> </a:t>
            </a:r>
            <a:r>
              <a:rPr sz="2600" dirty="0"/>
              <a:t>clients</a:t>
            </a:r>
            <a:r>
              <a:rPr sz="2600" spc="-75" dirty="0"/>
              <a:t> </a:t>
            </a:r>
            <a:r>
              <a:rPr sz="2600" dirty="0"/>
              <a:t>communicate</a:t>
            </a:r>
            <a:r>
              <a:rPr sz="2600" spc="-55" dirty="0"/>
              <a:t> </a:t>
            </a:r>
            <a:r>
              <a:rPr sz="2600" dirty="0"/>
              <a:t>with</a:t>
            </a:r>
            <a:r>
              <a:rPr sz="2600" spc="-50" dirty="0"/>
              <a:t> </a:t>
            </a:r>
            <a:r>
              <a:rPr sz="2600" dirty="0"/>
              <a:t>each</a:t>
            </a:r>
            <a:r>
              <a:rPr sz="2600" spc="-55" dirty="0"/>
              <a:t> </a:t>
            </a:r>
            <a:r>
              <a:rPr sz="2600" dirty="0"/>
              <a:t>other</a:t>
            </a:r>
            <a:r>
              <a:rPr sz="2600" spc="-45" dirty="0"/>
              <a:t> </a:t>
            </a:r>
            <a:r>
              <a:rPr sz="2600" dirty="0"/>
              <a:t>through</a:t>
            </a:r>
            <a:r>
              <a:rPr sz="2600" spc="-60" dirty="0"/>
              <a:t> </a:t>
            </a:r>
            <a:r>
              <a:rPr sz="2600" dirty="0"/>
              <a:t>a</a:t>
            </a:r>
            <a:r>
              <a:rPr sz="2600" spc="-45" dirty="0"/>
              <a:t> </a:t>
            </a:r>
            <a:r>
              <a:rPr sz="2600" spc="-30" dirty="0"/>
              <a:t>server.</a:t>
            </a:r>
            <a:r>
              <a:rPr sz="2600" spc="-65" dirty="0"/>
              <a:t> </a:t>
            </a:r>
            <a:r>
              <a:rPr sz="2600" dirty="0"/>
              <a:t>For</a:t>
            </a:r>
            <a:r>
              <a:rPr sz="2600" spc="-35" dirty="0"/>
              <a:t> </a:t>
            </a:r>
            <a:r>
              <a:rPr sz="2600" spc="-10" dirty="0"/>
              <a:t>example,</a:t>
            </a:r>
            <a:endParaRPr sz="2600"/>
          </a:p>
          <a:p>
            <a:pPr marL="241300">
              <a:lnSpc>
                <a:spcPts val="2185"/>
              </a:lnSpc>
            </a:pPr>
            <a:r>
              <a:rPr sz="2600" dirty="0"/>
              <a:t>if</a:t>
            </a:r>
            <a:r>
              <a:rPr sz="2600" spc="-35" dirty="0"/>
              <a:t> </a:t>
            </a:r>
            <a:r>
              <a:rPr sz="2600" dirty="0"/>
              <a:t>client1</a:t>
            </a:r>
            <a:r>
              <a:rPr sz="2600" spc="-65" dirty="0"/>
              <a:t> </a:t>
            </a:r>
            <a:r>
              <a:rPr sz="2600" dirty="0"/>
              <a:t>wants</a:t>
            </a:r>
            <a:r>
              <a:rPr sz="2600" spc="-35" dirty="0"/>
              <a:t> </a:t>
            </a:r>
            <a:r>
              <a:rPr sz="2600" dirty="0"/>
              <a:t>to</a:t>
            </a:r>
            <a:r>
              <a:rPr sz="2600" spc="-40" dirty="0"/>
              <a:t> </a:t>
            </a:r>
            <a:r>
              <a:rPr sz="2600" dirty="0"/>
              <a:t>send</a:t>
            </a:r>
            <a:r>
              <a:rPr sz="2600" spc="-50" dirty="0"/>
              <a:t> </a:t>
            </a:r>
            <a:r>
              <a:rPr sz="2600" dirty="0"/>
              <a:t>some</a:t>
            </a:r>
            <a:r>
              <a:rPr sz="2600" spc="-45" dirty="0"/>
              <a:t> </a:t>
            </a:r>
            <a:r>
              <a:rPr sz="2600" dirty="0"/>
              <a:t>data</a:t>
            </a:r>
            <a:r>
              <a:rPr sz="2600" spc="-35" dirty="0"/>
              <a:t> </a:t>
            </a:r>
            <a:r>
              <a:rPr sz="2600" dirty="0"/>
              <a:t>to</a:t>
            </a:r>
            <a:r>
              <a:rPr sz="2600" spc="-30" dirty="0"/>
              <a:t> </a:t>
            </a:r>
            <a:r>
              <a:rPr sz="2600" dirty="0"/>
              <a:t>client</a:t>
            </a:r>
            <a:r>
              <a:rPr sz="2600" spc="-50" dirty="0"/>
              <a:t> </a:t>
            </a:r>
            <a:r>
              <a:rPr sz="2600" dirty="0"/>
              <a:t>2,</a:t>
            </a:r>
            <a:r>
              <a:rPr sz="2600" spc="-35" dirty="0"/>
              <a:t> </a:t>
            </a:r>
            <a:r>
              <a:rPr sz="2600" dirty="0"/>
              <a:t>then</a:t>
            </a:r>
            <a:r>
              <a:rPr sz="2600" spc="-50" dirty="0"/>
              <a:t> </a:t>
            </a:r>
            <a:r>
              <a:rPr sz="2600" dirty="0"/>
              <a:t>it</a:t>
            </a:r>
            <a:r>
              <a:rPr sz="2600" spc="-35" dirty="0"/>
              <a:t> </a:t>
            </a:r>
            <a:r>
              <a:rPr sz="2600" dirty="0"/>
              <a:t>first</a:t>
            </a:r>
            <a:r>
              <a:rPr sz="2600" spc="-40" dirty="0"/>
              <a:t> </a:t>
            </a:r>
            <a:r>
              <a:rPr sz="2600" dirty="0"/>
              <a:t>sends</a:t>
            </a:r>
            <a:r>
              <a:rPr sz="2600" spc="-70" dirty="0"/>
              <a:t> </a:t>
            </a:r>
            <a:r>
              <a:rPr sz="2600" dirty="0"/>
              <a:t>the</a:t>
            </a:r>
            <a:r>
              <a:rPr sz="2600" spc="-50" dirty="0"/>
              <a:t> </a:t>
            </a:r>
            <a:r>
              <a:rPr sz="2600" spc="-10" dirty="0"/>
              <a:t>request</a:t>
            </a:r>
            <a:endParaRPr sz="2600"/>
          </a:p>
          <a:p>
            <a:pPr marL="241300" marR="741045">
              <a:lnSpc>
                <a:spcPct val="70000"/>
              </a:lnSpc>
              <a:spcBef>
                <a:spcPts val="465"/>
              </a:spcBef>
            </a:pPr>
            <a:r>
              <a:rPr sz="2600" dirty="0"/>
              <a:t>to</a:t>
            </a:r>
            <a:r>
              <a:rPr sz="2600" spc="-35" dirty="0"/>
              <a:t> </a:t>
            </a:r>
            <a:r>
              <a:rPr sz="2600" dirty="0"/>
              <a:t>the</a:t>
            </a:r>
            <a:r>
              <a:rPr sz="2600" spc="-25" dirty="0"/>
              <a:t> </a:t>
            </a:r>
            <a:r>
              <a:rPr sz="2600" dirty="0"/>
              <a:t>server</a:t>
            </a:r>
            <a:r>
              <a:rPr sz="2600" spc="-45" dirty="0"/>
              <a:t> </a:t>
            </a:r>
            <a:r>
              <a:rPr sz="2600" dirty="0"/>
              <a:t>for</a:t>
            </a:r>
            <a:r>
              <a:rPr sz="2600" spc="-15" dirty="0"/>
              <a:t> </a:t>
            </a:r>
            <a:r>
              <a:rPr sz="2600" dirty="0"/>
              <a:t>the</a:t>
            </a:r>
            <a:r>
              <a:rPr sz="2600" spc="-45" dirty="0"/>
              <a:t> </a:t>
            </a:r>
            <a:r>
              <a:rPr sz="2600" dirty="0"/>
              <a:t>permission.</a:t>
            </a:r>
            <a:r>
              <a:rPr sz="2600" spc="-45" dirty="0"/>
              <a:t> </a:t>
            </a:r>
            <a:r>
              <a:rPr sz="2600" dirty="0"/>
              <a:t>The</a:t>
            </a:r>
            <a:r>
              <a:rPr sz="2600" spc="-45" dirty="0"/>
              <a:t> </a:t>
            </a:r>
            <a:r>
              <a:rPr sz="2600" dirty="0"/>
              <a:t>server</a:t>
            </a:r>
            <a:r>
              <a:rPr sz="2600" spc="-45" dirty="0"/>
              <a:t> </a:t>
            </a:r>
            <a:r>
              <a:rPr sz="2600" dirty="0"/>
              <a:t>sends</a:t>
            </a:r>
            <a:r>
              <a:rPr sz="2600" spc="-60" dirty="0"/>
              <a:t> </a:t>
            </a:r>
            <a:r>
              <a:rPr sz="2600" dirty="0"/>
              <a:t>the</a:t>
            </a:r>
            <a:r>
              <a:rPr sz="2600" spc="-35" dirty="0"/>
              <a:t> </a:t>
            </a:r>
            <a:r>
              <a:rPr sz="2600" dirty="0"/>
              <a:t>response</a:t>
            </a:r>
            <a:r>
              <a:rPr sz="2600" spc="-60" dirty="0"/>
              <a:t> </a:t>
            </a:r>
            <a:r>
              <a:rPr sz="2600" dirty="0"/>
              <a:t>to</a:t>
            </a:r>
            <a:r>
              <a:rPr sz="2600" spc="-30" dirty="0"/>
              <a:t> </a:t>
            </a:r>
            <a:r>
              <a:rPr sz="2600" spc="-25" dirty="0"/>
              <a:t>the </a:t>
            </a:r>
            <a:r>
              <a:rPr sz="2600" dirty="0"/>
              <a:t>client</a:t>
            </a:r>
            <a:r>
              <a:rPr sz="2600" spc="-70" dirty="0"/>
              <a:t> </a:t>
            </a:r>
            <a:r>
              <a:rPr sz="2600" dirty="0"/>
              <a:t>1</a:t>
            </a:r>
            <a:r>
              <a:rPr sz="2600" spc="-45" dirty="0"/>
              <a:t> </a:t>
            </a:r>
            <a:r>
              <a:rPr sz="2600" dirty="0"/>
              <a:t>to</a:t>
            </a:r>
            <a:r>
              <a:rPr sz="2600" spc="-45" dirty="0"/>
              <a:t> </a:t>
            </a:r>
            <a:r>
              <a:rPr sz="2600" dirty="0"/>
              <a:t>initiate</a:t>
            </a:r>
            <a:r>
              <a:rPr sz="2600" spc="-60" dirty="0"/>
              <a:t> </a:t>
            </a:r>
            <a:r>
              <a:rPr sz="2600" dirty="0"/>
              <a:t>its</a:t>
            </a:r>
            <a:r>
              <a:rPr sz="2600" spc="-50" dirty="0"/>
              <a:t> </a:t>
            </a:r>
            <a:r>
              <a:rPr sz="2600" dirty="0"/>
              <a:t>communication</a:t>
            </a:r>
            <a:r>
              <a:rPr sz="2600" spc="-60" dirty="0"/>
              <a:t> </a:t>
            </a:r>
            <a:r>
              <a:rPr sz="2600" dirty="0"/>
              <a:t>with</a:t>
            </a:r>
            <a:r>
              <a:rPr sz="2600" spc="-45" dirty="0"/>
              <a:t> </a:t>
            </a:r>
            <a:r>
              <a:rPr sz="2600" dirty="0"/>
              <a:t>the</a:t>
            </a:r>
            <a:r>
              <a:rPr sz="2600" spc="-60" dirty="0"/>
              <a:t> </a:t>
            </a:r>
            <a:r>
              <a:rPr sz="2600" dirty="0"/>
              <a:t>client</a:t>
            </a:r>
            <a:r>
              <a:rPr sz="2600" spc="-65" dirty="0"/>
              <a:t> </a:t>
            </a:r>
            <a:r>
              <a:rPr sz="2600" spc="-25" dirty="0"/>
              <a:t>2.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55065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Peer-</a:t>
            </a:r>
            <a:r>
              <a:rPr spc="-150" dirty="0"/>
              <a:t>To-</a:t>
            </a:r>
            <a:r>
              <a:rPr dirty="0"/>
              <a:t>Peer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2606" y="2729160"/>
            <a:ext cx="3581069" cy="26013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55065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Peer-</a:t>
            </a:r>
            <a:r>
              <a:rPr spc="-150" dirty="0"/>
              <a:t>To-</a:t>
            </a:r>
            <a:r>
              <a:rPr dirty="0"/>
              <a:t>Peer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345420" cy="39065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Peer-</a:t>
            </a:r>
            <a:r>
              <a:rPr sz="2800" spc="-95" dirty="0">
                <a:latin typeface="Calibri"/>
                <a:cs typeface="Calibri"/>
              </a:rPr>
              <a:t>To-</a:t>
            </a:r>
            <a:r>
              <a:rPr sz="2800" dirty="0">
                <a:latin typeface="Calibri"/>
                <a:cs typeface="Calibri"/>
              </a:rPr>
              <a:t>Peer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	</a:t>
            </a:r>
            <a:r>
              <a:rPr sz="2800" dirty="0">
                <a:latin typeface="Calibri"/>
                <a:cs typeface="Calibri"/>
              </a:rPr>
              <a:t>linked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together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privilege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responsibilities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processing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  <a:p>
            <a:pPr marL="240029" marR="273685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Peer-</a:t>
            </a:r>
            <a:r>
              <a:rPr sz="2800" spc="-95" dirty="0">
                <a:latin typeface="Calibri"/>
                <a:cs typeface="Calibri"/>
              </a:rPr>
              <a:t>To-</a:t>
            </a:r>
            <a:r>
              <a:rPr sz="2800" dirty="0">
                <a:latin typeface="Calibri"/>
                <a:cs typeface="Calibri"/>
              </a:rPr>
              <a:t>Peer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useful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small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environments,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usually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computers.</a:t>
            </a:r>
            <a:endParaRPr sz="28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latin typeface="Calibri"/>
                <a:cs typeface="Calibri"/>
              </a:rPr>
              <a:t>Peer-</a:t>
            </a:r>
            <a:r>
              <a:rPr sz="2800" spc="-105" dirty="0">
                <a:latin typeface="Calibri"/>
                <a:cs typeface="Calibri"/>
              </a:rPr>
              <a:t>To-</a:t>
            </a:r>
            <a:r>
              <a:rPr sz="2800" dirty="0">
                <a:latin typeface="Calibri"/>
                <a:cs typeface="Calibri"/>
              </a:rPr>
              <a:t>Peer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dedicated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  <a:p>
            <a:pPr marL="240029" marR="563880" indent="-227329" algn="just">
              <a:lnSpc>
                <a:spcPts val="302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Special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permissions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sharing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resources,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resource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down.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1473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Point-</a:t>
            </a:r>
            <a:r>
              <a:rPr spc="-150" dirty="0"/>
              <a:t>To-</a:t>
            </a:r>
            <a:r>
              <a:rPr dirty="0"/>
              <a:t>Point</a:t>
            </a:r>
            <a:r>
              <a:rPr spc="-12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3255" y="2805683"/>
            <a:ext cx="4285488" cy="23911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1473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Point-</a:t>
            </a:r>
            <a:r>
              <a:rPr spc="-150" dirty="0"/>
              <a:t>To-</a:t>
            </a:r>
            <a:r>
              <a:rPr dirty="0"/>
              <a:t>Point</a:t>
            </a:r>
            <a:r>
              <a:rPr spc="-12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9820275" cy="339597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74739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point-</a:t>
            </a:r>
            <a:r>
              <a:rPr sz="2800" spc="-20" dirty="0">
                <a:latin typeface="Calibri"/>
                <a:cs typeface="Calibri"/>
              </a:rPr>
              <a:t>to-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scheme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 	</a:t>
            </a:r>
            <a:r>
              <a:rPr sz="2800" dirty="0">
                <a:latin typeface="Calibri"/>
                <a:cs typeface="Calibri"/>
              </a:rPr>
              <a:t>channels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pair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one 	another,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grows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quickly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 	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increases.</a:t>
            </a:r>
            <a:endParaRPr sz="2800">
              <a:latin typeface="Calibri"/>
              <a:cs typeface="Calibri"/>
            </a:endParaRPr>
          </a:p>
          <a:p>
            <a:pPr marL="240029" marR="573405" indent="-227329">
              <a:lnSpc>
                <a:spcPct val="90000"/>
              </a:lnSpc>
              <a:spcBef>
                <a:spcPts val="9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Above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illustrates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one 	</a:t>
            </a:r>
            <a:r>
              <a:rPr sz="2800" dirty="0">
                <a:latin typeface="Calibri"/>
                <a:cs typeface="Calibri"/>
              </a:rPr>
              <a:t>connection,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four 	</a:t>
            </a:r>
            <a:r>
              <a:rPr sz="2800" spc="-10" dirty="0">
                <a:latin typeface="Calibri"/>
                <a:cs typeface="Calibri"/>
              </a:rPr>
              <a:t>computers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six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1365" y="3541598"/>
            <a:ext cx="55797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Network</a:t>
            </a:r>
            <a:r>
              <a:rPr sz="6000" spc="-114" dirty="0"/>
              <a:t> </a:t>
            </a:r>
            <a:r>
              <a:rPr sz="6000" spc="-535" dirty="0"/>
              <a:t>T</a:t>
            </a:r>
            <a:r>
              <a:rPr sz="6000" spc="5" dirty="0"/>
              <a:t>opology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6982" y="609676"/>
            <a:ext cx="41008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spc="-95" dirty="0"/>
              <a:t> </a:t>
            </a:r>
            <a:r>
              <a:rPr spc="-45" dirty="0"/>
              <a:t>Topology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marR="508000" indent="-227329">
              <a:lnSpc>
                <a:spcPct val="8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b="1" i="1" dirty="0">
                <a:latin typeface="Calibri"/>
                <a:cs typeface="Calibri"/>
              </a:rPr>
              <a:t>Network</a:t>
            </a:r>
            <a:r>
              <a:rPr b="1" i="1" spc="-45" dirty="0">
                <a:latin typeface="Calibri"/>
                <a:cs typeface="Calibri"/>
              </a:rPr>
              <a:t> </a:t>
            </a:r>
            <a:r>
              <a:rPr b="1" i="1" spc="-20" dirty="0">
                <a:latin typeface="Calibri"/>
                <a:cs typeface="Calibri"/>
              </a:rPr>
              <a:t>Topology</a:t>
            </a:r>
            <a:r>
              <a:rPr b="1" i="1" spc="-60" dirty="0">
                <a:latin typeface="Calibri"/>
                <a:cs typeface="Calibri"/>
              </a:rPr>
              <a:t> </a:t>
            </a:r>
            <a:r>
              <a:rPr spc="-20" dirty="0"/>
              <a:t>refers</a:t>
            </a:r>
            <a:r>
              <a:rPr spc="-7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layout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network</a:t>
            </a:r>
            <a:r>
              <a:rPr spc="-6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25" dirty="0"/>
              <a:t>how 	</a:t>
            </a:r>
            <a:r>
              <a:rPr spc="-10" dirty="0"/>
              <a:t>different</a:t>
            </a:r>
            <a:r>
              <a:rPr spc="-65" dirty="0"/>
              <a:t> </a:t>
            </a:r>
            <a:r>
              <a:rPr dirty="0"/>
              <a:t>nodes</a:t>
            </a:r>
            <a:r>
              <a:rPr spc="-5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network</a:t>
            </a:r>
            <a:r>
              <a:rPr spc="-65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spc="-10" dirty="0"/>
              <a:t>connected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each</a:t>
            </a:r>
            <a:r>
              <a:rPr spc="-70" dirty="0"/>
              <a:t> </a:t>
            </a:r>
            <a:r>
              <a:rPr dirty="0"/>
              <a:t>other</a:t>
            </a:r>
            <a:r>
              <a:rPr spc="-5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25" dirty="0"/>
              <a:t>how 	</a:t>
            </a:r>
            <a:r>
              <a:rPr dirty="0"/>
              <a:t>they</a:t>
            </a:r>
            <a:r>
              <a:rPr spc="-55" dirty="0"/>
              <a:t> </a:t>
            </a:r>
            <a:r>
              <a:rPr spc="-10" dirty="0"/>
              <a:t>communicate.</a:t>
            </a:r>
          </a:p>
          <a:p>
            <a:pPr marL="240029" marR="5080" indent="-227329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pc="-20" dirty="0"/>
              <a:t>Topologies</a:t>
            </a:r>
            <a:r>
              <a:rPr spc="-65" dirty="0"/>
              <a:t> </a:t>
            </a:r>
            <a:r>
              <a:rPr dirty="0"/>
              <a:t>are</a:t>
            </a:r>
            <a:r>
              <a:rPr spc="-80" dirty="0"/>
              <a:t> </a:t>
            </a:r>
            <a:r>
              <a:rPr dirty="0"/>
              <a:t>either</a:t>
            </a:r>
            <a:r>
              <a:rPr spc="-65" dirty="0"/>
              <a:t> </a:t>
            </a:r>
            <a:r>
              <a:rPr spc="-10" dirty="0"/>
              <a:t>physical</a:t>
            </a:r>
            <a:r>
              <a:rPr spc="-45" dirty="0"/>
              <a:t> </a:t>
            </a:r>
            <a:r>
              <a:rPr dirty="0"/>
              <a:t>(the</a:t>
            </a:r>
            <a:r>
              <a:rPr spc="-65" dirty="0"/>
              <a:t> </a:t>
            </a:r>
            <a:r>
              <a:rPr spc="-10" dirty="0"/>
              <a:t>physical</a:t>
            </a:r>
            <a:r>
              <a:rPr spc="-45" dirty="0"/>
              <a:t> </a:t>
            </a:r>
            <a:r>
              <a:rPr dirty="0"/>
              <a:t>layout</a:t>
            </a:r>
            <a:r>
              <a:rPr spc="-6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devices</a:t>
            </a:r>
            <a:r>
              <a:rPr spc="-55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spc="-50" dirty="0"/>
              <a:t>a 	</a:t>
            </a:r>
            <a:r>
              <a:rPr dirty="0"/>
              <a:t>network)</a:t>
            </a:r>
            <a:r>
              <a:rPr spc="-55" dirty="0"/>
              <a:t> </a:t>
            </a:r>
            <a:r>
              <a:rPr dirty="0"/>
              <a:t>or</a:t>
            </a:r>
            <a:r>
              <a:rPr spc="-50" dirty="0"/>
              <a:t> </a:t>
            </a:r>
            <a:r>
              <a:rPr dirty="0"/>
              <a:t>logical</a:t>
            </a:r>
            <a:r>
              <a:rPr spc="-60" dirty="0"/>
              <a:t> </a:t>
            </a:r>
            <a:r>
              <a:rPr dirty="0"/>
              <a:t>(the</a:t>
            </a:r>
            <a:r>
              <a:rPr spc="-50" dirty="0"/>
              <a:t> </a:t>
            </a:r>
            <a:r>
              <a:rPr dirty="0"/>
              <a:t>way</a:t>
            </a:r>
            <a:r>
              <a:rPr spc="-7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signals</a:t>
            </a:r>
            <a:r>
              <a:rPr spc="-45" dirty="0"/>
              <a:t> </a:t>
            </a:r>
            <a:r>
              <a:rPr dirty="0"/>
              <a:t>act</a:t>
            </a:r>
            <a:r>
              <a:rPr spc="-60" dirty="0"/>
              <a:t> </a:t>
            </a:r>
            <a:r>
              <a:rPr dirty="0"/>
              <a:t>on</a:t>
            </a:r>
            <a:r>
              <a:rPr spc="-5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network 	</a:t>
            </a:r>
            <a:r>
              <a:rPr dirty="0"/>
              <a:t>media,</a:t>
            </a:r>
            <a:r>
              <a:rPr spc="-70" dirty="0"/>
              <a:t> </a:t>
            </a:r>
            <a:r>
              <a:rPr dirty="0"/>
              <a:t>or</a:t>
            </a:r>
            <a:r>
              <a:rPr spc="-8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way</a:t>
            </a:r>
            <a:r>
              <a:rPr spc="-80" dirty="0"/>
              <a:t> </a:t>
            </a:r>
            <a:r>
              <a:rPr dirty="0"/>
              <a:t>that</a:t>
            </a:r>
            <a:r>
              <a:rPr spc="-8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data</a:t>
            </a:r>
            <a:r>
              <a:rPr spc="-75" dirty="0"/>
              <a:t> </a:t>
            </a:r>
            <a:r>
              <a:rPr dirty="0"/>
              <a:t>passes</a:t>
            </a:r>
            <a:r>
              <a:rPr spc="-55" dirty="0"/>
              <a:t> </a:t>
            </a:r>
            <a:r>
              <a:rPr dirty="0"/>
              <a:t>through</a:t>
            </a:r>
            <a:r>
              <a:rPr spc="-5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network</a:t>
            </a:r>
            <a:r>
              <a:rPr spc="-80" dirty="0"/>
              <a:t> </a:t>
            </a:r>
            <a:r>
              <a:rPr dirty="0"/>
              <a:t>from</a:t>
            </a:r>
            <a:r>
              <a:rPr spc="-60" dirty="0"/>
              <a:t> </a:t>
            </a:r>
            <a:r>
              <a:rPr spc="-25" dirty="0"/>
              <a:t>one 	</a:t>
            </a:r>
            <a:r>
              <a:rPr dirty="0"/>
              <a:t>device</a:t>
            </a:r>
            <a:r>
              <a:rPr spc="-5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next).</a:t>
            </a:r>
          </a:p>
          <a:p>
            <a:pPr marL="697230" lvl="1" indent="-227329">
              <a:lnSpc>
                <a:spcPts val="279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Bus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Topology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80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Ring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Topology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80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Star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Topology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84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Mesh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Topology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3285">
              <a:lnSpc>
                <a:spcPct val="100000"/>
              </a:lnSpc>
              <a:spcBef>
                <a:spcPts val="105"/>
              </a:spcBef>
            </a:pPr>
            <a:r>
              <a:rPr dirty="0"/>
              <a:t>Bus</a:t>
            </a:r>
            <a:r>
              <a:rPr spc="-20" dirty="0"/>
              <a:t> </a:t>
            </a:r>
            <a:r>
              <a:rPr spc="-5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757"/>
            <a:ext cx="10252075" cy="46729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356870" indent="-228600">
              <a:lnSpc>
                <a:spcPts val="2500"/>
              </a:lnSpc>
              <a:spcBef>
                <a:spcPts val="7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networking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central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cable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wire)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connects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all </a:t>
            </a:r>
            <a:r>
              <a:rPr sz="2600" dirty="0">
                <a:latin typeface="Calibri"/>
                <a:cs typeface="Calibri"/>
              </a:rPr>
              <a:t>devices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local-</a:t>
            </a:r>
            <a:r>
              <a:rPr sz="2600" dirty="0">
                <a:latin typeface="Calibri"/>
                <a:cs typeface="Calibri"/>
              </a:rPr>
              <a:t>area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(LAN).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also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backbone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marR="415925" indent="-228600">
              <a:lnSpc>
                <a:spcPts val="25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often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describe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connections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composing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0" dirty="0">
                <a:latin typeface="Calibri"/>
                <a:cs typeface="Calibri"/>
              </a:rPr>
              <a:t> Internet.</a:t>
            </a:r>
            <a:endParaRPr sz="2600">
              <a:latin typeface="Calibri"/>
              <a:cs typeface="Calibri"/>
            </a:endParaRPr>
          </a:p>
          <a:p>
            <a:pPr marL="241300" marR="1029969" indent="-228600">
              <a:lnSpc>
                <a:spcPts val="25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Bus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networks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relatively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inexpensive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easy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install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small networks.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Ethernet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topology.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  <a:tab pos="2728595" algn="l"/>
              </a:tabLst>
            </a:pPr>
            <a:r>
              <a:rPr sz="2600" b="1" dirty="0">
                <a:latin typeface="Calibri"/>
                <a:cs typeface="Calibri"/>
              </a:rPr>
              <a:t>Main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Advantage:</a:t>
            </a:r>
            <a:r>
              <a:rPr sz="2600" b="1" dirty="0">
                <a:latin typeface="Calibri"/>
                <a:cs typeface="Calibri"/>
              </a:rPr>
              <a:t>	</a:t>
            </a:r>
            <a:r>
              <a:rPr sz="2600" dirty="0">
                <a:latin typeface="Calibri"/>
                <a:cs typeface="Calibri"/>
              </a:rPr>
              <a:t>It's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easy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connect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computer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device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typically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it </a:t>
            </a:r>
            <a:r>
              <a:rPr sz="2600" dirty="0">
                <a:latin typeface="Calibri"/>
                <a:cs typeface="Calibri"/>
              </a:rPr>
              <a:t>requires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less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cable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topology.</a:t>
            </a:r>
            <a:endParaRPr sz="2600">
              <a:latin typeface="Calibri"/>
              <a:cs typeface="Calibri"/>
            </a:endParaRPr>
          </a:p>
          <a:p>
            <a:pPr marL="241300" marR="93980" indent="-228600">
              <a:lnSpc>
                <a:spcPts val="25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Main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Disadvantage: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entire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shuts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down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break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wire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difficult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network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6333235"/>
            <a:ext cx="165481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shuts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down.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82005" y="6426809"/>
            <a:ext cx="5892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24525" algn="l"/>
              </a:tabLst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Designed</a:t>
            </a: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by,</a:t>
            </a: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Adil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Khan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	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3285">
              <a:lnSpc>
                <a:spcPct val="100000"/>
              </a:lnSpc>
              <a:spcBef>
                <a:spcPts val="105"/>
              </a:spcBef>
            </a:pPr>
            <a:r>
              <a:rPr dirty="0"/>
              <a:t>Bus</a:t>
            </a:r>
            <a:r>
              <a:rPr spc="-20" dirty="0"/>
              <a:t> </a:t>
            </a:r>
            <a:r>
              <a:rPr spc="-50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552" y="1825751"/>
            <a:ext cx="10216896" cy="46177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69464">
              <a:lnSpc>
                <a:spcPct val="100000"/>
              </a:lnSpc>
              <a:spcBef>
                <a:spcPts val="105"/>
              </a:spcBef>
            </a:pPr>
            <a:r>
              <a:rPr dirty="0"/>
              <a:t>Ring </a:t>
            </a:r>
            <a:r>
              <a:rPr spc="-5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233660" cy="360870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local-</a:t>
            </a:r>
            <a:r>
              <a:rPr sz="2800" dirty="0">
                <a:latin typeface="Calibri"/>
                <a:cs typeface="Calibri"/>
              </a:rPr>
              <a:t>area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(LAN)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whose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topology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ring.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closed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loop.</a:t>
            </a:r>
            <a:endParaRPr sz="2800">
              <a:latin typeface="Calibri"/>
              <a:cs typeface="Calibri"/>
            </a:endParaRPr>
          </a:p>
          <a:p>
            <a:pPr marL="240029" marR="90170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Messages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travel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around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ring,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those 	</a:t>
            </a:r>
            <a:r>
              <a:rPr sz="2800" dirty="0">
                <a:latin typeface="Calibri"/>
                <a:cs typeface="Calibri"/>
              </a:rPr>
              <a:t>messages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Main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Advantage: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advantage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can 	</a:t>
            </a:r>
            <a:r>
              <a:rPr sz="2800" dirty="0">
                <a:latin typeface="Calibri"/>
                <a:cs typeface="Calibri"/>
              </a:rPr>
              <a:t>span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distances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bus 	</a:t>
            </a:r>
            <a:r>
              <a:rPr sz="2800" spc="-10" dirty="0">
                <a:latin typeface="Calibri"/>
                <a:cs typeface="Calibri"/>
              </a:rPr>
              <a:t>networks,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regenerates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messages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pass 	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69464">
              <a:lnSpc>
                <a:spcPct val="100000"/>
              </a:lnSpc>
              <a:spcBef>
                <a:spcPts val="105"/>
              </a:spcBef>
            </a:pPr>
            <a:r>
              <a:rPr dirty="0"/>
              <a:t>Ring </a:t>
            </a:r>
            <a:r>
              <a:rPr spc="-50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4979" y="1825751"/>
            <a:ext cx="8702040" cy="43510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13915">
              <a:lnSpc>
                <a:spcPct val="100000"/>
              </a:lnSpc>
              <a:spcBef>
                <a:spcPts val="105"/>
              </a:spcBef>
            </a:pPr>
            <a:r>
              <a:rPr dirty="0"/>
              <a:t>Star</a:t>
            </a:r>
            <a:r>
              <a:rPr spc="-80" dirty="0"/>
              <a:t> </a:t>
            </a:r>
            <a:r>
              <a:rPr spc="-5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53980" cy="35223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7937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central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computer,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called 	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hub.</a:t>
            </a:r>
            <a:endParaRPr sz="2800">
              <a:latin typeface="Calibri"/>
              <a:cs typeface="Calibri"/>
            </a:endParaRPr>
          </a:p>
          <a:p>
            <a:pPr marL="240029" marR="10477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Nodes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across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20" dirty="0">
                <a:latin typeface="Calibri"/>
                <a:cs typeface="Calibri"/>
              </a:rPr>
              <a:t>hub.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Main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Advantage: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malfunctioning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doesn't 	affect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network.</a:t>
            </a:r>
            <a:endParaRPr sz="2800">
              <a:latin typeface="Calibri"/>
              <a:cs typeface="Calibri"/>
            </a:endParaRPr>
          </a:p>
          <a:p>
            <a:pPr marL="240029" marR="135890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Main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Disadvantage: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central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fails,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 	</a:t>
            </a:r>
            <a:r>
              <a:rPr sz="2800" dirty="0">
                <a:latin typeface="Calibri"/>
                <a:cs typeface="Calibri"/>
              </a:rPr>
              <a:t>becomes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unusable.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13915">
              <a:lnSpc>
                <a:spcPct val="100000"/>
              </a:lnSpc>
              <a:spcBef>
                <a:spcPts val="105"/>
              </a:spcBef>
            </a:pPr>
            <a:r>
              <a:rPr dirty="0"/>
              <a:t>Star</a:t>
            </a:r>
            <a:r>
              <a:rPr spc="-80" dirty="0"/>
              <a:t> </a:t>
            </a:r>
            <a:r>
              <a:rPr spc="-50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4979" y="1825751"/>
            <a:ext cx="8702040" cy="43510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29130">
              <a:lnSpc>
                <a:spcPct val="100000"/>
              </a:lnSpc>
              <a:spcBef>
                <a:spcPts val="105"/>
              </a:spcBef>
            </a:pPr>
            <a:r>
              <a:rPr dirty="0"/>
              <a:t>Mesh</a:t>
            </a:r>
            <a:r>
              <a:rPr spc="-20" dirty="0"/>
              <a:t> </a:t>
            </a:r>
            <a:r>
              <a:rPr spc="-50" dirty="0"/>
              <a:t>Topology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036175" cy="30321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2514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redundant 	interconnections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nodes.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topology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 	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topologies: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Full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Topology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Partial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Topology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29130">
              <a:lnSpc>
                <a:spcPct val="100000"/>
              </a:lnSpc>
              <a:spcBef>
                <a:spcPts val="105"/>
              </a:spcBef>
            </a:pPr>
            <a:r>
              <a:rPr dirty="0"/>
              <a:t>Mesh</a:t>
            </a:r>
            <a:r>
              <a:rPr spc="-20" dirty="0"/>
              <a:t> </a:t>
            </a:r>
            <a:r>
              <a:rPr spc="-50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4979" y="1825751"/>
            <a:ext cx="8702040" cy="43510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8628" y="3541598"/>
            <a:ext cx="516445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Network</a:t>
            </a:r>
            <a:r>
              <a:rPr sz="6000" spc="-105" dirty="0"/>
              <a:t> </a:t>
            </a:r>
            <a:r>
              <a:rPr sz="6000" spc="-10" dirty="0"/>
              <a:t>Devices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36545"/>
            <a:ext cx="1421776" cy="118835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3007" y="649935"/>
            <a:ext cx="4220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04040"/>
                </a:solidFill>
              </a:rPr>
              <a:t>RJ-45</a:t>
            </a:r>
            <a:r>
              <a:rPr spc="-20" dirty="0">
                <a:solidFill>
                  <a:srgbClr val="404040"/>
                </a:solidFill>
              </a:rPr>
              <a:t> CONNECTOR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539" y="1816430"/>
            <a:ext cx="7828280" cy="38373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90C224"/>
              </a:buClr>
              <a:buSzPct val="77500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Registered</a:t>
            </a:r>
            <a:r>
              <a:rPr sz="2000" b="1" spc="-1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Jack-45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connector</a:t>
            </a:r>
            <a:r>
              <a:rPr sz="20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commonly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network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cabling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telephony</a:t>
            </a:r>
            <a:r>
              <a:rPr sz="2000" spc="-3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applications.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90C224"/>
              </a:buClr>
              <a:buSzPct val="77500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eight</a:t>
            </a:r>
            <a:r>
              <a:rPr sz="2000" spc="-1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wire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connector</a:t>
            </a:r>
            <a:r>
              <a:rPr sz="20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endParaRPr sz="2000">
              <a:latin typeface="Trebuchet MS"/>
              <a:cs typeface="Trebuchet MS"/>
            </a:endParaRPr>
          </a:p>
          <a:p>
            <a:pPr marL="317500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commonly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connect</a:t>
            </a:r>
            <a:r>
              <a:rPr sz="2000" spc="-3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computers</a:t>
            </a:r>
            <a:endParaRPr sz="2000">
              <a:latin typeface="Trebuchet MS"/>
              <a:cs typeface="Trebuchet MS"/>
            </a:endParaRPr>
          </a:p>
          <a:p>
            <a:pPr marL="3175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local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area</a:t>
            </a:r>
            <a:r>
              <a:rPr sz="2000" spc="-2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networks,</a:t>
            </a:r>
            <a:endParaRPr sz="2000">
              <a:latin typeface="Trebuchet MS"/>
              <a:cs typeface="Trebuchet MS"/>
            </a:endParaRPr>
          </a:p>
          <a:p>
            <a:pPr marL="547370">
              <a:lnSpc>
                <a:spcPct val="100000"/>
              </a:lnSpc>
              <a:spcBef>
                <a:spcPts val="1645"/>
              </a:spcBef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especially</a:t>
            </a:r>
            <a:r>
              <a:rPr sz="2000" spc="-1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Ethernets.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Clr>
                <a:srgbClr val="90C224"/>
              </a:buClr>
              <a:buSzPct val="70000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2000" spc="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similar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telephone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connector</a:t>
            </a:r>
            <a:r>
              <a:rPr sz="20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RJ-11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except</a:t>
            </a:r>
            <a:r>
              <a:rPr sz="20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has</a:t>
            </a:r>
            <a:endParaRPr sz="2000">
              <a:latin typeface="Trebuchet MS"/>
              <a:cs typeface="Trebuchet MS"/>
            </a:endParaRPr>
          </a:p>
          <a:p>
            <a:pPr marL="393700">
              <a:lnSpc>
                <a:spcPct val="100000"/>
              </a:lnSpc>
              <a:spcBef>
                <a:spcPts val="1639"/>
              </a:spcBef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eight</a:t>
            </a:r>
            <a:r>
              <a:rPr sz="2000" spc="-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wires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compared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4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000" spc="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RJ-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11.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3725" y="2895600"/>
            <a:ext cx="3228975" cy="30321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36545"/>
            <a:ext cx="1421776" cy="118835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2415" y="649935"/>
            <a:ext cx="1501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Switch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894" y="1545971"/>
            <a:ext cx="234695" cy="2179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2894" y="1930019"/>
            <a:ext cx="234695" cy="2179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2894" y="2230247"/>
            <a:ext cx="234695" cy="2179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2894" y="4205985"/>
            <a:ext cx="234695" cy="2179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88794" y="1358924"/>
            <a:ext cx="7172325" cy="3742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080">
              <a:lnSpc>
                <a:spcPct val="157500"/>
              </a:lnSpc>
              <a:spcBef>
                <a:spcPts val="100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switch</a:t>
            </a:r>
            <a:r>
              <a:rPr sz="1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network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device</a:t>
            </a:r>
            <a:r>
              <a:rPr sz="1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filters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forwards</a:t>
            </a:r>
            <a:r>
              <a:rPr sz="1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packets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across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network.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network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switch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computer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networking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device</a:t>
            </a:r>
            <a:r>
              <a:rPr sz="1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connects</a:t>
            </a:r>
            <a:r>
              <a:rPr sz="1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network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segments.</a:t>
            </a:r>
            <a:endParaRPr sz="160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  <a:spcBef>
                <a:spcPts val="445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Network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switches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capableof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inspecting</a:t>
            </a:r>
            <a:r>
              <a:rPr sz="1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packets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endParaRPr sz="1600">
              <a:latin typeface="Calibri"/>
              <a:cs typeface="Calibri"/>
            </a:endParaRPr>
          </a:p>
          <a:p>
            <a:pPr marL="12700" marR="4680585">
              <a:lnSpc>
                <a:spcPct val="135000"/>
              </a:lnSpc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received,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determining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source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 destination</a:t>
            </a:r>
            <a:r>
              <a:rPr sz="16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device</a:t>
            </a:r>
            <a:endParaRPr sz="1600">
              <a:latin typeface="Calibri"/>
              <a:cs typeface="Calibri"/>
            </a:endParaRPr>
          </a:p>
          <a:p>
            <a:pPr marL="12700" marR="4721860">
              <a:lnSpc>
                <a:spcPct val="131400"/>
              </a:lnSpc>
              <a:spcBef>
                <a:spcPts val="325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packet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andforwarding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appropriately.</a:t>
            </a:r>
            <a:endParaRPr sz="160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  <a:spcBef>
                <a:spcPts val="490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Switches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differ</a:t>
            </a:r>
            <a:r>
              <a:rPr sz="1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1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hubs</a:t>
            </a:r>
            <a:r>
              <a:rPr sz="1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endParaRPr sz="1600">
              <a:latin typeface="Calibri"/>
              <a:cs typeface="Calibri"/>
            </a:endParaRPr>
          </a:p>
          <a:p>
            <a:pPr marL="12700" marR="4533265">
              <a:lnSpc>
                <a:spcPts val="2650"/>
              </a:lnSpc>
              <a:spcBef>
                <a:spcPts val="90"/>
              </a:spcBef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16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ports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different speed.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7572" y="3700691"/>
            <a:ext cx="3831268" cy="12020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931" y="236545"/>
            <a:ext cx="1421776" cy="118835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4190" y="649935"/>
            <a:ext cx="2035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Repeater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194" y="1393063"/>
            <a:ext cx="809117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2870" indent="-342900">
              <a:lnSpc>
                <a:spcPct val="100000"/>
              </a:lnSpc>
              <a:spcBef>
                <a:spcPts val="105"/>
              </a:spcBef>
              <a:buClr>
                <a:srgbClr val="90C224"/>
              </a:buClr>
              <a:buSzPct val="77500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device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amplifies</a:t>
            </a:r>
            <a:r>
              <a:rPr sz="20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restores</a:t>
            </a:r>
            <a:r>
              <a:rPr sz="2000" spc="-20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signal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being</a:t>
            </a:r>
            <a:r>
              <a:rPr sz="2000" spc="-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transmitted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network.</a:t>
            </a: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Clr>
                <a:srgbClr val="90C224"/>
              </a:buClr>
              <a:buSzPct val="77500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2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repeater</a:t>
            </a:r>
            <a:r>
              <a:rPr sz="2000" b="1" spc="-2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electronic</a:t>
            </a:r>
            <a:r>
              <a:rPr sz="2000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device</a:t>
            </a:r>
            <a:r>
              <a:rPr sz="20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receives</a:t>
            </a:r>
            <a:r>
              <a:rPr sz="2000" spc="-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weak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2000" spc="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low-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level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signal</a:t>
            </a: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retransmits</a:t>
            </a:r>
            <a:r>
              <a:rPr sz="2000" spc="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2000" spc="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higher</a:t>
            </a:r>
            <a:r>
              <a:rPr sz="2000" spc="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level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higher</a:t>
            </a:r>
            <a:r>
              <a:rPr sz="2000" spc="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Trebuchet MS"/>
                <a:cs typeface="Trebuchet MS"/>
              </a:rPr>
              <a:t>power,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so</a:t>
            </a: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that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signal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cover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longer</a:t>
            </a:r>
            <a:r>
              <a:rPr sz="2000" spc="-1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distances</a:t>
            </a:r>
            <a:r>
              <a:rPr sz="2000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without</a:t>
            </a:r>
            <a:r>
              <a:rPr sz="20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degradation.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90C224"/>
              </a:buClr>
              <a:buSzPct val="77500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long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network</a:t>
            </a:r>
            <a:r>
              <a:rPr sz="20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lines.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05000" y="3303309"/>
            <a:ext cx="8556625" cy="3364229"/>
            <a:chOff x="1905000" y="3303309"/>
            <a:chExt cx="8556625" cy="33642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5685" y="3303309"/>
              <a:ext cx="2525485" cy="10746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0" y="4038599"/>
              <a:ext cx="6248400" cy="26289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931" y="236545"/>
            <a:ext cx="1421776" cy="118835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3083" y="651459"/>
            <a:ext cx="1477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Bridge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894" y="1463928"/>
            <a:ext cx="457200" cy="277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894" y="2435936"/>
            <a:ext cx="457200" cy="2776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98522" y="1368933"/>
            <a:ext cx="7378700" cy="24612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145" marR="5080" indent="-3175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network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device</a:t>
            </a:r>
            <a:r>
              <a:rPr sz="24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connects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more</a:t>
            </a:r>
            <a:r>
              <a:rPr sz="2400" spc="2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local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area</a:t>
            </a:r>
            <a:r>
              <a:rPr sz="24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networks</a:t>
            </a:r>
            <a:r>
              <a:rPr sz="24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(LANs)</a:t>
            </a:r>
            <a:r>
              <a:rPr sz="2400" spc="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together.</a:t>
            </a:r>
            <a:endParaRPr sz="2400">
              <a:latin typeface="Trebuchet MS"/>
              <a:cs typeface="Trebuchet MS"/>
            </a:endParaRPr>
          </a:p>
          <a:p>
            <a:pPr marL="17145" marR="184785" indent="-5080">
              <a:lnSpc>
                <a:spcPct val="100000"/>
              </a:lnSpc>
              <a:spcBef>
                <a:spcPts val="1870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computer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networks,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bridge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device</a:t>
            </a:r>
            <a:r>
              <a:rPr sz="24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that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connects</a:t>
            </a:r>
            <a:r>
              <a:rPr sz="24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local</a:t>
            </a:r>
            <a:r>
              <a:rPr sz="24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area</a:t>
            </a:r>
            <a:r>
              <a:rPr sz="24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network</a:t>
            </a:r>
            <a:r>
              <a:rPr sz="24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(LAN)</a:t>
            </a:r>
            <a:r>
              <a:rPr sz="24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24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local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area</a:t>
            </a:r>
            <a:r>
              <a:rPr sz="24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network</a:t>
            </a:r>
            <a:r>
              <a:rPr sz="24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24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uses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4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software.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0" y="4572000"/>
            <a:ext cx="2485644" cy="12192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4600" y="4040123"/>
            <a:ext cx="4572000" cy="2514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931" y="236545"/>
            <a:ext cx="1421776" cy="118835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894" y="1483486"/>
            <a:ext cx="371856" cy="2194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3094" y="492516"/>
            <a:ext cx="7546340" cy="184150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R="134620" algn="ctr">
              <a:lnSpc>
                <a:spcPct val="100000"/>
              </a:lnSpc>
              <a:spcBef>
                <a:spcPts val="1345"/>
              </a:spcBef>
            </a:pPr>
            <a:r>
              <a:rPr spc="-10" dirty="0"/>
              <a:t>Router</a:t>
            </a:r>
          </a:p>
          <a:p>
            <a:pPr marL="12700" marR="5080">
              <a:lnSpc>
                <a:spcPct val="100000"/>
              </a:lnSpc>
              <a:spcBef>
                <a:spcPts val="570"/>
              </a:spcBef>
              <a:tabLst>
                <a:tab pos="1164590" algn="l"/>
              </a:tabLst>
            </a:pP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Router</a:t>
            </a:r>
            <a:r>
              <a:rPr sz="20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	a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specialized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network</a:t>
            </a:r>
            <a:r>
              <a:rPr sz="2000" spc="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device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interconnect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different</a:t>
            </a:r>
            <a:r>
              <a:rPr sz="2000" spc="-2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types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computer network</a:t>
            </a:r>
            <a:r>
              <a:rPr sz="2000" spc="-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uses</a:t>
            </a:r>
            <a:r>
              <a:rPr sz="20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different</a:t>
            </a:r>
            <a:r>
              <a:rPr sz="2000" spc="-1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Hardware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software</a:t>
            </a:r>
            <a:r>
              <a:rPr sz="2000" spc="-2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format.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894" y="2977260"/>
            <a:ext cx="371856" cy="2194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894" y="4221226"/>
            <a:ext cx="371856" cy="2194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60194" y="2786862"/>
            <a:ext cx="6595109" cy="167513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890"/>
              </a:spcBef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25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router</a:t>
            </a:r>
            <a:r>
              <a:rPr sz="20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20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2000" spc="-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connect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90C224"/>
              </a:buClr>
              <a:buSzPct val="775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Local</a:t>
            </a:r>
            <a:r>
              <a:rPr sz="2000" spc="-2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Area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Network</a:t>
            </a:r>
            <a:r>
              <a:rPr sz="20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(LAN)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2000" spc="-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LAN,</a:t>
            </a:r>
            <a:endParaRPr sz="2000">
              <a:latin typeface="Trebuchet MS"/>
              <a:cs typeface="Trebuchet MS"/>
            </a:endParaRPr>
          </a:p>
          <a:p>
            <a:pPr marL="431165" indent="-418465">
              <a:lnSpc>
                <a:spcPct val="100000"/>
              </a:lnSpc>
              <a:spcBef>
                <a:spcPts val="805"/>
              </a:spcBef>
              <a:buClr>
                <a:srgbClr val="90C224"/>
              </a:buClr>
              <a:buSzPct val="77500"/>
              <a:buFont typeface="Wingdings"/>
              <a:buChar char=""/>
              <a:tabLst>
                <a:tab pos="43116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Wide</a:t>
            </a:r>
            <a:r>
              <a:rPr sz="2000" spc="-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Area</a:t>
            </a:r>
            <a:r>
              <a:rPr sz="2000" spc="-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Network</a:t>
            </a:r>
            <a:r>
              <a:rPr sz="20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(WAN)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2000" spc="-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WAN,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1000"/>
              </a:spcBef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Routers</a:t>
            </a:r>
            <a:r>
              <a:rPr sz="2000" spc="-20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transmit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packets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through</a:t>
            </a:r>
            <a:r>
              <a:rPr sz="2000" spc="-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these</a:t>
            </a:r>
            <a:r>
              <a:rPr sz="2000" spc="-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networks.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1264" y="5325018"/>
            <a:ext cx="3097800" cy="56801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09800" y="4419600"/>
            <a:ext cx="4466844" cy="2286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931" y="236545"/>
            <a:ext cx="1421776" cy="118835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3815" y="649935"/>
            <a:ext cx="195833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Gateway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9094" y="1463928"/>
            <a:ext cx="457200" cy="277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9094" y="2820670"/>
            <a:ext cx="457200" cy="277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9094" y="3704285"/>
            <a:ext cx="457200" cy="2776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9094" y="4177284"/>
            <a:ext cx="457200" cy="2773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74722" y="1368933"/>
            <a:ext cx="7576184" cy="3473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145" marR="208915" indent="-3175">
              <a:lnSpc>
                <a:spcPct val="100800"/>
              </a:lnSpc>
              <a:spcBef>
                <a:spcPts val="75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1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gateway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network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point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acts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entrance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network.</a:t>
            </a:r>
            <a:endParaRPr sz="2400">
              <a:latin typeface="Trebuchet MS"/>
              <a:cs typeface="Trebuchet MS"/>
            </a:endParaRPr>
          </a:p>
          <a:p>
            <a:pPr marL="504825">
              <a:lnSpc>
                <a:spcPct val="100000"/>
              </a:lnSpc>
              <a:spcBef>
                <a:spcPts val="1175"/>
              </a:spcBef>
            </a:pP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endParaRPr sz="2400">
              <a:latin typeface="Trebuchet MS"/>
              <a:cs typeface="Trebuchet MS"/>
            </a:endParaRPr>
          </a:p>
          <a:p>
            <a:pPr marL="17145" marR="679450" indent="-5080">
              <a:lnSpc>
                <a:spcPct val="100800"/>
              </a:lnSpc>
              <a:spcBef>
                <a:spcPts val="819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node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network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serves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entrance</a:t>
            </a:r>
            <a:r>
              <a:rPr sz="2400" spc="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24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network.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gateway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sz="24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software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24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both.</a:t>
            </a:r>
            <a:endParaRPr sz="2400">
              <a:latin typeface="Trebuchet MS"/>
              <a:cs typeface="Trebuchet MS"/>
            </a:endParaRPr>
          </a:p>
          <a:p>
            <a:pPr marL="17145" marR="20955" indent="-5080">
              <a:lnSpc>
                <a:spcPct val="100800"/>
              </a:lnSpc>
              <a:spcBef>
                <a:spcPts val="819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router</a:t>
            </a:r>
            <a:r>
              <a:rPr sz="24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,firewall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server</a:t>
            </a:r>
            <a:r>
              <a:rPr sz="24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work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gateway</a:t>
            </a:r>
            <a:r>
              <a:rPr sz="2400" spc="2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in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computer</a:t>
            </a:r>
            <a:r>
              <a:rPr sz="24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network.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2545" y="4519282"/>
            <a:ext cx="4237254" cy="198438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931" y="236545"/>
            <a:ext cx="1421776" cy="118835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4683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Transmission</a:t>
            </a:r>
            <a:r>
              <a:rPr spc="-170" dirty="0"/>
              <a:t> </a:t>
            </a:r>
            <a:r>
              <a:rPr spc="-10"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33025" cy="173418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19685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transmission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simplex,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half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duplex,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full 	</a:t>
            </a:r>
            <a:r>
              <a:rPr sz="2800" spc="-10" dirty="0">
                <a:latin typeface="Calibri"/>
                <a:cs typeface="Calibri"/>
              </a:rPr>
              <a:t>duplex.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4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Transmission </a:t>
            </a:r>
            <a:r>
              <a:rPr sz="2800" dirty="0">
                <a:latin typeface="Calibri"/>
                <a:cs typeface="Calibri"/>
              </a:rPr>
              <a:t>mode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direction,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flow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 	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devices.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392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97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Simplex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0029" marR="387985" indent="-227329" algn="just">
              <a:lnSpc>
                <a:spcPts val="2690"/>
              </a:lnSpc>
              <a:spcBef>
                <a:spcPts val="7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spc="-80" dirty="0"/>
              <a:t> </a:t>
            </a:r>
            <a:r>
              <a:rPr dirty="0"/>
              <a:t>simplex</a:t>
            </a:r>
            <a:r>
              <a:rPr spc="-35" dirty="0"/>
              <a:t> </a:t>
            </a:r>
            <a:r>
              <a:rPr spc="-10" dirty="0"/>
              <a:t>transmission</a:t>
            </a:r>
            <a:r>
              <a:rPr spc="-25" dirty="0"/>
              <a:t> </a:t>
            </a:r>
            <a:r>
              <a:rPr dirty="0"/>
              <a:t>mode,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communication</a:t>
            </a:r>
            <a:r>
              <a:rPr spc="-45" dirty="0"/>
              <a:t> </a:t>
            </a:r>
            <a:r>
              <a:rPr dirty="0"/>
              <a:t>between</a:t>
            </a:r>
            <a:r>
              <a:rPr spc="-75" dirty="0"/>
              <a:t> </a:t>
            </a:r>
            <a:r>
              <a:rPr spc="-10" dirty="0"/>
              <a:t>sender 	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receiver</a:t>
            </a:r>
            <a:r>
              <a:rPr spc="-60" dirty="0"/>
              <a:t> </a:t>
            </a:r>
            <a:r>
              <a:rPr dirty="0"/>
              <a:t>occurs</a:t>
            </a:r>
            <a:r>
              <a:rPr spc="-3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only</a:t>
            </a:r>
            <a:r>
              <a:rPr spc="-55" dirty="0"/>
              <a:t> </a:t>
            </a:r>
            <a:r>
              <a:rPr dirty="0"/>
              <a:t>one</a:t>
            </a:r>
            <a:r>
              <a:rPr spc="-40" dirty="0"/>
              <a:t> </a:t>
            </a:r>
            <a:r>
              <a:rPr spc="-10" dirty="0"/>
              <a:t>direction.</a:t>
            </a:r>
          </a:p>
          <a:p>
            <a:pPr marL="240029" marR="221615" indent="-227329" algn="just">
              <a:lnSpc>
                <a:spcPts val="269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sender</a:t>
            </a:r>
            <a:r>
              <a:rPr spc="-40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only</a:t>
            </a:r>
            <a:r>
              <a:rPr spc="-55" dirty="0"/>
              <a:t> </a:t>
            </a:r>
            <a:r>
              <a:rPr dirty="0"/>
              <a:t>send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data,</a:t>
            </a:r>
            <a:r>
              <a:rPr spc="-5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receiver</a:t>
            </a:r>
            <a:r>
              <a:rPr spc="-75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only</a:t>
            </a:r>
            <a:r>
              <a:rPr spc="-60" dirty="0"/>
              <a:t> </a:t>
            </a:r>
            <a:r>
              <a:rPr spc="-10" dirty="0"/>
              <a:t>receive 	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data.</a:t>
            </a:r>
            <a:r>
              <a:rPr spc="5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receiver</a:t>
            </a:r>
            <a:r>
              <a:rPr spc="-65" dirty="0"/>
              <a:t> </a:t>
            </a:r>
            <a:r>
              <a:rPr dirty="0"/>
              <a:t>cannot</a:t>
            </a:r>
            <a:r>
              <a:rPr spc="-30" dirty="0"/>
              <a:t> </a:t>
            </a:r>
            <a:r>
              <a:rPr dirty="0"/>
              <a:t>reply</a:t>
            </a:r>
            <a:r>
              <a:rPr spc="-5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sender.</a:t>
            </a:r>
          </a:p>
          <a:p>
            <a:pPr marL="240029" marR="327660" indent="-227329" algn="just">
              <a:lnSpc>
                <a:spcPts val="26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Simplex</a:t>
            </a:r>
            <a:r>
              <a:rPr spc="-40" dirty="0"/>
              <a:t> </a:t>
            </a:r>
            <a:r>
              <a:rPr spc="-10" dirty="0"/>
              <a:t>transmission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dirty="0"/>
              <a:t>thought</a:t>
            </a:r>
            <a:r>
              <a:rPr spc="-4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as</a:t>
            </a:r>
            <a:r>
              <a:rPr spc="-6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35" dirty="0"/>
              <a:t>one-</a:t>
            </a:r>
            <a:r>
              <a:rPr dirty="0"/>
              <a:t>way</a:t>
            </a:r>
            <a:r>
              <a:rPr spc="-55" dirty="0"/>
              <a:t> </a:t>
            </a:r>
            <a:r>
              <a:rPr dirty="0"/>
              <a:t>road</a:t>
            </a:r>
            <a:r>
              <a:rPr spc="-5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which 	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traffic</a:t>
            </a:r>
            <a:r>
              <a:rPr spc="-70" dirty="0"/>
              <a:t> </a:t>
            </a:r>
            <a:r>
              <a:rPr spc="-10" dirty="0"/>
              <a:t>travels</a:t>
            </a:r>
            <a:r>
              <a:rPr spc="-50" dirty="0"/>
              <a:t> </a:t>
            </a:r>
            <a:r>
              <a:rPr dirty="0"/>
              <a:t>only</a:t>
            </a:r>
            <a:r>
              <a:rPr spc="-5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one</a:t>
            </a:r>
            <a:r>
              <a:rPr spc="-40" dirty="0"/>
              <a:t> </a:t>
            </a:r>
            <a:r>
              <a:rPr spc="-30" dirty="0"/>
              <a:t>direction—</a:t>
            </a:r>
            <a:r>
              <a:rPr dirty="0"/>
              <a:t>no</a:t>
            </a:r>
            <a:r>
              <a:rPr spc="-25" dirty="0"/>
              <a:t> </a:t>
            </a:r>
            <a:r>
              <a:rPr dirty="0"/>
              <a:t>vehicle</a:t>
            </a:r>
            <a:r>
              <a:rPr spc="-55" dirty="0"/>
              <a:t> </a:t>
            </a:r>
            <a:r>
              <a:rPr dirty="0"/>
              <a:t>coming</a:t>
            </a:r>
            <a:r>
              <a:rPr spc="-40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spc="-25" dirty="0"/>
              <a:t>the 	</a:t>
            </a:r>
            <a:r>
              <a:rPr dirty="0"/>
              <a:t>opposite</a:t>
            </a:r>
            <a:r>
              <a:rPr spc="-70" dirty="0"/>
              <a:t> </a:t>
            </a:r>
            <a:r>
              <a:rPr dirty="0"/>
              <a:t>direction</a:t>
            </a:r>
            <a:r>
              <a:rPr spc="-65" dirty="0"/>
              <a:t> </a:t>
            </a:r>
            <a:r>
              <a:rPr dirty="0"/>
              <a:t>is</a:t>
            </a:r>
            <a:r>
              <a:rPr spc="-90" dirty="0"/>
              <a:t> </a:t>
            </a:r>
            <a:r>
              <a:rPr dirty="0"/>
              <a:t>allowed</a:t>
            </a:r>
            <a:r>
              <a:rPr spc="-90" dirty="0"/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dirty="0"/>
              <a:t>drive</a:t>
            </a:r>
            <a:r>
              <a:rPr spc="-75" dirty="0"/>
              <a:t> </a:t>
            </a:r>
            <a:r>
              <a:rPr spc="-10" dirty="0"/>
              <a:t>through.</a:t>
            </a:r>
          </a:p>
          <a:p>
            <a:pPr marL="240029" marR="5080" indent="-227329">
              <a:lnSpc>
                <a:spcPts val="269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pc="-110" dirty="0"/>
              <a:t>To</a:t>
            </a:r>
            <a:r>
              <a:rPr spc="-50" dirty="0"/>
              <a:t> </a:t>
            </a:r>
            <a:r>
              <a:rPr dirty="0"/>
              <a:t>take</a:t>
            </a:r>
            <a:r>
              <a:rPr spc="-114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keyboard</a:t>
            </a:r>
            <a:r>
              <a:rPr spc="-9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dirty="0"/>
              <a:t>monitor</a:t>
            </a:r>
            <a:r>
              <a:rPr spc="-75" dirty="0"/>
              <a:t> </a:t>
            </a:r>
            <a:r>
              <a:rPr dirty="0"/>
              <a:t>relationship</a:t>
            </a:r>
            <a:r>
              <a:rPr spc="-55" dirty="0"/>
              <a:t> </a:t>
            </a:r>
            <a:r>
              <a:rPr dirty="0"/>
              <a:t>as</a:t>
            </a:r>
            <a:r>
              <a:rPr spc="-70" dirty="0"/>
              <a:t> </a:t>
            </a:r>
            <a:r>
              <a:rPr dirty="0"/>
              <a:t>an</a:t>
            </a:r>
            <a:r>
              <a:rPr spc="-80" dirty="0"/>
              <a:t> </a:t>
            </a:r>
            <a:r>
              <a:rPr spc="-10" dirty="0"/>
              <a:t>example,</a:t>
            </a:r>
            <a:r>
              <a:rPr spc="-75" dirty="0"/>
              <a:t> </a:t>
            </a:r>
            <a:r>
              <a:rPr spc="-25" dirty="0"/>
              <a:t>the</a:t>
            </a:r>
            <a:r>
              <a:rPr spc="700" dirty="0"/>
              <a:t> 	</a:t>
            </a:r>
            <a:r>
              <a:rPr spc="-20" dirty="0"/>
              <a:t>keyboard</a:t>
            </a:r>
            <a:r>
              <a:rPr spc="-65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only</a:t>
            </a:r>
            <a:r>
              <a:rPr spc="-60" dirty="0"/>
              <a:t> </a:t>
            </a:r>
            <a:r>
              <a:rPr dirty="0"/>
              <a:t>send</a:t>
            </a:r>
            <a:r>
              <a:rPr spc="-3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input</a:t>
            </a:r>
            <a:r>
              <a:rPr spc="-4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30" dirty="0"/>
              <a:t>monitor,</a:t>
            </a:r>
            <a:r>
              <a:rPr spc="-4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monitor</a:t>
            </a:r>
            <a:r>
              <a:rPr spc="-35" dirty="0"/>
              <a:t> </a:t>
            </a:r>
            <a:r>
              <a:rPr spc="-25" dirty="0"/>
              <a:t>can 	</a:t>
            </a:r>
            <a:r>
              <a:rPr dirty="0"/>
              <a:t>only</a:t>
            </a:r>
            <a:r>
              <a:rPr spc="-50" dirty="0"/>
              <a:t> </a:t>
            </a:r>
            <a:r>
              <a:rPr dirty="0"/>
              <a:t>receive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input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display</a:t>
            </a:r>
            <a:r>
              <a:rPr spc="-35" dirty="0"/>
              <a:t> </a:t>
            </a:r>
            <a:r>
              <a:rPr dirty="0"/>
              <a:t>it</a:t>
            </a:r>
            <a:r>
              <a:rPr spc="-50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screen.</a:t>
            </a:r>
          </a:p>
          <a:p>
            <a:pPr marL="240029" indent="-227329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monitor</a:t>
            </a:r>
            <a:r>
              <a:rPr spc="-50" dirty="0"/>
              <a:t> </a:t>
            </a:r>
            <a:r>
              <a:rPr dirty="0"/>
              <a:t>cannot</a:t>
            </a:r>
            <a:r>
              <a:rPr spc="-65" dirty="0"/>
              <a:t> </a:t>
            </a:r>
            <a:r>
              <a:rPr spc="-25" dirty="0"/>
              <a:t>reply,</a:t>
            </a:r>
            <a:r>
              <a:rPr spc="-55" dirty="0"/>
              <a:t> </a:t>
            </a:r>
            <a:r>
              <a:rPr dirty="0"/>
              <a:t>or</a:t>
            </a:r>
            <a:r>
              <a:rPr spc="-70" dirty="0"/>
              <a:t> </a:t>
            </a:r>
            <a:r>
              <a:rPr dirty="0"/>
              <a:t>send</a:t>
            </a:r>
            <a:r>
              <a:rPr spc="-45" dirty="0"/>
              <a:t> </a:t>
            </a:r>
            <a:r>
              <a:rPr dirty="0"/>
              <a:t>any</a:t>
            </a:r>
            <a:r>
              <a:rPr spc="-70" dirty="0"/>
              <a:t> </a:t>
            </a:r>
            <a:r>
              <a:rPr dirty="0"/>
              <a:t>feedback,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keyboard.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939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97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Simplex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5511" y="2372867"/>
            <a:ext cx="4762499" cy="325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535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177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Half-Duplex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021570" cy="42906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48196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receiver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occurs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both 	</a:t>
            </a:r>
            <a:r>
              <a:rPr sz="2800" dirty="0">
                <a:latin typeface="Calibri"/>
                <a:cs typeface="Calibri"/>
              </a:rPr>
              <a:t>directions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half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duplex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transmission,</a:t>
            </a:r>
            <a:r>
              <a:rPr sz="2800" dirty="0">
                <a:latin typeface="Calibri"/>
                <a:cs typeface="Calibri"/>
              </a:rPr>
              <a:t> but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receiver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receive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information, 	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time.</a:t>
            </a:r>
            <a:endParaRPr sz="2800">
              <a:latin typeface="Calibri"/>
              <a:cs typeface="Calibri"/>
            </a:endParaRPr>
          </a:p>
          <a:p>
            <a:pPr marL="240029" marR="35496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Half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duplex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still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one-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road,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vehicle 	traveling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opposite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traffic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wait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road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before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through.</a:t>
            </a:r>
            <a:endParaRPr sz="2800">
              <a:latin typeface="Calibri"/>
              <a:cs typeface="Calibri"/>
            </a:endParaRPr>
          </a:p>
          <a:p>
            <a:pPr marL="240029" marR="51435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  <a:tab pos="5464175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walkie-</a:t>
            </a:r>
            <a:r>
              <a:rPr sz="2800" dirty="0">
                <a:latin typeface="Calibri"/>
                <a:cs typeface="Calibri"/>
              </a:rPr>
              <a:t>talkies,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speakers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speak, 	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speak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one.</a:t>
            </a:r>
            <a:r>
              <a:rPr sz="2800" dirty="0">
                <a:latin typeface="Calibri"/>
                <a:cs typeface="Calibri"/>
              </a:rPr>
              <a:t>	They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speak 	simultaneously.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885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177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Half-Duplex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645" y="2714244"/>
            <a:ext cx="2839146" cy="27538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296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6982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Full-</a:t>
            </a:r>
            <a:r>
              <a:rPr spc="-10" dirty="0"/>
              <a:t>Duplex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spc="-65" dirty="0"/>
              <a:t> </a:t>
            </a:r>
            <a:r>
              <a:rPr dirty="0"/>
              <a:t>full</a:t>
            </a:r>
            <a:r>
              <a:rPr spc="-65" dirty="0"/>
              <a:t> </a:t>
            </a:r>
            <a:r>
              <a:rPr dirty="0"/>
              <a:t>duplex</a:t>
            </a:r>
            <a:r>
              <a:rPr spc="-20" dirty="0"/>
              <a:t> </a:t>
            </a:r>
            <a:r>
              <a:rPr spc="-10" dirty="0"/>
              <a:t>transmission</a:t>
            </a:r>
            <a:r>
              <a:rPr spc="-20" dirty="0"/>
              <a:t> </a:t>
            </a:r>
            <a:r>
              <a:rPr dirty="0"/>
              <a:t>mode,</a:t>
            </a:r>
            <a:r>
              <a:rPr spc="-4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communication</a:t>
            </a:r>
            <a:r>
              <a:rPr spc="-20" dirty="0"/>
              <a:t> </a:t>
            </a:r>
            <a:r>
              <a:rPr dirty="0"/>
              <a:t>between</a:t>
            </a:r>
            <a:r>
              <a:rPr spc="-60" dirty="0"/>
              <a:t> </a:t>
            </a:r>
            <a:r>
              <a:rPr spc="-10" dirty="0"/>
              <a:t>sender 	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receiver</a:t>
            </a:r>
            <a:r>
              <a:rPr spc="-70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occur</a:t>
            </a:r>
            <a:r>
              <a:rPr spc="-45" dirty="0"/>
              <a:t> </a:t>
            </a:r>
            <a:r>
              <a:rPr spc="-10" dirty="0"/>
              <a:t>simultaneously.</a:t>
            </a:r>
          </a:p>
          <a:p>
            <a:pPr marL="240029" marR="47180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sender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receiver</a:t>
            </a:r>
            <a:r>
              <a:rPr spc="-80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both</a:t>
            </a:r>
            <a:r>
              <a:rPr spc="-55" dirty="0"/>
              <a:t> </a:t>
            </a:r>
            <a:r>
              <a:rPr dirty="0"/>
              <a:t>transmit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receive</a:t>
            </a:r>
            <a:r>
              <a:rPr spc="-70" dirty="0"/>
              <a:t> </a:t>
            </a:r>
            <a:r>
              <a:rPr dirty="0"/>
              <a:t>at</a:t>
            </a:r>
            <a:r>
              <a:rPr spc="-7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20" dirty="0"/>
              <a:t>same 	</a:t>
            </a:r>
            <a:r>
              <a:rPr spc="-10" dirty="0"/>
              <a:t>time.</a:t>
            </a:r>
          </a:p>
          <a:p>
            <a:pPr marL="240029" marR="22606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Full</a:t>
            </a:r>
            <a:r>
              <a:rPr spc="-65" dirty="0"/>
              <a:t> </a:t>
            </a:r>
            <a:r>
              <a:rPr dirty="0"/>
              <a:t>duplex</a:t>
            </a:r>
            <a:r>
              <a:rPr spc="-40" dirty="0"/>
              <a:t> </a:t>
            </a:r>
            <a:r>
              <a:rPr spc="-10" dirty="0"/>
              <a:t>transmission</a:t>
            </a:r>
            <a:r>
              <a:rPr spc="-30" dirty="0"/>
              <a:t> </a:t>
            </a:r>
            <a:r>
              <a:rPr dirty="0"/>
              <a:t>mode</a:t>
            </a:r>
            <a:r>
              <a:rPr spc="-65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like</a:t>
            </a:r>
            <a:r>
              <a:rPr spc="-7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25" dirty="0"/>
              <a:t>two-</a:t>
            </a:r>
            <a:r>
              <a:rPr dirty="0"/>
              <a:t>way</a:t>
            </a:r>
            <a:r>
              <a:rPr spc="-70" dirty="0"/>
              <a:t> </a:t>
            </a:r>
            <a:r>
              <a:rPr dirty="0"/>
              <a:t>road,</a:t>
            </a:r>
            <a:r>
              <a:rPr spc="-6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which</a:t>
            </a:r>
            <a:r>
              <a:rPr spc="-60" dirty="0"/>
              <a:t> </a:t>
            </a:r>
            <a:r>
              <a:rPr spc="-10" dirty="0"/>
              <a:t>traffic 	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flow</a:t>
            </a:r>
            <a:r>
              <a:rPr spc="-7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both</a:t>
            </a:r>
            <a:r>
              <a:rPr spc="-45" dirty="0"/>
              <a:t> </a:t>
            </a:r>
            <a:r>
              <a:rPr dirty="0"/>
              <a:t>directions</a:t>
            </a:r>
            <a:r>
              <a:rPr spc="-30" dirty="0"/>
              <a:t> </a:t>
            </a:r>
            <a:r>
              <a:rPr dirty="0"/>
              <a:t>at</a:t>
            </a:r>
            <a:r>
              <a:rPr spc="-7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same</a:t>
            </a:r>
            <a:r>
              <a:rPr spc="-60" dirty="0"/>
              <a:t> </a:t>
            </a:r>
            <a:r>
              <a:rPr spc="-10" dirty="0"/>
              <a:t>time.</a:t>
            </a:r>
          </a:p>
          <a:p>
            <a:pPr marL="240029" marR="224790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For</a:t>
            </a:r>
            <a:r>
              <a:rPr spc="-90" dirty="0"/>
              <a:t> </a:t>
            </a:r>
            <a:r>
              <a:rPr spc="-10" dirty="0"/>
              <a:t>example,</a:t>
            </a:r>
            <a:r>
              <a:rPr spc="-70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dirty="0"/>
              <a:t>telephone</a:t>
            </a:r>
            <a:r>
              <a:rPr spc="-60" dirty="0"/>
              <a:t> </a:t>
            </a:r>
            <a:r>
              <a:rPr spc="-10" dirty="0"/>
              <a:t>conversation,</a:t>
            </a:r>
            <a:r>
              <a:rPr spc="-70" dirty="0"/>
              <a:t> </a:t>
            </a:r>
            <a:r>
              <a:rPr dirty="0"/>
              <a:t>two</a:t>
            </a:r>
            <a:r>
              <a:rPr spc="-85" dirty="0"/>
              <a:t> </a:t>
            </a:r>
            <a:r>
              <a:rPr dirty="0"/>
              <a:t>people</a:t>
            </a:r>
            <a:r>
              <a:rPr spc="-65" dirty="0"/>
              <a:t> </a:t>
            </a:r>
            <a:r>
              <a:rPr spc="-10" dirty="0"/>
              <a:t>communicate, 	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both</a:t>
            </a:r>
            <a:r>
              <a:rPr spc="-35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dirty="0"/>
              <a:t>free</a:t>
            </a:r>
            <a:r>
              <a:rPr spc="-5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speak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listen</a:t>
            </a:r>
            <a:r>
              <a:rPr spc="-50" dirty="0"/>
              <a:t> </a:t>
            </a:r>
            <a:r>
              <a:rPr dirty="0"/>
              <a:t>at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same</a:t>
            </a:r>
            <a:r>
              <a:rPr spc="-50" dirty="0"/>
              <a:t> </a:t>
            </a:r>
            <a:r>
              <a:rPr spc="-10" dirty="0"/>
              <a:t>time.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270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6982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Full-</a:t>
            </a:r>
            <a:r>
              <a:rPr spc="-10" dirty="0"/>
              <a:t>Duplex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0162" y="2882950"/>
            <a:ext cx="7602721" cy="31715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4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6888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Difference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819275"/>
          <a:ext cx="10515600" cy="4027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6707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098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Basis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Comparison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Simple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0814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Half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Duplex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8775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Full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Duplex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Direction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of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Communication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unidirectional.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Communication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two-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directional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time.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311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Communication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two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directional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done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simultaneously.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Send/Receive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949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sender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send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not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receive.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95300" algn="just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sender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send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well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receive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time.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308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sender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send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well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receive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simultaneously.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Performance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616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half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duplex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full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duplex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yields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better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performance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Simplex.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243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full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duplex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yields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higher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half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duplex.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863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Full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duplex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better performance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as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doubles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utilization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bandwidth.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Example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102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Keyboard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monitor.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Walkie-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Talkies.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Telephone.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71600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90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85"/>
              </a:spcBef>
            </a:pPr>
            <a:r>
              <a:rPr sz="6000" dirty="0"/>
              <a:t>Thank </a:t>
            </a:r>
            <a:r>
              <a:rPr sz="6000" spc="-20" dirty="0"/>
              <a:t>you!</a:t>
            </a:r>
            <a:endParaRPr sz="6000"/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400" dirty="0">
                <a:solidFill>
                  <a:srgbClr val="888888"/>
                </a:solidFill>
                <a:latin typeface="Calibri"/>
                <a:cs typeface="Calibri"/>
              </a:rPr>
              <a:t>Any</a:t>
            </a:r>
            <a:r>
              <a:rPr sz="2400" spc="-9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888888"/>
                </a:solidFill>
                <a:latin typeface="Calibri"/>
                <a:cs typeface="Calibri"/>
              </a:rPr>
              <a:t>Questions???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31" y="227191"/>
            <a:ext cx="1421776" cy="11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1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1705</Words>
  <Application>Microsoft Office PowerPoint</Application>
  <PresentationFormat>Widescreen</PresentationFormat>
  <Paragraphs>232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 MT</vt:lpstr>
      <vt:lpstr>Calibri</vt:lpstr>
      <vt:lpstr>Calibri Light</vt:lpstr>
      <vt:lpstr>Times New Roman</vt:lpstr>
      <vt:lpstr>Trebuchet MS</vt:lpstr>
      <vt:lpstr>Wingdings</vt:lpstr>
      <vt:lpstr>Office Theme</vt:lpstr>
      <vt:lpstr>PowerPoint Presentation</vt:lpstr>
      <vt:lpstr>Computer Network</vt:lpstr>
      <vt:lpstr>Computer Network</vt:lpstr>
      <vt:lpstr>Uses of Computer</vt:lpstr>
      <vt:lpstr>Advantages of Network</vt:lpstr>
      <vt:lpstr>Types of Network</vt:lpstr>
      <vt:lpstr>Types of Network</vt:lpstr>
      <vt:lpstr>Personal area network (PAN)</vt:lpstr>
      <vt:lpstr>Personal area network (PAN)</vt:lpstr>
      <vt:lpstr>Local area network (LAN)</vt:lpstr>
      <vt:lpstr>Local area network (LAN)</vt:lpstr>
      <vt:lpstr>Metropolitan area network (MAN)</vt:lpstr>
      <vt:lpstr>Metropolitan area network (MAN)</vt:lpstr>
      <vt:lpstr>Wide area network (WAN)</vt:lpstr>
      <vt:lpstr>Wide area network (WAN)</vt:lpstr>
      <vt:lpstr>Ethernet, Bluetooth, and Wi-Fi</vt:lpstr>
      <vt:lpstr>Ethernet</vt:lpstr>
      <vt:lpstr>Bluetooth</vt:lpstr>
      <vt:lpstr>Wi-Fi</vt:lpstr>
      <vt:lpstr>PowerPoint Presentation</vt:lpstr>
      <vt:lpstr>Network Architecture</vt:lpstr>
      <vt:lpstr>Computer Network Architecture</vt:lpstr>
      <vt:lpstr>Client/Server Network</vt:lpstr>
      <vt:lpstr>Client/Server Network</vt:lpstr>
      <vt:lpstr>Peer-To-Peer Network</vt:lpstr>
      <vt:lpstr>Peer-To-Peer Network</vt:lpstr>
      <vt:lpstr>Point-To-Point Network</vt:lpstr>
      <vt:lpstr>Point-To-Point Network</vt:lpstr>
      <vt:lpstr>Network Topology</vt:lpstr>
      <vt:lpstr>Network Topology</vt:lpstr>
      <vt:lpstr>Bus Topology</vt:lpstr>
      <vt:lpstr>Bus Topology</vt:lpstr>
      <vt:lpstr>Ring Topology</vt:lpstr>
      <vt:lpstr>Ring Topology</vt:lpstr>
      <vt:lpstr>Star Topology</vt:lpstr>
      <vt:lpstr>Star Topology</vt:lpstr>
      <vt:lpstr>Mesh Topology</vt:lpstr>
      <vt:lpstr>Mesh Topology</vt:lpstr>
      <vt:lpstr>Network Devices</vt:lpstr>
      <vt:lpstr>RJ-45 CONNECTOR</vt:lpstr>
      <vt:lpstr>Switch</vt:lpstr>
      <vt:lpstr>Repeater</vt:lpstr>
      <vt:lpstr>Bridge</vt:lpstr>
      <vt:lpstr>Router Router is a specialized network device used to interconnect different types of computer network that uses different Hardware and software format.</vt:lpstr>
      <vt:lpstr>Gateway</vt:lpstr>
      <vt:lpstr>Transmission Modes</vt:lpstr>
      <vt:lpstr>Simplex</vt:lpstr>
      <vt:lpstr>Simplex</vt:lpstr>
      <vt:lpstr>Half-Duplex</vt:lpstr>
      <vt:lpstr>Half-Duplex</vt:lpstr>
      <vt:lpstr>Full-Duplex</vt:lpstr>
      <vt:lpstr>Full-Duplex</vt:lpstr>
      <vt:lpstr>Difference</vt:lpstr>
      <vt:lpstr>Thank you! Any Questions???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PC</cp:lastModifiedBy>
  <cp:revision>3</cp:revision>
  <dcterms:created xsi:type="dcterms:W3CDTF">2024-11-17T13:44:25Z</dcterms:created>
  <dcterms:modified xsi:type="dcterms:W3CDTF">2025-09-08T11:55:03Z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2024-11-17T00:00:00Z</vt:filetime>
  </property>
  <property fmtid="{D5CDD505-2E9C-101B-9397-08002B2CF9AE}" pid="3" name="Creator">
    <vt:lpwstr>Samsung Electronics</vt:lpwstr>
  </property>
  <property fmtid="{D5CDD505-2E9C-101B-9397-08002B2CF9AE}" pid="4" name="LastSaved">
    <vt:filetime>2024-11-17T00:00:00Z</vt:filetime>
  </property>
  <property fmtid="{D5CDD505-2E9C-101B-9397-08002B2CF9AE}" pid="5" name="Producer">
    <vt:lpwstr>Samsung Electronics</vt:lpwstr>
  </property>
</Properties>
</file>