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DG Jory" panose="020B0604020202020204" charset="-78"/>
      <p:regular r:id="rId8"/>
    </p:embeddedFont>
    <p:embeddedFont>
      <p:font typeface="DG Jory Bold" panose="020B0604020202020204" charset="-78"/>
      <p:regular r:id="rId9"/>
    </p:embeddedFon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Alata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3" d="100"/>
          <a:sy n="43" d="100"/>
        </p:scale>
        <p:origin x="188" y="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5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6.png"/><Relationship Id="rId5" Type="http://schemas.openxmlformats.org/officeDocument/2006/relationships/image" Target="../media/image3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8.png"/><Relationship Id="rId4" Type="http://schemas.openxmlformats.org/officeDocument/2006/relationships/image" Target="../media/image13.sv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11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3.png"/><Relationship Id="rId10" Type="http://schemas.openxmlformats.org/officeDocument/2006/relationships/image" Target="../media/image22.svg"/><Relationship Id="rId4" Type="http://schemas.openxmlformats.org/officeDocument/2006/relationships/image" Target="../media/image20.sv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13.png"/><Relationship Id="rId7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svg"/><Relationship Id="rId5" Type="http://schemas.openxmlformats.org/officeDocument/2006/relationships/image" Target="../media/image14.png"/><Relationship Id="rId4" Type="http://schemas.openxmlformats.org/officeDocument/2006/relationships/image" Target="../media/image24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16.png"/><Relationship Id="rId7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11" Type="http://schemas.openxmlformats.org/officeDocument/2006/relationships/image" Target="../media/image19.png"/><Relationship Id="rId5" Type="http://schemas.openxmlformats.org/officeDocument/2006/relationships/image" Target="../media/image8.png"/><Relationship Id="rId10" Type="http://schemas.openxmlformats.org/officeDocument/2006/relationships/image" Target="../media/image34.svg"/><Relationship Id="rId4" Type="http://schemas.openxmlformats.org/officeDocument/2006/relationships/image" Target="../media/image30.svg"/><Relationship Id="rId9" Type="http://schemas.openxmlformats.org/officeDocument/2006/relationships/image" Target="../media/image18.png"/><Relationship Id="rId14" Type="http://schemas.openxmlformats.org/officeDocument/2006/relationships/image" Target="../media/image38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svg"/><Relationship Id="rId3" Type="http://schemas.openxmlformats.org/officeDocument/2006/relationships/image" Target="../media/image20.png"/><Relationship Id="rId7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svg"/><Relationship Id="rId10" Type="http://schemas.openxmlformats.org/officeDocument/2006/relationships/image" Target="../media/image17.svg"/><Relationship Id="rId9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484336" y="2803517"/>
            <a:ext cx="10139576" cy="2324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02"/>
              </a:lnSpc>
            </a:pPr>
            <a:r>
              <a:rPr lang="en-US" sz="13502" b="1">
                <a:solidFill>
                  <a:srgbClr val="000000"/>
                </a:solidFill>
                <a:latin typeface="DG Jory Bold"/>
                <a:ea typeface="DG Jory Bold"/>
                <a:cs typeface="DG Jory Bold"/>
                <a:sym typeface="DG Jory Bold"/>
              </a:rPr>
              <a:t>COMPUTER</a:t>
            </a:r>
          </a:p>
        </p:txBody>
      </p:sp>
      <p:sp>
        <p:nvSpPr>
          <p:cNvPr id="4" name="Freeform 4"/>
          <p:cNvSpPr/>
          <p:nvPr/>
        </p:nvSpPr>
        <p:spPr>
          <a:xfrm flipH="1">
            <a:off x="-2133581" y="6926232"/>
            <a:ext cx="12002742" cy="6721535"/>
          </a:xfrm>
          <a:custGeom>
            <a:avLst/>
            <a:gdLst/>
            <a:ahLst/>
            <a:cxnLst/>
            <a:rect l="l" t="t" r="r" b="b"/>
            <a:pathLst>
              <a:path w="12002742" h="6721535">
                <a:moveTo>
                  <a:pt x="12002742" y="0"/>
                </a:moveTo>
                <a:lnTo>
                  <a:pt x="0" y="0"/>
                </a:lnTo>
                <a:lnTo>
                  <a:pt x="0" y="6721536"/>
                </a:lnTo>
                <a:lnTo>
                  <a:pt x="12002742" y="6721536"/>
                </a:lnTo>
                <a:lnTo>
                  <a:pt x="12002742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flipH="1">
            <a:off x="-1472216" y="2705185"/>
            <a:ext cx="7770607" cy="5439425"/>
          </a:xfrm>
          <a:custGeom>
            <a:avLst/>
            <a:gdLst/>
            <a:ahLst/>
            <a:cxnLst/>
            <a:rect l="l" t="t" r="r" b="b"/>
            <a:pathLst>
              <a:path w="7770607" h="5439425">
                <a:moveTo>
                  <a:pt x="7770607" y="0"/>
                </a:moveTo>
                <a:lnTo>
                  <a:pt x="0" y="0"/>
                </a:lnTo>
                <a:lnTo>
                  <a:pt x="0" y="5439425"/>
                </a:lnTo>
                <a:lnTo>
                  <a:pt x="7770607" y="5439425"/>
                </a:lnTo>
                <a:lnTo>
                  <a:pt x="7770607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4297575" y="8451216"/>
            <a:ext cx="2401944" cy="1017551"/>
          </a:xfrm>
          <a:custGeom>
            <a:avLst/>
            <a:gdLst/>
            <a:ahLst/>
            <a:cxnLst/>
            <a:rect l="l" t="t" r="r" b="b"/>
            <a:pathLst>
              <a:path w="2401944" h="1017551">
                <a:moveTo>
                  <a:pt x="0" y="0"/>
                </a:moveTo>
                <a:lnTo>
                  <a:pt x="2401944" y="0"/>
                </a:lnTo>
                <a:lnTo>
                  <a:pt x="2401944" y="1017551"/>
                </a:lnTo>
                <a:lnTo>
                  <a:pt x="0" y="101755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1307312" y="-696791"/>
            <a:ext cx="6434033" cy="3450982"/>
          </a:xfrm>
          <a:custGeom>
            <a:avLst/>
            <a:gdLst/>
            <a:ahLst/>
            <a:cxnLst/>
            <a:rect l="l" t="t" r="r" b="b"/>
            <a:pathLst>
              <a:path w="6434033" h="3450982">
                <a:moveTo>
                  <a:pt x="0" y="0"/>
                </a:moveTo>
                <a:lnTo>
                  <a:pt x="6434033" y="0"/>
                </a:lnTo>
                <a:lnTo>
                  <a:pt x="6434033" y="3450982"/>
                </a:lnTo>
                <a:lnTo>
                  <a:pt x="0" y="345098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>
            <a:off x="498433" y="8451216"/>
            <a:ext cx="2315782" cy="1835784"/>
          </a:xfrm>
          <a:custGeom>
            <a:avLst/>
            <a:gdLst/>
            <a:ahLst/>
            <a:cxnLst/>
            <a:rect l="l" t="t" r="r" b="b"/>
            <a:pathLst>
              <a:path w="2315782" h="1835784">
                <a:moveTo>
                  <a:pt x="2315782" y="0"/>
                </a:moveTo>
                <a:lnTo>
                  <a:pt x="0" y="0"/>
                </a:lnTo>
                <a:lnTo>
                  <a:pt x="0" y="1835784"/>
                </a:lnTo>
                <a:lnTo>
                  <a:pt x="2315782" y="1835784"/>
                </a:lnTo>
                <a:lnTo>
                  <a:pt x="2315782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7601769" y="4236074"/>
            <a:ext cx="10139576" cy="4723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26"/>
              </a:lnSpc>
            </a:pPr>
            <a:r>
              <a:rPr lang="en-US" sz="13518" b="1">
                <a:solidFill>
                  <a:srgbClr val="000000"/>
                </a:solidFill>
                <a:latin typeface="DG Jory Bold"/>
                <a:ea typeface="DG Jory Bold"/>
                <a:cs typeface="DG Jory Bold"/>
                <a:sym typeface="DG Jory Bold"/>
              </a:rPr>
              <a:t>NETWORKS</a:t>
            </a:r>
          </a:p>
          <a:p>
            <a:pPr algn="l">
              <a:lnSpc>
                <a:spcPts val="18926"/>
              </a:lnSpc>
            </a:pPr>
            <a:endParaRPr lang="en-US" sz="13518" b="1">
              <a:solidFill>
                <a:srgbClr val="000000"/>
              </a:solidFill>
              <a:latin typeface="DG Jory Bold"/>
              <a:ea typeface="DG Jory Bold"/>
              <a:cs typeface="DG Jory Bold"/>
              <a:sym typeface="DG Jory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498433" y="554321"/>
            <a:ext cx="10335498" cy="1706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94"/>
              </a:lnSpc>
            </a:pPr>
            <a:r>
              <a:rPr lang="en-US" sz="5924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Presented by Bhoomika Sablani</a:t>
            </a:r>
          </a:p>
          <a:p>
            <a:pPr algn="l">
              <a:lnSpc>
                <a:spcPts val="5214"/>
              </a:lnSpc>
            </a:pPr>
            <a:endParaRPr lang="en-US" sz="5924">
              <a:solidFill>
                <a:srgbClr val="000000"/>
              </a:solidFill>
              <a:latin typeface="DG Jory"/>
              <a:ea typeface="DG Jory"/>
              <a:cs typeface="DG Jory"/>
              <a:sym typeface="DG Jory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6364898" y="7837887"/>
            <a:ext cx="12378453" cy="18791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91"/>
              </a:lnSpc>
              <a:spcBef>
                <a:spcPct val="0"/>
              </a:spcBef>
            </a:pPr>
            <a:r>
              <a:rPr lang="en-US" sz="5350" b="1">
                <a:solidFill>
                  <a:srgbClr val="000000"/>
                </a:solidFill>
                <a:latin typeface="DG Jory Bold"/>
                <a:ea typeface="DG Jory Bold"/>
                <a:cs typeface="DG Jory Bold"/>
                <a:sym typeface="DG Jory Bold"/>
              </a:rPr>
              <a:t>Project Name: Bright Link School System </a:t>
            </a:r>
          </a:p>
          <a:p>
            <a:pPr algn="ctr">
              <a:lnSpc>
                <a:spcPts val="7491"/>
              </a:lnSpc>
              <a:spcBef>
                <a:spcPct val="0"/>
              </a:spcBef>
            </a:pPr>
            <a:r>
              <a:rPr lang="en-US" sz="5350" b="1">
                <a:solidFill>
                  <a:srgbClr val="000000"/>
                </a:solidFill>
                <a:latin typeface="DG Jory Bold"/>
                <a:ea typeface="DG Jory Bold"/>
                <a:cs typeface="DG Jory Bold"/>
                <a:sym typeface="DG Jory Bold"/>
              </a:rPr>
              <a:t>Multi-Building Campus Network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143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57914" y="0"/>
            <a:ext cx="4754451" cy="2057381"/>
          </a:xfrm>
          <a:custGeom>
            <a:avLst/>
            <a:gdLst/>
            <a:ahLst/>
            <a:cxnLst/>
            <a:rect l="l" t="t" r="r" b="b"/>
            <a:pathLst>
              <a:path w="4754451" h="2057381">
                <a:moveTo>
                  <a:pt x="0" y="0"/>
                </a:moveTo>
                <a:lnTo>
                  <a:pt x="4754451" y="0"/>
                </a:lnTo>
                <a:lnTo>
                  <a:pt x="4754451" y="2057381"/>
                </a:lnTo>
                <a:lnTo>
                  <a:pt x="0" y="20573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659909" y="8804414"/>
            <a:ext cx="12608990" cy="7634170"/>
          </a:xfrm>
          <a:custGeom>
            <a:avLst/>
            <a:gdLst/>
            <a:ahLst/>
            <a:cxnLst/>
            <a:rect l="l" t="t" r="r" b="b"/>
            <a:pathLst>
              <a:path w="12608990" h="7634170">
                <a:moveTo>
                  <a:pt x="0" y="0"/>
                </a:moveTo>
                <a:lnTo>
                  <a:pt x="12608989" y="0"/>
                </a:lnTo>
                <a:lnTo>
                  <a:pt x="12608989" y="7634170"/>
                </a:lnTo>
                <a:lnTo>
                  <a:pt x="0" y="763417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937185" y="0"/>
            <a:ext cx="3322115" cy="2875140"/>
          </a:xfrm>
          <a:custGeom>
            <a:avLst/>
            <a:gdLst/>
            <a:ahLst/>
            <a:cxnLst/>
            <a:rect l="l" t="t" r="r" b="b"/>
            <a:pathLst>
              <a:path w="3322115" h="2875140">
                <a:moveTo>
                  <a:pt x="0" y="0"/>
                </a:moveTo>
                <a:lnTo>
                  <a:pt x="3322115" y="0"/>
                </a:lnTo>
                <a:lnTo>
                  <a:pt x="3322115" y="2875140"/>
                </a:lnTo>
                <a:lnTo>
                  <a:pt x="0" y="287514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1757388" y="8401921"/>
            <a:ext cx="1781802" cy="1712757"/>
          </a:xfrm>
          <a:custGeom>
            <a:avLst/>
            <a:gdLst/>
            <a:ahLst/>
            <a:cxnLst/>
            <a:rect l="l" t="t" r="r" b="b"/>
            <a:pathLst>
              <a:path w="1781802" h="1712757">
                <a:moveTo>
                  <a:pt x="0" y="0"/>
                </a:moveTo>
                <a:lnTo>
                  <a:pt x="1781802" y="0"/>
                </a:lnTo>
                <a:lnTo>
                  <a:pt x="1781802" y="1712758"/>
                </a:lnTo>
                <a:lnTo>
                  <a:pt x="0" y="171275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149345" y="2074632"/>
            <a:ext cx="9400270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811"/>
              </a:lnSpc>
            </a:pPr>
            <a:r>
              <a:rPr lang="en-US" sz="16600" b="1" dirty="0">
                <a:solidFill>
                  <a:srgbClr val="000000"/>
                </a:solidFill>
                <a:latin typeface="DG Jory Bold"/>
                <a:ea typeface="DG Jory Bold"/>
                <a:cs typeface="DG Jory Bold"/>
                <a:sym typeface="DG Jory Bold"/>
              </a:rPr>
              <a:t>Problem</a:t>
            </a:r>
            <a:r>
              <a:rPr lang="en-US" sz="7722" b="1" dirty="0">
                <a:solidFill>
                  <a:srgbClr val="000000"/>
                </a:solidFill>
                <a:latin typeface="DG Jory Bold"/>
                <a:ea typeface="DG Jory Bold"/>
                <a:cs typeface="DG Jory Bold"/>
                <a:sym typeface="DG Jory Bold"/>
              </a:rPr>
              <a:t>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7914" y="3796375"/>
            <a:ext cx="17930086" cy="5008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91"/>
              </a:lnSpc>
            </a:pPr>
            <a:r>
              <a:rPr lang="en-US" sz="5708" b="1">
                <a:solidFill>
                  <a:srgbClr val="000000"/>
                </a:solidFill>
                <a:latin typeface="DG Jory Bold"/>
                <a:ea typeface="DG Jory Bold"/>
                <a:cs typeface="DG Jory Bold"/>
                <a:sym typeface="DG Jory Bold"/>
              </a:rPr>
              <a:t>BrightLink School’s three buildings all use one mixed network. This causes slow performance, weak security, and no control over who accesses what.</a:t>
            </a:r>
          </a:p>
          <a:p>
            <a:pPr algn="l">
              <a:lnSpc>
                <a:spcPts val="7991"/>
              </a:lnSpc>
              <a:spcBef>
                <a:spcPct val="0"/>
              </a:spcBef>
            </a:pPr>
            <a:r>
              <a:rPr lang="en-US" sz="5708" b="1">
                <a:solidFill>
                  <a:srgbClr val="000000"/>
                </a:solidFill>
                <a:latin typeface="DG Jory Bold"/>
                <a:ea typeface="DG Jory Bold"/>
                <a:cs typeface="DG Jory Bold"/>
                <a:sym typeface="DG Jory Bold"/>
              </a:rPr>
              <a:t> The school needs a secure, organized, and manageable network.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728500" y="850970"/>
            <a:ext cx="4649946" cy="1859978"/>
          </a:xfrm>
          <a:custGeom>
            <a:avLst/>
            <a:gdLst/>
            <a:ahLst/>
            <a:cxnLst/>
            <a:rect l="l" t="t" r="r" b="b"/>
            <a:pathLst>
              <a:path w="4649946" h="1859978">
                <a:moveTo>
                  <a:pt x="4649945" y="0"/>
                </a:moveTo>
                <a:lnTo>
                  <a:pt x="0" y="0"/>
                </a:lnTo>
                <a:lnTo>
                  <a:pt x="0" y="1859978"/>
                </a:lnTo>
                <a:lnTo>
                  <a:pt x="4649945" y="1859978"/>
                </a:lnTo>
                <a:lnTo>
                  <a:pt x="464994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501901" y="3510328"/>
            <a:ext cx="4002591" cy="2801814"/>
          </a:xfrm>
          <a:custGeom>
            <a:avLst/>
            <a:gdLst/>
            <a:ahLst/>
            <a:cxnLst/>
            <a:rect l="l" t="t" r="r" b="b"/>
            <a:pathLst>
              <a:path w="4002591" h="2801814">
                <a:moveTo>
                  <a:pt x="4002591" y="0"/>
                </a:moveTo>
                <a:lnTo>
                  <a:pt x="0" y="0"/>
                </a:lnTo>
                <a:lnTo>
                  <a:pt x="0" y="2801814"/>
                </a:lnTo>
                <a:lnTo>
                  <a:pt x="4002591" y="2801814"/>
                </a:lnTo>
                <a:lnTo>
                  <a:pt x="4002591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49372" y="6493232"/>
            <a:ext cx="3004101" cy="2381433"/>
          </a:xfrm>
          <a:custGeom>
            <a:avLst/>
            <a:gdLst/>
            <a:ahLst/>
            <a:cxnLst/>
            <a:rect l="l" t="t" r="r" b="b"/>
            <a:pathLst>
              <a:path w="3004101" h="2381433">
                <a:moveTo>
                  <a:pt x="0" y="0"/>
                </a:moveTo>
                <a:lnTo>
                  <a:pt x="3004101" y="0"/>
                </a:lnTo>
                <a:lnTo>
                  <a:pt x="3004101" y="2381433"/>
                </a:lnTo>
                <a:lnTo>
                  <a:pt x="0" y="238143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7450815" y="1279557"/>
            <a:ext cx="7012626" cy="1202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45"/>
              </a:lnSpc>
            </a:pPr>
            <a:r>
              <a:rPr lang="en-US" sz="9222" b="1">
                <a:solidFill>
                  <a:srgbClr val="000000"/>
                </a:solidFill>
                <a:latin typeface="DG Jory Bold"/>
                <a:ea typeface="DG Jory Bold"/>
                <a:cs typeface="DG Jory Bold"/>
                <a:sym typeface="DG Jory Bold"/>
              </a:rPr>
              <a:t>Solution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657021" y="2924496"/>
            <a:ext cx="11901172" cy="6699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011"/>
              </a:lnSpc>
            </a:pPr>
            <a:r>
              <a:rPr lang="en-US" sz="4293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To solve the problem, I will design a unified campus network using:</a:t>
            </a:r>
          </a:p>
          <a:p>
            <a:pPr marL="927042" lvl="1" indent="-463521" algn="just">
              <a:lnSpc>
                <a:spcPts val="6011"/>
              </a:lnSpc>
              <a:buFont typeface="Arial"/>
              <a:buChar char="•"/>
            </a:pPr>
            <a:r>
              <a:rPr lang="en-US" sz="4293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VLANs for Admin, Teachers, and Students</a:t>
            </a:r>
          </a:p>
          <a:p>
            <a:pPr marL="927042" lvl="1" indent="-463521" algn="just">
              <a:lnSpc>
                <a:spcPts val="6011"/>
              </a:lnSpc>
              <a:buFont typeface="Arial"/>
              <a:buChar char="•"/>
            </a:pPr>
            <a:r>
              <a:rPr lang="en-US" sz="4293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Router-on-a-stick to connect VLANs</a:t>
            </a:r>
          </a:p>
          <a:p>
            <a:pPr marL="927042" lvl="1" indent="-463521" algn="just">
              <a:lnSpc>
                <a:spcPts val="6011"/>
              </a:lnSpc>
              <a:buFont typeface="Arial"/>
              <a:buChar char="•"/>
            </a:pPr>
            <a:r>
              <a:rPr lang="en-US" sz="4293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DHCP Server for automated IP assignment</a:t>
            </a:r>
          </a:p>
          <a:p>
            <a:pPr marL="927042" lvl="1" indent="-463521" algn="just">
              <a:lnSpc>
                <a:spcPts val="6011"/>
              </a:lnSpc>
              <a:buFont typeface="Arial"/>
              <a:buChar char="•"/>
            </a:pPr>
            <a:r>
              <a:rPr lang="en-US" sz="4293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WPA2 Wi-Fi for student devices</a:t>
            </a:r>
          </a:p>
          <a:p>
            <a:pPr marL="927042" lvl="1" indent="-463521" algn="just">
              <a:lnSpc>
                <a:spcPts val="6011"/>
              </a:lnSpc>
              <a:buFont typeface="Arial"/>
              <a:buChar char="•"/>
            </a:pPr>
            <a:r>
              <a:rPr lang="en-US" sz="4293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ACLs (Access Control Lists) to block Student VLAN from reaching Admin VLAN</a:t>
            </a:r>
          </a:p>
          <a:p>
            <a:pPr algn="just">
              <a:lnSpc>
                <a:spcPts val="5009"/>
              </a:lnSpc>
            </a:pPr>
            <a:endParaRPr lang="en-US" sz="4293">
              <a:solidFill>
                <a:srgbClr val="000000"/>
              </a:solidFill>
              <a:latin typeface="Alata"/>
              <a:ea typeface="Alata"/>
              <a:cs typeface="Alata"/>
              <a:sym typeface="Alata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16558193" y="-276441"/>
            <a:ext cx="2872879" cy="4114800"/>
          </a:xfrm>
          <a:custGeom>
            <a:avLst/>
            <a:gdLst/>
            <a:ahLst/>
            <a:cxnLst/>
            <a:rect l="l" t="t" r="r" b="b"/>
            <a:pathLst>
              <a:path w="2872879" h="4114800">
                <a:moveTo>
                  <a:pt x="0" y="0"/>
                </a:moveTo>
                <a:lnTo>
                  <a:pt x="2872879" y="0"/>
                </a:lnTo>
                <a:lnTo>
                  <a:pt x="287287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87234" y="7101694"/>
            <a:ext cx="2231868" cy="3053551"/>
          </a:xfrm>
          <a:custGeom>
            <a:avLst/>
            <a:gdLst/>
            <a:ahLst/>
            <a:cxnLst/>
            <a:rect l="l" t="t" r="r" b="b"/>
            <a:pathLst>
              <a:path w="2231868" h="3053551">
                <a:moveTo>
                  <a:pt x="0" y="0"/>
                </a:moveTo>
                <a:lnTo>
                  <a:pt x="2231868" y="0"/>
                </a:lnTo>
                <a:lnTo>
                  <a:pt x="2231868" y="3053551"/>
                </a:lnTo>
                <a:lnTo>
                  <a:pt x="0" y="305355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957887" y="216302"/>
            <a:ext cx="4234513" cy="2209646"/>
          </a:xfrm>
          <a:custGeom>
            <a:avLst/>
            <a:gdLst/>
            <a:ahLst/>
            <a:cxnLst/>
            <a:rect l="l" t="t" r="r" b="b"/>
            <a:pathLst>
              <a:path w="4234513" h="2209646">
                <a:moveTo>
                  <a:pt x="0" y="0"/>
                </a:moveTo>
                <a:lnTo>
                  <a:pt x="4234514" y="0"/>
                </a:lnTo>
                <a:lnTo>
                  <a:pt x="4234514" y="2209646"/>
                </a:lnTo>
                <a:lnTo>
                  <a:pt x="0" y="22096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TextBox 5"/>
          <p:cNvSpPr txBox="1"/>
          <p:nvPr/>
        </p:nvSpPr>
        <p:spPr>
          <a:xfrm>
            <a:off x="3276627" y="1419323"/>
            <a:ext cx="10735374" cy="1006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90"/>
              </a:lnSpc>
            </a:pPr>
            <a:r>
              <a:rPr lang="en-US" sz="7722" b="1">
                <a:solidFill>
                  <a:srgbClr val="000000"/>
                </a:solidFill>
                <a:latin typeface="DG Jory Bold"/>
                <a:ea typeface="DG Jory Bold"/>
                <a:cs typeface="DG Jory Bold"/>
                <a:sym typeface="DG Jory Bold"/>
              </a:rPr>
              <a:t>Objectives</a:t>
            </a:r>
          </a:p>
        </p:txBody>
      </p:sp>
      <p:sp>
        <p:nvSpPr>
          <p:cNvPr id="6" name="Freeform 6"/>
          <p:cNvSpPr/>
          <p:nvPr/>
        </p:nvSpPr>
        <p:spPr>
          <a:xfrm>
            <a:off x="-784509" y="2604164"/>
            <a:ext cx="19857018" cy="4657373"/>
          </a:xfrm>
          <a:custGeom>
            <a:avLst/>
            <a:gdLst/>
            <a:ahLst/>
            <a:cxnLst/>
            <a:rect l="l" t="t" r="r" b="b"/>
            <a:pathLst>
              <a:path w="19857018" h="4657373">
                <a:moveTo>
                  <a:pt x="0" y="0"/>
                </a:moveTo>
                <a:lnTo>
                  <a:pt x="19857018" y="0"/>
                </a:lnTo>
                <a:lnTo>
                  <a:pt x="19857018" y="4657374"/>
                </a:lnTo>
                <a:lnTo>
                  <a:pt x="0" y="465737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0" y="2820904"/>
            <a:ext cx="18288000" cy="6148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51"/>
              </a:lnSpc>
            </a:pPr>
            <a:r>
              <a:rPr lang="en-US" sz="5822" b="1">
                <a:solidFill>
                  <a:srgbClr val="000000"/>
                </a:solidFill>
                <a:latin typeface="DG Jory Bold"/>
                <a:ea typeface="DG Jory Bold"/>
                <a:cs typeface="DG Jory Bold"/>
                <a:sym typeface="DG Jory Bold"/>
              </a:rPr>
              <a:t>✔ Efficient communication between buildings</a:t>
            </a:r>
          </a:p>
          <a:p>
            <a:pPr algn="ctr">
              <a:lnSpc>
                <a:spcPts val="8151"/>
              </a:lnSpc>
            </a:pPr>
            <a:r>
              <a:rPr lang="en-US" sz="5822" b="1">
                <a:solidFill>
                  <a:srgbClr val="000000"/>
                </a:solidFill>
                <a:latin typeface="DG Jory Bold"/>
                <a:ea typeface="DG Jory Bold"/>
                <a:cs typeface="DG Jory Bold"/>
                <a:sym typeface="DG Jory Bold"/>
              </a:rPr>
              <a:t> ✔ Secure separation of Admin, Teacher &amp; Student traffic</a:t>
            </a:r>
          </a:p>
          <a:p>
            <a:pPr algn="ctr">
              <a:lnSpc>
                <a:spcPts val="8151"/>
              </a:lnSpc>
            </a:pPr>
            <a:r>
              <a:rPr lang="en-US" sz="5822" b="1">
                <a:solidFill>
                  <a:srgbClr val="000000"/>
                </a:solidFill>
                <a:latin typeface="DG Jory Bold"/>
                <a:ea typeface="DG Jory Bold"/>
                <a:cs typeface="DG Jory Bold"/>
                <a:sym typeface="DG Jory Bold"/>
              </a:rPr>
              <a:t> ✔ Automatic IP addressing through DHCP</a:t>
            </a:r>
          </a:p>
          <a:p>
            <a:pPr algn="ctr">
              <a:lnSpc>
                <a:spcPts val="8151"/>
              </a:lnSpc>
            </a:pPr>
            <a:r>
              <a:rPr lang="en-US" sz="5822" b="1">
                <a:solidFill>
                  <a:srgbClr val="000000"/>
                </a:solidFill>
                <a:latin typeface="DG Jory Bold"/>
                <a:ea typeface="DG Jory Bold"/>
                <a:cs typeface="DG Jory Bold"/>
                <a:sym typeface="DG Jory Bold"/>
              </a:rPr>
              <a:t> ✔ Safe Wi-Fi access for laptops</a:t>
            </a:r>
          </a:p>
          <a:p>
            <a:pPr algn="ctr">
              <a:lnSpc>
                <a:spcPts val="8151"/>
              </a:lnSpc>
              <a:spcBef>
                <a:spcPct val="0"/>
              </a:spcBef>
            </a:pPr>
            <a:r>
              <a:rPr lang="en-US" sz="5822" b="1">
                <a:solidFill>
                  <a:srgbClr val="000000"/>
                </a:solidFill>
                <a:latin typeface="DG Jory Bold"/>
                <a:ea typeface="DG Jory Bold"/>
                <a:cs typeface="DG Jory Bold"/>
                <a:sym typeface="DG Jory Bold"/>
              </a:rPr>
              <a:t> ✔ Restricted access—Students cannot reach Admin network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165391" y="-1503322"/>
            <a:ext cx="7122609" cy="6772954"/>
          </a:xfrm>
          <a:custGeom>
            <a:avLst/>
            <a:gdLst/>
            <a:ahLst/>
            <a:cxnLst/>
            <a:rect l="l" t="t" r="r" b="b"/>
            <a:pathLst>
              <a:path w="7122609" h="6772954">
                <a:moveTo>
                  <a:pt x="0" y="0"/>
                </a:moveTo>
                <a:lnTo>
                  <a:pt x="7122609" y="0"/>
                </a:lnTo>
                <a:lnTo>
                  <a:pt x="7122609" y="6772953"/>
                </a:lnTo>
                <a:lnTo>
                  <a:pt x="0" y="67729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0052364" y="6209027"/>
            <a:ext cx="12608990" cy="7634170"/>
          </a:xfrm>
          <a:custGeom>
            <a:avLst/>
            <a:gdLst/>
            <a:ahLst/>
            <a:cxnLst/>
            <a:rect l="l" t="t" r="r" b="b"/>
            <a:pathLst>
              <a:path w="12608990" h="7634170">
                <a:moveTo>
                  <a:pt x="12608989" y="0"/>
                </a:moveTo>
                <a:lnTo>
                  <a:pt x="0" y="0"/>
                </a:lnTo>
                <a:lnTo>
                  <a:pt x="0" y="7634170"/>
                </a:lnTo>
                <a:lnTo>
                  <a:pt x="12608989" y="7634170"/>
                </a:lnTo>
                <a:lnTo>
                  <a:pt x="12608989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1499127" y="6066396"/>
            <a:ext cx="2420925" cy="1465760"/>
          </a:xfrm>
          <a:custGeom>
            <a:avLst/>
            <a:gdLst/>
            <a:ahLst/>
            <a:cxnLst/>
            <a:rect l="l" t="t" r="r" b="b"/>
            <a:pathLst>
              <a:path w="2420925" h="1465760">
                <a:moveTo>
                  <a:pt x="0" y="0"/>
                </a:moveTo>
                <a:lnTo>
                  <a:pt x="2420925" y="0"/>
                </a:lnTo>
                <a:lnTo>
                  <a:pt x="2420925" y="1465760"/>
                </a:lnTo>
                <a:lnTo>
                  <a:pt x="0" y="146576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389939" y="6066396"/>
            <a:ext cx="4644124" cy="2575378"/>
          </a:xfrm>
          <a:custGeom>
            <a:avLst/>
            <a:gdLst/>
            <a:ahLst/>
            <a:cxnLst/>
            <a:rect l="l" t="t" r="r" b="b"/>
            <a:pathLst>
              <a:path w="4644124" h="2575378">
                <a:moveTo>
                  <a:pt x="0" y="0"/>
                </a:moveTo>
                <a:lnTo>
                  <a:pt x="4644125" y="0"/>
                </a:lnTo>
                <a:lnTo>
                  <a:pt x="4644125" y="2575378"/>
                </a:lnTo>
                <a:lnTo>
                  <a:pt x="0" y="257537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131374" y="1266825"/>
            <a:ext cx="7613083" cy="1470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85"/>
              </a:lnSpc>
            </a:pPr>
            <a:r>
              <a:rPr lang="en-US" sz="11221" b="1">
                <a:solidFill>
                  <a:srgbClr val="000000"/>
                </a:solidFill>
                <a:latin typeface="DG Jory Bold"/>
                <a:ea typeface="DG Jory Bold"/>
                <a:cs typeface="DG Jory Bold"/>
                <a:sym typeface="DG Jory Bold"/>
              </a:rPr>
              <a:t>Importance</a:t>
            </a:r>
          </a:p>
        </p:txBody>
      </p:sp>
      <p:sp>
        <p:nvSpPr>
          <p:cNvPr id="9" name="Freeform 9"/>
          <p:cNvSpPr/>
          <p:nvPr/>
        </p:nvSpPr>
        <p:spPr>
          <a:xfrm>
            <a:off x="-79439" y="0"/>
            <a:ext cx="1773105" cy="4114800"/>
          </a:xfrm>
          <a:custGeom>
            <a:avLst/>
            <a:gdLst/>
            <a:ahLst/>
            <a:cxnLst/>
            <a:rect l="l" t="t" r="r" b="b"/>
            <a:pathLst>
              <a:path w="1773105" h="4114800">
                <a:moveTo>
                  <a:pt x="0" y="0"/>
                </a:moveTo>
                <a:lnTo>
                  <a:pt x="1773104" y="0"/>
                </a:lnTo>
                <a:lnTo>
                  <a:pt x="17731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xmlns="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352914" y="3091719"/>
            <a:ext cx="9733863" cy="6234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45815" lvl="1" indent="-422908" algn="just">
              <a:lnSpc>
                <a:spcPts val="5484"/>
              </a:lnSpc>
              <a:buFont typeface="Arial"/>
              <a:buChar char="•"/>
            </a:pPr>
            <a:r>
              <a:rPr lang="en-US" sz="3917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Secure: VLANs and ACLs stop students from reaching admin data.</a:t>
            </a:r>
          </a:p>
          <a:p>
            <a:pPr marL="845815" lvl="1" indent="-422908" algn="just">
              <a:lnSpc>
                <a:spcPts val="5484"/>
              </a:lnSpc>
              <a:buFont typeface="Arial"/>
              <a:buChar char="•"/>
            </a:pPr>
            <a:r>
              <a:rPr lang="en-US" sz="3917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Faster: Separate traffic reduces congestion.</a:t>
            </a:r>
          </a:p>
          <a:p>
            <a:pPr marL="845815" lvl="1" indent="-422908" algn="just">
              <a:lnSpc>
                <a:spcPts val="5484"/>
              </a:lnSpc>
              <a:buFont typeface="Arial"/>
              <a:buChar char="•"/>
            </a:pPr>
            <a:r>
              <a:rPr lang="en-US" sz="3917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Easy to manage: DHCP and centralized routing simplify control.</a:t>
            </a:r>
          </a:p>
          <a:p>
            <a:pPr marL="845815" lvl="1" indent="-422908" algn="just">
              <a:lnSpc>
                <a:spcPts val="5484"/>
              </a:lnSpc>
              <a:buFont typeface="Arial"/>
              <a:buChar char="•"/>
            </a:pPr>
            <a:r>
              <a:rPr lang="en-US" sz="3917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Better learning: Stable WPA2 Wi-Fi for students.</a:t>
            </a:r>
          </a:p>
          <a:p>
            <a:pPr algn="just">
              <a:lnSpc>
                <a:spcPts val="5484"/>
              </a:lnSpc>
            </a:pPr>
            <a:endParaRPr lang="en-US" sz="3917">
              <a:solidFill>
                <a:srgbClr val="000000"/>
              </a:solidFill>
              <a:latin typeface="Alata"/>
              <a:ea typeface="Alata"/>
              <a:cs typeface="Alata"/>
              <a:sym typeface="Alat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461698" y="4914900"/>
            <a:ext cx="11716778" cy="2257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52"/>
              </a:lnSpc>
            </a:pPr>
            <a:r>
              <a:rPr lang="en-US" sz="17270" b="1" dirty="0">
                <a:solidFill>
                  <a:srgbClr val="000000"/>
                </a:solidFill>
                <a:latin typeface="DG Jory Bold"/>
                <a:ea typeface="DG Jory Bold"/>
                <a:cs typeface="DG Jory Bold"/>
                <a:sym typeface="DG Jory Bold"/>
              </a:rPr>
              <a:t>Thank You</a:t>
            </a:r>
          </a:p>
        </p:txBody>
      </p:sp>
      <p:sp>
        <p:nvSpPr>
          <p:cNvPr id="5" name="Freeform 5"/>
          <p:cNvSpPr/>
          <p:nvPr/>
        </p:nvSpPr>
        <p:spPr>
          <a:xfrm flipH="1">
            <a:off x="618899" y="367219"/>
            <a:ext cx="5858389" cy="2194233"/>
          </a:xfrm>
          <a:custGeom>
            <a:avLst/>
            <a:gdLst/>
            <a:ahLst/>
            <a:cxnLst/>
            <a:rect l="l" t="t" r="r" b="b"/>
            <a:pathLst>
              <a:path w="5858389" h="2194233">
                <a:moveTo>
                  <a:pt x="5858389" y="0"/>
                </a:moveTo>
                <a:lnTo>
                  <a:pt x="0" y="0"/>
                </a:lnTo>
                <a:lnTo>
                  <a:pt x="0" y="2194233"/>
                </a:lnTo>
                <a:lnTo>
                  <a:pt x="5858389" y="2194233"/>
                </a:lnTo>
                <a:lnTo>
                  <a:pt x="585838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442168" y="-1079400"/>
            <a:ext cx="3472616" cy="4216201"/>
          </a:xfrm>
          <a:custGeom>
            <a:avLst/>
            <a:gdLst/>
            <a:ahLst/>
            <a:cxnLst/>
            <a:rect l="l" t="t" r="r" b="b"/>
            <a:pathLst>
              <a:path w="3472616" h="4216201">
                <a:moveTo>
                  <a:pt x="0" y="0"/>
                </a:moveTo>
                <a:lnTo>
                  <a:pt x="3472616" y="0"/>
                </a:lnTo>
                <a:lnTo>
                  <a:pt x="3472616" y="4216200"/>
                </a:lnTo>
                <a:lnTo>
                  <a:pt x="0" y="42162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0" y="7277100"/>
            <a:ext cx="3322115" cy="2875140"/>
          </a:xfrm>
          <a:custGeom>
            <a:avLst/>
            <a:gdLst/>
            <a:ahLst/>
            <a:cxnLst/>
            <a:rect l="l" t="t" r="r" b="b"/>
            <a:pathLst>
              <a:path w="3322115" h="2875140">
                <a:moveTo>
                  <a:pt x="0" y="0"/>
                </a:moveTo>
                <a:lnTo>
                  <a:pt x="3322116" y="0"/>
                </a:lnTo>
                <a:lnTo>
                  <a:pt x="3322116" y="2875140"/>
                </a:lnTo>
                <a:lnTo>
                  <a:pt x="0" y="287514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189</Words>
  <Application>Microsoft Office PowerPoint</Application>
  <PresentationFormat>Custom</PresentationFormat>
  <Paragraphs>27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DG Jory</vt:lpstr>
      <vt:lpstr>Arial</vt:lpstr>
      <vt:lpstr>DG Jory Bold</vt:lpstr>
      <vt:lpstr>Calibri</vt:lpstr>
      <vt:lpstr>Alata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Pink Illustrative Computer Presentation</dc:title>
  <cp:lastModifiedBy>Microsoft account</cp:lastModifiedBy>
  <cp:revision>3</cp:revision>
  <dcterms:created xsi:type="dcterms:W3CDTF">2006-08-16T00:00:00Z</dcterms:created>
  <dcterms:modified xsi:type="dcterms:W3CDTF">2025-11-19T07:07:04Z</dcterms:modified>
  <dc:identifier>DAG4p5mBo6c</dc:identifier>
</cp:coreProperties>
</file>