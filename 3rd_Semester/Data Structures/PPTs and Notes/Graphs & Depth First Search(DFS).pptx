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2" r:id="rId1"/>
  </p:sldMasterIdLst>
  <p:notesMasterIdLst>
    <p:notesMasterId r:id="rId41"/>
  </p:notesMasterIdLst>
  <p:sldIdLst>
    <p:sldId id="256" r:id="rId2"/>
    <p:sldId id="257" r:id="rId3"/>
    <p:sldId id="258" r:id="rId4"/>
    <p:sldId id="272" r:id="rId5"/>
    <p:sldId id="259" r:id="rId6"/>
    <p:sldId id="273" r:id="rId7"/>
    <p:sldId id="275" r:id="rId8"/>
    <p:sldId id="262" r:id="rId9"/>
    <p:sldId id="260" r:id="rId10"/>
    <p:sldId id="274" r:id="rId11"/>
    <p:sldId id="276" r:id="rId12"/>
    <p:sldId id="264" r:id="rId13"/>
    <p:sldId id="277" r:id="rId14"/>
    <p:sldId id="278" r:id="rId15"/>
    <p:sldId id="261" r:id="rId16"/>
    <p:sldId id="269" r:id="rId17"/>
    <p:sldId id="270" r:id="rId18"/>
    <p:sldId id="266" r:id="rId19"/>
    <p:sldId id="265" r:id="rId20"/>
    <p:sldId id="281" r:id="rId21"/>
    <p:sldId id="280" r:id="rId22"/>
    <p:sldId id="279" r:id="rId23"/>
    <p:sldId id="282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285" r:id="rId38"/>
    <p:sldId id="283" r:id="rId39"/>
    <p:sldId id="271" r:id="rId40"/>
  </p:sldIdLst>
  <p:sldSz cx="18288000" cy="10287000"/>
  <p:notesSz cx="6858000" cy="9144000"/>
  <p:embeddedFontLst>
    <p:embeddedFont>
      <p:font typeface="Arial Black" panose="020B0A04020102020204" pitchFamily="34" charset="0"/>
      <p:bold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Handy Casual" panose="020B0604020202020204" charset="0"/>
      <p:regular r:id="rId47"/>
    </p:embeddedFont>
    <p:embeddedFont>
      <p:font typeface="Pompiere" panose="020B0604020202020204" charset="0"/>
      <p:regular r:id="rId48"/>
    </p:embeddedFont>
    <p:embeddedFont>
      <p:font typeface="TAN Headline" panose="020B0604020202020204" charset="0"/>
      <p:regular r:id="rId49"/>
    </p:embeddedFont>
    <p:embeddedFont>
      <p:font typeface="Wingdings 3" panose="05040102010807070707" pitchFamily="18" charset="2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F1"/>
    <a:srgbClr val="080808"/>
    <a:srgbClr val="FF6699"/>
    <a:srgbClr val="FF66FF"/>
    <a:srgbClr val="FF66CC"/>
    <a:srgbClr val="6559A7"/>
    <a:srgbClr val="E2D2E1"/>
    <a:srgbClr val="FBF7FB"/>
    <a:srgbClr val="FBF1F7"/>
    <a:srgbClr val="EBF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7" autoAdjust="0"/>
    <p:restoredTop sz="94621" autoAdjust="0"/>
  </p:normalViewPr>
  <p:slideViewPr>
    <p:cSldViewPr>
      <p:cViewPr varScale="1">
        <p:scale>
          <a:sx n="58" d="100"/>
          <a:sy n="58" d="100"/>
        </p:scale>
        <p:origin x="5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4B8FA-8B8F-4B8C-B373-77356D98E6B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48058-1895-4C5C-B778-0AD0F5066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3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48058-1895-4C5C-B778-0AD0F50663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6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600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5238477" y="2688337"/>
            <a:ext cx="1485899" cy="4571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3427964" y="4841749"/>
            <a:ext cx="5789693" cy="457202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238489" cy="5124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2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4016468"/>
            <a:ext cx="6526538" cy="3425736"/>
          </a:xfrm>
        </p:spPr>
        <p:txBody>
          <a:bodyPr anchor="ctr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3339" y="4016466"/>
            <a:ext cx="5636318" cy="3425736"/>
          </a:xfrm>
        </p:spPr>
        <p:txBody>
          <a:bodyPr anchor="ctr"/>
          <a:lstStyle>
            <a:lvl1pPr marL="0" indent="0" algn="l">
              <a:buNone/>
              <a:defRPr sz="3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8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31" y="3905251"/>
            <a:ext cx="7237737" cy="51244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13069" y="3905250"/>
            <a:ext cx="7237739" cy="5124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2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7237736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2431" y="4769644"/>
            <a:ext cx="7237737" cy="426005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13069" y="3905250"/>
            <a:ext cx="723773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13069" y="4769644"/>
            <a:ext cx="7237739" cy="4260059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4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142120" cy="10604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2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5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1943100"/>
            <a:ext cx="4189737" cy="24003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719" y="2171700"/>
            <a:ext cx="7785099" cy="6858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4693921"/>
            <a:ext cx="4189737" cy="4343399"/>
          </a:xfrm>
        </p:spPr>
        <p:txBody>
          <a:bodyPr/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1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2540000"/>
            <a:ext cx="5797701" cy="2603501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21806" y="1714500"/>
            <a:ext cx="484079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5486400"/>
            <a:ext cx="5788818" cy="20574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3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7454891"/>
            <a:ext cx="13238489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2" y="1028700"/>
            <a:ext cx="13238489" cy="5143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1" y="8304998"/>
            <a:ext cx="13238487" cy="74056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7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197" y="1595126"/>
            <a:ext cx="13247724" cy="2059479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314950"/>
            <a:ext cx="13238489" cy="371475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7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322349" y="911004"/>
            <a:ext cx="120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4826688" y="3920681"/>
            <a:ext cx="979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2817" y="1473201"/>
            <a:ext cx="12680859" cy="4044948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918918" y="5518149"/>
            <a:ext cx="11596829" cy="51326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7543799"/>
            <a:ext cx="13867346" cy="1496786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8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3556001"/>
            <a:ext cx="13238490" cy="27337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537451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7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3905253"/>
            <a:ext cx="471281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732430" y="4769647"/>
            <a:ext cx="4712819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69082" y="3905250"/>
            <a:ext cx="4720514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69082" y="4769645"/>
            <a:ext cx="472051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832203" y="3905252"/>
            <a:ext cx="471859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832494" y="4769643"/>
            <a:ext cx="471830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605956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658602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6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6799266"/>
            <a:ext cx="457565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001830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32431" y="7663659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3298" y="6799267"/>
            <a:ext cx="4575657" cy="864395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7122694" y="3905250"/>
            <a:ext cx="4036865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855258" y="7663658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74163" y="6799268"/>
            <a:ext cx="4576643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244547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74163" y="7663656"/>
            <a:ext cx="4576644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6608747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1696703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41667" y="9587758"/>
            <a:ext cx="5466423" cy="45720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1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3905250"/>
            <a:ext cx="13238489" cy="512445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043159" y="9587758"/>
            <a:ext cx="1485899" cy="4571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3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77853" y="1917701"/>
            <a:ext cx="2114948" cy="712288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1917701"/>
            <a:ext cx="9384038" cy="71228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8203" cy="4571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6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2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13142120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1666" y="9587758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8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12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9.svg"/><Relationship Id="rId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1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21.svg"/><Relationship Id="rId7" Type="http://schemas.openxmlformats.org/officeDocument/2006/relationships/image" Target="../media/image3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svg"/><Relationship Id="rId7" Type="http://schemas.openxmlformats.org/officeDocument/2006/relationships/image" Target="../media/image4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5.svg"/><Relationship Id="rId5" Type="http://schemas.openxmlformats.org/officeDocument/2006/relationships/image" Target="../media/image43.svg"/><Relationship Id="rId10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9.svg"/><Relationship Id="rId3" Type="http://schemas.openxmlformats.org/officeDocument/2006/relationships/image" Target="../media/image48.svg"/><Relationship Id="rId7" Type="http://schemas.openxmlformats.org/officeDocument/2006/relationships/image" Target="../media/image45.svg"/><Relationship Id="rId12" Type="http://schemas.openxmlformats.org/officeDocument/2006/relationships/image" Target="../media/image1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17.svg"/><Relationship Id="rId5" Type="http://schemas.openxmlformats.org/officeDocument/2006/relationships/image" Target="../media/image43.svg"/><Relationship Id="rId10" Type="http://schemas.openxmlformats.org/officeDocument/2006/relationships/image" Target="../media/image16.png"/><Relationship Id="rId4" Type="http://schemas.openxmlformats.org/officeDocument/2006/relationships/image" Target="../media/image42.png"/><Relationship Id="rId9" Type="http://schemas.openxmlformats.org/officeDocument/2006/relationships/image" Target="../media/image5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jpg"/><Relationship Id="rId3" Type="http://schemas.openxmlformats.org/officeDocument/2006/relationships/image" Target="../media/image52.svg"/><Relationship Id="rId7" Type="http://schemas.openxmlformats.org/officeDocument/2006/relationships/image" Target="../media/image19.svg"/><Relationship Id="rId12" Type="http://schemas.openxmlformats.org/officeDocument/2006/relationships/image" Target="../media/image57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56.jpg"/><Relationship Id="rId5" Type="http://schemas.openxmlformats.org/officeDocument/2006/relationships/image" Target="../media/image27.svg"/><Relationship Id="rId10" Type="http://schemas.openxmlformats.org/officeDocument/2006/relationships/image" Target="../media/image55.jpg"/><Relationship Id="rId4" Type="http://schemas.openxmlformats.org/officeDocument/2006/relationships/image" Target="../media/image26.png"/><Relationship Id="rId9" Type="http://schemas.openxmlformats.org/officeDocument/2006/relationships/image" Target="../media/image54.svg"/><Relationship Id="rId14" Type="http://schemas.openxmlformats.org/officeDocument/2006/relationships/image" Target="../media/image59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svg"/><Relationship Id="rId3" Type="http://schemas.openxmlformats.org/officeDocument/2006/relationships/image" Target="../media/image61.svg"/><Relationship Id="rId7" Type="http://schemas.openxmlformats.org/officeDocument/2006/relationships/image" Target="../media/image5.svg"/><Relationship Id="rId12" Type="http://schemas.openxmlformats.org/officeDocument/2006/relationships/image" Target="../media/image2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63.svg"/><Relationship Id="rId10" Type="http://schemas.openxmlformats.org/officeDocument/2006/relationships/image" Target="../media/image10.png"/><Relationship Id="rId4" Type="http://schemas.openxmlformats.org/officeDocument/2006/relationships/image" Target="../media/image62.png"/><Relationship Id="rId9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65.svg"/><Relationship Id="rId7" Type="http://schemas.openxmlformats.org/officeDocument/2006/relationships/image" Target="../media/image11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91669">
            <a:off x="3278791" y="1594787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4508551"/>
            <a:ext cx="3713137" cy="4248440"/>
          </a:xfrm>
          <a:custGeom>
            <a:avLst/>
            <a:gdLst/>
            <a:ahLst/>
            <a:cxnLst/>
            <a:rect l="l" t="t" r="r" b="b"/>
            <a:pathLst>
              <a:path w="3713137" h="4248440">
                <a:moveTo>
                  <a:pt x="0" y="0"/>
                </a:moveTo>
                <a:lnTo>
                  <a:pt x="3713137" y="0"/>
                </a:lnTo>
                <a:lnTo>
                  <a:pt x="3713137" y="4248440"/>
                </a:lnTo>
                <a:lnTo>
                  <a:pt x="0" y="4248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654208" y="3190879"/>
            <a:ext cx="7069036" cy="205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60"/>
              </a:lnSpc>
            </a:pPr>
            <a:r>
              <a:rPr lang="en-US" sz="15616" spc="343" dirty="0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DATA </a:t>
            </a:r>
          </a:p>
        </p:txBody>
      </p:sp>
      <p:sp>
        <p:nvSpPr>
          <p:cNvPr id="7" name="Freeform 7"/>
          <p:cNvSpPr/>
          <p:nvPr/>
        </p:nvSpPr>
        <p:spPr>
          <a:xfrm rot="-3119757" flipV="1">
            <a:off x="13984448" y="1012389"/>
            <a:ext cx="4560715" cy="4833128"/>
          </a:xfrm>
          <a:custGeom>
            <a:avLst/>
            <a:gdLst/>
            <a:ahLst/>
            <a:cxnLst/>
            <a:rect l="l" t="t" r="r" b="b"/>
            <a:pathLst>
              <a:path w="4560715" h="4833128">
                <a:moveTo>
                  <a:pt x="0" y="4833128"/>
                </a:moveTo>
                <a:lnTo>
                  <a:pt x="4560715" y="4833128"/>
                </a:lnTo>
                <a:lnTo>
                  <a:pt x="4560715" y="0"/>
                </a:lnTo>
                <a:lnTo>
                  <a:pt x="0" y="0"/>
                </a:lnTo>
                <a:lnTo>
                  <a:pt x="0" y="48331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633199" y="5877591"/>
            <a:ext cx="11029225" cy="227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2"/>
              </a:lnSpc>
            </a:pPr>
            <a:r>
              <a:rPr lang="en-US" sz="17184" spc="189" dirty="0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STRUCTURES</a:t>
            </a:r>
          </a:p>
        </p:txBody>
      </p:sp>
      <p:sp>
        <p:nvSpPr>
          <p:cNvPr id="9" name="Freeform 9"/>
          <p:cNvSpPr/>
          <p:nvPr/>
        </p:nvSpPr>
        <p:spPr>
          <a:xfrm rot="-1399026">
            <a:off x="10496119" y="1961744"/>
            <a:ext cx="1719464" cy="2465181"/>
          </a:xfrm>
          <a:custGeom>
            <a:avLst/>
            <a:gdLst/>
            <a:ahLst/>
            <a:cxnLst/>
            <a:rect l="l" t="t" r="r" b="b"/>
            <a:pathLst>
              <a:path w="1719464" h="2465181">
                <a:moveTo>
                  <a:pt x="0" y="0"/>
                </a:moveTo>
                <a:lnTo>
                  <a:pt x="1719463" y="0"/>
                </a:lnTo>
                <a:lnTo>
                  <a:pt x="1719463" y="2465181"/>
                </a:lnTo>
                <a:lnTo>
                  <a:pt x="0" y="24651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547663" y="972444"/>
            <a:ext cx="522504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By JOTIKA HABLANI , BHOOMIKA SABLANI  AND SUNAINA MOTWANI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5905499" y="-1866899"/>
            <a:ext cx="10287004" cy="14020802"/>
          </a:xfrm>
          <a:custGeom>
            <a:avLst/>
            <a:gdLst/>
            <a:ahLst/>
            <a:cxnLst/>
            <a:rect l="l" t="t" r="r" b="b"/>
            <a:pathLst>
              <a:path w="6927975" h="8739418">
                <a:moveTo>
                  <a:pt x="0" y="0"/>
                </a:moveTo>
                <a:lnTo>
                  <a:pt x="6927974" y="0"/>
                </a:lnTo>
                <a:lnTo>
                  <a:pt x="6927974" y="8739418"/>
                </a:lnTo>
                <a:lnTo>
                  <a:pt x="0" y="873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04663" y="804943"/>
            <a:ext cx="4584113" cy="3975676"/>
          </a:xfrm>
          <a:custGeom>
            <a:avLst/>
            <a:gdLst/>
            <a:ahLst/>
            <a:cxnLst/>
            <a:rect l="l" t="t" r="r" b="b"/>
            <a:pathLst>
              <a:path w="4584113" h="3975676">
                <a:moveTo>
                  <a:pt x="0" y="0"/>
                </a:moveTo>
                <a:lnTo>
                  <a:pt x="4584113" y="0"/>
                </a:lnTo>
                <a:lnTo>
                  <a:pt x="4584113" y="3975676"/>
                </a:lnTo>
                <a:lnTo>
                  <a:pt x="0" y="3975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810814">
            <a:off x="623899" y="2564531"/>
            <a:ext cx="3945639" cy="74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1"/>
              </a:lnSpc>
            </a:pPr>
            <a:r>
              <a:rPr lang="en-US" sz="5668" spc="124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40225" y="417849"/>
            <a:ext cx="10746642" cy="9451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Intro To Graph</a:t>
            </a: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Terminologies </a:t>
            </a: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Types </a:t>
            </a: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dirty="0">
                <a:solidFill>
                  <a:schemeClr val="bg1"/>
                </a:solidFill>
                <a:latin typeface="Handy Casual" panose="020B0604020202020204" charset="0"/>
              </a:rPr>
              <a:t>Graph Representation Techniques</a:t>
            </a:r>
            <a:endParaRPr lang="en-US" sz="4800" spc="111" dirty="0">
              <a:solidFill>
                <a:schemeClr val="bg1"/>
              </a:solidFill>
              <a:latin typeface="Handy Casual" panose="020B0604020202020204" charset="0"/>
              <a:ea typeface="Handy Casual"/>
              <a:cs typeface="Handy Casual"/>
              <a:sym typeface="Handy Casual"/>
            </a:endParaRP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Application/Importance </a:t>
            </a: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Graph Traversal</a:t>
            </a: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Diff Between </a:t>
            </a:r>
            <a:r>
              <a:rPr lang="en-US" sz="4800" spc="111" dirty="0" err="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Dfs</a:t>
            </a: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And </a:t>
            </a:r>
            <a:r>
              <a:rPr lang="en-US" sz="4800" spc="111" dirty="0" err="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Bfs</a:t>
            </a:r>
            <a:endParaRPr lang="en-US" sz="4800" spc="111" dirty="0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4800" spc="111" dirty="0" err="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Dfs</a:t>
            </a: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Intro/Concept</a:t>
            </a:r>
          </a:p>
          <a:p>
            <a:pPr marL="545093" lvl="1">
              <a:lnSpc>
                <a:spcPts val="6715"/>
              </a:lnSpc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-   Characteristic </a:t>
            </a: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Working Of </a:t>
            </a:r>
            <a:r>
              <a:rPr lang="en-US" sz="4800" spc="111" dirty="0" err="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Dfs</a:t>
            </a:r>
            <a:endParaRPr lang="en-US" sz="4800" spc="111" dirty="0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marL="1230893" lvl="1" indent="-685800">
              <a:lnSpc>
                <a:spcPts val="6715"/>
              </a:lnSpc>
              <a:buFontTx/>
              <a:buChar char="-"/>
            </a:pPr>
            <a:r>
              <a:rPr lang="en-US" sz="4800" spc="111" dirty="0" err="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Algothrim+Program</a:t>
            </a: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Of </a:t>
            </a:r>
            <a:r>
              <a:rPr lang="en-US" sz="4800" spc="111" dirty="0" err="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Dfs</a:t>
            </a:r>
            <a:r>
              <a:rPr lang="en-US" sz="4800" spc="111" dirty="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 rot="5856579" flipV="1">
            <a:off x="764579" y="5127721"/>
            <a:ext cx="3435988" cy="3641221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568932">
            <a:off x="15282144" y="5728523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6190582">
            <a:off x="14034320" y="781506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658599" y="-558437"/>
            <a:ext cx="10804835" cy="2013434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800000">
            <a:off x="-6979610" y="8916532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905000" y="928172"/>
            <a:ext cx="126492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8"/>
              </a:lnSpc>
              <a:spcBef>
                <a:spcPct val="0"/>
              </a:spcBef>
            </a:pPr>
            <a:r>
              <a:rPr lang="en-US" sz="746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Wingdings" panose="05000000000000000000" pitchFamily="2" charset="2"/>
              </a:rPr>
              <a:t></a:t>
            </a:r>
            <a:r>
              <a:rPr lang="en-US" sz="746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Introduction of graph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2476500"/>
            <a:ext cx="7978358" cy="5424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471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Graph is A example of non-linear data structure.</a:t>
            </a:r>
          </a:p>
          <a:p>
            <a:pPr marL="571500" indent="-571500">
              <a:lnSpc>
                <a:spcPts val="471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4716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4716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marL="571500" indent="-571500">
              <a:lnSpc>
                <a:spcPts val="471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Graph is the collection of data items called node which  are connected to each other by the help of edge.</a:t>
            </a:r>
          </a:p>
          <a:p>
            <a:pPr>
              <a:lnSpc>
                <a:spcPts val="4716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4630400" y="752836"/>
            <a:ext cx="1488455" cy="1291398"/>
          </a:xfrm>
          <a:custGeom>
            <a:avLst/>
            <a:gdLst/>
            <a:ahLst/>
            <a:cxnLst/>
            <a:rect l="l" t="t" r="r" b="b"/>
            <a:pathLst>
              <a:path w="1488455" h="1291398">
                <a:moveTo>
                  <a:pt x="0" y="0"/>
                </a:moveTo>
                <a:lnTo>
                  <a:pt x="1488455" y="0"/>
                </a:lnTo>
                <a:lnTo>
                  <a:pt x="1488455" y="1291398"/>
                </a:lnTo>
                <a:lnTo>
                  <a:pt x="0" y="1291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3556088" flipV="1">
            <a:off x="15154952" y="6259797"/>
            <a:ext cx="3750634" cy="3974660"/>
          </a:xfrm>
          <a:custGeom>
            <a:avLst/>
            <a:gdLst/>
            <a:ahLst/>
            <a:cxnLst/>
            <a:rect l="l" t="t" r="r" b="b"/>
            <a:pathLst>
              <a:path w="3750634" h="3974660">
                <a:moveTo>
                  <a:pt x="0" y="3974660"/>
                </a:moveTo>
                <a:lnTo>
                  <a:pt x="3750634" y="3974660"/>
                </a:lnTo>
                <a:lnTo>
                  <a:pt x="3750634" y="0"/>
                </a:lnTo>
                <a:lnTo>
                  <a:pt x="0" y="0"/>
                </a:lnTo>
                <a:lnTo>
                  <a:pt x="0" y="39746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lowchart: Connector 20"/>
          <p:cNvSpPr/>
          <p:nvPr/>
        </p:nvSpPr>
        <p:spPr>
          <a:xfrm>
            <a:off x="11353800" y="3760341"/>
            <a:ext cx="731519" cy="807719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/>
          <p:cNvSpPr/>
          <p:nvPr/>
        </p:nvSpPr>
        <p:spPr>
          <a:xfrm>
            <a:off x="12409169" y="6515100"/>
            <a:ext cx="731519" cy="807719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/>
          <p:cNvSpPr/>
          <p:nvPr/>
        </p:nvSpPr>
        <p:spPr>
          <a:xfrm>
            <a:off x="15374627" y="5829300"/>
            <a:ext cx="731519" cy="807719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Connector 23"/>
          <p:cNvSpPr/>
          <p:nvPr/>
        </p:nvSpPr>
        <p:spPr>
          <a:xfrm>
            <a:off x="14165361" y="2952622"/>
            <a:ext cx="731519" cy="807719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/>
          <p:cNvSpPr/>
          <p:nvPr/>
        </p:nvSpPr>
        <p:spPr>
          <a:xfrm>
            <a:off x="13140688" y="4568060"/>
            <a:ext cx="731519" cy="807719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21" idx="4"/>
          </p:cNvCxnSpPr>
          <p:nvPr/>
        </p:nvCxnSpPr>
        <p:spPr>
          <a:xfrm>
            <a:off x="11719560" y="4568060"/>
            <a:ext cx="940960" cy="1947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7"/>
          </p:cNvCxnSpPr>
          <p:nvPr/>
        </p:nvCxnSpPr>
        <p:spPr>
          <a:xfrm flipV="1">
            <a:off x="11978191" y="3467100"/>
            <a:ext cx="2187170" cy="4115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5" idx="7"/>
          </p:cNvCxnSpPr>
          <p:nvPr/>
        </p:nvCxnSpPr>
        <p:spPr>
          <a:xfrm flipH="1">
            <a:off x="13765079" y="3783801"/>
            <a:ext cx="664429" cy="9025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3" idx="3"/>
            <a:endCxn id="25" idx="5"/>
          </p:cNvCxnSpPr>
          <p:nvPr/>
        </p:nvCxnSpPr>
        <p:spPr>
          <a:xfrm flipH="1" flipV="1">
            <a:off x="13765079" y="5257491"/>
            <a:ext cx="1716676" cy="1261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541529" y="4038679"/>
            <a:ext cx="35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96898" y="6734293"/>
            <a:ext cx="35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87264" y="4787253"/>
            <a:ext cx="35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353090" y="3128898"/>
            <a:ext cx="35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62356" y="6048493"/>
            <a:ext cx="35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10965580" y="4149594"/>
            <a:ext cx="403401" cy="590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753926" y="4914900"/>
            <a:ext cx="1399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andy Casual" panose="020B0604020202020204" charset="0"/>
              </a:rPr>
              <a:t>Node/Vertex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11589332" y="5375779"/>
            <a:ext cx="458790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200919" y="6105939"/>
            <a:ext cx="1529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Handy Casual" panose="020B0604020202020204" charset="0"/>
              </a:rPr>
              <a:t>Egdes</a:t>
            </a:r>
            <a:endParaRPr lang="en-US" sz="2800" dirty="0">
              <a:latin typeface="Handy Casual" panose="020B0604020202020204" charset="0"/>
            </a:endParaRPr>
          </a:p>
        </p:txBody>
      </p:sp>
      <p:sp>
        <p:nvSpPr>
          <p:cNvPr id="60" name="Freeform 8"/>
          <p:cNvSpPr/>
          <p:nvPr/>
        </p:nvSpPr>
        <p:spPr>
          <a:xfrm rot="6190582">
            <a:off x="163169" y="8670815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/>
          <p:nvPr/>
        </p:nvSpPr>
        <p:spPr>
          <a:xfrm rot="-3556088" flipV="1">
            <a:off x="11992656" y="6164701"/>
            <a:ext cx="3750634" cy="3974660"/>
          </a:xfrm>
          <a:custGeom>
            <a:avLst/>
            <a:gdLst/>
            <a:ahLst/>
            <a:cxnLst/>
            <a:rect l="l" t="t" r="r" b="b"/>
            <a:pathLst>
              <a:path w="3750634" h="3974660">
                <a:moveTo>
                  <a:pt x="0" y="3974660"/>
                </a:moveTo>
                <a:lnTo>
                  <a:pt x="3750634" y="3974660"/>
                </a:lnTo>
                <a:lnTo>
                  <a:pt x="3750634" y="0"/>
                </a:lnTo>
                <a:lnTo>
                  <a:pt x="0" y="0"/>
                </a:lnTo>
                <a:lnTo>
                  <a:pt x="0" y="39746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200400" y="647700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AN Headline" panose="020B0604020202020204" charset="0"/>
              </a:rPr>
              <a:t>#</a:t>
            </a:r>
            <a:r>
              <a:rPr lang="en-US" dirty="0">
                <a:latin typeface="TAN Headline" panose="020B0604020202020204" charset="0"/>
              </a:rPr>
              <a:t> </a:t>
            </a:r>
            <a:r>
              <a:rPr lang="en-US" sz="4400" dirty="0">
                <a:latin typeface="TAN Headline" panose="020B0604020202020204" charset="0"/>
              </a:rPr>
              <a:t>Representation of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019300"/>
            <a:ext cx="113538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latin typeface="Handy Casual" panose="020B0604020202020204" charset="0"/>
              <a:sym typeface="Wingdings" panose="05000000000000000000" pitchFamily="2" charset="2"/>
            </a:endParaRPr>
          </a:p>
          <a:p>
            <a:r>
              <a:rPr lang="en-US" sz="3600" dirty="0">
                <a:latin typeface="Handy Casual" panose="020B0604020202020204" charset="0"/>
                <a:sym typeface="Wingdings" panose="05000000000000000000" pitchFamily="2" charset="2"/>
              </a:rPr>
              <a:t> </a:t>
            </a:r>
            <a:r>
              <a:rPr lang="en-US" sz="3600" dirty="0">
                <a:latin typeface="Handy Casual" panose="020B0604020202020204" charset="0"/>
              </a:rPr>
              <a:t>A graph ( G ) can be represented in ordered pairs.</a:t>
            </a:r>
          </a:p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Example g(</a:t>
            </a:r>
            <a:r>
              <a:rPr lang="en-US" sz="3600" dirty="0" err="1">
                <a:latin typeface="Handy Casual" panose="020B0604020202020204" charset="0"/>
              </a:rPr>
              <a:t>v,e</a:t>
            </a:r>
            <a:r>
              <a:rPr lang="en-US" sz="3600" dirty="0">
                <a:latin typeface="Handy Casual" panose="020B0604020202020204" charset="0"/>
              </a:rPr>
              <a:t>)</a:t>
            </a:r>
          </a:p>
          <a:p>
            <a:r>
              <a:rPr lang="en-US" sz="3600" dirty="0">
                <a:latin typeface="Handy Casual" panose="020B0604020202020204" charset="0"/>
              </a:rPr>
              <a:t>- V = number of vertices</a:t>
            </a:r>
          </a:p>
          <a:p>
            <a:r>
              <a:rPr lang="en-US" sz="3600" dirty="0">
                <a:latin typeface="Handy Casual" panose="020B0604020202020204" charset="0"/>
              </a:rPr>
              <a:t>- E = number of edges</a:t>
            </a: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 - Vertex :  a vertex is a point or node in a graph that represents an entity.</a:t>
            </a: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- Edge  :  an edge is a line that connects two vertices in a graph.</a:t>
            </a:r>
          </a:p>
        </p:txBody>
      </p:sp>
      <p:sp>
        <p:nvSpPr>
          <p:cNvPr id="6" name="Freeform 8"/>
          <p:cNvSpPr/>
          <p:nvPr/>
        </p:nvSpPr>
        <p:spPr>
          <a:xfrm rot="6190582">
            <a:off x="16491680" y="126915"/>
            <a:ext cx="1514128" cy="1780235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3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581400" y="1409700"/>
            <a:ext cx="13487400" cy="1464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66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Wingdings" panose="05000000000000000000" pitchFamily="2" charset="2"/>
              </a:rPr>
              <a:t></a:t>
            </a:r>
            <a:r>
              <a:rPr lang="en-US" sz="66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Terminologies Of Gr</a:t>
            </a:r>
            <a:r>
              <a:rPr lang="en-US" sz="8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aph </a:t>
            </a:r>
          </a:p>
        </p:txBody>
      </p:sp>
      <p:sp>
        <p:nvSpPr>
          <p:cNvPr id="9" name="Freeform 9"/>
          <p:cNvSpPr/>
          <p:nvPr/>
        </p:nvSpPr>
        <p:spPr>
          <a:xfrm>
            <a:off x="7505700" y="123974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568932">
            <a:off x="1231864" y="281279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113920" y="6856667"/>
            <a:ext cx="3539744" cy="3430333"/>
          </a:xfrm>
          <a:custGeom>
            <a:avLst/>
            <a:gdLst/>
            <a:ahLst/>
            <a:cxnLst/>
            <a:rect l="l" t="t" r="r" b="b"/>
            <a:pathLst>
              <a:path w="3539744" h="3430333">
                <a:moveTo>
                  <a:pt x="0" y="0"/>
                </a:moveTo>
                <a:lnTo>
                  <a:pt x="3539743" y="0"/>
                </a:lnTo>
                <a:lnTo>
                  <a:pt x="3539743" y="3430333"/>
                </a:lnTo>
                <a:lnTo>
                  <a:pt x="0" y="3430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240727">
            <a:off x="2832558" y="38624"/>
            <a:ext cx="1162426" cy="1666560"/>
          </a:xfrm>
          <a:custGeom>
            <a:avLst/>
            <a:gdLst/>
            <a:ahLst/>
            <a:cxnLst/>
            <a:rect l="l" t="t" r="r" b="b"/>
            <a:pathLst>
              <a:path w="1162426" h="1666560">
                <a:moveTo>
                  <a:pt x="0" y="0"/>
                </a:moveTo>
                <a:lnTo>
                  <a:pt x="1162426" y="0"/>
                </a:lnTo>
                <a:lnTo>
                  <a:pt x="1162426" y="1666560"/>
                </a:lnTo>
                <a:lnTo>
                  <a:pt x="0" y="166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85800" y="3437031"/>
            <a:ext cx="11658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Handy Casual" panose="020B0604020202020204" charset="0"/>
              </a:rPr>
              <a:t>1 - Degree : the number of edges connected to A vertex.</a:t>
            </a:r>
          </a:p>
          <a:p>
            <a:r>
              <a:rPr lang="en-US" sz="3200" dirty="0">
                <a:latin typeface="Handy Casual" panose="020B0604020202020204" charset="0"/>
              </a:rPr>
              <a:t> Example: in a—b—c, vertex *b* has degree 2.</a:t>
            </a:r>
          </a:p>
          <a:p>
            <a:endParaRPr lang="en-US" sz="3200" dirty="0">
              <a:latin typeface="Handy Casual" panose="020B0604020202020204" charset="0"/>
            </a:endParaRPr>
          </a:p>
          <a:p>
            <a:r>
              <a:rPr lang="en-US" sz="3200" dirty="0">
                <a:latin typeface="Handy Casual" panose="020B0604020202020204" charset="0"/>
              </a:rPr>
              <a:t> In-degree / out-degree:  in a directed graph.</a:t>
            </a:r>
          </a:p>
          <a:p>
            <a:r>
              <a:rPr lang="en-US" sz="3200" dirty="0">
                <a:latin typeface="Handy Casual" panose="020B0604020202020204" charset="0"/>
                <a:sym typeface="Wingdings" panose="05000000000000000000" pitchFamily="2" charset="2"/>
              </a:rPr>
              <a:t></a:t>
            </a:r>
            <a:r>
              <a:rPr lang="en-US" sz="3200" dirty="0">
                <a:latin typeface="Handy Casual" panose="020B0604020202020204" charset="0"/>
              </a:rPr>
              <a:t> *In-degree* means edges coming into a vertex, and *out-degree* means edges going out.</a:t>
            </a:r>
          </a:p>
          <a:p>
            <a:r>
              <a:rPr lang="en-US" sz="3200" dirty="0">
                <a:latin typeface="Handy Casual" panose="020B0604020202020204" charset="0"/>
              </a:rPr>
              <a:t> </a:t>
            </a:r>
          </a:p>
          <a:p>
            <a:endParaRPr lang="en-US" dirty="0">
              <a:latin typeface="Handy Casual" panose="020B0604020202020204" charset="0"/>
            </a:endParaRPr>
          </a:p>
          <a:p>
            <a:endParaRPr lang="en-US" dirty="0">
              <a:latin typeface="Handy Casual" panose="020B060402020202020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6879527"/>
            <a:ext cx="5486400" cy="3185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9"/>
          <p:cNvSpPr/>
          <p:nvPr/>
        </p:nvSpPr>
        <p:spPr>
          <a:xfrm>
            <a:off x="9144000" y="19957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451608"/>
            <a:ext cx="12039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andy Casual" panose="020B0604020202020204" charset="0"/>
                <a:sym typeface="TAN Headline"/>
              </a:rPr>
              <a:t>                                      </a:t>
            </a:r>
            <a:r>
              <a:rPr lang="en-US" sz="4000" dirty="0">
                <a:latin typeface="Handy Casual" panose="020B0604020202020204" charset="0"/>
                <a:sym typeface="Wingdings" panose="05000000000000000000" pitchFamily="2" charset="2"/>
              </a:rPr>
              <a:t></a:t>
            </a:r>
            <a:r>
              <a:rPr lang="en-US" sz="4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Terminologies Of Gr</a:t>
            </a:r>
            <a:r>
              <a:rPr lang="en-US" sz="54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aph </a:t>
            </a:r>
          </a:p>
          <a:p>
            <a:endParaRPr lang="en-US" dirty="0">
              <a:latin typeface="Handy Casual" panose="020B0604020202020204" charset="0"/>
            </a:endParaRPr>
          </a:p>
          <a:p>
            <a:endParaRPr lang="en-US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2- Path : A sequence of vertices connected by edges.</a:t>
            </a:r>
          </a:p>
          <a:p>
            <a:r>
              <a:rPr lang="en-US" sz="4000" dirty="0">
                <a:latin typeface="Handy Casual" panose="020B0604020202020204" charset="0"/>
              </a:rPr>
              <a:t> </a:t>
            </a:r>
          </a:p>
          <a:p>
            <a:r>
              <a:rPr lang="en-US" sz="4000" dirty="0">
                <a:latin typeface="Handy Casual" panose="020B0604020202020204" charset="0"/>
              </a:rPr>
              <a:t> 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422960"/>
            <a:ext cx="5334000" cy="32783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81087" y="3639551"/>
            <a:ext cx="134874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3- Cycle : A path that starts and ends at the same vertex.</a:t>
            </a:r>
          </a:p>
          <a:p>
            <a:endParaRPr lang="en-US" sz="4000" dirty="0">
              <a:latin typeface="Handy Casual" panose="020B06040202020202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310710"/>
            <a:ext cx="4876799" cy="340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7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2857500"/>
            <a:ext cx="9144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dirty="0">
                <a:latin typeface="Handy Casual" panose="020B0604020202020204" charset="0"/>
              </a:rPr>
              <a:t>4- Adjacent Vertices : Two vertices that are directly connected by an edge.</a:t>
            </a:r>
          </a:p>
          <a:p>
            <a:r>
              <a:rPr lang="en-US" sz="4000" dirty="0">
                <a:latin typeface="Handy Casual" panose="020B0604020202020204" charset="0"/>
              </a:rPr>
              <a:t>Example: In A — B — C, A and B are *adjacent vertices*.</a:t>
            </a:r>
          </a:p>
        </p:txBody>
      </p:sp>
      <p:sp>
        <p:nvSpPr>
          <p:cNvPr id="3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9"/>
          <p:cNvSpPr/>
          <p:nvPr/>
        </p:nvSpPr>
        <p:spPr>
          <a:xfrm>
            <a:off x="11049000" y="-38040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647700"/>
            <a:ext cx="8915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Wingdings" panose="05000000000000000000" pitchFamily="2" charset="2"/>
              </a:rPr>
              <a:t></a:t>
            </a:r>
            <a:r>
              <a:rPr lang="en-US" sz="4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Terminologies Of Gr</a:t>
            </a:r>
            <a:r>
              <a:rPr lang="en-US" sz="54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aph </a:t>
            </a: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FF6699">
                <a:alpha val="5490"/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1" t="12549" r="810" b="12720"/>
          <a:stretch/>
        </p:blipFill>
        <p:spPr>
          <a:xfrm>
            <a:off x="10591800" y="3924301"/>
            <a:ext cx="7315200" cy="4981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6344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22617">
            <a:off x="8504696" y="2247821"/>
            <a:ext cx="1437070" cy="1309040"/>
          </a:xfrm>
          <a:custGeom>
            <a:avLst/>
            <a:gdLst/>
            <a:ahLst/>
            <a:cxnLst/>
            <a:rect l="l" t="t" r="r" b="b"/>
            <a:pathLst>
              <a:path w="1437070" h="1309040">
                <a:moveTo>
                  <a:pt x="0" y="0"/>
                </a:moveTo>
                <a:lnTo>
                  <a:pt x="1437070" y="0"/>
                </a:lnTo>
                <a:lnTo>
                  <a:pt x="1437070" y="1309041"/>
                </a:lnTo>
                <a:lnTo>
                  <a:pt x="0" y="130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10971" y="3954155"/>
            <a:ext cx="5452145" cy="81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6250" spc="13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Graph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96809" y="5103432"/>
            <a:ext cx="4607578" cy="124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1"/>
              </a:lnSpc>
            </a:pPr>
            <a:r>
              <a:rPr lang="en-US" sz="9526" spc="209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Types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64208" y="1893931"/>
            <a:ext cx="3705330" cy="976981"/>
            <a:chOff x="0" y="0"/>
            <a:chExt cx="1066981" cy="2813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6981" cy="281330"/>
            </a:xfrm>
            <a:custGeom>
              <a:avLst/>
              <a:gdLst/>
              <a:ahLst/>
              <a:cxnLst/>
              <a:rect l="l" t="t" r="r" b="b"/>
              <a:pathLst>
                <a:path w="1066981" h="281330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329888"/>
            <a:ext cx="3740501" cy="911138"/>
            <a:chOff x="0" y="0"/>
            <a:chExt cx="1077109" cy="2623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7109" cy="262370"/>
            </a:xfrm>
            <a:custGeom>
              <a:avLst/>
              <a:gdLst/>
              <a:ahLst/>
              <a:cxnLst/>
              <a:rect l="l" t="t" r="r" b="b"/>
              <a:pathLst>
                <a:path w="1077109" h="262370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26150" y="6685966"/>
            <a:ext cx="3705330" cy="956919"/>
            <a:chOff x="0" y="0"/>
            <a:chExt cx="1066981" cy="2755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981" cy="275553"/>
            </a:xfrm>
            <a:custGeom>
              <a:avLst/>
              <a:gdLst/>
              <a:ahLst/>
              <a:cxnLst/>
              <a:rect l="l" t="t" r="r" b="b"/>
              <a:pathLst>
                <a:path w="1066981" h="275553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90807" y="1893931"/>
            <a:ext cx="3740501" cy="911138"/>
            <a:chOff x="0" y="0"/>
            <a:chExt cx="1077109" cy="2623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7109" cy="262370"/>
            </a:xfrm>
            <a:custGeom>
              <a:avLst/>
              <a:gdLst/>
              <a:ahLst/>
              <a:cxnLst/>
              <a:rect l="l" t="t" r="r" b="b"/>
              <a:pathLst>
                <a:path w="1077109" h="262370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53970" y="4320363"/>
            <a:ext cx="3705330" cy="956919"/>
            <a:chOff x="0" y="0"/>
            <a:chExt cx="1066981" cy="2755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6981" cy="275553"/>
            </a:xfrm>
            <a:custGeom>
              <a:avLst/>
              <a:gdLst/>
              <a:ahLst/>
              <a:cxnLst/>
              <a:rect l="l" t="t" r="r" b="b"/>
              <a:pathLst>
                <a:path w="1066981" h="275553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912701" y="6685966"/>
            <a:ext cx="3705330" cy="976981"/>
            <a:chOff x="0" y="0"/>
            <a:chExt cx="1066981" cy="2813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6981" cy="281330"/>
            </a:xfrm>
            <a:custGeom>
              <a:avLst/>
              <a:gdLst/>
              <a:ahLst/>
              <a:cxnLst/>
              <a:rect l="l" t="t" r="r" b="b"/>
              <a:pathLst>
                <a:path w="1066981" h="281330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598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-1643804">
            <a:off x="10477014" y="2895848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21951" y="4676300"/>
            <a:ext cx="308833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Weighted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25720" y="2239128"/>
            <a:ext cx="308833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Directed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34647" y="7039318"/>
            <a:ext cx="308833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Cyclic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62467" y="4687956"/>
            <a:ext cx="308833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Un - weighted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10847" y="2225734"/>
            <a:ext cx="308833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Un - directed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14396" y="7061515"/>
            <a:ext cx="308833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2293" spc="96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Acyclic </a:t>
            </a:r>
          </a:p>
        </p:txBody>
      </p:sp>
      <p:sp>
        <p:nvSpPr>
          <p:cNvPr id="31" name="Freeform 31"/>
          <p:cNvSpPr/>
          <p:nvPr/>
        </p:nvSpPr>
        <p:spPr>
          <a:xfrm rot="204962">
            <a:off x="11333721" y="4479549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1543996">
            <a:off x="10606292" y="6494174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 rot="-8767587">
            <a:off x="5953077" y="3012795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 rot="-10366412">
            <a:off x="4870860" y="4744070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9139054">
            <a:off x="5920775" y="6494174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-8261386">
            <a:off x="8672556" y="6509905"/>
            <a:ext cx="1437070" cy="1309040"/>
          </a:xfrm>
          <a:custGeom>
            <a:avLst/>
            <a:gdLst/>
            <a:ahLst/>
            <a:cxnLst/>
            <a:rect l="l" t="t" r="r" b="b"/>
            <a:pathLst>
              <a:path w="1437070" h="1309040">
                <a:moveTo>
                  <a:pt x="0" y="0"/>
                </a:moveTo>
                <a:lnTo>
                  <a:pt x="1437070" y="0"/>
                </a:lnTo>
                <a:lnTo>
                  <a:pt x="1437070" y="1309041"/>
                </a:lnTo>
                <a:lnTo>
                  <a:pt x="0" y="130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7670131" y="866183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1972581" y="-143918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232289" flipH="1">
            <a:off x="12924715" y="-561226"/>
            <a:ext cx="5940956" cy="4828377"/>
          </a:xfrm>
          <a:custGeom>
            <a:avLst/>
            <a:gdLst/>
            <a:ahLst/>
            <a:cxnLst/>
            <a:rect l="l" t="t" r="r" b="b"/>
            <a:pathLst>
              <a:path w="5940956" h="4828377">
                <a:moveTo>
                  <a:pt x="5940956" y="0"/>
                </a:moveTo>
                <a:lnTo>
                  <a:pt x="0" y="0"/>
                </a:lnTo>
                <a:lnTo>
                  <a:pt x="0" y="4828377"/>
                </a:lnTo>
                <a:lnTo>
                  <a:pt x="5940956" y="4828377"/>
                </a:lnTo>
                <a:lnTo>
                  <a:pt x="59409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1508112">
            <a:off x="-997725" y="1215349"/>
            <a:ext cx="2513769" cy="4114800"/>
          </a:xfrm>
          <a:custGeom>
            <a:avLst/>
            <a:gdLst/>
            <a:ahLst/>
            <a:cxnLst/>
            <a:rect l="l" t="t" r="r" b="b"/>
            <a:pathLst>
              <a:path w="2513769" h="4114800">
                <a:moveTo>
                  <a:pt x="0" y="0"/>
                </a:moveTo>
                <a:lnTo>
                  <a:pt x="2513769" y="0"/>
                </a:lnTo>
                <a:lnTo>
                  <a:pt x="2513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304610" y="722038"/>
            <a:ext cx="9243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AN Headline" panose="020B0604020202020204" charset="0"/>
                <a:sym typeface="Wingdings" panose="05000000000000000000" pitchFamily="2" charset="2"/>
              </a:rPr>
              <a:t></a:t>
            </a:r>
            <a:r>
              <a:rPr lang="en-US" sz="7200" dirty="0">
                <a:latin typeface="TAN Headline" panose="020B0604020202020204" charset="0"/>
              </a:rPr>
              <a:t>Types Of 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52600" y="2476500"/>
            <a:ext cx="99822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4000" dirty="0">
                <a:latin typeface="Handy Casual" panose="020B0604020202020204" charset="0"/>
              </a:rPr>
              <a:t>*Directed Graph* – Edges have direction. </a:t>
            </a:r>
          </a:p>
          <a:p>
            <a:r>
              <a:rPr lang="en-US" sz="4000" dirty="0">
                <a:latin typeface="Handy Casual" panose="020B0604020202020204" charset="0"/>
              </a:rPr>
              <a:t>  </a:t>
            </a:r>
          </a:p>
          <a:p>
            <a:pPr marL="342900" indent="-342900">
              <a:buAutoNum type="arabicPeriod"/>
            </a:pPr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🔹 Example: A → B (one-way road).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2. *Undirected Graph* – Edges have no direction.   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🔹 Example: A — B (two-way road).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199" y="2747129"/>
            <a:ext cx="3221727" cy="430137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926" y="2710838"/>
            <a:ext cx="3028950" cy="43376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flipH="1">
            <a:off x="-1972581" y="-143918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2"/>
          <p:cNvSpPr/>
          <p:nvPr/>
        </p:nvSpPr>
        <p:spPr>
          <a:xfrm rot="-10800000" flipH="1">
            <a:off x="7670131" y="866183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/>
          <p:nvPr/>
        </p:nvSpPr>
        <p:spPr>
          <a:xfrm rot="1508112">
            <a:off x="-1759725" y="705533"/>
            <a:ext cx="2513769" cy="4114800"/>
          </a:xfrm>
          <a:custGeom>
            <a:avLst/>
            <a:gdLst/>
            <a:ahLst/>
            <a:cxnLst/>
            <a:rect l="l" t="t" r="r" b="b"/>
            <a:pathLst>
              <a:path w="2513769" h="4114800">
                <a:moveTo>
                  <a:pt x="0" y="0"/>
                </a:moveTo>
                <a:lnTo>
                  <a:pt x="2513769" y="0"/>
                </a:lnTo>
                <a:lnTo>
                  <a:pt x="2513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16360" y="2167338"/>
            <a:ext cx="9144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3. *Weighted Graph* – Edges have weights or costs.</a:t>
            </a: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   🔹 Example: A —5— B (distance = 5 km).</a:t>
            </a: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4. *Unweighted Graph* – No weights on edges.  </a:t>
            </a:r>
          </a:p>
          <a:p>
            <a:endParaRPr lang="en-US" sz="3600" dirty="0">
              <a:latin typeface="Handy Casual" panose="020B0604020202020204" charset="0"/>
            </a:endParaRPr>
          </a:p>
          <a:p>
            <a:endParaRPr lang="en-US" sz="3600" dirty="0">
              <a:latin typeface="Handy Casual" panose="020B0604020202020204" charset="0"/>
            </a:endParaRPr>
          </a:p>
          <a:p>
            <a:r>
              <a:rPr lang="en-US" sz="3600" dirty="0">
                <a:latin typeface="Handy Casual" panose="020B0604020202020204" charset="0"/>
              </a:rPr>
              <a:t>🔹 Example: A — B — C (just connections).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0281" y="711808"/>
            <a:ext cx="944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AN Headline" panose="020B0604020202020204" charset="0"/>
                <a:sym typeface="Wingdings" panose="05000000000000000000" pitchFamily="2" charset="2"/>
              </a:rPr>
              <a:t></a:t>
            </a:r>
            <a:r>
              <a:rPr lang="en-US" sz="7200" dirty="0">
                <a:latin typeface="TAN Headline" panose="020B0604020202020204" charset="0"/>
              </a:rPr>
              <a:t>Types Of Graph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482" y="2281644"/>
            <a:ext cx="8253198" cy="552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8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 flipH="1">
            <a:off x="-1972581" y="-143918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2"/>
          <p:cNvSpPr/>
          <p:nvPr/>
        </p:nvSpPr>
        <p:spPr>
          <a:xfrm rot="-10800000" flipH="1">
            <a:off x="7670131" y="866183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9"/>
          <p:cNvSpPr/>
          <p:nvPr/>
        </p:nvSpPr>
        <p:spPr>
          <a:xfrm rot="1508112">
            <a:off x="-1203192" y="910551"/>
            <a:ext cx="2513769" cy="4114800"/>
          </a:xfrm>
          <a:custGeom>
            <a:avLst/>
            <a:gdLst/>
            <a:ahLst/>
            <a:cxnLst/>
            <a:rect l="l" t="t" r="r" b="b"/>
            <a:pathLst>
              <a:path w="2513769" h="4114800">
                <a:moveTo>
                  <a:pt x="0" y="0"/>
                </a:moveTo>
                <a:lnTo>
                  <a:pt x="2513769" y="0"/>
                </a:lnTo>
                <a:lnTo>
                  <a:pt x="2513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86200" y="752960"/>
            <a:ext cx="937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AN Headline" panose="020B0604020202020204" charset="0"/>
                <a:sym typeface="Wingdings" panose="05000000000000000000" pitchFamily="2" charset="2"/>
              </a:rPr>
              <a:t></a:t>
            </a:r>
            <a:r>
              <a:rPr lang="en-US" sz="7200" dirty="0">
                <a:latin typeface="TAN Headline" panose="020B0604020202020204" charset="0"/>
              </a:rPr>
              <a:t>Types Of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5400" y="2915214"/>
            <a:ext cx="9144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dirty="0">
                <a:latin typeface="Handy Casual" panose="020B0604020202020204" charset="0"/>
              </a:rPr>
              <a:t>5. *Cyclic Graph* – Has a cycle.   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🔹 Example: A → B → C → A.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6. *Acyclic Graph* – No cycle.   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🔹 Example: A → B → C (no return path).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14" y="2464101"/>
            <a:ext cx="9174374" cy="50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4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905000" y="-650760"/>
            <a:ext cx="13290330" cy="1836482"/>
          </a:xfrm>
          <a:custGeom>
            <a:avLst/>
            <a:gdLst/>
            <a:ahLst/>
            <a:cxnLst/>
            <a:rect l="l" t="t" r="r" b="b"/>
            <a:pathLst>
              <a:path w="13290330" h="1836482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0210800" y="8784446"/>
            <a:ext cx="13290330" cy="1836482"/>
          </a:xfrm>
          <a:custGeom>
            <a:avLst/>
            <a:gdLst/>
            <a:ahLst/>
            <a:cxnLst/>
            <a:rect l="l" t="t" r="r" b="b"/>
            <a:pathLst>
              <a:path w="13290330" h="1836482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57644" y="2606329"/>
            <a:ext cx="7971956" cy="7724768"/>
            <a:chOff x="0" y="0"/>
            <a:chExt cx="15228478" cy="10690097"/>
          </a:xfrm>
        </p:grpSpPr>
        <p:sp>
          <p:nvSpPr>
            <p:cNvPr id="5" name="Freeform 5"/>
            <p:cNvSpPr/>
            <p:nvPr/>
          </p:nvSpPr>
          <p:spPr>
            <a:xfrm>
              <a:off x="31750" y="31750"/>
              <a:ext cx="15164978" cy="10626596"/>
            </a:xfrm>
            <a:custGeom>
              <a:avLst/>
              <a:gdLst/>
              <a:ahLst/>
              <a:cxnLst/>
              <a:rect l="l" t="t" r="r" b="b"/>
              <a:pathLst>
                <a:path w="15164978" h="10626596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15228478" cy="10690096"/>
            </a:xfrm>
            <a:custGeom>
              <a:avLst/>
              <a:gdLst/>
              <a:ahLst/>
              <a:cxnLst/>
              <a:rect l="l" t="t" r="r" b="b"/>
              <a:pathLst>
                <a:path w="15228478" h="10690096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43000" y="1120888"/>
            <a:ext cx="1477169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4000" b="1" dirty="0">
                <a:latin typeface="TAN Headline" panose="020B0604020202020204" charset="0"/>
                <a:sym typeface="Wingdings" panose="05000000000000000000" pitchFamily="2" charset="2"/>
              </a:rPr>
              <a:t></a:t>
            </a:r>
            <a:r>
              <a:rPr lang="en-US" sz="4000" b="1" dirty="0">
                <a:latin typeface="TAN Headline" panose="020B0604020202020204" charset="0"/>
              </a:rPr>
              <a:t>Ways To Represent A Graph In </a:t>
            </a:r>
            <a:r>
              <a:rPr lang="en-US" sz="4000" b="1" dirty="0" err="1">
                <a:latin typeface="TAN Headline" panose="020B0604020202020204" charset="0"/>
              </a:rPr>
              <a:t>DataStructures</a:t>
            </a:r>
            <a:endParaRPr lang="en-US" sz="4000" dirty="0">
              <a:latin typeface="TAN Headline" panose="020B0604020202020204" charset="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600" dirty="0">
              <a:solidFill>
                <a:srgbClr val="000000"/>
              </a:solidFill>
              <a:latin typeface="TAN Headline" panose="020B0604020202020204" charset="0"/>
              <a:ea typeface="TAN Headline"/>
              <a:cs typeface="TAN Headline"/>
              <a:sym typeface="TAN Headline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810484" y="2606330"/>
            <a:ext cx="8028349" cy="7776906"/>
            <a:chOff x="0" y="0"/>
            <a:chExt cx="6634932" cy="10690097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6571432" cy="10626596"/>
            </a:xfrm>
            <a:custGeom>
              <a:avLst/>
              <a:gdLst/>
              <a:ahLst/>
              <a:cxnLst/>
              <a:rect l="l" t="t" r="r" b="b"/>
              <a:pathLst>
                <a:path w="6571432" h="10626596">
                  <a:moveTo>
                    <a:pt x="6478722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477452" y="0"/>
                  </a:lnTo>
                  <a:cubicBezTo>
                    <a:pt x="6528252" y="0"/>
                    <a:pt x="6570162" y="41910"/>
                    <a:pt x="6570162" y="92710"/>
                  </a:cubicBezTo>
                  <a:lnTo>
                    <a:pt x="6570162" y="10532617"/>
                  </a:lnTo>
                  <a:cubicBezTo>
                    <a:pt x="6571432" y="10584686"/>
                    <a:pt x="6529522" y="10626596"/>
                    <a:pt x="6478722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6634932" cy="10690096"/>
            </a:xfrm>
            <a:custGeom>
              <a:avLst/>
              <a:gdLst/>
              <a:ahLst/>
              <a:cxnLst/>
              <a:rect l="l" t="t" r="r" b="b"/>
              <a:pathLst>
                <a:path w="6634932" h="10690096">
                  <a:moveTo>
                    <a:pt x="6510472" y="59690"/>
                  </a:moveTo>
                  <a:cubicBezTo>
                    <a:pt x="6546032" y="59690"/>
                    <a:pt x="6575242" y="88900"/>
                    <a:pt x="6575242" y="124460"/>
                  </a:cubicBezTo>
                  <a:lnTo>
                    <a:pt x="6575242" y="10565636"/>
                  </a:lnTo>
                  <a:cubicBezTo>
                    <a:pt x="6575242" y="10601196"/>
                    <a:pt x="6546032" y="10630406"/>
                    <a:pt x="6510472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510472" y="59690"/>
                  </a:lnTo>
                  <a:moveTo>
                    <a:pt x="65104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6510472" y="10690096"/>
                  </a:lnTo>
                  <a:cubicBezTo>
                    <a:pt x="6579052" y="10690096"/>
                    <a:pt x="6634932" y="10634217"/>
                    <a:pt x="6634932" y="10565636"/>
                  </a:cubicBezTo>
                  <a:lnTo>
                    <a:pt x="6634932" y="124460"/>
                  </a:lnTo>
                  <a:cubicBezTo>
                    <a:pt x="6634932" y="55880"/>
                    <a:pt x="6579052" y="0"/>
                    <a:pt x="6510472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274263" y="3713404"/>
            <a:ext cx="7938715" cy="6573596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5" y="0"/>
                </a:lnTo>
                <a:lnTo>
                  <a:pt x="1979545" y="1979545"/>
                </a:lnTo>
                <a:lnTo>
                  <a:pt x="0" y="1979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846218" y="3780724"/>
            <a:ext cx="7956881" cy="6550372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6" y="0"/>
                </a:lnTo>
                <a:lnTo>
                  <a:pt x="1979546" y="1979545"/>
                </a:lnTo>
                <a:lnTo>
                  <a:pt x="0" y="197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10800" y="4422916"/>
            <a:ext cx="7764014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27"/>
              </a:lnSpc>
            </a:pPr>
            <a:r>
              <a:rPr lang="en-US" sz="40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Adjacency Matrix is a table (2D array) that shows connections.</a:t>
            </a:r>
          </a:p>
          <a:p>
            <a:pPr>
              <a:lnSpc>
                <a:spcPts val="3827"/>
              </a:lnSpc>
            </a:pPr>
            <a:endParaRPr lang="en-US" sz="40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r>
              <a:rPr lang="en-US" sz="40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Rows and columns are the nodes.</a:t>
            </a:r>
          </a:p>
          <a:p>
            <a:pPr>
              <a:lnSpc>
                <a:spcPts val="3827"/>
              </a:lnSpc>
            </a:pPr>
            <a:endParaRPr lang="en-US" sz="40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r>
              <a:rPr lang="en-US" sz="40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If two nodes are connected, we write 1, otherwise 0.</a:t>
            </a:r>
          </a:p>
          <a:p>
            <a:pPr>
              <a:lnSpc>
                <a:spcPts val="3827"/>
              </a:lnSpc>
            </a:pPr>
            <a:endParaRPr lang="en-US" sz="40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Wingdings" panose="05000000000000000000" pitchFamily="2" charset="2"/>
            </a:endParaRPr>
          </a:p>
          <a:p>
            <a:pPr>
              <a:lnSpc>
                <a:spcPts val="3827"/>
              </a:lnSpc>
            </a:pPr>
            <a:endParaRPr lang="en-US" sz="40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Wingdings" panose="05000000000000000000" pitchFamily="2" charset="2"/>
            </a:endParaRPr>
          </a:p>
          <a:p>
            <a:pPr>
              <a:lnSpc>
                <a:spcPts val="3827"/>
              </a:lnSpc>
            </a:pPr>
            <a:r>
              <a:rPr lang="en-US" sz="40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Uses more memory.</a:t>
            </a:r>
          </a:p>
          <a:p>
            <a:pPr>
              <a:lnSpc>
                <a:spcPts val="3827"/>
              </a:lnSpc>
            </a:pPr>
            <a:endParaRPr lang="en-US" sz="40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Wingdings" panose="05000000000000000000" pitchFamily="2" charset="2"/>
            </a:endParaRPr>
          </a:p>
          <a:p>
            <a:pPr>
              <a:lnSpc>
                <a:spcPts val="3827"/>
              </a:lnSpc>
            </a:pPr>
            <a:r>
              <a:rPr lang="en-US" sz="40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Good for graphs with many connections.</a:t>
            </a:r>
            <a:endParaRPr lang="en-US" sz="40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8" name="AutoShape 18"/>
          <p:cNvSpPr/>
          <p:nvPr/>
        </p:nvSpPr>
        <p:spPr>
          <a:xfrm flipV="1">
            <a:off x="238531" y="3645492"/>
            <a:ext cx="7991069" cy="449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flipH="1" flipV="1">
            <a:off x="9846218" y="3803821"/>
            <a:ext cx="7956880" cy="260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12661083">
            <a:off x="15984307" y="166342"/>
            <a:ext cx="2552048" cy="2372429"/>
          </a:xfrm>
          <a:custGeom>
            <a:avLst/>
            <a:gdLst/>
            <a:ahLst/>
            <a:cxnLst/>
            <a:rect l="l" t="t" r="r" b="b"/>
            <a:pathLst>
              <a:path w="2983210" h="2891002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143000" y="2796573"/>
            <a:ext cx="4685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N Headline" panose="020B0604020202020204" charset="0"/>
              </a:rPr>
              <a:t>1 - Adjacency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495" y="2885064"/>
            <a:ext cx="575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AN Headline" panose="020B0604020202020204" charset="0"/>
              </a:rPr>
              <a:t>2 - Adjacency matrix</a:t>
            </a:r>
          </a:p>
        </p:txBody>
      </p:sp>
      <p:sp>
        <p:nvSpPr>
          <p:cNvPr id="23" name="Freeform 4"/>
          <p:cNvSpPr/>
          <p:nvPr/>
        </p:nvSpPr>
        <p:spPr>
          <a:xfrm rot="291669">
            <a:off x="5848395" y="2952189"/>
            <a:ext cx="777829" cy="54594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4"/>
          <p:cNvSpPr/>
          <p:nvPr/>
        </p:nvSpPr>
        <p:spPr>
          <a:xfrm rot="291669">
            <a:off x="16272525" y="3031944"/>
            <a:ext cx="777829" cy="54594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15"/>
          <p:cNvSpPr txBox="1"/>
          <p:nvPr/>
        </p:nvSpPr>
        <p:spPr>
          <a:xfrm>
            <a:off x="990600" y="4545585"/>
            <a:ext cx="2857324" cy="439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7"/>
              </a:lnSpc>
            </a:pPr>
            <a:endParaRPr lang="en-US" sz="2899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27" name="TextBox 15"/>
          <p:cNvSpPr txBox="1"/>
          <p:nvPr/>
        </p:nvSpPr>
        <p:spPr>
          <a:xfrm>
            <a:off x="609600" y="4459124"/>
            <a:ext cx="7391400" cy="6335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27"/>
              </a:lnSpc>
            </a:pP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Adjacency List is a way to store a graph.</a:t>
            </a: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For every node, we write the list of nodes it is connected to.</a:t>
            </a: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</a:t>
            </a: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Uses less memory.</a:t>
            </a: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</a:t>
            </a: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Good for graphs with few connections.</a:t>
            </a: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3827"/>
              </a:lnSpc>
            </a:pPr>
            <a:endParaRPr lang="en-US" sz="44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lumMod val="40000"/>
                <a:lumOff val="6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1610674"/>
            <a:ext cx="6174096" cy="51901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5791200" y="647700"/>
            <a:ext cx="632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AN Headline" panose="020B0604020202020204" charset="0"/>
              </a:rPr>
              <a:t>1- Adjacency List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596059"/>
              </p:ext>
            </p:extLst>
          </p:nvPr>
        </p:nvGraphicFramePr>
        <p:xfrm>
          <a:off x="1487713" y="3619500"/>
          <a:ext cx="1103087" cy="49225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03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37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</a:t>
                      </a:r>
                      <a:r>
                        <a:rPr lang="en-US" sz="3200" b="1" dirty="0"/>
                        <a:t>0</a:t>
                      </a:r>
                      <a:endParaRPr lang="en-US" sz="2000" b="1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sz="1800" b="0" baseline="0" dirty="0"/>
                        <a:t>    </a:t>
                      </a:r>
                      <a:r>
                        <a:rPr lang="en-US" sz="3200" b="1" dirty="0"/>
                        <a:t>1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baseline="0" dirty="0"/>
                        <a:t> </a:t>
                      </a:r>
                      <a:r>
                        <a:rPr lang="en-US" dirty="0"/>
                        <a:t>  </a:t>
                      </a:r>
                    </a:p>
                    <a:p>
                      <a:pPr algn="ctr"/>
                      <a:r>
                        <a:rPr lang="en-US" sz="3200" b="1" dirty="0"/>
                        <a:t>   2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sz="3200" b="1" dirty="0"/>
                        <a:t>   3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1487713" y="4562387"/>
            <a:ext cx="11103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487713" y="5750381"/>
            <a:ext cx="11103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487713" y="6939425"/>
            <a:ext cx="11103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743200" y="39243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43200" y="49149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743200" y="60579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743200" y="72009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3886200" y="3543300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/>
          <p:cNvSpPr/>
          <p:nvPr/>
        </p:nvSpPr>
        <p:spPr>
          <a:xfrm>
            <a:off x="5715000" y="3543300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114800" y="3632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876800" y="39243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54486" y="3632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39" name="Flowchart: Connector 38"/>
          <p:cNvSpPr/>
          <p:nvPr/>
        </p:nvSpPr>
        <p:spPr>
          <a:xfrm>
            <a:off x="3886200" y="4533900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/>
          <p:cNvSpPr/>
          <p:nvPr/>
        </p:nvSpPr>
        <p:spPr>
          <a:xfrm>
            <a:off x="5642429" y="4553857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Connector 40"/>
          <p:cNvSpPr/>
          <p:nvPr/>
        </p:nvSpPr>
        <p:spPr>
          <a:xfrm>
            <a:off x="7315200" y="4533900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876800" y="49149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80629" y="4934857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103914" y="4673247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372" y="4673247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4685" y="4673247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47" name="Flowchart: Connector 46"/>
          <p:cNvSpPr/>
          <p:nvPr/>
        </p:nvSpPr>
        <p:spPr>
          <a:xfrm>
            <a:off x="3886200" y="5753100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/>
          <p:cNvSpPr/>
          <p:nvPr/>
        </p:nvSpPr>
        <p:spPr>
          <a:xfrm>
            <a:off x="5798457" y="5783943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876800" y="6164943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61972" y="5903333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27057" y="587249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52" name="Flowchart: Connector 51"/>
          <p:cNvSpPr/>
          <p:nvPr/>
        </p:nvSpPr>
        <p:spPr>
          <a:xfrm>
            <a:off x="3989614" y="6800850"/>
            <a:ext cx="838200" cy="762000"/>
          </a:xfrm>
          <a:prstGeom prst="flowChartConnector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218214" y="693929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57" name="Right Bracket 56"/>
          <p:cNvSpPr/>
          <p:nvPr/>
        </p:nvSpPr>
        <p:spPr>
          <a:xfrm rot="16200000">
            <a:off x="5054423" y="2461255"/>
            <a:ext cx="293360" cy="1847850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ket 57"/>
          <p:cNvSpPr/>
          <p:nvPr/>
        </p:nvSpPr>
        <p:spPr>
          <a:xfrm rot="16200000">
            <a:off x="4339558" y="6543990"/>
            <a:ext cx="183218" cy="425902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Bracket 58"/>
          <p:cNvSpPr/>
          <p:nvPr/>
        </p:nvSpPr>
        <p:spPr>
          <a:xfrm rot="16200000">
            <a:off x="5964013" y="2939040"/>
            <a:ext cx="148771" cy="3032580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ket 59"/>
          <p:cNvSpPr/>
          <p:nvPr/>
        </p:nvSpPr>
        <p:spPr>
          <a:xfrm rot="16200000">
            <a:off x="5215895" y="4679776"/>
            <a:ext cx="293360" cy="1847850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Brace 60"/>
          <p:cNvSpPr/>
          <p:nvPr/>
        </p:nvSpPr>
        <p:spPr>
          <a:xfrm>
            <a:off x="7313385" y="3619500"/>
            <a:ext cx="1914072" cy="384301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495972" y="5157478"/>
            <a:ext cx="21336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360611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342900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AN Headline" panose="020B0604020202020204" charset="0"/>
              </a:rPr>
              <a:t>2- Adjacency matrix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2324100"/>
            <a:ext cx="5238750" cy="5943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32114" y="1866900"/>
            <a:ext cx="7707086" cy="106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27"/>
              </a:lnSpc>
            </a:pP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 </a:t>
            </a:r>
            <a:r>
              <a:rPr lang="en-US" sz="4400" dirty="0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If two nodes are connected, we write 1, otherwise 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018984"/>
              </p:ext>
            </p:extLst>
          </p:nvPr>
        </p:nvGraphicFramePr>
        <p:xfrm>
          <a:off x="1600200" y="4000500"/>
          <a:ext cx="8548915" cy="59055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0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9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1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</a:t>
                      </a:r>
                      <a:r>
                        <a:rPr lang="en-US" sz="3600" dirty="0"/>
                        <a:t>1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  2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</a:t>
                      </a:r>
                      <a:r>
                        <a:rPr lang="en-US" sz="3600" dirty="0"/>
                        <a:t>3</a:t>
                      </a:r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   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 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82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026" y="933158"/>
            <a:ext cx="6409735" cy="7455526"/>
          </a:xfrm>
          <a:custGeom>
            <a:avLst/>
            <a:gdLst/>
            <a:ahLst/>
            <a:cxnLst/>
            <a:rect l="l" t="t" r="r" b="b"/>
            <a:pathLst>
              <a:path w="6003579" h="7573322">
                <a:moveTo>
                  <a:pt x="0" y="0"/>
                </a:moveTo>
                <a:lnTo>
                  <a:pt x="6003579" y="0"/>
                </a:lnTo>
                <a:lnTo>
                  <a:pt x="6003579" y="7573322"/>
                </a:lnTo>
                <a:lnTo>
                  <a:pt x="0" y="7573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7318826" y="358699"/>
            <a:ext cx="10588174" cy="9650468"/>
            <a:chOff x="0" y="0"/>
            <a:chExt cx="12654042" cy="10284089"/>
          </a:xfrm>
        </p:grpSpPr>
        <p:sp>
          <p:nvSpPr>
            <p:cNvPr id="29" name="Freeform 29"/>
            <p:cNvSpPr/>
            <p:nvPr/>
          </p:nvSpPr>
          <p:spPr>
            <a:xfrm>
              <a:off x="31750" y="31750"/>
              <a:ext cx="12590542" cy="10220589"/>
            </a:xfrm>
            <a:custGeom>
              <a:avLst/>
              <a:gdLst/>
              <a:ahLst/>
              <a:cxnLst/>
              <a:rect l="l" t="t" r="r" b="b"/>
              <a:pathLst>
                <a:path w="12590542" h="10220589">
                  <a:moveTo>
                    <a:pt x="12497832" y="10220589"/>
                  </a:moveTo>
                  <a:lnTo>
                    <a:pt x="92710" y="10220589"/>
                  </a:lnTo>
                  <a:cubicBezTo>
                    <a:pt x="41910" y="10220589"/>
                    <a:pt x="0" y="10178679"/>
                    <a:pt x="0" y="1012787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2496562" y="0"/>
                  </a:lnTo>
                  <a:cubicBezTo>
                    <a:pt x="12547362" y="0"/>
                    <a:pt x="12589272" y="41910"/>
                    <a:pt x="12589272" y="92710"/>
                  </a:cubicBezTo>
                  <a:lnTo>
                    <a:pt x="12589272" y="10126609"/>
                  </a:lnTo>
                  <a:cubicBezTo>
                    <a:pt x="12590542" y="10178679"/>
                    <a:pt x="12548632" y="10220589"/>
                    <a:pt x="12497832" y="10220589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12654042" cy="10284089"/>
            </a:xfrm>
            <a:custGeom>
              <a:avLst/>
              <a:gdLst/>
              <a:ahLst/>
              <a:cxnLst/>
              <a:rect l="l" t="t" r="r" b="b"/>
              <a:pathLst>
                <a:path w="12654042" h="10284089">
                  <a:moveTo>
                    <a:pt x="12529582" y="59690"/>
                  </a:moveTo>
                  <a:cubicBezTo>
                    <a:pt x="12565142" y="59690"/>
                    <a:pt x="12594352" y="88900"/>
                    <a:pt x="12594352" y="124460"/>
                  </a:cubicBezTo>
                  <a:lnTo>
                    <a:pt x="12594352" y="10159629"/>
                  </a:lnTo>
                  <a:cubicBezTo>
                    <a:pt x="12594352" y="10195189"/>
                    <a:pt x="12565142" y="10224399"/>
                    <a:pt x="12529582" y="10224399"/>
                  </a:cubicBezTo>
                  <a:lnTo>
                    <a:pt x="124460" y="10224399"/>
                  </a:lnTo>
                  <a:cubicBezTo>
                    <a:pt x="88900" y="10224399"/>
                    <a:pt x="59690" y="10195189"/>
                    <a:pt x="59690" y="101596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2529582" y="59690"/>
                  </a:lnTo>
                  <a:moveTo>
                    <a:pt x="1252958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159629"/>
                  </a:lnTo>
                  <a:cubicBezTo>
                    <a:pt x="0" y="10228209"/>
                    <a:pt x="55880" y="10284089"/>
                    <a:pt x="124460" y="10284089"/>
                  </a:cubicBezTo>
                  <a:lnTo>
                    <a:pt x="12529582" y="10284089"/>
                  </a:lnTo>
                  <a:cubicBezTo>
                    <a:pt x="12598162" y="10284089"/>
                    <a:pt x="12654042" y="10228209"/>
                    <a:pt x="12654042" y="10159629"/>
                  </a:cubicBezTo>
                  <a:lnTo>
                    <a:pt x="12654042" y="124460"/>
                  </a:lnTo>
                  <a:cubicBezTo>
                    <a:pt x="12654042" y="55880"/>
                    <a:pt x="12598162" y="0"/>
                    <a:pt x="12529582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 31"/>
          <p:cNvSpPr/>
          <p:nvPr/>
        </p:nvSpPr>
        <p:spPr>
          <a:xfrm rot="16200000">
            <a:off x="11094906" y="-3348532"/>
            <a:ext cx="3065553" cy="10558634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5" y="0"/>
                </a:lnTo>
                <a:lnTo>
                  <a:pt x="1979545" y="1979546"/>
                </a:lnTo>
                <a:lnTo>
                  <a:pt x="0" y="197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16200000">
            <a:off x="11065543" y="3160375"/>
            <a:ext cx="3079170" cy="10550616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5" y="0"/>
                </a:lnTo>
                <a:lnTo>
                  <a:pt x="1979545" y="1979546"/>
                </a:lnTo>
                <a:lnTo>
                  <a:pt x="0" y="197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 rot="16200000">
            <a:off x="10883799" y="-100538"/>
            <a:ext cx="3458231" cy="10535044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5" y="0"/>
                </a:lnTo>
                <a:lnTo>
                  <a:pt x="1979545" y="1979546"/>
                </a:lnTo>
                <a:lnTo>
                  <a:pt x="0" y="197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 rot="-1568932">
            <a:off x="83033" y="8540604"/>
            <a:ext cx="1303183" cy="1585023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5027046">
            <a:off x="16502236" y="496365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8" y="0"/>
                </a:lnTo>
                <a:lnTo>
                  <a:pt x="1514128" y="1379233"/>
                </a:lnTo>
                <a:lnTo>
                  <a:pt x="0" y="13792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304800" y="1790700"/>
            <a:ext cx="6127978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Wingdings" panose="05000000000000000000" pitchFamily="2" charset="2"/>
              </a:rPr>
              <a:t></a:t>
            </a:r>
            <a:r>
              <a:rPr lang="en-US" sz="4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Graph Application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91181" y="3109403"/>
            <a:ext cx="4081927" cy="37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432961" y="846693"/>
            <a:ext cx="882633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                                 </a:t>
            </a:r>
            <a:r>
              <a:rPr lang="en-US" sz="3600" dirty="0">
                <a:latin typeface="TAN Headline" panose="020B0604020202020204" charset="0"/>
                <a:ea typeface="Handy Casual"/>
                <a:cs typeface="Handy Casual"/>
                <a:sym typeface="Handy Casual"/>
              </a:rPr>
              <a:t>Social Networks</a:t>
            </a:r>
          </a:p>
          <a:p>
            <a:pPr>
              <a:lnSpc>
                <a:spcPts val="3299"/>
              </a:lnSpc>
            </a:pPr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 </a:t>
            </a:r>
          </a:p>
          <a:p>
            <a:pPr>
              <a:lnSpc>
                <a:spcPts val="3299"/>
              </a:lnSpc>
            </a:pPr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Example: Facebook, Instagram, WhatsApp.</a:t>
            </a:r>
          </a:p>
          <a:p>
            <a:pPr>
              <a:lnSpc>
                <a:spcPts val="3299"/>
              </a:lnSpc>
            </a:pPr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People = nodes Friendships or followers = edges</a:t>
            </a:r>
          </a:p>
          <a:p>
            <a:pPr>
              <a:lnSpc>
                <a:spcPts val="3299"/>
              </a:lnSpc>
            </a:pPr>
            <a:r>
              <a:rPr lang="en-US" sz="3600" dirty="0"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</a:t>
            </a:r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Graphs help find mutual friends, suggest people you may know, or show connections between users.</a:t>
            </a:r>
          </a:p>
        </p:txBody>
      </p:sp>
      <p:sp>
        <p:nvSpPr>
          <p:cNvPr id="46" name="TextBox 46"/>
          <p:cNvSpPr txBox="1"/>
          <p:nvPr/>
        </p:nvSpPr>
        <p:spPr>
          <a:xfrm rot="10800000" flipV="1">
            <a:off x="11157927" y="3657066"/>
            <a:ext cx="636480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sz="3600" dirty="0">
                <a:solidFill>
                  <a:srgbClr val="231F20"/>
                </a:solidFill>
                <a:latin typeface="TAN Headline" panose="020B0604020202020204" charset="0"/>
                <a:ea typeface="Handy Casual"/>
                <a:cs typeface="Handy Casual"/>
                <a:sym typeface="Handy Casual"/>
              </a:rPr>
              <a:t>Google Maps</a:t>
            </a:r>
          </a:p>
          <a:p>
            <a:pPr>
              <a:lnSpc>
                <a:spcPts val="3299"/>
              </a:lnSpc>
            </a:pPr>
            <a:endParaRPr lang="en-US" sz="3600" dirty="0">
              <a:solidFill>
                <a:srgbClr val="231F2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3482" y="2867280"/>
            <a:ext cx="52471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latin typeface="Handy Casual" panose="020B0604020202020204" charset="0"/>
            </a:endParaRPr>
          </a:p>
          <a:p>
            <a:r>
              <a:rPr lang="en-US" sz="3200" dirty="0">
                <a:latin typeface="Handy Casual" panose="020B0604020202020204" charset="0"/>
              </a:rPr>
              <a:t>Graph applications” means where we use graphs in real life or computer science </a:t>
            </a:r>
          </a:p>
          <a:p>
            <a:endParaRPr lang="en-US" sz="3200" dirty="0">
              <a:latin typeface="Handy Casual" panose="020B0604020202020204" charset="0"/>
            </a:endParaRPr>
          </a:p>
          <a:p>
            <a:r>
              <a:rPr lang="en-US" sz="3200" dirty="0">
                <a:latin typeface="Handy Casual" panose="020B0604020202020204" charset="0"/>
              </a:rPr>
              <a:t>— basically how graphs help us solve problems.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668000" y="740736"/>
            <a:ext cx="554854" cy="565975"/>
            <a:chOff x="0" y="-14828"/>
            <a:chExt cx="739806" cy="75463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9806" cy="739806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13329" y="-14828"/>
              <a:ext cx="513148" cy="75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 dirty="0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28429" y="3454400"/>
            <a:ext cx="554854" cy="692709"/>
            <a:chOff x="0" y="0"/>
            <a:chExt cx="739806" cy="73980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39806" cy="73980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13329" y="-10795"/>
              <a:ext cx="513149" cy="702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 dirty="0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8534400" y="4162471"/>
            <a:ext cx="6934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Example: Cities or locations = nodes</a:t>
            </a:r>
          </a:p>
          <a:p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Roads = edges.</a:t>
            </a:r>
          </a:p>
          <a:p>
            <a:r>
              <a:rPr lang="en-US" sz="3600" dirty="0">
                <a:latin typeface="Handy Casual"/>
                <a:ea typeface="Handy Casual"/>
                <a:cs typeface="Handy Casual"/>
                <a:sym typeface="Wingdings" panose="05000000000000000000" pitchFamily="2" charset="2"/>
              </a:rPr>
              <a:t></a:t>
            </a:r>
            <a:r>
              <a:rPr lang="en-US" sz="3600" dirty="0">
                <a:latin typeface="Handy Casual"/>
                <a:ea typeface="Handy Casual"/>
                <a:cs typeface="Handy Casual"/>
                <a:sym typeface="Handy Casual"/>
              </a:rPr>
              <a:t> Graph algorithms find the shortest path (like fastest route from home to school).</a:t>
            </a:r>
          </a:p>
          <a:p>
            <a:endParaRPr lang="en-US" sz="36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10253828" y="6904196"/>
            <a:ext cx="554854" cy="554854"/>
            <a:chOff x="0" y="0"/>
            <a:chExt cx="739806" cy="73980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39806" cy="739806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3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13329" y="-18862"/>
              <a:ext cx="513149" cy="702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46"/>
                </a:lnSpc>
                <a:spcBef>
                  <a:spcPct val="0"/>
                </a:spcBef>
              </a:pPr>
              <a:r>
                <a:rPr lang="en-US" sz="3176" spc="63" dirty="0">
                  <a:solidFill>
                    <a:srgbClr val="231F2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3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10829897" y="7006245"/>
            <a:ext cx="4256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N Headline" panose="020B0604020202020204" charset="0"/>
              </a:rPr>
              <a:t>Computer Networks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9144" y="7484416"/>
            <a:ext cx="92750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Handy Casual" panose="020B0604020202020204" charset="0"/>
              </a:rPr>
              <a:t>Computers = nodes</a:t>
            </a:r>
          </a:p>
          <a:p>
            <a:r>
              <a:rPr lang="en-US" sz="3200" dirty="0">
                <a:latin typeface="Handy Casual" panose="020B0604020202020204" charset="0"/>
              </a:rPr>
              <a:t>Cables/connections = edges.</a:t>
            </a:r>
          </a:p>
          <a:p>
            <a:endParaRPr lang="en-US" sz="3200" dirty="0">
              <a:latin typeface="Handy Casual" panose="020B0604020202020204" charset="0"/>
            </a:endParaRPr>
          </a:p>
          <a:p>
            <a:r>
              <a:rPr lang="en-US" sz="3200" dirty="0">
                <a:latin typeface="Handy Casual" panose="020B0604020202020204" charset="0"/>
              </a:rPr>
              <a:t>Graphs help design and manage the Internet, showing how computers are linked.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 rot="152505">
            <a:off x="734245" y="371513"/>
            <a:ext cx="16963957" cy="9434152"/>
          </a:xfrm>
          <a:custGeom>
            <a:avLst/>
            <a:gdLst/>
            <a:ahLst/>
            <a:cxnLst/>
            <a:rect l="l" t="t" r="r" b="b"/>
            <a:pathLst>
              <a:path w="4116756" h="8147179">
                <a:moveTo>
                  <a:pt x="0" y="0"/>
                </a:moveTo>
                <a:lnTo>
                  <a:pt x="4116756" y="0"/>
                </a:lnTo>
                <a:lnTo>
                  <a:pt x="4116756" y="8147179"/>
                </a:lnTo>
                <a:lnTo>
                  <a:pt x="0" y="814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rot="3995677">
            <a:off x="-702899" y="7591170"/>
            <a:ext cx="2531171" cy="2454429"/>
          </a:xfrm>
          <a:custGeom>
            <a:avLst/>
            <a:gdLst/>
            <a:ahLst/>
            <a:cxnLst/>
            <a:rect l="l" t="t" r="r" b="b"/>
            <a:pathLst>
              <a:path w="2486709" h="2409847">
                <a:moveTo>
                  <a:pt x="0" y="0"/>
                </a:moveTo>
                <a:lnTo>
                  <a:pt x="2486709" y="0"/>
                </a:lnTo>
                <a:lnTo>
                  <a:pt x="2486709" y="2409847"/>
                </a:lnTo>
                <a:lnTo>
                  <a:pt x="0" y="2409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5027046">
            <a:off x="16542681" y="990979"/>
            <a:ext cx="1024974" cy="933658"/>
          </a:xfrm>
          <a:custGeom>
            <a:avLst/>
            <a:gdLst/>
            <a:ahLst/>
            <a:cxnLst/>
            <a:rect l="l" t="t" r="r" b="b"/>
            <a:pathLst>
              <a:path w="1024974" h="933658">
                <a:moveTo>
                  <a:pt x="0" y="0"/>
                </a:moveTo>
                <a:lnTo>
                  <a:pt x="1024974" y="0"/>
                </a:lnTo>
                <a:lnTo>
                  <a:pt x="1024974" y="933658"/>
                </a:lnTo>
                <a:lnTo>
                  <a:pt x="0" y="933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8878474" flipV="1">
            <a:off x="15302023" y="9177610"/>
            <a:ext cx="3014815" cy="756445"/>
          </a:xfrm>
          <a:custGeom>
            <a:avLst/>
            <a:gdLst/>
            <a:ahLst/>
            <a:cxnLst/>
            <a:rect l="l" t="t" r="r" b="b"/>
            <a:pathLst>
              <a:path w="3014815" h="756445">
                <a:moveTo>
                  <a:pt x="0" y="756445"/>
                </a:moveTo>
                <a:lnTo>
                  <a:pt x="3014815" y="756445"/>
                </a:lnTo>
                <a:lnTo>
                  <a:pt x="3014815" y="0"/>
                </a:lnTo>
                <a:lnTo>
                  <a:pt x="0" y="0"/>
                </a:lnTo>
                <a:lnTo>
                  <a:pt x="0" y="75644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943600" y="723900"/>
            <a:ext cx="3272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andy Casual" panose="020B0604020202020204" charset="0"/>
              </a:rPr>
              <a:t>#Ex Of Application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298" y="2017828"/>
            <a:ext cx="2238844" cy="2586285"/>
          </a:xfrm>
          <a:prstGeom prst="roundRect">
            <a:avLst>
              <a:gd name="adj" fmla="val 1573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029" y="1714500"/>
            <a:ext cx="2320198" cy="2623338"/>
          </a:xfrm>
          <a:prstGeom prst="roundRect">
            <a:avLst>
              <a:gd name="adj" fmla="val 1599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600" y="6239140"/>
            <a:ext cx="2298700" cy="3448050"/>
          </a:xfrm>
          <a:prstGeom prst="roundRect">
            <a:avLst>
              <a:gd name="adj" fmla="val 3811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657" y="6438900"/>
            <a:ext cx="3392437" cy="2379484"/>
          </a:xfrm>
          <a:prstGeom prst="roundRect">
            <a:avLst>
              <a:gd name="adj" fmla="val 13163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502" y="3695700"/>
            <a:ext cx="3179300" cy="254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6" name="Straight Arrow Connector 5"/>
          <p:cNvCxnSpPr>
            <a:stCxn id="31" idx="3"/>
          </p:cNvCxnSpPr>
          <p:nvPr/>
        </p:nvCxnSpPr>
        <p:spPr>
          <a:xfrm>
            <a:off x="4971142" y="3310971"/>
            <a:ext cx="2743200" cy="13716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1110477" y="5553340"/>
            <a:ext cx="2743200" cy="13716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675017" y="5975714"/>
            <a:ext cx="2120485" cy="152998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4554200" y="4343818"/>
            <a:ext cx="152400" cy="189532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5675017" y="8267700"/>
            <a:ext cx="8178661" cy="16809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11055962" y="2959476"/>
            <a:ext cx="2129575" cy="100426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5097950" y="2507022"/>
            <a:ext cx="8087587" cy="171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3952077" y="4682571"/>
            <a:ext cx="53315" cy="167787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2971800" y="138845"/>
            <a:ext cx="9699658" cy="3103890"/>
          </a:xfrm>
          <a:custGeom>
            <a:avLst/>
            <a:gdLst/>
            <a:ahLst/>
            <a:cxnLst/>
            <a:rect l="l" t="t" r="r" b="b"/>
            <a:pathLst>
              <a:path w="9699658" h="3103890">
                <a:moveTo>
                  <a:pt x="0" y="0"/>
                </a:moveTo>
                <a:lnTo>
                  <a:pt x="9699657" y="0"/>
                </a:lnTo>
                <a:lnTo>
                  <a:pt x="9699657" y="3103891"/>
                </a:lnTo>
                <a:lnTo>
                  <a:pt x="0" y="3103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258800" y="1617119"/>
            <a:ext cx="2537821" cy="1172012"/>
          </a:xfrm>
          <a:custGeom>
            <a:avLst/>
            <a:gdLst/>
            <a:ahLst/>
            <a:cxnLst/>
            <a:rect l="l" t="t" r="r" b="b"/>
            <a:pathLst>
              <a:path w="2537821" h="1172012">
                <a:moveTo>
                  <a:pt x="0" y="0"/>
                </a:moveTo>
                <a:lnTo>
                  <a:pt x="2537821" y="0"/>
                </a:lnTo>
                <a:lnTo>
                  <a:pt x="2537821" y="1172011"/>
                </a:lnTo>
                <a:lnTo>
                  <a:pt x="0" y="1172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491967">
            <a:off x="302574" y="72513"/>
            <a:ext cx="2241878" cy="2042147"/>
          </a:xfrm>
          <a:custGeom>
            <a:avLst/>
            <a:gdLst/>
            <a:ahLst/>
            <a:cxnLst/>
            <a:rect l="l" t="t" r="r" b="b"/>
            <a:pathLst>
              <a:path w="2241878" h="2042147">
                <a:moveTo>
                  <a:pt x="0" y="0"/>
                </a:moveTo>
                <a:lnTo>
                  <a:pt x="2241878" y="0"/>
                </a:lnTo>
                <a:lnTo>
                  <a:pt x="2241878" y="2042147"/>
                </a:lnTo>
                <a:lnTo>
                  <a:pt x="0" y="2042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4706294" flipV="1">
            <a:off x="-15858" y="1688192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8"/>
                </a:moveTo>
                <a:lnTo>
                  <a:pt x="3895387" y="4128058"/>
                </a:lnTo>
                <a:lnTo>
                  <a:pt x="3895387" y="0"/>
                </a:lnTo>
                <a:lnTo>
                  <a:pt x="0" y="0"/>
                </a:lnTo>
                <a:lnTo>
                  <a:pt x="0" y="41280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568932">
            <a:off x="15725241" y="2538573"/>
            <a:ext cx="1447775" cy="2075662"/>
          </a:xfrm>
          <a:custGeom>
            <a:avLst/>
            <a:gdLst/>
            <a:ahLst/>
            <a:cxnLst/>
            <a:rect l="l" t="t" r="r" b="b"/>
            <a:pathLst>
              <a:path w="1447775" h="2075662">
                <a:moveTo>
                  <a:pt x="0" y="0"/>
                </a:moveTo>
                <a:lnTo>
                  <a:pt x="1447774" y="0"/>
                </a:lnTo>
                <a:lnTo>
                  <a:pt x="1447774" y="2075662"/>
                </a:lnTo>
                <a:lnTo>
                  <a:pt x="0" y="2075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538197" y="0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62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flipH="1">
            <a:off x="3733800" y="943570"/>
            <a:ext cx="7238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AN Headline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5400" dirty="0">
                <a:latin typeface="TAN Headline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Graph Traversal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536" y="3497784"/>
            <a:ext cx="1237941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latin typeface="Handy Casual" panose="020B0604020202020204" charset="0"/>
              </a:rPr>
              <a:t>Graph traversal refers to the process of visiting (checking and updating ) each vertex(node) in a graph.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latin typeface="Handy Casual" panose="020B0604020202020204" charset="0"/>
              </a:rPr>
              <a:t>Sequence of steps  known as  "graph </a:t>
            </a:r>
            <a:r>
              <a:rPr lang="en-US" sz="4000" dirty="0" err="1">
                <a:latin typeface="Handy Casual" panose="020B0604020202020204" charset="0"/>
              </a:rPr>
              <a:t>travesal</a:t>
            </a:r>
            <a:r>
              <a:rPr lang="en-US" sz="4000" dirty="0">
                <a:latin typeface="Handy Casual" panose="020B0604020202020204" charset="0"/>
              </a:rPr>
              <a:t> </a:t>
            </a:r>
            <a:r>
              <a:rPr lang="en-US" sz="4000" dirty="0" err="1">
                <a:latin typeface="Handy Casual" panose="020B0604020202020204" charset="0"/>
              </a:rPr>
              <a:t>algothrim</a:t>
            </a:r>
            <a:r>
              <a:rPr lang="en-US" sz="4000" dirty="0">
                <a:latin typeface="Handy Casual" panose="020B0604020202020204" charset="0"/>
              </a:rPr>
              <a:t>"  can be used to traverse a graph . 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latin typeface="Handy Casual" panose="020B0604020202020204" charset="0"/>
              </a:rPr>
              <a:t>Two </a:t>
            </a:r>
            <a:r>
              <a:rPr lang="en-US" sz="4000" dirty="0" err="1">
                <a:latin typeface="Handy Casual" panose="020B0604020202020204" charset="0"/>
              </a:rPr>
              <a:t>algothrims</a:t>
            </a:r>
            <a:r>
              <a:rPr lang="en-US" sz="4000" dirty="0">
                <a:latin typeface="Handy Casual" panose="020B0604020202020204" charset="0"/>
              </a:rPr>
              <a:t> of graph </a:t>
            </a:r>
            <a:r>
              <a:rPr lang="en-US" sz="4000" dirty="0" err="1">
                <a:latin typeface="Handy Casual" panose="020B0604020202020204" charset="0"/>
              </a:rPr>
              <a:t>travesal</a:t>
            </a:r>
            <a:r>
              <a:rPr lang="en-US" sz="4000" dirty="0">
                <a:latin typeface="Handy Casual" panose="020B0604020202020204" charset="0"/>
              </a:rPr>
              <a:t> are:-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4000" dirty="0">
              <a:latin typeface="Handy Casual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- Breadth first search (BFS)</a:t>
            </a:r>
          </a:p>
          <a:p>
            <a:r>
              <a:rPr lang="en-US" sz="4000" dirty="0">
                <a:latin typeface="Handy Casual" panose="020B0604020202020204" charset="0"/>
              </a:rPr>
              <a:t>- Depth first search (DFS)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4000" dirty="0">
              <a:latin typeface="Handy Casual" panose="020B0604020202020204" charset="0"/>
            </a:endParaRPr>
          </a:p>
          <a:p>
            <a:endParaRPr lang="en-US" sz="4000" dirty="0">
              <a:latin typeface="Handy Casual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50941" y="-1303934"/>
            <a:ext cx="12815040" cy="13080054"/>
            <a:chOff x="0" y="0"/>
            <a:chExt cx="17086720" cy="17440072"/>
          </a:xfrm>
        </p:grpSpPr>
        <p:sp>
          <p:nvSpPr>
            <p:cNvPr id="3" name="Freeform 3"/>
            <p:cNvSpPr/>
            <p:nvPr/>
          </p:nvSpPr>
          <p:spPr>
            <a:xfrm rot="-3903177">
              <a:off x="1863757" y="2404775"/>
              <a:ext cx="13359206" cy="12630522"/>
            </a:xfrm>
            <a:custGeom>
              <a:avLst/>
              <a:gdLst/>
              <a:ahLst/>
              <a:cxnLst/>
              <a:rect l="l" t="t" r="r" b="b"/>
              <a:pathLst>
                <a:path w="13359206" h="12630522">
                  <a:moveTo>
                    <a:pt x="0" y="0"/>
                  </a:moveTo>
                  <a:lnTo>
                    <a:pt x="13359206" y="0"/>
                  </a:lnTo>
                  <a:lnTo>
                    <a:pt x="13359206" y="12630522"/>
                  </a:lnTo>
                  <a:lnTo>
                    <a:pt x="0" y="12630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4"/>
            <p:cNvGrpSpPr/>
            <p:nvPr/>
          </p:nvGrpSpPr>
          <p:grpSpPr>
            <a:xfrm rot="-813416">
              <a:off x="7576549" y="3564009"/>
              <a:ext cx="2163750" cy="10535598"/>
              <a:chOff x="0" y="0"/>
              <a:chExt cx="427407" cy="208110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27407" cy="2081106"/>
              </a:xfrm>
              <a:custGeom>
                <a:avLst/>
                <a:gdLst/>
                <a:ahLst/>
                <a:cxnLst/>
                <a:rect l="l" t="t" r="r" b="b"/>
                <a:pathLst>
                  <a:path w="427407" h="2081106">
                    <a:moveTo>
                      <a:pt x="0" y="0"/>
                    </a:moveTo>
                    <a:lnTo>
                      <a:pt x="427407" y="0"/>
                    </a:lnTo>
                    <a:lnTo>
                      <a:pt x="427407" y="2081106"/>
                    </a:lnTo>
                    <a:lnTo>
                      <a:pt x="0" y="2081106"/>
                    </a:lnTo>
                    <a:close/>
                  </a:path>
                </a:pathLst>
              </a:custGeom>
              <a:solidFill>
                <a:srgbClr val="A4B9F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427407" cy="2138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7444864" y="2633920"/>
            <a:ext cx="10498909" cy="5500002"/>
            <a:chOff x="0" y="0"/>
            <a:chExt cx="14302208" cy="10431615"/>
          </a:xfrm>
        </p:grpSpPr>
        <p:sp>
          <p:nvSpPr>
            <p:cNvPr id="8" name="Freeform 8"/>
            <p:cNvSpPr/>
            <p:nvPr/>
          </p:nvSpPr>
          <p:spPr>
            <a:xfrm>
              <a:off x="31750" y="31750"/>
              <a:ext cx="14238708" cy="10368115"/>
            </a:xfrm>
            <a:custGeom>
              <a:avLst/>
              <a:gdLst/>
              <a:ahLst/>
              <a:cxnLst/>
              <a:rect l="l" t="t" r="r" b="b"/>
              <a:pathLst>
                <a:path w="14238708" h="10368115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4302208" cy="10431616"/>
            </a:xfrm>
            <a:custGeom>
              <a:avLst/>
              <a:gdLst/>
              <a:ahLst/>
              <a:cxnLst/>
              <a:rect l="l" t="t" r="r" b="b"/>
              <a:pathLst>
                <a:path w="14302208" h="10431616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80473" y="2132329"/>
            <a:ext cx="4194128" cy="46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1462" lvl="1"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736636" y="2852269"/>
            <a:ext cx="384606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endParaRPr lang="en-US" sz="239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21672" y="2927139"/>
            <a:ext cx="687671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1462" lvl="1" algn="l">
              <a:lnSpc>
                <a:spcPts val="3779"/>
              </a:lnSpc>
            </a:pPr>
            <a:r>
              <a:rPr lang="en-US" sz="32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- BFS (breadth first search)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16630" y="5486585"/>
            <a:ext cx="4194128" cy="46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4" lvl="1" indent="-291462" algn="l">
              <a:lnSpc>
                <a:spcPts val="3779"/>
              </a:lnSpc>
              <a:buFont typeface="Arial"/>
              <a:buChar char="•"/>
            </a:pPr>
            <a:endParaRPr lang="en-US" sz="2699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99654" y="2852269"/>
            <a:ext cx="3928891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endParaRPr lang="en-US" sz="239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32273" y="3726440"/>
            <a:ext cx="9296400" cy="242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35"/>
              </a:lnSpc>
            </a:pPr>
            <a:endParaRPr lang="en-US" sz="36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>
              <a:lnSpc>
                <a:spcPts val="2735"/>
              </a:lnSpc>
            </a:pPr>
            <a:r>
              <a:rPr lang="en-US" sz="36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BFS means start from one place and visit all nearby places first, then move to the next level of places.</a:t>
            </a:r>
          </a:p>
          <a:p>
            <a:pPr>
              <a:lnSpc>
                <a:spcPts val="2735"/>
              </a:lnSpc>
            </a:pPr>
            <a:endParaRPr lang="en-US" sz="36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marL="342900" indent="-342900">
              <a:lnSpc>
                <a:spcPts val="2735"/>
              </a:lnSpc>
              <a:buFont typeface="Wingdings" panose="05000000000000000000" pitchFamily="2" charset="2"/>
              <a:buChar char="à"/>
            </a:pPr>
            <a:r>
              <a:rPr lang="en-US" sz="36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BFS = Go level by level.</a:t>
            </a:r>
          </a:p>
          <a:p>
            <a:pPr marL="342900" indent="-342900">
              <a:lnSpc>
                <a:spcPts val="2735"/>
              </a:lnSpc>
              <a:buFont typeface="Wingdings" panose="05000000000000000000" pitchFamily="2" charset="2"/>
              <a:buChar char="à"/>
            </a:pPr>
            <a:endParaRPr lang="en-US" sz="3600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marL="342900" indent="-342900">
              <a:lnSpc>
                <a:spcPts val="2735"/>
              </a:lnSpc>
              <a:buFont typeface="Wingdings" panose="05000000000000000000" pitchFamily="2" charset="2"/>
              <a:buChar char="à"/>
            </a:pPr>
            <a:r>
              <a:rPr lang="en-US" sz="36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Queue data structures is used in this.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6636" y="6112604"/>
            <a:ext cx="384606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endParaRPr lang="en-US" sz="239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21" name="TextBox 21"/>
          <p:cNvSpPr txBox="1"/>
          <p:nvPr/>
        </p:nvSpPr>
        <p:spPr>
          <a:xfrm rot="-724560">
            <a:off x="434113" y="1951973"/>
            <a:ext cx="5656853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89"/>
              </a:lnSpc>
              <a:spcBef>
                <a:spcPct val="0"/>
              </a:spcBef>
            </a:pPr>
            <a:r>
              <a:rPr lang="en-US" sz="313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Wingdings" panose="05000000000000000000" pitchFamily="2" charset="2"/>
              </a:rPr>
              <a:t></a:t>
            </a:r>
            <a:r>
              <a:rPr lang="en-US" sz="313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Short Intro To </a:t>
            </a:r>
            <a:r>
              <a:rPr lang="en-US" sz="3135" dirty="0" err="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Bfs</a:t>
            </a:r>
            <a:r>
              <a:rPr lang="en-US" sz="313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Before </a:t>
            </a:r>
            <a:r>
              <a:rPr lang="en-US" sz="3135" dirty="0" err="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Dfs</a:t>
            </a:r>
            <a:r>
              <a:rPr lang="en-US" sz="3135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 </a:t>
            </a:r>
          </a:p>
        </p:txBody>
      </p:sp>
      <p:sp>
        <p:nvSpPr>
          <p:cNvPr id="22" name="Freeform 22"/>
          <p:cNvSpPr/>
          <p:nvPr/>
        </p:nvSpPr>
        <p:spPr>
          <a:xfrm rot="548089" flipV="1">
            <a:off x="4424349" y="8073928"/>
            <a:ext cx="2056516" cy="2648782"/>
          </a:xfrm>
          <a:custGeom>
            <a:avLst/>
            <a:gdLst/>
            <a:ahLst/>
            <a:cxnLst/>
            <a:rect l="l" t="t" r="r" b="b"/>
            <a:pathLst>
              <a:path w="3750634" h="3974660">
                <a:moveTo>
                  <a:pt x="0" y="3974661"/>
                </a:moveTo>
                <a:lnTo>
                  <a:pt x="3750634" y="3974661"/>
                </a:lnTo>
                <a:lnTo>
                  <a:pt x="3750634" y="0"/>
                </a:lnTo>
                <a:lnTo>
                  <a:pt x="0" y="0"/>
                </a:lnTo>
                <a:lnTo>
                  <a:pt x="0" y="3974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-1568932">
            <a:off x="16073974" y="511583"/>
            <a:ext cx="1480813" cy="2123030"/>
          </a:xfrm>
          <a:custGeom>
            <a:avLst/>
            <a:gdLst/>
            <a:ahLst/>
            <a:cxnLst/>
            <a:rect l="l" t="t" r="r" b="b"/>
            <a:pathLst>
              <a:path w="1480813" h="2123030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3075">
            <a:off x="1128460" y="3895060"/>
            <a:ext cx="4779402" cy="355936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0391" y="1242183"/>
            <a:ext cx="10498909" cy="7657600"/>
            <a:chOff x="0" y="0"/>
            <a:chExt cx="14302208" cy="10431615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14238708" cy="10368115"/>
            </a:xfrm>
            <a:custGeom>
              <a:avLst/>
              <a:gdLst/>
              <a:ahLst/>
              <a:cxnLst/>
              <a:rect l="l" t="t" r="r" b="b"/>
              <a:pathLst>
                <a:path w="14238708" h="10368115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4302208" cy="10431616"/>
            </a:xfrm>
            <a:custGeom>
              <a:avLst/>
              <a:gdLst/>
              <a:ahLst/>
              <a:cxnLst/>
              <a:rect l="l" t="t" r="r" b="b"/>
              <a:pathLst>
                <a:path w="14302208" h="10431616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-319405" y="158385"/>
            <a:ext cx="7628315" cy="9557115"/>
          </a:xfrm>
          <a:custGeom>
            <a:avLst/>
            <a:gdLst/>
            <a:ahLst/>
            <a:cxnLst/>
            <a:rect l="l" t="t" r="r" b="b"/>
            <a:pathLst>
              <a:path w="7628315" h="9557115">
                <a:moveTo>
                  <a:pt x="0" y="0"/>
                </a:moveTo>
                <a:lnTo>
                  <a:pt x="7628316" y="0"/>
                </a:lnTo>
                <a:lnTo>
                  <a:pt x="7628316" y="9557114"/>
                </a:lnTo>
                <a:lnTo>
                  <a:pt x="0" y="9557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826427" y="2066171"/>
            <a:ext cx="810861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0667" lvl="1" algn="l">
              <a:lnSpc>
                <a:spcPts val="3639"/>
              </a:lnSpc>
            </a:pPr>
            <a:r>
              <a:rPr lang="en-US" sz="40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-Depth First Search(DFS)</a:t>
            </a:r>
          </a:p>
        </p:txBody>
      </p:sp>
      <p:sp>
        <p:nvSpPr>
          <p:cNvPr id="11" name="TextBox 11"/>
          <p:cNvSpPr txBox="1"/>
          <p:nvPr/>
        </p:nvSpPr>
        <p:spPr>
          <a:xfrm rot="-466770">
            <a:off x="1237583" y="2406588"/>
            <a:ext cx="4829464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9"/>
              </a:lnSpc>
              <a:spcBef>
                <a:spcPct val="0"/>
              </a:spcBef>
            </a:pPr>
            <a:r>
              <a:rPr lang="en-US" sz="3378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Wingdings" panose="05000000000000000000" pitchFamily="2" charset="2"/>
              </a:rPr>
              <a:t></a:t>
            </a:r>
            <a:r>
              <a:rPr lang="en-US" sz="3378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Intro to DFS</a:t>
            </a:r>
          </a:p>
        </p:txBody>
      </p:sp>
      <p:sp>
        <p:nvSpPr>
          <p:cNvPr id="18" name="Freeform 18"/>
          <p:cNvSpPr/>
          <p:nvPr/>
        </p:nvSpPr>
        <p:spPr>
          <a:xfrm rot="-1568932">
            <a:off x="11437677" y="7714166"/>
            <a:ext cx="1144336" cy="1640625"/>
          </a:xfrm>
          <a:custGeom>
            <a:avLst/>
            <a:gdLst/>
            <a:ahLst/>
            <a:cxnLst/>
            <a:rect l="l" t="t" r="r" b="b"/>
            <a:pathLst>
              <a:path w="1144336" h="1640625">
                <a:moveTo>
                  <a:pt x="0" y="0"/>
                </a:moveTo>
                <a:lnTo>
                  <a:pt x="1144337" y="0"/>
                </a:lnTo>
                <a:lnTo>
                  <a:pt x="1144337" y="1640626"/>
                </a:lnTo>
                <a:lnTo>
                  <a:pt x="0" y="164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5027046">
            <a:off x="16282896" y="916013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591146" y="3198518"/>
            <a:ext cx="90966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DFS means start from one place and keep going deep until you can’t go further, then go back and try another path.</a:t>
            </a:r>
          </a:p>
          <a:p>
            <a:endParaRPr lang="en-US" sz="4400" dirty="0">
              <a:latin typeface="Handy Casual" panose="020B0604020202020204" charset="0"/>
            </a:endParaRPr>
          </a:p>
          <a:p>
            <a:pPr marL="571500" indent="-571500">
              <a:buFont typeface="Wingdings" panose="05000000000000000000" pitchFamily="2" charset="2"/>
              <a:buChar char="à"/>
            </a:pP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DFS explores deep first.</a:t>
            </a:r>
          </a:p>
          <a:p>
            <a:pPr marL="571500" indent="-571500">
              <a:buFont typeface="Wingdings" panose="05000000000000000000" pitchFamily="2" charset="2"/>
              <a:buChar char="à"/>
            </a:pPr>
            <a:endParaRPr lang="en-US" sz="3600" dirty="0">
              <a:latin typeface="Handy Casual" panose="020B0604020202020204" charset="0"/>
              <a:sym typeface="Wingdings" panose="05000000000000000000" pitchFamily="2" charset="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6592">
            <a:off x="972892" y="3748610"/>
            <a:ext cx="5043721" cy="378279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47800" y="2425363"/>
            <a:ext cx="15163799" cy="7290137"/>
            <a:chOff x="0" y="0"/>
            <a:chExt cx="14302208" cy="10431615"/>
          </a:xfrm>
        </p:grpSpPr>
        <p:sp>
          <p:nvSpPr>
            <p:cNvPr id="3" name="Freeform 2"/>
            <p:cNvSpPr/>
            <p:nvPr/>
          </p:nvSpPr>
          <p:spPr>
            <a:xfrm>
              <a:off x="31750" y="31750"/>
              <a:ext cx="14238708" cy="10368115"/>
            </a:xfrm>
            <a:custGeom>
              <a:avLst/>
              <a:gdLst/>
              <a:ahLst/>
              <a:cxnLst/>
              <a:rect l="l" t="t" r="r" b="b"/>
              <a:pathLst>
                <a:path w="14238708" h="10368115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0" y="0"/>
              <a:ext cx="14302208" cy="10431616"/>
            </a:xfrm>
            <a:custGeom>
              <a:avLst/>
              <a:gdLst/>
              <a:ahLst/>
              <a:cxnLst/>
              <a:rect l="l" t="t" r="r" b="b"/>
              <a:pathLst>
                <a:path w="14302208" h="10431616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014019" y="800100"/>
            <a:ext cx="1424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AN Headline" panose="020B0604020202020204" charset="0"/>
                <a:sym typeface="Wingdings" panose="05000000000000000000" pitchFamily="2" charset="2"/>
              </a:rPr>
              <a:t></a:t>
            </a:r>
            <a:r>
              <a:rPr lang="en-US" sz="5400" dirty="0">
                <a:latin typeface="TAN Headline" panose="020B0604020202020204" charset="0"/>
              </a:rPr>
              <a:t>Characteristics Of 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23388"/>
            <a:ext cx="139446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N Headline" panose="020B0604020202020204" charset="0"/>
              </a:rPr>
              <a:t>Goes Deep First as possible: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N Headline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DFS explores one path completely before moving to another</a:t>
            </a:r>
          </a:p>
          <a:p>
            <a:endParaRPr lang="en-US" sz="3200" dirty="0">
              <a:latin typeface="Handy Casual" panose="020B060402020202020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N Headline" panose="020B0604020202020204" charset="0"/>
              </a:rPr>
              <a:t>Uses Stack or Recursion: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N Headline" panose="020B0604020202020204" charset="0"/>
            </a:endParaRPr>
          </a:p>
          <a:p>
            <a:r>
              <a:rPr lang="en-US" sz="4000" dirty="0">
                <a:latin typeface="Handy Casual" panose="020B0604020202020204" charset="0"/>
              </a:rPr>
              <a:t>It uses a stack (or recursion) to remember visited nodes.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latin typeface="Handy Casual" panose="020B0604020202020204" charset="0"/>
              </a:rPr>
              <a:t>Graph (Adjacency List or Matrix)</a:t>
            </a:r>
          </a:p>
          <a:p>
            <a:endParaRPr lang="en-US" sz="4000" dirty="0">
              <a:latin typeface="Handy Casual" panose="020B060402020202020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latin typeface="Handy Casual" panose="020B0604020202020204" charset="0"/>
              </a:rPr>
              <a:t>Visited array (to mark visited nodes)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4000" dirty="0">
              <a:latin typeface="Handy Casual" panose="020B0604020202020204" charset="0"/>
            </a:endParaRPr>
          </a:p>
          <a:p>
            <a:endParaRPr lang="en-US" sz="3200" dirty="0"/>
          </a:p>
        </p:txBody>
      </p:sp>
      <p:grpSp>
        <p:nvGrpSpPr>
          <p:cNvPr id="7" name="Group 37"/>
          <p:cNvGrpSpPr/>
          <p:nvPr/>
        </p:nvGrpSpPr>
        <p:grpSpPr>
          <a:xfrm>
            <a:off x="-457200" y="-342900"/>
            <a:ext cx="1209696" cy="1340200"/>
            <a:chOff x="0" y="139483"/>
            <a:chExt cx="1612928" cy="1786934"/>
          </a:xfrm>
        </p:grpSpPr>
        <p:grpSp>
          <p:nvGrpSpPr>
            <p:cNvPr id="8" name="Group 38"/>
            <p:cNvGrpSpPr/>
            <p:nvPr/>
          </p:nvGrpSpPr>
          <p:grpSpPr>
            <a:xfrm>
              <a:off x="0" y="313489"/>
              <a:ext cx="1612928" cy="1612928"/>
              <a:chOff x="0" y="0"/>
              <a:chExt cx="812800" cy="812800"/>
            </a:xfrm>
          </p:grpSpPr>
          <p:sp>
            <p:nvSpPr>
              <p:cNvPr id="11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EBE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4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0" name="Freeform 42"/>
            <p:cNvSpPr/>
            <p:nvPr/>
          </p:nvSpPr>
          <p:spPr>
            <a:xfrm rot="898766">
              <a:off x="385311" y="139483"/>
              <a:ext cx="1128095" cy="371246"/>
            </a:xfrm>
            <a:custGeom>
              <a:avLst/>
              <a:gdLst/>
              <a:ahLst/>
              <a:cxnLst/>
              <a:rect l="l" t="t" r="r" b="b"/>
              <a:pathLst>
                <a:path w="1128095" h="371246">
                  <a:moveTo>
                    <a:pt x="0" y="0"/>
                  </a:moveTo>
                  <a:lnTo>
                    <a:pt x="1128095" y="0"/>
                  </a:lnTo>
                  <a:lnTo>
                    <a:pt x="1128095" y="371246"/>
                  </a:lnTo>
                  <a:lnTo>
                    <a:pt x="0" y="37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802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62000" y="2171701"/>
            <a:ext cx="15544800" cy="6781799"/>
            <a:chOff x="0" y="0"/>
            <a:chExt cx="14302208" cy="10431615"/>
          </a:xfrm>
        </p:grpSpPr>
        <p:sp>
          <p:nvSpPr>
            <p:cNvPr id="3" name="Freeform 2"/>
            <p:cNvSpPr/>
            <p:nvPr/>
          </p:nvSpPr>
          <p:spPr>
            <a:xfrm>
              <a:off x="31750" y="31750"/>
              <a:ext cx="14238708" cy="10368115"/>
            </a:xfrm>
            <a:custGeom>
              <a:avLst/>
              <a:gdLst/>
              <a:ahLst/>
              <a:cxnLst/>
              <a:rect l="l" t="t" r="r" b="b"/>
              <a:pathLst>
                <a:path w="14238708" h="10368115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0" y="0"/>
              <a:ext cx="14302208" cy="10431616"/>
            </a:xfrm>
            <a:custGeom>
              <a:avLst/>
              <a:gdLst/>
              <a:ahLst/>
              <a:cxnLst/>
              <a:rect l="l" t="t" r="r" b="b"/>
              <a:pathLst>
                <a:path w="14302208" h="10431616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2057400" y="647700"/>
            <a:ext cx="1257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AN Headline" panose="020B0604020202020204" charset="0"/>
            </a:endParaRPr>
          </a:p>
          <a:p>
            <a:r>
              <a:rPr lang="en-US" sz="3600" dirty="0">
                <a:latin typeface="TAN Headline" panose="020B0604020202020204" charset="0"/>
              </a:rPr>
              <a:t>                  </a:t>
            </a:r>
            <a:r>
              <a:rPr lang="en-US" sz="4800" dirty="0">
                <a:latin typeface="TAN Headline" panose="020B0604020202020204" charset="0"/>
                <a:sym typeface="Wingdings" panose="05000000000000000000" pitchFamily="2" charset="2"/>
              </a:rPr>
              <a:t></a:t>
            </a:r>
            <a:r>
              <a:rPr lang="en-US" sz="5400" dirty="0">
                <a:latin typeface="TAN Headline" panose="020B0604020202020204" charset="0"/>
              </a:rPr>
              <a:t>Characteristics Of DFS</a:t>
            </a:r>
            <a:endParaRPr lang="en-US" sz="3600" dirty="0">
              <a:latin typeface="TAN Headline" panose="020B06040202020202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76400" y="2400300"/>
            <a:ext cx="120396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N Headline" panose="020B0604020202020204" charset="0"/>
              </a:rPr>
              <a:t>Time Complexity</a:t>
            </a:r>
          </a:p>
          <a:p>
            <a:endParaRPr lang="en-US" dirty="0"/>
          </a:p>
          <a:p>
            <a:r>
              <a:rPr lang="en-US" sz="4000" dirty="0">
                <a:latin typeface="Handy Casual" panose="020B0604020202020204" charset="0"/>
              </a:rPr>
              <a:t>O(V + E)</a:t>
            </a:r>
          </a:p>
          <a:p>
            <a:r>
              <a:rPr lang="en-US" sz="4000" dirty="0">
                <a:latin typeface="Handy Casual" panose="020B0604020202020204" charset="0"/>
              </a:rPr>
              <a:t>(V = number of vertices, E = number of edges)</a:t>
            </a:r>
          </a:p>
          <a:p>
            <a:endParaRPr lang="en-US" sz="2400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N Headline" panose="020B0604020202020204" charset="0"/>
              </a:rPr>
              <a:t>Backtracking </a:t>
            </a:r>
            <a:r>
              <a:rPr lang="en-US" sz="4000" dirty="0">
                <a:latin typeface="TAN Headline" panose="020B0604020202020204" charset="0"/>
              </a:rPr>
              <a:t>=</a:t>
            </a:r>
            <a:r>
              <a:rPr lang="en-US" sz="2400" dirty="0"/>
              <a:t> </a:t>
            </a:r>
            <a:r>
              <a:rPr lang="en-US" sz="4000" dirty="0">
                <a:latin typeface="Handy Casual" panose="020B0604020202020204" charset="0"/>
              </a:rPr>
              <a:t>When stuck, go back and try another path.</a:t>
            </a:r>
          </a:p>
          <a:p>
            <a:endParaRPr lang="en-US" sz="3200" dirty="0">
              <a:latin typeface="Handy Casual" panose="020B0604020202020204" charset="0"/>
            </a:endParaRPr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AN Headline" panose="020B0604020202020204" charset="0"/>
              </a:rPr>
              <a:t>Uninformed search technique .</a:t>
            </a:r>
          </a:p>
        </p:txBody>
      </p:sp>
      <p:grpSp>
        <p:nvGrpSpPr>
          <p:cNvPr id="12" name="Group 37"/>
          <p:cNvGrpSpPr/>
          <p:nvPr/>
        </p:nvGrpSpPr>
        <p:grpSpPr>
          <a:xfrm>
            <a:off x="-457200" y="-342900"/>
            <a:ext cx="1209696" cy="1340200"/>
            <a:chOff x="0" y="139483"/>
            <a:chExt cx="1612928" cy="1786934"/>
          </a:xfrm>
        </p:grpSpPr>
        <p:grpSp>
          <p:nvGrpSpPr>
            <p:cNvPr id="13" name="Group 38"/>
            <p:cNvGrpSpPr/>
            <p:nvPr/>
          </p:nvGrpSpPr>
          <p:grpSpPr>
            <a:xfrm>
              <a:off x="0" y="313489"/>
              <a:ext cx="1612928" cy="1612928"/>
              <a:chOff x="0" y="0"/>
              <a:chExt cx="812800" cy="812800"/>
            </a:xfrm>
          </p:grpSpPr>
          <p:sp>
            <p:nvSpPr>
              <p:cNvPr id="15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EBE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4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4" name="Freeform 42"/>
            <p:cNvSpPr/>
            <p:nvPr/>
          </p:nvSpPr>
          <p:spPr>
            <a:xfrm rot="898766">
              <a:off x="385311" y="139483"/>
              <a:ext cx="1128095" cy="371246"/>
            </a:xfrm>
            <a:custGeom>
              <a:avLst/>
              <a:gdLst/>
              <a:ahLst/>
              <a:cxnLst/>
              <a:rect l="l" t="t" r="r" b="b"/>
              <a:pathLst>
                <a:path w="1128095" h="371246">
                  <a:moveTo>
                    <a:pt x="0" y="0"/>
                  </a:moveTo>
                  <a:lnTo>
                    <a:pt x="1128095" y="0"/>
                  </a:lnTo>
                  <a:lnTo>
                    <a:pt x="1128095" y="371246"/>
                  </a:lnTo>
                  <a:lnTo>
                    <a:pt x="0" y="37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641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637245" y="2857500"/>
            <a:ext cx="12327709" cy="7290137"/>
            <a:chOff x="0" y="0"/>
            <a:chExt cx="14302208" cy="10431615"/>
          </a:xfrm>
        </p:grpSpPr>
        <p:sp>
          <p:nvSpPr>
            <p:cNvPr id="4" name="Freeform 3"/>
            <p:cNvSpPr/>
            <p:nvPr/>
          </p:nvSpPr>
          <p:spPr>
            <a:xfrm>
              <a:off x="31750" y="31750"/>
              <a:ext cx="14238708" cy="10368115"/>
            </a:xfrm>
            <a:custGeom>
              <a:avLst/>
              <a:gdLst/>
              <a:ahLst/>
              <a:cxnLst/>
              <a:rect l="l" t="t" r="r" b="b"/>
              <a:pathLst>
                <a:path w="14238708" h="10368115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0"/>
              <a:ext cx="14302208" cy="10431616"/>
            </a:xfrm>
            <a:custGeom>
              <a:avLst/>
              <a:gdLst/>
              <a:ahLst/>
              <a:cxnLst/>
              <a:rect l="l" t="t" r="r" b="b"/>
              <a:pathLst>
                <a:path w="14302208" h="10431616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5439954" y="157573"/>
            <a:ext cx="7391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- Depth First Search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943600" y="1394835"/>
            <a:ext cx="5105400" cy="13234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8000" dirty="0"/>
              <a:t>#</a:t>
            </a:r>
            <a:r>
              <a:rPr lang="en-US" sz="5400" dirty="0">
                <a:latin typeface="TAN Headline" panose="020B0604020202020204" charset="0"/>
              </a:rPr>
              <a:t>Working</a:t>
            </a:r>
            <a:endParaRPr lang="en-US" sz="2400" dirty="0">
              <a:latin typeface="TAN Headline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4200" y="3862156"/>
            <a:ext cx="11353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4400" dirty="0">
                <a:latin typeface="Handy Casual" panose="020B0604020202020204" charset="0"/>
              </a:rPr>
              <a:t>Start by putting any one of the graphs vertices on top of a stack.</a:t>
            </a:r>
          </a:p>
          <a:p>
            <a:pPr marL="514350" indent="-514350">
              <a:buAutoNum type="arabicPeriod"/>
            </a:pPr>
            <a:r>
              <a:rPr lang="en-US" sz="4400" dirty="0">
                <a:latin typeface="Handy Casual" panose="020B0604020202020204" charset="0"/>
              </a:rPr>
              <a:t>Take the top item of the stack and add it to the visited list.</a:t>
            </a:r>
          </a:p>
          <a:p>
            <a:pPr marL="514350" indent="-514350">
              <a:buAutoNum type="arabicPeriod"/>
            </a:pPr>
            <a:r>
              <a:rPr lang="en-US" sz="4400" dirty="0">
                <a:latin typeface="Handy Casual" panose="020B0604020202020204" charset="0"/>
              </a:rPr>
              <a:t>Create a list of that vertex's adjacent nodes and the one's which are not in the visited list to top of the stack.</a:t>
            </a:r>
          </a:p>
          <a:p>
            <a:pPr marL="514350" indent="-514350">
              <a:buAutoNum type="arabicPeriod"/>
            </a:pPr>
            <a:r>
              <a:rPr lang="en-US" sz="4400" dirty="0">
                <a:latin typeface="Handy Casual" panose="020B0604020202020204" charset="0"/>
              </a:rPr>
              <a:t>Keep repeating steps 2 and 3 until the stack is empty.</a:t>
            </a:r>
          </a:p>
        </p:txBody>
      </p:sp>
      <p:sp>
        <p:nvSpPr>
          <p:cNvPr id="10" name="Freeform 2"/>
          <p:cNvSpPr/>
          <p:nvPr/>
        </p:nvSpPr>
        <p:spPr>
          <a:xfrm>
            <a:off x="-1481951" y="0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9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0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51956"/>
              </p:ext>
            </p:extLst>
          </p:nvPr>
        </p:nvGraphicFramePr>
        <p:xfrm>
          <a:off x="354842" y="4435522"/>
          <a:ext cx="1105468" cy="3903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903595" y="3137916"/>
            <a:ext cx="1928315" cy="4133089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431275" y="2628893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65612"/>
            <a:ext cx="3796921" cy="7694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1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3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1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51956"/>
              </p:ext>
            </p:extLst>
          </p:nvPr>
        </p:nvGraphicFramePr>
        <p:xfrm>
          <a:off x="354842" y="4435522"/>
          <a:ext cx="1105468" cy="3903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905555" y="2988430"/>
            <a:ext cx="1554480" cy="3474720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81557" y="2450142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65612"/>
            <a:ext cx="3796921" cy="7694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82597" y="6622469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8503" y="4450259"/>
            <a:ext cx="76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,1</a:t>
            </a:r>
          </a:p>
        </p:txBody>
      </p:sp>
      <p:sp>
        <p:nvSpPr>
          <p:cNvPr id="42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113453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2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51956"/>
              </p:ext>
            </p:extLst>
          </p:nvPr>
        </p:nvGraphicFramePr>
        <p:xfrm>
          <a:off x="354842" y="4435522"/>
          <a:ext cx="1105468" cy="3903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857875" y="2578858"/>
            <a:ext cx="1928315" cy="3383280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160195" y="2182470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4318093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1648" y="586464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0060" y="4450259"/>
            <a:ext cx="5004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,2</a:t>
            </a:r>
          </a:p>
        </p:txBody>
      </p:sp>
      <p:sp>
        <p:nvSpPr>
          <p:cNvPr id="40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241919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3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51956"/>
              </p:ext>
            </p:extLst>
          </p:nvPr>
        </p:nvGraphicFramePr>
        <p:xfrm>
          <a:off x="354842" y="4435522"/>
          <a:ext cx="1105468" cy="3903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3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820002" y="2347839"/>
            <a:ext cx="1928315" cy="2743200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122322" y="1893028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4318093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2217" y="5125580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6542" y="4435522"/>
            <a:ext cx="5004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804" y="5929053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2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619467" y="-30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213068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4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61715"/>
              </p:ext>
            </p:extLst>
          </p:nvPr>
        </p:nvGraphicFramePr>
        <p:xfrm>
          <a:off x="351090" y="3543300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781398" y="2400299"/>
            <a:ext cx="2103120" cy="1920240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067997" y="1938634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7700"/>
            <a:ext cx="5143784" cy="777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4459" y="4217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2101" y="4450259"/>
            <a:ext cx="5357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332" y="5012505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44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368773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5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67498"/>
              </p:ext>
            </p:extLst>
          </p:nvPr>
        </p:nvGraphicFramePr>
        <p:xfrm>
          <a:off x="108918" y="3009900"/>
          <a:ext cx="1351392" cy="53288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51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88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837822" y="2265226"/>
            <a:ext cx="2103120" cy="1371600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067997" y="1938634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7700"/>
            <a:ext cx="5143784" cy="7773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, 4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0204" y="3601977"/>
            <a:ext cx="5837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16487" y="4481941"/>
            <a:ext cx="5245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332" y="5012505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099" y="4369852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44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223542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61715"/>
              </p:ext>
            </p:extLst>
          </p:nvPr>
        </p:nvGraphicFramePr>
        <p:xfrm>
          <a:off x="351090" y="3543300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5414464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4459" y="4217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2101" y="4450259"/>
            <a:ext cx="11224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332" y="5012505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3396" y="354319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5</a:t>
            </a:r>
          </a:p>
        </p:txBody>
      </p:sp>
      <p:sp>
        <p:nvSpPr>
          <p:cNvPr id="45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325527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5" y="79528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Choosing 6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67498"/>
              </p:ext>
            </p:extLst>
          </p:nvPr>
        </p:nvGraphicFramePr>
        <p:xfrm>
          <a:off x="108918" y="3009900"/>
          <a:ext cx="1351392" cy="53288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51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88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Elbow Connector 57"/>
          <p:cNvCxnSpPr/>
          <p:nvPr/>
        </p:nvCxnSpPr>
        <p:spPr>
          <a:xfrm rot="10800000" flipV="1">
            <a:off x="837822" y="2265226"/>
            <a:ext cx="2103120" cy="1371600"/>
          </a:xfrm>
          <a:prstGeom prst="bent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067997" y="1938634"/>
            <a:ext cx="180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0695" y="4450259"/>
            <a:ext cx="6070695" cy="7694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, 4, 5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297903" y="4942666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0204" y="3601977"/>
            <a:ext cx="5837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93888" y="4419281"/>
            <a:ext cx="5229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332" y="5012505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099" y="4369852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44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312676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3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61715"/>
              </p:ext>
            </p:extLst>
          </p:nvPr>
        </p:nvGraphicFramePr>
        <p:xfrm>
          <a:off x="351090" y="3543300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6" y="4450259"/>
            <a:ext cx="5779713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4459" y="4217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2101" y="4450259"/>
            <a:ext cx="17075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 ,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332" y="5012505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3396" y="354319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6</a:t>
            </a:r>
          </a:p>
        </p:txBody>
      </p:sp>
      <p:sp>
        <p:nvSpPr>
          <p:cNvPr id="44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274960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26281"/>
              </p:ext>
            </p:extLst>
          </p:nvPr>
        </p:nvGraphicFramePr>
        <p:xfrm>
          <a:off x="350943" y="3704433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5737462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2101" y="4450259"/>
            <a:ext cx="17075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 ,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332" y="5012505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3396" y="4136876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4</a:t>
            </a:r>
          </a:p>
        </p:txBody>
      </p:sp>
      <p:sp>
        <p:nvSpPr>
          <p:cNvPr id="44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145859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26281"/>
              </p:ext>
            </p:extLst>
          </p:nvPr>
        </p:nvGraphicFramePr>
        <p:xfrm>
          <a:off x="350943" y="3704433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5737462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2101" y="4450259"/>
            <a:ext cx="17075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 ,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394" y="577372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624" y="4937263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3</a:t>
            </a:r>
          </a:p>
        </p:txBody>
      </p:sp>
      <p:sp>
        <p:nvSpPr>
          <p:cNvPr id="39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35138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26281"/>
              </p:ext>
            </p:extLst>
          </p:nvPr>
        </p:nvGraphicFramePr>
        <p:xfrm>
          <a:off x="350943" y="3704433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5737462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2597" y="659023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2101" y="4450259"/>
            <a:ext cx="17075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 ,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0405" y="5605697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2</a:t>
            </a:r>
          </a:p>
        </p:txBody>
      </p:sp>
      <p:sp>
        <p:nvSpPr>
          <p:cNvPr id="39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166474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26281"/>
              </p:ext>
            </p:extLst>
          </p:nvPr>
        </p:nvGraphicFramePr>
        <p:xfrm>
          <a:off x="350943" y="3704433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00698" y="7364268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5737462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422101" y="4450259"/>
            <a:ext cx="17075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 ,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5477" y="6362700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1</a:t>
            </a:r>
          </a:p>
        </p:txBody>
      </p:sp>
      <p:sp>
        <p:nvSpPr>
          <p:cNvPr id="39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34929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2235788" y="1918716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598590" y="2235928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16535400" y="1790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829964" y="2107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2141390" y="46101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535400" y="4625454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478000" y="6362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235788" y="81153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601364" y="8267700"/>
            <a:ext cx="1295400" cy="1219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464388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419" y="494266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0" y="6679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590" y="84325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92600" y="8584912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3531188" y="2400299"/>
            <a:ext cx="3004212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</p:cNvCxnSpPr>
          <p:nvPr/>
        </p:nvCxnSpPr>
        <p:spPr>
          <a:xfrm>
            <a:off x="13436790" y="5219700"/>
            <a:ext cx="3098610" cy="15353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1"/>
          </p:cNvCxnSpPr>
          <p:nvPr/>
        </p:nvCxnSpPr>
        <p:spPr>
          <a:xfrm>
            <a:off x="13512535" y="2796654"/>
            <a:ext cx="3212572" cy="2007348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2789090" y="3190560"/>
            <a:ext cx="0" cy="141954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331519" y="3090558"/>
            <a:ext cx="80181" cy="1534896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9" idx="1"/>
          </p:cNvCxnSpPr>
          <p:nvPr/>
        </p:nvCxnSpPr>
        <p:spPr>
          <a:xfrm>
            <a:off x="13106400" y="5738417"/>
            <a:ext cx="1561307" cy="80283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5697200" y="5815697"/>
            <a:ext cx="1404696" cy="839391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3106400" y="7083848"/>
            <a:ext cx="1371601" cy="104505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5735869" y="7246961"/>
            <a:ext cx="1256731" cy="1020739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3594" y="758574"/>
            <a:ext cx="3820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4400" dirty="0">
                <a:latin typeface="Handy Casual" panose="020B0604020202020204" charset="0"/>
                <a:sym typeface="Wingdings" panose="05000000000000000000" pitchFamily="2" charset="2"/>
              </a:rPr>
              <a:t>BACKTRACKING</a:t>
            </a:r>
            <a:endParaRPr lang="en-US" sz="4400" dirty="0">
              <a:latin typeface="Handy Casual" panose="020B0604020202020204" charset="0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26281"/>
              </p:ext>
            </p:extLst>
          </p:nvPr>
        </p:nvGraphicFramePr>
        <p:xfrm>
          <a:off x="350943" y="3704433"/>
          <a:ext cx="1109220" cy="47954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54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8498101"/>
            <a:ext cx="23747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9907" y="4450259"/>
            <a:ext cx="5737462" cy="7847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ndy Casual" panose="020B0604020202020204" charset="0"/>
              </a:rPr>
              <a:t>Visited List : 0,1 , 2 , 3 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1570143" y="4723108"/>
            <a:ext cx="4772792" cy="2883267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422101" y="4450259"/>
            <a:ext cx="17075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Handy Casual" panose="020B0604020202020204" charset="0"/>
              </a:rPr>
              <a:t>,4 , 5 ,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0697" y="7284644"/>
            <a:ext cx="633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Handy Casual" panose="020B0604020202020204" charset="0"/>
              </a:rPr>
              <a:t>0</a:t>
            </a:r>
          </a:p>
        </p:txBody>
      </p:sp>
      <p:sp>
        <p:nvSpPr>
          <p:cNvPr id="36" name="Freeform 2"/>
          <p:cNvSpPr/>
          <p:nvPr/>
        </p:nvSpPr>
        <p:spPr>
          <a:xfrm rot="10800000">
            <a:off x="-73930" y="9199563"/>
            <a:ext cx="6921905" cy="1087437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9" y="0"/>
                </a:lnTo>
                <a:lnTo>
                  <a:pt x="10083239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619467" y="-52896"/>
            <a:ext cx="525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ËX OF WORKING</a:t>
            </a:r>
          </a:p>
        </p:txBody>
      </p:sp>
    </p:spTree>
    <p:extLst>
      <p:ext uri="{BB962C8B-B14F-4D97-AF65-F5344CB8AC3E}">
        <p14:creationId xmlns:p14="http://schemas.microsoft.com/office/powerpoint/2010/main" val="317410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400" y="-311527"/>
            <a:ext cx="792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TAN Headline" panose="020B0604020202020204" charset="0"/>
              </a:rPr>
              <a:t>#</a:t>
            </a:r>
            <a:r>
              <a:rPr lang="en-US" sz="3600" dirty="0">
                <a:latin typeface="TAN Headline" panose="020B0604020202020204" charset="0"/>
              </a:rPr>
              <a:t>ALGOTHRIM OF DFS Using Adjacency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24200"/>
            <a:ext cx="15621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just"/>
            <a:r>
              <a:rPr lang="en-US" sz="4400" dirty="0">
                <a:latin typeface="Handy Casual" panose="020B0604020202020204" charset="0"/>
              </a:rPr>
              <a:t>STEP 1 – FUNCTION DFS(</a:t>
            </a:r>
            <a:r>
              <a:rPr lang="en-US" sz="4400" dirty="0" err="1">
                <a:latin typeface="Handy Casual" panose="020B0604020202020204" charset="0"/>
              </a:rPr>
              <a:t>i</a:t>
            </a:r>
            <a:r>
              <a:rPr lang="en-US" sz="4400" dirty="0">
                <a:latin typeface="Handy Casual" panose="020B0604020202020204" charset="0"/>
              </a:rPr>
              <a:t>).</a:t>
            </a:r>
          </a:p>
          <a:p>
            <a:pPr algn="just"/>
            <a:r>
              <a:rPr lang="en-US" sz="4400" dirty="0">
                <a:latin typeface="Handy Casual" panose="020B0604020202020204" charset="0"/>
              </a:rPr>
              <a:t>STEP 2 – WRITE (</a:t>
            </a:r>
            <a:r>
              <a:rPr lang="en-US" sz="4400" dirty="0" err="1">
                <a:latin typeface="Handy Casual" panose="020B0604020202020204" charset="0"/>
              </a:rPr>
              <a:t>i</a:t>
            </a:r>
            <a:r>
              <a:rPr lang="en-US" sz="4400" dirty="0">
                <a:latin typeface="Handy Casual" panose="020B0604020202020204" charset="0"/>
              </a:rPr>
              <a:t>).</a:t>
            </a:r>
          </a:p>
          <a:p>
            <a:pPr algn="just"/>
            <a:r>
              <a:rPr lang="en-US" sz="4400" dirty="0">
                <a:latin typeface="Handy Casual" panose="020B0604020202020204" charset="0"/>
              </a:rPr>
              <a:t>STEP 3 – SET v[</a:t>
            </a:r>
            <a:r>
              <a:rPr lang="en-US" sz="4400" dirty="0" err="1">
                <a:latin typeface="Handy Casual" panose="020B0604020202020204" charset="0"/>
              </a:rPr>
              <a:t>i</a:t>
            </a:r>
            <a:r>
              <a:rPr lang="en-US" sz="4400" dirty="0">
                <a:latin typeface="Handy Casual" panose="020B0604020202020204" charset="0"/>
              </a:rPr>
              <a:t>] = 1.</a:t>
            </a:r>
          </a:p>
          <a:p>
            <a:pPr algn="just"/>
            <a:r>
              <a:rPr lang="en-US" sz="4400" dirty="0">
                <a:latin typeface="Handy Casual" panose="020B0604020202020204" charset="0"/>
              </a:rPr>
              <a:t>STEP 4 – REPEAT for j = 0 to 6.</a:t>
            </a:r>
          </a:p>
          <a:p>
            <a:pPr algn="just"/>
            <a:r>
              <a:rPr lang="en-US" sz="4400" dirty="0">
                <a:latin typeface="Handy Casual" panose="020B0604020202020204" charset="0"/>
              </a:rPr>
              <a:t>STEP 5 - IF (a[</a:t>
            </a:r>
            <a:r>
              <a:rPr lang="en-US" sz="4400" dirty="0" err="1">
                <a:latin typeface="Handy Casual" panose="020B0604020202020204" charset="0"/>
              </a:rPr>
              <a:t>i</a:t>
            </a:r>
            <a:r>
              <a:rPr lang="en-US" sz="4400" dirty="0">
                <a:latin typeface="Handy Casual" panose="020B0604020202020204" charset="0"/>
              </a:rPr>
              <a:t>][j] == 1 &amp;&amp; v[j] == 0) THEN </a:t>
            </a:r>
          </a:p>
          <a:p>
            <a:pPr algn="just"/>
            <a:r>
              <a:rPr lang="en-US" sz="4400" dirty="0">
                <a:latin typeface="Handy Casual" panose="020B0604020202020204" charset="0"/>
              </a:rPr>
              <a:t>              CALL DFS(j).</a:t>
            </a:r>
          </a:p>
          <a:p>
            <a:pPr algn="just"/>
            <a:endParaRPr lang="en-US" sz="4400" dirty="0">
              <a:latin typeface="Handy Casual" panose="020B0604020202020204" charset="0"/>
            </a:endParaRPr>
          </a:p>
          <a:p>
            <a:pPr algn="just"/>
            <a:endParaRPr lang="en-US" sz="4400" dirty="0">
              <a:latin typeface="Handy Casual" panose="020B0604020202020204" charset="0"/>
            </a:endParaRPr>
          </a:p>
          <a:p>
            <a:pPr algn="just"/>
            <a:r>
              <a:rPr lang="en-US" sz="4400" dirty="0">
                <a:latin typeface="Handy Casual" panose="020B0604020202020204" charset="0"/>
              </a:rPr>
              <a:t>STEP 6 – EXIT/RETURN.</a:t>
            </a:r>
          </a:p>
        </p:txBody>
      </p:sp>
      <p:sp>
        <p:nvSpPr>
          <p:cNvPr id="5" name="Right Bracket 4"/>
          <p:cNvSpPr/>
          <p:nvPr/>
        </p:nvSpPr>
        <p:spPr>
          <a:xfrm>
            <a:off x="11582400" y="38099"/>
            <a:ext cx="1219200" cy="3886199"/>
          </a:xfrm>
          <a:prstGeom prst="rightBracket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ket 5"/>
          <p:cNvSpPr/>
          <p:nvPr/>
        </p:nvSpPr>
        <p:spPr>
          <a:xfrm rot="10800000">
            <a:off x="4343400" y="-2"/>
            <a:ext cx="1219200" cy="3924301"/>
          </a:xfrm>
          <a:prstGeom prst="rightBracket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uble Bracket 8"/>
          <p:cNvSpPr/>
          <p:nvPr/>
        </p:nvSpPr>
        <p:spPr>
          <a:xfrm>
            <a:off x="2781300" y="8330625"/>
            <a:ext cx="5562600" cy="609600"/>
          </a:xfrm>
          <a:prstGeom prst="bracketPair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24200" y="8294490"/>
            <a:ext cx="510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Handy Casual" panose="020B0604020202020204" charset="0"/>
              </a:rPr>
              <a:t>END OF IF STRUCTURE ,  STEP 4 , STEP 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1384395"/>
            <a:ext cx="78486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3200" dirty="0">
                <a:latin typeface="Handy Casual" panose="020B0604020202020204" charset="0"/>
              </a:rPr>
              <a:t>v = is the name of visited array.</a:t>
            </a:r>
          </a:p>
          <a:p>
            <a:pPr marL="285750" indent="-285750">
              <a:buFontTx/>
              <a:buChar char="-"/>
            </a:pPr>
            <a:r>
              <a:rPr lang="en-US" sz="3200" dirty="0">
                <a:latin typeface="Handy Casual" panose="020B0604020202020204" charset="0"/>
              </a:rPr>
              <a:t>a = is the name of adjacency matrix.</a:t>
            </a:r>
          </a:p>
          <a:p>
            <a:pPr marL="285750" indent="-285750">
              <a:buFontTx/>
              <a:buChar char="-"/>
            </a:pPr>
            <a:r>
              <a:rPr lang="en-US" sz="3200" dirty="0">
                <a:latin typeface="Handy Casual" panose="020B0604020202020204" charset="0"/>
              </a:rPr>
              <a:t>DFS = is the name of the function.</a:t>
            </a:r>
          </a:p>
          <a:p>
            <a:pPr marL="285750" indent="-285750">
              <a:buFontTx/>
              <a:buChar char="-"/>
            </a:pPr>
            <a:r>
              <a:rPr lang="en-US" sz="3200" dirty="0" err="1">
                <a:latin typeface="Handy Casual" panose="020B0604020202020204" charset="0"/>
              </a:rPr>
              <a:t>i</a:t>
            </a:r>
            <a:r>
              <a:rPr lang="en-US" sz="3200" dirty="0">
                <a:latin typeface="Handy Casual" panose="020B0604020202020204" charset="0"/>
              </a:rPr>
              <a:t> = is the vertex from which you want to start graph traversal.</a:t>
            </a:r>
          </a:p>
          <a:p>
            <a:pPr marL="285750" indent="-285750">
              <a:buFontTx/>
              <a:buChar char="-"/>
            </a:pPr>
            <a:endParaRPr lang="en-US" sz="2800" dirty="0">
              <a:latin typeface="Handy Casual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19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6300" y="-38856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TAN Headline" panose="020B0604020202020204" charset="0"/>
              </a:rPr>
              <a:t>#</a:t>
            </a:r>
            <a:r>
              <a:rPr lang="en-US" sz="5400" dirty="0">
                <a:latin typeface="TAN Headline" panose="020B0604020202020204" charset="0"/>
              </a:rPr>
              <a:t>PROGRAM OF DFS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03960"/>
            <a:ext cx="17602200" cy="8897668"/>
          </a:xfrm>
          <a:prstGeom prst="rect">
            <a:avLst/>
          </a:prstGeom>
          <a:effectLst>
            <a:glow rad="127000">
              <a:schemeClr val="tx1">
                <a:lumMod val="95000"/>
                <a:lumOff val="5000"/>
              </a:schemeClr>
            </a:glow>
            <a:outerShdw blurRad="50800" dist="50800" dir="5400000" algn="ctr" rotWithShape="0">
              <a:schemeClr val="tx1"/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14020800" y="7416352"/>
            <a:ext cx="3886200" cy="267765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Handy Casual" panose="020B0604020202020204" charset="0"/>
              </a:rPr>
              <a:t>Output of the code :       1 </a:t>
            </a:r>
          </a:p>
          <a:p>
            <a:r>
              <a:rPr lang="en-US" sz="2400" dirty="0">
                <a:latin typeface="Handy Casual" panose="020B0604020202020204" charset="0"/>
              </a:rPr>
              <a:t>                                     0</a:t>
            </a:r>
          </a:p>
          <a:p>
            <a:r>
              <a:rPr lang="en-US" sz="2400" dirty="0">
                <a:latin typeface="Handy Casual" panose="020B0604020202020204" charset="0"/>
              </a:rPr>
              <a:t>                                     2</a:t>
            </a:r>
          </a:p>
          <a:p>
            <a:r>
              <a:rPr lang="en-US" sz="2400" dirty="0">
                <a:latin typeface="Handy Casual" panose="020B0604020202020204" charset="0"/>
              </a:rPr>
              <a:t>                                     3</a:t>
            </a:r>
          </a:p>
          <a:p>
            <a:r>
              <a:rPr lang="en-US" sz="2400" dirty="0">
                <a:latin typeface="Handy Casual" panose="020B0604020202020204" charset="0"/>
              </a:rPr>
              <a:t>                                     4</a:t>
            </a:r>
          </a:p>
          <a:p>
            <a:r>
              <a:rPr lang="en-US" sz="2400" dirty="0">
                <a:latin typeface="Handy Casual" panose="020B0604020202020204" charset="0"/>
              </a:rPr>
              <a:t>                                     5</a:t>
            </a:r>
          </a:p>
          <a:p>
            <a:r>
              <a:rPr lang="en-US" sz="2400" dirty="0">
                <a:latin typeface="Handy Casual" panose="020B0604020202020204" charset="0"/>
              </a:rPr>
              <a:t>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310596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491967">
            <a:off x="4366081" y="1559751"/>
            <a:ext cx="1707111" cy="1555022"/>
          </a:xfrm>
          <a:custGeom>
            <a:avLst/>
            <a:gdLst/>
            <a:ahLst/>
            <a:cxnLst/>
            <a:rect l="l" t="t" r="r" b="b"/>
            <a:pathLst>
              <a:path w="1707111" h="1555022">
                <a:moveTo>
                  <a:pt x="0" y="0"/>
                </a:moveTo>
                <a:lnTo>
                  <a:pt x="1707110" y="0"/>
                </a:lnTo>
                <a:lnTo>
                  <a:pt x="1707110" y="1555023"/>
                </a:lnTo>
                <a:lnTo>
                  <a:pt x="0" y="155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82303" y="4220763"/>
            <a:ext cx="3634128" cy="4158041"/>
          </a:xfrm>
          <a:custGeom>
            <a:avLst/>
            <a:gdLst/>
            <a:ahLst/>
            <a:cxnLst/>
            <a:rect l="l" t="t" r="r" b="b"/>
            <a:pathLst>
              <a:path w="3634128" h="4158041">
                <a:moveTo>
                  <a:pt x="0" y="0"/>
                </a:moveTo>
                <a:lnTo>
                  <a:pt x="3634128" y="0"/>
                </a:lnTo>
                <a:lnTo>
                  <a:pt x="3634128" y="4158041"/>
                </a:lnTo>
                <a:lnTo>
                  <a:pt x="0" y="4158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104264" flipV="1">
            <a:off x="152632" y="3931750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9"/>
                </a:moveTo>
                <a:lnTo>
                  <a:pt x="3895387" y="4128059"/>
                </a:lnTo>
                <a:lnTo>
                  <a:pt x="3895387" y="0"/>
                </a:lnTo>
                <a:lnTo>
                  <a:pt x="0" y="0"/>
                </a:lnTo>
                <a:lnTo>
                  <a:pt x="0" y="41280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568932">
            <a:off x="12894609" y="960037"/>
            <a:ext cx="1480813" cy="2123030"/>
          </a:xfrm>
          <a:custGeom>
            <a:avLst/>
            <a:gdLst/>
            <a:ahLst/>
            <a:cxnLst/>
            <a:rect l="l" t="t" r="r" b="b"/>
            <a:pathLst>
              <a:path w="1480813" h="2123030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955707" y="2879051"/>
            <a:ext cx="8376587" cy="5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THANK</a:t>
            </a:r>
          </a:p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YOU!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1046</TotalTime>
  <Words>1651</Words>
  <Application>Microsoft Office PowerPoint</Application>
  <PresentationFormat>Custom</PresentationFormat>
  <Paragraphs>508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Pompiere</vt:lpstr>
      <vt:lpstr>Century Gothic</vt:lpstr>
      <vt:lpstr>Arial Black</vt:lpstr>
      <vt:lpstr>Wingdings 3</vt:lpstr>
      <vt:lpstr>Handy Casual</vt:lpstr>
      <vt:lpstr>Wingdings</vt:lpstr>
      <vt:lpstr>TAN Headline</vt:lpstr>
      <vt:lpstr>Arial</vt:lpstr>
      <vt:lpstr>Calibri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sunaina motwani</dc:creator>
  <cp:lastModifiedBy>joti hablani</cp:lastModifiedBy>
  <cp:revision>89</cp:revision>
  <dcterms:created xsi:type="dcterms:W3CDTF">2006-08-16T00:00:00Z</dcterms:created>
  <dcterms:modified xsi:type="dcterms:W3CDTF">2025-11-10T20:32:55Z</dcterms:modified>
  <dc:identifier>DAGrvQQ3610</dc:identifier>
</cp:coreProperties>
</file>