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8288000" cy="10287000"/>
  <p:notesSz cx="6858000" cy="9144000"/>
  <p:embeddedFontLst>
    <p:embeddedFont>
      <p:font typeface="Alexandria" panose="020B0604020202020204" charset="-78"/>
      <p:regular r:id="rId17"/>
    </p:embeddedFont>
    <p:embeddedFont>
      <p:font typeface="Alexandria Bold" panose="020B0604020202020204" charset="-78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46" d="100"/>
          <a:sy n="46" d="100"/>
        </p:scale>
        <p:origin x="57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8C8DF-1E52-47B4-8DB6-7DDA7D701BF3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F3ADE-4031-4F29-9685-8776BC3E8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4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6F3ADE-4031-4F29-9685-8776BC3E8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212327" flipH="1">
            <a:off x="-1429638" y="4370540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429639" y="3809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1" t="-1543" r="5298"/>
          <a:stretch/>
        </p:blipFill>
        <p:spPr>
          <a:xfrm>
            <a:off x="517915" y="4007631"/>
            <a:ext cx="4648200" cy="5097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3890344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12846" y="1340535"/>
            <a:ext cx="12951349" cy="5254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8"/>
              </a:lnSpc>
            </a:pPr>
            <a:r>
              <a:rPr lang="en-US" sz="100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“MERGE SORT— </a:t>
            </a:r>
            <a:r>
              <a:rPr lang="en-US" sz="88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DIVIDE &amp; CONQUER SORTING”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3074742" y="-989663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MERGE SORT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0000" y="4780208"/>
            <a:ext cx="11400286" cy="370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It’s a sorting method that arranges numbers in order (like ascending or descending).</a:t>
            </a:r>
          </a:p>
          <a:p>
            <a:pPr marL="705747" lvl="1" indent="-352873" algn="ctr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 works by dividing the list into parts, then merging them back in the correct order.</a:t>
            </a:r>
          </a:p>
          <a:p>
            <a:pPr marL="705747" lvl="1" indent="-352873" algn="ctr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 is also called </a:t>
            </a:r>
            <a:r>
              <a:rPr lang="en-US" sz="32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divide and conquer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algorithm.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118241" y="5251709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876300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IT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70010" y="2643307"/>
            <a:ext cx="13544246" cy="6374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Merge Sort is a divide-and-conquer algorithm that works by splitting the input array into two halves, recursively sorting each half, and then merging the two sorted halves.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1. Divide: Divide the array into two halves until each sub-array has one element.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2. Conquer: Sort each sub-array (trivially sorted with one element).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3. Merge: Merge the sorted sub-arrays to form a single sorted array.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249825" y="493045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516113"/>
            <a:ext cx="6909848" cy="463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Array: 5, 2, 8, 3, 1, 6, 4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1. Divide: [5, 2, 8, 3] [1, 6, 4]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2. Divide: [5, 2] [8, 3] [1, 6] [4]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3. Divide: [5] [2] [8] [3] [1] [6] [4]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4. Merge: [2, 5] [3, 8] [1, 6] [4]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5. Merge: [2, 3, 5, 8] [1, 4, 6]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6. Merge: [1, 2, 3, 4, 5, 6, 8]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605698" y="3296893"/>
            <a:ext cx="8244346" cy="5808435"/>
          </a:xfrm>
          <a:custGeom>
            <a:avLst/>
            <a:gdLst/>
            <a:ahLst/>
            <a:cxnLst/>
            <a:rect l="l" t="t" r="r" b="b"/>
            <a:pathLst>
              <a:path w="8244346" h="5808435">
                <a:moveTo>
                  <a:pt x="0" y="0"/>
                </a:moveTo>
                <a:lnTo>
                  <a:pt x="8244345" y="0"/>
                </a:lnTo>
                <a:lnTo>
                  <a:pt x="8244345" y="5808435"/>
                </a:lnTo>
                <a:lnTo>
                  <a:pt x="0" y="5808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4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83624" y="1483557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EXAMPLE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85800" y="719064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2331" y="4056142"/>
            <a:ext cx="15874075" cy="528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1. Set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:=1 AND Set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:= n.</a:t>
            </a:r>
          </a:p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2. FUNCTION divide 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d,lb,ub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3. if 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&lt;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 then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Set mid := 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+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)/2;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divide(d,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, mid)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divide(d, mid+1,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merge(d,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, mid,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[END OF FUNCTION divide]</a:t>
            </a:r>
          </a:p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4. FUNCTION merge(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d,lb,mid,ub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705747" lvl="1" indent="-352873" algn="l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5. Set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:=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,  j := mid+1 and  k := lb.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223420" y="564047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1" y="901322"/>
            <a:ext cx="8899055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88"/>
              </a:lnSpc>
              <a:spcBef>
                <a:spcPct val="0"/>
              </a:spcBef>
            </a:pPr>
            <a:r>
              <a:rPr lang="en-US" sz="4800" u="sng" dirty="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MERGE SORT</a:t>
            </a:r>
          </a:p>
          <a:p>
            <a:pPr algn="ctr">
              <a:lnSpc>
                <a:spcPts val="4588"/>
              </a:lnSpc>
              <a:spcBef>
                <a:spcPct val="0"/>
              </a:spcBef>
            </a:pPr>
            <a:r>
              <a:rPr lang="en-US" sz="3277" dirty="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D IS THE NAME OF ARRAY.</a:t>
            </a:r>
          </a:p>
          <a:p>
            <a:pPr algn="ctr">
              <a:lnSpc>
                <a:spcPts val="4588"/>
              </a:lnSpc>
              <a:spcBef>
                <a:spcPct val="0"/>
              </a:spcBef>
            </a:pPr>
            <a:r>
              <a:rPr lang="en-US" sz="3277" dirty="0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 A IS THE NAME OF ANOTHER TEMPORARY ARRAY.</a:t>
            </a:r>
          </a:p>
        </p:txBody>
      </p:sp>
      <p:sp>
        <p:nvSpPr>
          <p:cNvPr id="9" name="Double Bracket 8"/>
          <p:cNvSpPr/>
          <p:nvPr/>
        </p:nvSpPr>
        <p:spPr>
          <a:xfrm>
            <a:off x="7696200" y="719064"/>
            <a:ext cx="8518056" cy="2519436"/>
          </a:xfrm>
          <a:prstGeom prst="bracketPair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65057" y="-168284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26275" y="-10753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" y="1930167"/>
            <a:ext cx="9730040" cy="7805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6. Repeat while 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&lt;=mid) and (j&lt;=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</a:t>
            </a:r>
          </a:p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7. if d[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] &lt;= d[j] then 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  Set a[k] := d[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] 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  Set 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:= i+1.</a:t>
            </a:r>
          </a:p>
          <a:p>
            <a:pPr marL="352874" lvl="1"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else Set a[k] := d[j] </a:t>
            </a:r>
          </a:p>
          <a:p>
            <a:pPr marL="352874" lvl="1"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and Set j := j+1</a:t>
            </a:r>
          </a:p>
          <a:p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[END OF IF STRUCTURE]</a:t>
            </a:r>
          </a:p>
          <a:p>
            <a:pPr marL="705747" lvl="1" indent="-352873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8. Set k := k+1.</a:t>
            </a:r>
          </a:p>
          <a:p>
            <a:pPr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  [END OF STEP 6 LOOP]</a:t>
            </a:r>
          </a:p>
          <a:p>
            <a:pPr marL="705747" lvl="1" indent="-352873" algn="l"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Step 9. if(</a:t>
            </a:r>
            <a:r>
              <a:rPr lang="en-US" sz="3268" dirty="0" err="1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&gt; mid) then</a:t>
            </a:r>
          </a:p>
          <a:p>
            <a:pPr marL="352874" lvl="1" algn="l"/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         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Repeat while(j &lt;= 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</a:p>
          <a:p>
            <a:pPr marL="352874" lvl="1" algn="l"/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   Set </a:t>
            </a:r>
            <a:r>
              <a:rPr lang="en-US" sz="3270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a[k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] := d[j] and Set k := k+1</a:t>
            </a: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>
              <a:lnSpc>
                <a:spcPts val="4588"/>
              </a:lnSpc>
              <a:spcBef>
                <a:spcPct val="0"/>
              </a:spcBef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       and Set j := j+1.</a:t>
            </a:r>
          </a:p>
          <a:p>
            <a:pPr>
              <a:lnSpc>
                <a:spcPts val="4588"/>
              </a:lnSpc>
              <a:spcBef>
                <a:spcPct val="0"/>
              </a:spcBef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      [END OF IF STRUCTURE]</a:t>
            </a:r>
          </a:p>
          <a:p>
            <a:pPr algn="l"/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15446886" y="608505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93798" y="1905727"/>
            <a:ext cx="8273273" cy="832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7662" lvl="1" indent="-353831" algn="l">
              <a:lnSpc>
                <a:spcPct val="150000"/>
              </a:lnSpc>
              <a:buFont typeface="Arial"/>
              <a:buChar char="•"/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Step 10.else Repeat while(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&lt;= mid)</a:t>
            </a:r>
          </a:p>
          <a:p>
            <a:pPr marL="2182631" lvl="5">
              <a:lnSpc>
                <a:spcPct val="150000"/>
              </a:lnSpc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Set </a:t>
            </a:r>
            <a:r>
              <a:rPr lang="en-US" sz="3270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a[k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] := d[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] and Set                       k := k+1 and Set 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:= i+1.</a:t>
            </a:r>
          </a:p>
          <a:p>
            <a:pPr marL="2182631" lvl="5">
              <a:lnSpc>
                <a:spcPct val="150000"/>
              </a:lnSpc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[END OF ELSE STRUCTURE]</a:t>
            </a:r>
          </a:p>
          <a:p>
            <a:pPr marL="353831" lvl="1" algn="l">
              <a:lnSpc>
                <a:spcPct val="150000"/>
              </a:lnSpc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   [END OF STEP 9 LOOP]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STEP 11.REPEAT FOR k := 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lb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TO </a:t>
            </a:r>
            <a:r>
              <a:rPr lang="en-US" sz="327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ub</a:t>
            </a: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     then Set d[k] := a[k]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[END OF STEP 11 LOOP]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              [END OF MERGE FUNCTION]</a:t>
            </a:r>
          </a:p>
          <a:p>
            <a:pPr marL="707662" lvl="1" indent="-353831" algn="l">
              <a:lnSpc>
                <a:spcPct val="150000"/>
              </a:lnSpc>
              <a:buFont typeface="Arial"/>
              <a:buChar char="•"/>
            </a:pPr>
            <a:r>
              <a:rPr lang="en-US" sz="3277" dirty="0">
                <a:solidFill>
                  <a:schemeClr val="tx1">
                    <a:lumMod val="65000"/>
                    <a:lumOff val="35000"/>
                  </a:schemeClr>
                </a:solidFill>
                <a:latin typeface="Garet"/>
                <a:ea typeface="Garet"/>
                <a:cs typeface="Garet"/>
                <a:sym typeface="Garet"/>
              </a:rPr>
              <a:t> STEP 12. EXIT.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3277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816551" y="2074215"/>
            <a:ext cx="7327449" cy="7184085"/>
          </a:xfrm>
          <a:custGeom>
            <a:avLst/>
            <a:gdLst/>
            <a:ahLst/>
            <a:cxnLst/>
            <a:rect l="l" t="t" r="r" b="b"/>
            <a:pathLst>
              <a:path w="7327449" h="7184085">
                <a:moveTo>
                  <a:pt x="0" y="0"/>
                </a:moveTo>
                <a:lnTo>
                  <a:pt x="7327449" y="0"/>
                </a:lnTo>
                <a:lnTo>
                  <a:pt x="7327449" y="7184085"/>
                </a:lnTo>
                <a:lnTo>
                  <a:pt x="0" y="71840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96" r="-469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9771184" y="1965021"/>
            <a:ext cx="5585427" cy="7293279"/>
          </a:xfrm>
          <a:custGeom>
            <a:avLst/>
            <a:gdLst/>
            <a:ahLst/>
            <a:cxnLst/>
            <a:rect l="l" t="t" r="r" b="b"/>
            <a:pathLst>
              <a:path w="5585427" h="7293279">
                <a:moveTo>
                  <a:pt x="0" y="0"/>
                </a:moveTo>
                <a:lnTo>
                  <a:pt x="5585427" y="0"/>
                </a:lnTo>
                <a:lnTo>
                  <a:pt x="5585427" y="7293279"/>
                </a:lnTo>
                <a:lnTo>
                  <a:pt x="0" y="7293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66" b="-46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753564" y="243465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3488" r="3917"/>
          <a:stretch>
            <a:fillRect/>
          </a:stretch>
        </p:blipFill>
        <p:spPr>
          <a:xfrm>
            <a:off x="1821514" y="1872020"/>
            <a:ext cx="15028529" cy="654296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50115" y="3040892"/>
            <a:ext cx="13899928" cy="521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68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Time Complexity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Best-case: O(n log n)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Average-case: O(n log n)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- Worst-case: O(n log n)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time complexity of Merge Sort is O(n log n) because the array is divided into two halves at each level, and the merge operation takes O(n) time.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05790" y="86351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COMPLEXITY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1029392" y="5726201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25299" y="484134"/>
            <a:ext cx="9205169" cy="1151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sz="67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REAL-LIFE 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59081" y="2149382"/>
            <a:ext cx="14890962" cy="695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Imagine organizing a library’s books alphabetically.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1. Divide: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Split books into small groups (A–F, G–L, M–R, S–Z).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2. Sort: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Sort each group alphabetically.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3. Merge: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Combine the sorted groups by comparing the first book of each and placing the one that comes first alphabetically until all are merged.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✅ Final list = fully sorted books.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13155" y="1483557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ADVANTAGES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4408" y="2857754"/>
            <a:ext cx="16101422" cy="693234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 marL="792105" lvl="1" indent="-396052">
              <a:lnSpc>
                <a:spcPct val="150000"/>
              </a:lnSpc>
              <a:buFont typeface="Arial"/>
              <a:buChar char="•"/>
            </a:pPr>
            <a:r>
              <a:rPr lang="en-US" sz="36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Stable Sorting Algorithm:</a:t>
            </a:r>
            <a:r>
              <a:rPr lang="en-US" sz="36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Maintains the relative order of equal elements.</a:t>
            </a:r>
          </a:p>
          <a:p>
            <a:pPr marL="792105" lvl="1" indent="-396052">
              <a:lnSpc>
                <a:spcPct val="150000"/>
              </a:lnSpc>
              <a:buFont typeface="Arial"/>
              <a:buChar char="•"/>
            </a:pPr>
            <a:r>
              <a:rPr lang="en-US" sz="36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Guaranteed Time Complexity: </a:t>
            </a:r>
            <a:r>
              <a:rPr lang="en-US" sz="36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O(n log n) in all cases (best, average, worst).</a:t>
            </a:r>
          </a:p>
          <a:p>
            <a:pPr marL="792105" lvl="1" indent="-396052">
              <a:lnSpc>
                <a:spcPct val="150000"/>
              </a:lnSpc>
              <a:buFont typeface="Arial"/>
              <a:buChar char="•"/>
            </a:pPr>
            <a:r>
              <a:rPr lang="en-US" sz="36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Efficient for Large Data Sets:</a:t>
            </a:r>
            <a:r>
              <a:rPr lang="en-US" sz="36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Suitable for sorting large data sets.</a:t>
            </a:r>
          </a:p>
          <a:p>
            <a:pPr marL="792105" lvl="1" indent="-396052">
              <a:lnSpc>
                <a:spcPct val="150000"/>
              </a:lnSpc>
              <a:buFont typeface="Arial"/>
              <a:buChar char="•"/>
            </a:pPr>
            <a:r>
              <a:rPr lang="en-US" sz="3668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Easy to Implement:</a:t>
            </a:r>
            <a:r>
              <a:rPr lang="en-US" sz="36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Simple to understand and implement.</a:t>
            </a:r>
          </a:p>
          <a:p>
            <a:pPr>
              <a:lnSpc>
                <a:spcPts val="4576"/>
              </a:lnSpc>
            </a:pPr>
            <a:endParaRPr lang="en-US" sz="36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092677"/>
            <a:ext cx="9632702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DISADVANTAGES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8200" y="2182089"/>
            <a:ext cx="17221200" cy="8104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68"/>
              </a:lnSpc>
            </a:pPr>
            <a:endParaRPr dirty="0"/>
          </a:p>
          <a:p>
            <a:pPr algn="l">
              <a:lnSpc>
                <a:spcPct val="150000"/>
              </a:lnSpc>
            </a:pPr>
            <a:r>
              <a:rPr lang="en-US" sz="362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Space Complexity:</a:t>
            </a:r>
            <a:r>
              <a:rPr lang="en-US" sz="362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O(n) - requires extra space for merging</a:t>
            </a:r>
          </a:p>
          <a:p>
            <a:pPr algn="l">
              <a:lnSpc>
                <a:spcPct val="150000"/>
              </a:lnSpc>
            </a:pPr>
            <a:r>
              <a:rPr lang="en-US" sz="362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Not In-Place:</a:t>
            </a:r>
            <a:r>
              <a:rPr lang="en-US" sz="362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Requires additional storage for the merged array</a:t>
            </a:r>
          </a:p>
          <a:p>
            <a:pPr algn="l">
              <a:lnSpc>
                <a:spcPct val="150000"/>
              </a:lnSpc>
            </a:pPr>
            <a:r>
              <a:rPr lang="en-US" sz="362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Slower than Quick Sort:</a:t>
            </a:r>
            <a:r>
              <a:rPr lang="en-US" sz="362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Generally slower than Quick Sort for smaller data sets</a:t>
            </a:r>
          </a:p>
          <a:p>
            <a:pPr algn="l">
              <a:lnSpc>
                <a:spcPct val="150000"/>
              </a:lnSpc>
            </a:pPr>
            <a:r>
              <a:rPr lang="en-US" sz="362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Limited memory:</a:t>
            </a:r>
            <a:r>
              <a:rPr lang="en-US" sz="362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Avoid using Merge Sort when working with limited memory resources.</a:t>
            </a:r>
          </a:p>
          <a:p>
            <a:pPr algn="l">
              <a:lnSpc>
                <a:spcPct val="150000"/>
              </a:lnSpc>
            </a:pPr>
            <a:r>
              <a:rPr lang="en-US" sz="3620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- Small datasets:</a:t>
            </a:r>
            <a:r>
              <a:rPr lang="en-US" sz="362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For small datasets, other sorting algorithms like Insertion Sort may be more efficient.</a:t>
            </a:r>
          </a:p>
          <a:p>
            <a:pPr algn="l">
              <a:lnSpc>
                <a:spcPct val="150000"/>
              </a:lnSpc>
            </a:pPr>
            <a:endParaRPr lang="en-US" sz="3620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07837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2719334"/>
            <a:ext cx="17754599" cy="6624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76"/>
              </a:lnSpc>
            </a:pPr>
            <a:endParaRPr dirty="0"/>
          </a:p>
          <a:p>
            <a:pPr marL="705747" lvl="1" indent="-352873" algn="l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Merge Sort follows the Divide → Conquer →</a:t>
            </a:r>
          </a:p>
          <a:p>
            <a:pPr algn="l">
              <a:lnSpc>
                <a:spcPct val="150000"/>
              </a:lnSpc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Combine strategy.</a:t>
            </a:r>
          </a:p>
          <a:p>
            <a:pPr marL="705747" lvl="1" indent="-352873" algn="l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It’s fast, stable, and great for handling large</a:t>
            </a:r>
          </a:p>
          <a:p>
            <a:pPr algn="l">
              <a:lnSpc>
                <a:spcPct val="150000"/>
              </a:lnSpc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amounts of data.</a:t>
            </a:r>
          </a:p>
          <a:p>
            <a:pPr marL="705747" lvl="1" indent="-352873" algn="l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 consistently divides the data until each subarray has only one element , then merges the subarrays step-by-step to produce a fully sorted array.</a:t>
            </a:r>
          </a:p>
          <a:p>
            <a:pPr marL="705747" lvl="1" indent="-352873" algn="l">
              <a:lnSpc>
                <a:spcPct val="150000"/>
              </a:lnSpc>
              <a:buFont typeface="Arial"/>
              <a:buChar char="•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Efficient, elegant, and widely used in programming.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Garet" panose="020B0604020202020204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1011</Words>
  <Application>Microsoft Office PowerPoint</Application>
  <PresentationFormat>Custom</PresentationFormat>
  <Paragraphs>114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Garet Bold</vt:lpstr>
      <vt:lpstr>Arial</vt:lpstr>
      <vt:lpstr>Alexandria Bold</vt:lpstr>
      <vt:lpstr>Garet</vt:lpstr>
      <vt:lpstr>Calibri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Zakia, Kiran and Lakshmi</dc:title>
  <cp:lastModifiedBy>Ghulam Mustafa</cp:lastModifiedBy>
  <cp:revision>25</cp:revision>
  <dcterms:created xsi:type="dcterms:W3CDTF">2006-08-16T00:00:00Z</dcterms:created>
  <dcterms:modified xsi:type="dcterms:W3CDTF">2026-08-03T07:58:48Z</dcterms:modified>
  <dc:identifier>DAG2fv6in9w</dc:identifier>
</cp:coreProperties>
</file>