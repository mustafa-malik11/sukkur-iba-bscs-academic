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6" r:id="rId2"/>
    <p:sldId id="270" r:id="rId3"/>
    <p:sldId id="258" r:id="rId4"/>
    <p:sldId id="259" r:id="rId5"/>
    <p:sldId id="260" r:id="rId6"/>
    <p:sldId id="267" r:id="rId7"/>
    <p:sldId id="268" r:id="rId8"/>
    <p:sldId id="269" r:id="rId9"/>
    <p:sldId id="261" r:id="rId10"/>
    <p:sldId id="262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3" autoAdjust="0"/>
    <p:restoredTop sz="94660"/>
  </p:normalViewPr>
  <p:slideViewPr>
    <p:cSldViewPr snapToGrid="0" snapToObjects="1">
      <p:cViewPr>
        <p:scale>
          <a:sx n="57" d="100"/>
          <a:sy n="57" d="100"/>
        </p:scale>
        <p:origin x="1854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9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92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21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75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0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5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756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4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53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49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89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546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48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5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16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54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6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11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BF77D-C4B6-5ED0-AF4F-1D8BD8E860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5260971" cy="1117687"/>
          </a:xfrm>
        </p:spPr>
        <p:txBody>
          <a:bodyPr/>
          <a:lstStyle/>
          <a:p>
            <a:r>
              <a:rPr lang="en-US" sz="5400" b="1" dirty="0"/>
              <a:t>Quick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CBA9C-AAE9-DCC2-A9D0-0289CC267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242" y="4394040"/>
            <a:ext cx="3597064" cy="1117687"/>
          </a:xfrm>
        </p:spPr>
        <p:txBody>
          <a:bodyPr/>
          <a:lstStyle/>
          <a:p>
            <a:r>
              <a:rPr lang="en-US" b="1" dirty="0"/>
              <a:t>by Ghulam Mustafa</a:t>
            </a:r>
          </a:p>
        </p:txBody>
      </p:sp>
    </p:spTree>
    <p:extLst>
      <p:ext uri="{BB962C8B-B14F-4D97-AF65-F5344CB8AC3E}">
        <p14:creationId xmlns:p14="http://schemas.microsoft.com/office/powerpoint/2010/main" val="2310744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7A94-9AD8-7997-BD25-802A3A7D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Quick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D543DC-AC63-CCF7-CA0A-414813E5664A}"/>
              </a:ext>
            </a:extLst>
          </p:cNvPr>
          <p:cNvSpPr txBox="1"/>
          <p:nvPr/>
        </p:nvSpPr>
        <p:spPr>
          <a:xfrm>
            <a:off x="361950" y="2266950"/>
            <a:ext cx="7296150" cy="2879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Quicksort is a fast, divide-and-conquer sorting algorithm that works by selecting a "pivot" element and partitioning the other elements into two sub-arrays: one with elements less than the pivot and one with elements greater than the pivot. 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2400" dirty="0"/>
              <a:t>The algorithm then recursively sorts these sub-arrays until the entire array is sorted. It is known for its efficiency</a:t>
            </a:r>
          </a:p>
        </p:txBody>
      </p:sp>
    </p:spTree>
    <p:extLst>
      <p:ext uri="{BB962C8B-B14F-4D97-AF65-F5344CB8AC3E}">
        <p14:creationId xmlns:p14="http://schemas.microsoft.com/office/powerpoint/2010/main" val="83119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is Quick Sort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Very fast for large datasets</a:t>
            </a:r>
          </a:p>
          <a:p>
            <a:pPr marL="0" indent="0">
              <a:buNone/>
            </a:pPr>
            <a:r>
              <a:rPr dirty="0"/>
              <a:t>• Efficient memory usage (in-place)</a:t>
            </a:r>
          </a:p>
          <a:p>
            <a:pPr marL="0" indent="0">
              <a:buNone/>
            </a:pPr>
            <a:r>
              <a:rPr dirty="0"/>
              <a:t>• Often faster than merge/heap sort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How Quick Sort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Choose a pivot</a:t>
            </a:r>
          </a:p>
          <a:p>
            <a:r>
              <a:t>2. Partition array into smaller and larger elements</a:t>
            </a:r>
          </a:p>
          <a:p>
            <a:r>
              <a:t>3. Recursively sort left and right parts</a:t>
            </a:r>
          </a:p>
          <a:p>
            <a:r>
              <a:t>4. Combine results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Methodology </a:t>
            </a:r>
            <a:endParaRPr sz="4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726C7E5-3F5A-43F8-D67A-90547699471A}"/>
              </a:ext>
            </a:extLst>
          </p:cNvPr>
          <p:cNvGrpSpPr/>
          <p:nvPr/>
        </p:nvGrpSpPr>
        <p:grpSpPr>
          <a:xfrm>
            <a:off x="249936" y="1265142"/>
            <a:ext cx="8493721" cy="558573"/>
            <a:chOff x="457200" y="2111177"/>
            <a:chExt cx="8493721" cy="558573"/>
          </a:xfrm>
          <a:solidFill>
            <a:srgbClr val="0070C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7C1030-75DE-384F-081B-AE11B1229051}"/>
                </a:ext>
              </a:extLst>
            </p:cNvPr>
            <p:cNvGrpSpPr/>
            <p:nvPr/>
          </p:nvGrpSpPr>
          <p:grpSpPr>
            <a:xfrm>
              <a:off x="457200" y="2121110"/>
              <a:ext cx="5901324" cy="548640"/>
              <a:chOff x="457200" y="1371600"/>
              <a:chExt cx="6949440" cy="548640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01600FB-3B6E-5E88-AC64-051C0398BB2B}"/>
                  </a:ext>
                </a:extLst>
              </p:cNvPr>
              <p:cNvSpPr/>
              <p:nvPr/>
            </p:nvSpPr>
            <p:spPr>
              <a:xfrm>
                <a:off x="457200" y="1371600"/>
                <a:ext cx="914400" cy="54864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4C71EEE-A218-9EF1-BE58-29911D219565}"/>
                  </a:ext>
                </a:extLst>
              </p:cNvPr>
              <p:cNvSpPr/>
              <p:nvPr/>
            </p:nvSpPr>
            <p:spPr>
              <a:xfrm>
                <a:off x="14630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  <a:endParaRPr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E827F52-5BC6-2FAC-46F0-BF085BEBE667}"/>
                  </a:ext>
                </a:extLst>
              </p:cNvPr>
              <p:cNvSpPr/>
              <p:nvPr/>
            </p:nvSpPr>
            <p:spPr>
              <a:xfrm>
                <a:off x="246888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  <a:endParaRPr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9D4D297-4F64-1EF5-3381-4BE8317811FB}"/>
                  </a:ext>
                </a:extLst>
              </p:cNvPr>
              <p:cNvSpPr/>
              <p:nvPr/>
            </p:nvSpPr>
            <p:spPr>
              <a:xfrm>
                <a:off x="347472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F8F49694-2032-B5A0-8F9F-50A657ECE6E4}"/>
                  </a:ext>
                </a:extLst>
              </p:cNvPr>
              <p:cNvSpPr/>
              <p:nvPr/>
            </p:nvSpPr>
            <p:spPr>
              <a:xfrm>
                <a:off x="448056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  <a:endParaRPr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4812A39-1DC9-C74A-937C-BD5DC693F965}"/>
                  </a:ext>
                </a:extLst>
              </p:cNvPr>
              <p:cNvSpPr/>
              <p:nvPr/>
            </p:nvSpPr>
            <p:spPr>
              <a:xfrm>
                <a:off x="548640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  <a:endParaRPr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53CC995-56BA-258B-B900-FA57AE5D11AA}"/>
                  </a:ext>
                </a:extLst>
              </p:cNvPr>
              <p:cNvSpPr/>
              <p:nvPr/>
            </p:nvSpPr>
            <p:spPr>
              <a:xfrm>
                <a:off x="64922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dirty="0"/>
              </a:p>
            </p:txBody>
          </p: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F76434-BB17-6564-DC6D-9A5B85D9EEE3}"/>
                </a:ext>
              </a:extLst>
            </p:cNvPr>
            <p:cNvSpPr/>
            <p:nvPr/>
          </p:nvSpPr>
          <p:spPr>
            <a:xfrm>
              <a:off x="6451163" y="2111177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021B57-45CE-4EF0-C034-E0A33AB61592}"/>
                </a:ext>
              </a:extLst>
            </p:cNvPr>
            <p:cNvSpPr/>
            <p:nvPr/>
          </p:nvSpPr>
          <p:spPr>
            <a:xfrm>
              <a:off x="7305302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6BB20F-1A45-F400-6EB2-422CF044783C}"/>
                </a:ext>
              </a:extLst>
            </p:cNvPr>
            <p:cNvSpPr/>
            <p:nvPr/>
          </p:nvSpPr>
          <p:spPr>
            <a:xfrm>
              <a:off x="8174431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dirty="0"/>
            </a:p>
          </p:txBody>
        </p: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F3C3C06-9B6E-5B73-585B-8E129C82C50B}"/>
              </a:ext>
            </a:extLst>
          </p:cNvPr>
          <p:cNvCxnSpPr>
            <a:cxnSpLocks/>
          </p:cNvCxnSpPr>
          <p:nvPr/>
        </p:nvCxnSpPr>
        <p:spPr>
          <a:xfrm flipV="1">
            <a:off x="8372202" y="2011379"/>
            <a:ext cx="0" cy="42269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46D617-6342-06DB-9033-FDBE2F5BE40E}"/>
              </a:ext>
            </a:extLst>
          </p:cNvPr>
          <p:cNvGrpSpPr/>
          <p:nvPr/>
        </p:nvGrpSpPr>
        <p:grpSpPr>
          <a:xfrm>
            <a:off x="249936" y="2775680"/>
            <a:ext cx="8493721" cy="558573"/>
            <a:chOff x="457200" y="2111177"/>
            <a:chExt cx="8493721" cy="558573"/>
          </a:xfrm>
          <a:solidFill>
            <a:srgbClr val="0070C0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41FB920-C678-E406-7E8F-6E52AF3D41D2}"/>
                </a:ext>
              </a:extLst>
            </p:cNvPr>
            <p:cNvGrpSpPr/>
            <p:nvPr/>
          </p:nvGrpSpPr>
          <p:grpSpPr>
            <a:xfrm>
              <a:off x="457200" y="2121110"/>
              <a:ext cx="5901324" cy="548640"/>
              <a:chOff x="457200" y="1371600"/>
              <a:chExt cx="6949440" cy="548640"/>
            </a:xfrm>
            <a:grpFill/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BE25634-55F4-EDC4-6B43-A958D123A6F5}"/>
                  </a:ext>
                </a:extLst>
              </p:cNvPr>
              <p:cNvSpPr/>
              <p:nvPr/>
            </p:nvSpPr>
            <p:spPr>
              <a:xfrm>
                <a:off x="457200" y="1371600"/>
                <a:ext cx="914400" cy="54864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5B8B798-E5F5-A346-3CDB-5DA64432BB59}"/>
                  </a:ext>
                </a:extLst>
              </p:cNvPr>
              <p:cNvSpPr/>
              <p:nvPr/>
            </p:nvSpPr>
            <p:spPr>
              <a:xfrm>
                <a:off x="14630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  <a:endParaRPr dirty="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0A76F30-298F-5D27-3BBB-360F81FB4530}"/>
                  </a:ext>
                </a:extLst>
              </p:cNvPr>
              <p:cNvSpPr/>
              <p:nvPr/>
            </p:nvSpPr>
            <p:spPr>
              <a:xfrm>
                <a:off x="246888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  <a:endParaRPr dirty="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1388C52-0020-C644-DFDE-5AD4E0A9BCDB}"/>
                  </a:ext>
                </a:extLst>
              </p:cNvPr>
              <p:cNvSpPr/>
              <p:nvPr/>
            </p:nvSpPr>
            <p:spPr>
              <a:xfrm>
                <a:off x="347472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F28A06-0772-D624-886E-A3E3D721E40F}"/>
                  </a:ext>
                </a:extLst>
              </p:cNvPr>
              <p:cNvSpPr/>
              <p:nvPr/>
            </p:nvSpPr>
            <p:spPr>
              <a:xfrm>
                <a:off x="448056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  <a:endParaRPr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C3D259D-6D00-63C1-57C1-35EA2A34C1F6}"/>
                  </a:ext>
                </a:extLst>
              </p:cNvPr>
              <p:cNvSpPr/>
              <p:nvPr/>
            </p:nvSpPr>
            <p:spPr>
              <a:xfrm>
                <a:off x="548640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  <a:endParaRPr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5AB15B0-6BD9-2F4A-A957-7A0C8C207195}"/>
                  </a:ext>
                </a:extLst>
              </p:cNvPr>
              <p:cNvSpPr/>
              <p:nvPr/>
            </p:nvSpPr>
            <p:spPr>
              <a:xfrm>
                <a:off x="64922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dirty="0"/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00904B3-0A69-AD5A-51A1-E9945D0795CF}"/>
                </a:ext>
              </a:extLst>
            </p:cNvPr>
            <p:cNvSpPr/>
            <p:nvPr/>
          </p:nvSpPr>
          <p:spPr>
            <a:xfrm>
              <a:off x="6451163" y="2111177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3634A83-352A-E36C-06FB-3F62668E15FC}"/>
                </a:ext>
              </a:extLst>
            </p:cNvPr>
            <p:cNvSpPr/>
            <p:nvPr/>
          </p:nvSpPr>
          <p:spPr>
            <a:xfrm>
              <a:off x="7305302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F44F06-DE6C-E2D3-A370-7ED0A96FB0B8}"/>
                </a:ext>
              </a:extLst>
            </p:cNvPr>
            <p:cNvSpPr/>
            <p:nvPr/>
          </p:nvSpPr>
          <p:spPr>
            <a:xfrm>
              <a:off x="8174431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dirty="0"/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680DF7B-FE02-578A-9CCC-C4053D1FE967}"/>
              </a:ext>
            </a:extLst>
          </p:cNvPr>
          <p:cNvCxnSpPr>
            <a:cxnSpLocks/>
          </p:cNvCxnSpPr>
          <p:nvPr/>
        </p:nvCxnSpPr>
        <p:spPr>
          <a:xfrm flipV="1">
            <a:off x="2346459" y="3318874"/>
            <a:ext cx="0" cy="42269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7CE407-5FB2-4553-805B-669D3C31CCC6}"/>
              </a:ext>
            </a:extLst>
          </p:cNvPr>
          <p:cNvCxnSpPr>
            <a:cxnSpLocks/>
          </p:cNvCxnSpPr>
          <p:nvPr/>
        </p:nvCxnSpPr>
        <p:spPr>
          <a:xfrm flipV="1">
            <a:off x="6691061" y="3318874"/>
            <a:ext cx="0" cy="42269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55B3BA-4063-B387-D52D-04C20B3242C7}"/>
              </a:ext>
            </a:extLst>
          </p:cNvPr>
          <p:cNvGrpSpPr/>
          <p:nvPr/>
        </p:nvGrpSpPr>
        <p:grpSpPr>
          <a:xfrm>
            <a:off x="2346459" y="2011379"/>
            <a:ext cx="4204237" cy="548640"/>
            <a:chOff x="2346459" y="2820838"/>
            <a:chExt cx="4204237" cy="548640"/>
          </a:xfrm>
        </p:grpSpPr>
        <p:sp>
          <p:nvSpPr>
            <p:cNvPr id="31" name="Arrow: Curved Up 30">
              <a:extLst>
                <a:ext uri="{FF2B5EF4-FFF2-40B4-BE49-F238E27FC236}">
                  <a16:creationId xmlns:a16="http://schemas.microsoft.com/office/drawing/2014/main" id="{A6C55199-C9A3-6AA1-12F3-2E184C442FA9}"/>
                </a:ext>
              </a:extLst>
            </p:cNvPr>
            <p:cNvSpPr/>
            <p:nvPr/>
          </p:nvSpPr>
          <p:spPr>
            <a:xfrm>
              <a:off x="2346459" y="2820838"/>
              <a:ext cx="4204237" cy="548640"/>
            </a:xfrm>
            <a:prstGeom prst="curvedUpArrow">
              <a:avLst/>
            </a:prstGeom>
            <a:solidFill>
              <a:srgbClr val="0070C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4568EB5-859A-F084-DEC4-C8B2B8E592BB}"/>
                </a:ext>
              </a:extLst>
            </p:cNvPr>
            <p:cNvSpPr txBox="1"/>
            <p:nvPr/>
          </p:nvSpPr>
          <p:spPr>
            <a:xfrm>
              <a:off x="3895316" y="2989616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Swap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85FB752-3765-29D8-CC89-9A557CDC93DB}"/>
              </a:ext>
            </a:extLst>
          </p:cNvPr>
          <p:cNvGrpSpPr/>
          <p:nvPr/>
        </p:nvGrpSpPr>
        <p:grpSpPr>
          <a:xfrm>
            <a:off x="4932710" y="3255977"/>
            <a:ext cx="937071" cy="445645"/>
            <a:chOff x="2346459" y="2725827"/>
            <a:chExt cx="4204237" cy="643651"/>
          </a:xfrm>
        </p:grpSpPr>
        <p:sp>
          <p:nvSpPr>
            <p:cNvPr id="34" name="Arrow: Curved Up 33">
              <a:extLst>
                <a:ext uri="{FF2B5EF4-FFF2-40B4-BE49-F238E27FC236}">
                  <a16:creationId xmlns:a16="http://schemas.microsoft.com/office/drawing/2014/main" id="{C1ACAF11-DCE6-8A83-127F-F9502CC32551}"/>
                </a:ext>
              </a:extLst>
            </p:cNvPr>
            <p:cNvSpPr/>
            <p:nvPr/>
          </p:nvSpPr>
          <p:spPr>
            <a:xfrm>
              <a:off x="2346459" y="2820838"/>
              <a:ext cx="4204237" cy="548640"/>
            </a:xfrm>
            <a:prstGeom prst="curvedUpArrow">
              <a:avLst/>
            </a:prstGeom>
            <a:solidFill>
              <a:srgbClr val="0070C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1897C33-04EC-D160-3AAA-357F946AE086}"/>
                </a:ext>
              </a:extLst>
            </p:cNvPr>
            <p:cNvSpPr txBox="1"/>
            <p:nvPr/>
          </p:nvSpPr>
          <p:spPr>
            <a:xfrm>
              <a:off x="2777803" y="2725827"/>
              <a:ext cx="716860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Swap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4573D01-3F14-FECD-C5E4-CFC68CD0B8B3}"/>
              </a:ext>
            </a:extLst>
          </p:cNvPr>
          <p:cNvGrpSpPr/>
          <p:nvPr/>
        </p:nvGrpSpPr>
        <p:grpSpPr>
          <a:xfrm>
            <a:off x="277310" y="3768219"/>
            <a:ext cx="8493721" cy="558573"/>
            <a:chOff x="457200" y="2111177"/>
            <a:chExt cx="8493721" cy="558573"/>
          </a:xfrm>
          <a:solidFill>
            <a:srgbClr val="0070C0"/>
          </a:solidFill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8121E101-1239-EB63-FEF6-992B966158BA}"/>
                </a:ext>
              </a:extLst>
            </p:cNvPr>
            <p:cNvGrpSpPr/>
            <p:nvPr/>
          </p:nvGrpSpPr>
          <p:grpSpPr>
            <a:xfrm>
              <a:off x="457200" y="2121110"/>
              <a:ext cx="5901324" cy="548640"/>
              <a:chOff x="457200" y="1371600"/>
              <a:chExt cx="6949440" cy="548640"/>
            </a:xfrm>
            <a:grpFill/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4075CE6-DD63-6786-C1EF-E49AB8991496}"/>
                  </a:ext>
                </a:extLst>
              </p:cNvPr>
              <p:cNvSpPr/>
              <p:nvPr/>
            </p:nvSpPr>
            <p:spPr>
              <a:xfrm>
                <a:off x="457200" y="1371600"/>
                <a:ext cx="914400" cy="54864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EB8B043-5F0C-E473-799A-4C8B779CE7CA}"/>
                  </a:ext>
                </a:extLst>
              </p:cNvPr>
              <p:cNvSpPr/>
              <p:nvPr/>
            </p:nvSpPr>
            <p:spPr>
              <a:xfrm>
                <a:off x="14630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  <a:endParaRPr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EF823B9A-2FC7-EE5C-F847-6D03E15C302D}"/>
                  </a:ext>
                </a:extLst>
              </p:cNvPr>
              <p:cNvSpPr/>
              <p:nvPr/>
            </p:nvSpPr>
            <p:spPr>
              <a:xfrm>
                <a:off x="246888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  <a:endParaRPr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D28457C-8689-E0B1-FD07-1BEB887BD2AF}"/>
                  </a:ext>
                </a:extLst>
              </p:cNvPr>
              <p:cNvSpPr/>
              <p:nvPr/>
            </p:nvSpPr>
            <p:spPr>
              <a:xfrm>
                <a:off x="347472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95012BEB-79B2-7A1B-9B5A-97DF6FD62FA0}"/>
                  </a:ext>
                </a:extLst>
              </p:cNvPr>
              <p:cNvSpPr/>
              <p:nvPr/>
            </p:nvSpPr>
            <p:spPr>
              <a:xfrm>
                <a:off x="448056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  <a:endParaRPr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E0E8A6D-7AAA-A421-F19F-0382B4E7C571}"/>
                  </a:ext>
                </a:extLst>
              </p:cNvPr>
              <p:cNvSpPr/>
              <p:nvPr/>
            </p:nvSpPr>
            <p:spPr>
              <a:xfrm>
                <a:off x="548640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dirty="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0021F49-99B8-647F-99A5-331D75DC14B0}"/>
                  </a:ext>
                </a:extLst>
              </p:cNvPr>
              <p:cNvSpPr/>
              <p:nvPr/>
            </p:nvSpPr>
            <p:spPr>
              <a:xfrm>
                <a:off x="64922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  <a:endParaRPr dirty="0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5BE80A1-B4A0-80B2-DC32-460B28726BE1}"/>
                </a:ext>
              </a:extLst>
            </p:cNvPr>
            <p:cNvSpPr/>
            <p:nvPr/>
          </p:nvSpPr>
          <p:spPr>
            <a:xfrm>
              <a:off x="6451163" y="2111177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DF5162A-0EA7-2DBE-6ECE-DE7621A5A767}"/>
                </a:ext>
              </a:extLst>
            </p:cNvPr>
            <p:cNvSpPr/>
            <p:nvPr/>
          </p:nvSpPr>
          <p:spPr>
            <a:xfrm>
              <a:off x="7305302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71AA635-FC91-09D2-9EEC-7DEBD18759F9}"/>
                </a:ext>
              </a:extLst>
            </p:cNvPr>
            <p:cNvSpPr/>
            <p:nvPr/>
          </p:nvSpPr>
          <p:spPr>
            <a:xfrm>
              <a:off x="8174431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dirty="0"/>
            </a:p>
          </p:txBody>
        </p:sp>
      </p:grp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B9CDCF9-C2AD-43E5-560A-9632F8588941}"/>
              </a:ext>
            </a:extLst>
          </p:cNvPr>
          <p:cNvCxnSpPr>
            <a:cxnSpLocks/>
          </p:cNvCxnSpPr>
          <p:nvPr/>
        </p:nvCxnSpPr>
        <p:spPr>
          <a:xfrm flipV="1">
            <a:off x="5870444" y="4458566"/>
            <a:ext cx="0" cy="422694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9DCE38-5AA9-4F0F-6B37-67472FC90193}"/>
              </a:ext>
            </a:extLst>
          </p:cNvPr>
          <p:cNvCxnSpPr>
            <a:cxnSpLocks/>
          </p:cNvCxnSpPr>
          <p:nvPr/>
        </p:nvCxnSpPr>
        <p:spPr>
          <a:xfrm flipV="1">
            <a:off x="4932710" y="4466930"/>
            <a:ext cx="0" cy="42269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2B0A3FA-AFA5-1699-2AF1-5D3EF84830C8}"/>
              </a:ext>
            </a:extLst>
          </p:cNvPr>
          <p:cNvGrpSpPr/>
          <p:nvPr/>
        </p:nvGrpSpPr>
        <p:grpSpPr>
          <a:xfrm>
            <a:off x="704639" y="4401511"/>
            <a:ext cx="4204237" cy="548640"/>
            <a:chOff x="2346459" y="2820838"/>
            <a:chExt cx="4204237" cy="548640"/>
          </a:xfrm>
        </p:grpSpPr>
        <p:sp>
          <p:nvSpPr>
            <p:cNvPr id="52" name="Arrow: Curved Up 51">
              <a:extLst>
                <a:ext uri="{FF2B5EF4-FFF2-40B4-BE49-F238E27FC236}">
                  <a16:creationId xmlns:a16="http://schemas.microsoft.com/office/drawing/2014/main" id="{9CE2A82B-306E-126E-B7AD-81FA15009A5B}"/>
                </a:ext>
              </a:extLst>
            </p:cNvPr>
            <p:cNvSpPr/>
            <p:nvPr/>
          </p:nvSpPr>
          <p:spPr>
            <a:xfrm>
              <a:off x="2346459" y="2820838"/>
              <a:ext cx="4204237" cy="548640"/>
            </a:xfrm>
            <a:prstGeom prst="curvedUpArrow">
              <a:avLst/>
            </a:prstGeom>
            <a:solidFill>
              <a:srgbClr val="0070C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BC67906-16DC-EAA0-C4CA-C2CA373C68D6}"/>
                </a:ext>
              </a:extLst>
            </p:cNvPr>
            <p:cNvSpPr txBox="1"/>
            <p:nvPr/>
          </p:nvSpPr>
          <p:spPr>
            <a:xfrm>
              <a:off x="3895316" y="2989616"/>
              <a:ext cx="7168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Swap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3E96BFA-1FA5-E701-D9CD-197944D24C70}"/>
              </a:ext>
            </a:extLst>
          </p:cNvPr>
          <p:cNvGrpSpPr/>
          <p:nvPr/>
        </p:nvGrpSpPr>
        <p:grpSpPr>
          <a:xfrm>
            <a:off x="277311" y="5069477"/>
            <a:ext cx="8493721" cy="558573"/>
            <a:chOff x="457200" y="2111177"/>
            <a:chExt cx="8493721" cy="558573"/>
          </a:xfrm>
          <a:solidFill>
            <a:srgbClr val="0070C0"/>
          </a:solidFill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B843520-3B37-777D-94C5-58CCF5B2CB13}"/>
                </a:ext>
              </a:extLst>
            </p:cNvPr>
            <p:cNvGrpSpPr/>
            <p:nvPr/>
          </p:nvGrpSpPr>
          <p:grpSpPr>
            <a:xfrm>
              <a:off x="457200" y="2121110"/>
              <a:ext cx="5901324" cy="548640"/>
              <a:chOff x="457200" y="1371600"/>
              <a:chExt cx="6949440" cy="548640"/>
            </a:xfrm>
            <a:grpFill/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4701D74-2840-71A4-2630-3D63D2365B05}"/>
                  </a:ext>
                </a:extLst>
              </p:cNvPr>
              <p:cNvSpPr/>
              <p:nvPr/>
            </p:nvSpPr>
            <p:spPr>
              <a:xfrm>
                <a:off x="45720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  <a:endParaRPr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687B463-6B37-8072-6BB9-2D7EAE7343AE}"/>
                  </a:ext>
                </a:extLst>
              </p:cNvPr>
              <p:cNvSpPr/>
              <p:nvPr/>
            </p:nvSpPr>
            <p:spPr>
              <a:xfrm>
                <a:off x="14630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  <a:endParaRPr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226894F-25E2-57D6-1579-ECA635D6099E}"/>
                  </a:ext>
                </a:extLst>
              </p:cNvPr>
              <p:cNvSpPr/>
              <p:nvPr/>
            </p:nvSpPr>
            <p:spPr>
              <a:xfrm>
                <a:off x="246888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  <a:endParaRPr dirty="0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9949E461-35BF-F6F0-5605-D43BB76A0A96}"/>
                  </a:ext>
                </a:extLst>
              </p:cNvPr>
              <p:cNvSpPr/>
              <p:nvPr/>
            </p:nvSpPr>
            <p:spPr>
              <a:xfrm>
                <a:off x="347472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  <a:endParaRPr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EC132FC4-014F-33D7-0A78-F3A47AE5F09C}"/>
                  </a:ext>
                </a:extLst>
              </p:cNvPr>
              <p:cNvSpPr/>
              <p:nvPr/>
            </p:nvSpPr>
            <p:spPr>
              <a:xfrm>
                <a:off x="448056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  <a:endParaRPr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BC162B6-5B26-E5B1-C5B5-B0B94FE123B5}"/>
                  </a:ext>
                </a:extLst>
              </p:cNvPr>
              <p:cNvSpPr/>
              <p:nvPr/>
            </p:nvSpPr>
            <p:spPr>
              <a:xfrm>
                <a:off x="5486400" y="1371600"/>
                <a:ext cx="914400" cy="54864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6</a:t>
                </a: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3C8A28D-D372-57BE-9D05-F6406DE3AAD5}"/>
                  </a:ext>
                </a:extLst>
              </p:cNvPr>
              <p:cNvSpPr/>
              <p:nvPr/>
            </p:nvSpPr>
            <p:spPr>
              <a:xfrm>
                <a:off x="6492240" y="1371600"/>
                <a:ext cx="914400" cy="548640"/>
              </a:xfrm>
              <a:prstGeom prst="rect">
                <a:avLst/>
              </a:prstGeom>
              <a:grp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  <a:endParaRPr dirty="0"/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77CD6FD-E9FF-3E41-6E27-0B2216D1EB7B}"/>
                </a:ext>
              </a:extLst>
            </p:cNvPr>
            <p:cNvSpPr/>
            <p:nvPr/>
          </p:nvSpPr>
          <p:spPr>
            <a:xfrm>
              <a:off x="6451163" y="2111177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6EB228E-2DEB-C3EF-5E03-B3DCCD47B977}"/>
                </a:ext>
              </a:extLst>
            </p:cNvPr>
            <p:cNvSpPr/>
            <p:nvPr/>
          </p:nvSpPr>
          <p:spPr>
            <a:xfrm>
              <a:off x="7305302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F6CA2AD-FBE8-4D1A-37D8-59E111A5B358}"/>
                </a:ext>
              </a:extLst>
            </p:cNvPr>
            <p:cNvSpPr/>
            <p:nvPr/>
          </p:nvSpPr>
          <p:spPr>
            <a:xfrm>
              <a:off x="8174431" y="2121110"/>
              <a:ext cx="776490" cy="54864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dirty="0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FD9CF85-E980-284E-ADF0-58CC008924CB}"/>
              </a:ext>
            </a:extLst>
          </p:cNvPr>
          <p:cNvSpPr txBox="1"/>
          <p:nvPr/>
        </p:nvSpPr>
        <p:spPr>
          <a:xfrm>
            <a:off x="460566" y="327207"/>
            <a:ext cx="3618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000000"/>
                </a:highlight>
              </a:rPr>
              <a:t>Start</a:t>
            </a:r>
            <a:r>
              <a:rPr lang="en-US" b="1" dirty="0"/>
              <a:t>=LB=1	</a:t>
            </a:r>
            <a:r>
              <a:rPr lang="en-US" b="1" dirty="0">
                <a:solidFill>
                  <a:schemeClr val="bg1"/>
                </a:solidFill>
                <a:highlight>
                  <a:srgbClr val="FFFF00"/>
                </a:highlight>
              </a:rPr>
              <a:t>End</a:t>
            </a:r>
            <a:r>
              <a:rPr lang="en-US" b="1" dirty="0"/>
              <a:t>= </a:t>
            </a:r>
            <a:r>
              <a:rPr lang="en-US" b="1" dirty="0" err="1"/>
              <a:t>ub</a:t>
            </a:r>
            <a:r>
              <a:rPr lang="en-US" b="1" dirty="0"/>
              <a:t>=10</a:t>
            </a:r>
          </a:p>
          <a:p>
            <a:r>
              <a:rPr lang="en-US" b="1" dirty="0"/>
              <a:t>Pivot=d[</a:t>
            </a:r>
            <a:r>
              <a:rPr lang="en-US" b="1" dirty="0" err="1"/>
              <a:t>lb</a:t>
            </a:r>
            <a:r>
              <a:rPr lang="en-US" b="1" dirty="0"/>
              <a:t>]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4700165-9B2E-0A18-F639-E2E94768117F}"/>
              </a:ext>
            </a:extLst>
          </p:cNvPr>
          <p:cNvCxnSpPr>
            <a:cxnSpLocks/>
          </p:cNvCxnSpPr>
          <p:nvPr/>
        </p:nvCxnSpPr>
        <p:spPr>
          <a:xfrm flipV="1">
            <a:off x="638181" y="2011379"/>
            <a:ext cx="0" cy="422694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451E9A80-D8EA-56A5-14E2-4640499EB96B}"/>
              </a:ext>
            </a:extLst>
          </p:cNvPr>
          <p:cNvCxnSpPr/>
          <p:nvPr/>
        </p:nvCxnSpPr>
        <p:spPr>
          <a:xfrm>
            <a:off x="4513499" y="4939621"/>
            <a:ext cx="0" cy="101260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99523EB-F252-D72F-F4D0-16813D6A3DF4}"/>
              </a:ext>
            </a:extLst>
          </p:cNvPr>
          <p:cNvCxnSpPr/>
          <p:nvPr/>
        </p:nvCxnSpPr>
        <p:spPr>
          <a:xfrm>
            <a:off x="5375845" y="4939621"/>
            <a:ext cx="0" cy="1012605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FF634865-11DE-B751-8BE6-00F2775476F2}"/>
              </a:ext>
            </a:extLst>
          </p:cNvPr>
          <p:cNvSpPr txBox="1"/>
          <p:nvPr/>
        </p:nvSpPr>
        <p:spPr>
          <a:xfrm>
            <a:off x="4470356" y="226577"/>
            <a:ext cx="45139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while(start&lt;end) { start++; end--;</a:t>
            </a:r>
          </a:p>
          <a:p>
            <a:r>
              <a:rPr lang="en-US" dirty="0"/>
              <a:t>If(start&lt;end) {swap(d[</a:t>
            </a:r>
            <a:r>
              <a:rPr lang="en-US" dirty="0" err="1"/>
              <a:t>start,d</a:t>
            </a:r>
            <a:r>
              <a:rPr lang="en-US" dirty="0"/>
              <a:t>[end]} {swap(d[end],d[</a:t>
            </a:r>
            <a:r>
              <a:rPr lang="en-US" dirty="0" err="1"/>
              <a:t>lb</a:t>
            </a:r>
            <a:r>
              <a:rPr lang="en-US" dirty="0"/>
              <a:t>]}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9782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04 0.00139 L 0.08594 0.000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94 0.0007 L 0.17604 0.0030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11 0.00047 L 5E-6 0.00278 " pathEditMode="relative" rAng="0" ptsTypes="AA">
                                      <p:cBhvr>
                                        <p:cTn id="19" dur="2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5 0.00116 L -0.09011 0.00047 " pathEditMode="relative" rAng="0" ptsTypes="AA">
                                      <p:cBhvr>
                                        <p:cTn id="23" dur="2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4.81481E-6 L 0.08489 -0.00069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489 -0.00069 L 0.175 0.00163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 0.00163 L 0.27153 -0.00486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26" y="-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1 0.00047 L -8.33333E-7 0.00278 " pathEditMode="relative" rAng="0" ptsTypes="AA">
                                      <p:cBhvr>
                                        <p:cTn id="59" dur="20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07407E-6 L 0.0849 -0.0007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36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1 0.00046 L -3.88889E-6 0.00278 " pathEditMode="relative" rAng="0" ptsTypes="AA">
                                      <p:cBhvr>
                                        <p:cTn id="87" dur="2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2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3BE26AD-1CB4-288D-025F-427C100C2B7F}"/>
              </a:ext>
            </a:extLst>
          </p:cNvPr>
          <p:cNvGrpSpPr/>
          <p:nvPr/>
        </p:nvGrpSpPr>
        <p:grpSpPr>
          <a:xfrm>
            <a:off x="277311" y="928799"/>
            <a:ext cx="8493721" cy="558573"/>
            <a:chOff x="277311" y="928799"/>
            <a:chExt cx="8493721" cy="55857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5544A2-C04B-71F2-1BF1-7AB01A67CDDC}"/>
                </a:ext>
              </a:extLst>
            </p:cNvPr>
            <p:cNvSpPr/>
            <p:nvPr/>
          </p:nvSpPr>
          <p:spPr>
            <a:xfrm>
              <a:off x="277311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2E84406-BFBA-CBE0-B454-3996407D9B52}"/>
                </a:ext>
              </a:extLst>
            </p:cNvPr>
            <p:cNvSpPr/>
            <p:nvPr/>
          </p:nvSpPr>
          <p:spPr>
            <a:xfrm>
              <a:off x="1131450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247511-C1C1-6131-E9AC-F7D73A8FAB36}"/>
                </a:ext>
              </a:extLst>
            </p:cNvPr>
            <p:cNvSpPr/>
            <p:nvPr/>
          </p:nvSpPr>
          <p:spPr>
            <a:xfrm>
              <a:off x="1985589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B9E4068-F764-C986-61A3-730BCA603684}"/>
                </a:ext>
              </a:extLst>
            </p:cNvPr>
            <p:cNvSpPr/>
            <p:nvPr/>
          </p:nvSpPr>
          <p:spPr>
            <a:xfrm>
              <a:off x="2839728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655349A-3CC1-46A1-3080-0603B3707278}"/>
                </a:ext>
              </a:extLst>
            </p:cNvPr>
            <p:cNvSpPr/>
            <p:nvPr/>
          </p:nvSpPr>
          <p:spPr>
            <a:xfrm>
              <a:off x="3693867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95A51D0-8842-2FD7-E496-1145525B3DA3}"/>
                </a:ext>
              </a:extLst>
            </p:cNvPr>
            <p:cNvSpPr/>
            <p:nvPr/>
          </p:nvSpPr>
          <p:spPr>
            <a:xfrm>
              <a:off x="4548006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  <a:endParaRPr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9A81ED-C891-13B9-7695-D8F5B2319C1F}"/>
                </a:ext>
              </a:extLst>
            </p:cNvPr>
            <p:cNvSpPr/>
            <p:nvPr/>
          </p:nvSpPr>
          <p:spPr>
            <a:xfrm>
              <a:off x="5402145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11DE9E-CBD9-D427-8904-BF925F08A320}"/>
                </a:ext>
              </a:extLst>
            </p:cNvPr>
            <p:cNvSpPr/>
            <p:nvPr/>
          </p:nvSpPr>
          <p:spPr>
            <a:xfrm>
              <a:off x="6271274" y="92879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63ABE48-C6D6-7490-3ACC-A0EC3F039B7F}"/>
                </a:ext>
              </a:extLst>
            </p:cNvPr>
            <p:cNvSpPr/>
            <p:nvPr/>
          </p:nvSpPr>
          <p:spPr>
            <a:xfrm>
              <a:off x="7125413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E0448A-4CDB-4137-9576-E46C30D73D43}"/>
                </a:ext>
              </a:extLst>
            </p:cNvPr>
            <p:cNvSpPr/>
            <p:nvPr/>
          </p:nvSpPr>
          <p:spPr>
            <a:xfrm>
              <a:off x="7994542" y="938732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32A590E-B67C-08CC-222B-25F47025C4F2}"/>
              </a:ext>
            </a:extLst>
          </p:cNvPr>
          <p:cNvGrpSpPr/>
          <p:nvPr/>
        </p:nvGrpSpPr>
        <p:grpSpPr>
          <a:xfrm>
            <a:off x="5402145" y="2229646"/>
            <a:ext cx="3368887" cy="558573"/>
            <a:chOff x="5402145" y="2343946"/>
            <a:chExt cx="3368887" cy="55857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A92CB9-2C85-E77C-86C5-5B79A9F580DF}"/>
                </a:ext>
              </a:extLst>
            </p:cNvPr>
            <p:cNvSpPr/>
            <p:nvPr/>
          </p:nvSpPr>
          <p:spPr>
            <a:xfrm>
              <a:off x="5402145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  <a:endParaRPr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AC3D3D-D1A7-F3EE-1E33-2105E2A86D76}"/>
                </a:ext>
              </a:extLst>
            </p:cNvPr>
            <p:cNvSpPr/>
            <p:nvPr/>
          </p:nvSpPr>
          <p:spPr>
            <a:xfrm>
              <a:off x="6271274" y="2343946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  <a:endParaRPr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207DD79-1B05-C791-1F20-59CCE0866569}"/>
                </a:ext>
              </a:extLst>
            </p:cNvPr>
            <p:cNvSpPr/>
            <p:nvPr/>
          </p:nvSpPr>
          <p:spPr>
            <a:xfrm>
              <a:off x="7125413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  <a:endParaRPr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CBE2562-B02E-80C0-06F4-B3635A470337}"/>
                </a:ext>
              </a:extLst>
            </p:cNvPr>
            <p:cNvSpPr/>
            <p:nvPr/>
          </p:nvSpPr>
          <p:spPr>
            <a:xfrm>
              <a:off x="7994542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  <a:endParaRPr dirty="0"/>
            </a:p>
          </p:txBody>
        </p: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CB30B8-C098-A687-8E19-49B0932AB5A8}"/>
              </a:ext>
            </a:extLst>
          </p:cNvPr>
          <p:cNvCxnSpPr>
            <a:cxnSpLocks/>
          </p:cNvCxnSpPr>
          <p:nvPr/>
        </p:nvCxnSpPr>
        <p:spPr>
          <a:xfrm>
            <a:off x="4513499" y="902461"/>
            <a:ext cx="0" cy="6884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A0562E5-CBB4-0787-7466-D79507A8637B}"/>
              </a:ext>
            </a:extLst>
          </p:cNvPr>
          <p:cNvCxnSpPr>
            <a:cxnSpLocks/>
          </p:cNvCxnSpPr>
          <p:nvPr/>
        </p:nvCxnSpPr>
        <p:spPr>
          <a:xfrm>
            <a:off x="5360896" y="902461"/>
            <a:ext cx="0" cy="68842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BE7C99-0E1D-3333-BF6D-1B23AA95D5B6}"/>
              </a:ext>
            </a:extLst>
          </p:cNvPr>
          <p:cNvGrpSpPr/>
          <p:nvPr/>
        </p:nvGrpSpPr>
        <p:grpSpPr>
          <a:xfrm>
            <a:off x="4347713" y="1588013"/>
            <a:ext cx="1116564" cy="499579"/>
            <a:chOff x="4347713" y="1588013"/>
            <a:chExt cx="1116564" cy="499579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87EB70D-E8B4-40FE-2EDE-9DE1D20EA83E}"/>
                </a:ext>
              </a:extLst>
            </p:cNvPr>
            <p:cNvCxnSpPr/>
            <p:nvPr/>
          </p:nvCxnSpPr>
          <p:spPr>
            <a:xfrm flipH="1">
              <a:off x="4347713" y="1590890"/>
              <a:ext cx="569344" cy="4967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BA7F6DA-8E83-4528-952B-E4221A5B6506}"/>
                </a:ext>
              </a:extLst>
            </p:cNvPr>
            <p:cNvCxnSpPr>
              <a:cxnSpLocks/>
            </p:cNvCxnSpPr>
            <p:nvPr/>
          </p:nvCxnSpPr>
          <p:spPr>
            <a:xfrm>
              <a:off x="4894933" y="1588013"/>
              <a:ext cx="569344" cy="4967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5E999F1-C569-50F0-955A-9F95359B9D2E}"/>
              </a:ext>
            </a:extLst>
          </p:cNvPr>
          <p:cNvGrpSpPr/>
          <p:nvPr/>
        </p:nvGrpSpPr>
        <p:grpSpPr>
          <a:xfrm>
            <a:off x="195669" y="2226879"/>
            <a:ext cx="4193046" cy="548640"/>
            <a:chOff x="386169" y="2353879"/>
            <a:chExt cx="4193046" cy="54864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B247FDD-0DE9-E8E2-EA52-FDAAD458ED4B}"/>
                </a:ext>
              </a:extLst>
            </p:cNvPr>
            <p:cNvSpPr/>
            <p:nvPr/>
          </p:nvSpPr>
          <p:spPr>
            <a:xfrm>
              <a:off x="386169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2305A3-2B8F-1B6B-6C50-6A267FA5E5CB}"/>
                </a:ext>
              </a:extLst>
            </p:cNvPr>
            <p:cNvSpPr/>
            <p:nvPr/>
          </p:nvSpPr>
          <p:spPr>
            <a:xfrm>
              <a:off x="1240308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6AD2B7-C6D2-A42A-72D8-2D10DE3D0B53}"/>
                </a:ext>
              </a:extLst>
            </p:cNvPr>
            <p:cNvSpPr/>
            <p:nvPr/>
          </p:nvSpPr>
          <p:spPr>
            <a:xfrm>
              <a:off x="2094447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C5AAA9-934E-2951-FA7E-14CF08FCFC40}"/>
                </a:ext>
              </a:extLst>
            </p:cNvPr>
            <p:cNvSpPr/>
            <p:nvPr/>
          </p:nvSpPr>
          <p:spPr>
            <a:xfrm>
              <a:off x="2948586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11BD02-E3D7-39FB-583C-028244F87131}"/>
                </a:ext>
              </a:extLst>
            </p:cNvPr>
            <p:cNvSpPr/>
            <p:nvPr/>
          </p:nvSpPr>
          <p:spPr>
            <a:xfrm>
              <a:off x="3802725" y="2353879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0EE96D-2F9F-3736-C250-4CD7566743D1}"/>
              </a:ext>
            </a:extLst>
          </p:cNvPr>
          <p:cNvCxnSpPr>
            <a:cxnSpLocks/>
          </p:cNvCxnSpPr>
          <p:nvPr/>
        </p:nvCxnSpPr>
        <p:spPr>
          <a:xfrm>
            <a:off x="614981" y="2867538"/>
            <a:ext cx="569344" cy="4967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71B6B4-785E-0CDB-BB81-9FEEE62083C3}"/>
              </a:ext>
            </a:extLst>
          </p:cNvPr>
          <p:cNvGrpSpPr/>
          <p:nvPr/>
        </p:nvGrpSpPr>
        <p:grpSpPr>
          <a:xfrm>
            <a:off x="899396" y="3401631"/>
            <a:ext cx="3338907" cy="548640"/>
            <a:chOff x="1322126" y="3754507"/>
            <a:chExt cx="3338907" cy="54864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94501E3-AA9A-40BA-D5D7-CA4EF0383E10}"/>
                </a:ext>
              </a:extLst>
            </p:cNvPr>
            <p:cNvSpPr/>
            <p:nvPr/>
          </p:nvSpPr>
          <p:spPr>
            <a:xfrm>
              <a:off x="1322126" y="3754507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B74D246A-7D49-9C78-6460-2D084FC2F3CF}"/>
                </a:ext>
              </a:extLst>
            </p:cNvPr>
            <p:cNvSpPr/>
            <p:nvPr/>
          </p:nvSpPr>
          <p:spPr>
            <a:xfrm>
              <a:off x="2176265" y="3754507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2A27E60-C419-B147-B6D6-E8F287F9FBAD}"/>
                </a:ext>
              </a:extLst>
            </p:cNvPr>
            <p:cNvSpPr/>
            <p:nvPr/>
          </p:nvSpPr>
          <p:spPr>
            <a:xfrm>
              <a:off x="3042930" y="3754507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dirty="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2CFABD1-2137-8C31-F799-A13D9BE0E9EA}"/>
                </a:ext>
              </a:extLst>
            </p:cNvPr>
            <p:cNvSpPr/>
            <p:nvPr/>
          </p:nvSpPr>
          <p:spPr>
            <a:xfrm>
              <a:off x="3884543" y="3754507"/>
              <a:ext cx="776490" cy="548640"/>
            </a:xfrm>
            <a:prstGeom prst="rect">
              <a:avLst/>
            </a:prstGeom>
            <a:solidFill>
              <a:srgbClr val="0070C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05B2437-9D7B-4D0E-C4CD-AF90B54B6417}"/>
              </a:ext>
            </a:extLst>
          </p:cNvPr>
          <p:cNvGrpSpPr/>
          <p:nvPr/>
        </p:nvGrpSpPr>
        <p:grpSpPr>
          <a:xfrm>
            <a:off x="6101237" y="2837095"/>
            <a:ext cx="1116564" cy="499579"/>
            <a:chOff x="4347713" y="1588013"/>
            <a:chExt cx="1116564" cy="499579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F113E7F6-1C18-B560-2DA0-FC91AF0EDA6A}"/>
                </a:ext>
              </a:extLst>
            </p:cNvPr>
            <p:cNvCxnSpPr/>
            <p:nvPr/>
          </p:nvCxnSpPr>
          <p:spPr>
            <a:xfrm flipH="1">
              <a:off x="4347713" y="1590890"/>
              <a:ext cx="569344" cy="4967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67E328E-D2C9-2118-EA20-C5453ECEB65A}"/>
                </a:ext>
              </a:extLst>
            </p:cNvPr>
            <p:cNvCxnSpPr>
              <a:cxnSpLocks/>
            </p:cNvCxnSpPr>
            <p:nvPr/>
          </p:nvCxnSpPr>
          <p:spPr>
            <a:xfrm>
              <a:off x="4894933" y="1588013"/>
              <a:ext cx="569344" cy="4967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8CD88AEC-6A83-8715-3042-5FFA74CA4430}"/>
              </a:ext>
            </a:extLst>
          </p:cNvPr>
          <p:cNvSpPr/>
          <p:nvPr/>
        </p:nvSpPr>
        <p:spPr>
          <a:xfrm>
            <a:off x="5430720" y="3401629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BF01B8-D7C2-90AE-403A-0E6525522E13}"/>
              </a:ext>
            </a:extLst>
          </p:cNvPr>
          <p:cNvSpPr/>
          <p:nvPr/>
        </p:nvSpPr>
        <p:spPr>
          <a:xfrm>
            <a:off x="7153988" y="3401629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  <a:endParaRPr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1051E41-9B6F-177F-F83F-03DDD412F9C9}"/>
              </a:ext>
            </a:extLst>
          </p:cNvPr>
          <p:cNvSpPr/>
          <p:nvPr/>
        </p:nvSpPr>
        <p:spPr>
          <a:xfrm>
            <a:off x="8023117" y="3401629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  <a:endParaRPr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1E4062F-DF86-5A64-B5B0-2805A2D7229E}"/>
              </a:ext>
            </a:extLst>
          </p:cNvPr>
          <p:cNvGrpSpPr/>
          <p:nvPr/>
        </p:nvGrpSpPr>
        <p:grpSpPr>
          <a:xfrm>
            <a:off x="2418012" y="4049374"/>
            <a:ext cx="1116564" cy="499579"/>
            <a:chOff x="4347713" y="1588013"/>
            <a:chExt cx="1116564" cy="499579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6D54579-3FB3-9470-9DB0-7C77888A2983}"/>
                </a:ext>
              </a:extLst>
            </p:cNvPr>
            <p:cNvCxnSpPr/>
            <p:nvPr/>
          </p:nvCxnSpPr>
          <p:spPr>
            <a:xfrm flipH="1">
              <a:off x="4347713" y="1590890"/>
              <a:ext cx="569344" cy="4967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9E07BBE-4AF7-F824-A5A3-FF42E3D240C2}"/>
                </a:ext>
              </a:extLst>
            </p:cNvPr>
            <p:cNvCxnSpPr>
              <a:cxnSpLocks/>
            </p:cNvCxnSpPr>
            <p:nvPr/>
          </p:nvCxnSpPr>
          <p:spPr>
            <a:xfrm>
              <a:off x="4894933" y="1588013"/>
              <a:ext cx="569344" cy="49670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6F003B24-1235-4022-B197-96C9CD7C23B8}"/>
              </a:ext>
            </a:extLst>
          </p:cNvPr>
          <p:cNvSpPr/>
          <p:nvPr/>
        </p:nvSpPr>
        <p:spPr>
          <a:xfrm>
            <a:off x="951588" y="4581163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99CB19-8B18-34C4-3472-97B77812F2B5}"/>
              </a:ext>
            </a:extLst>
          </p:cNvPr>
          <p:cNvSpPr/>
          <p:nvPr/>
        </p:nvSpPr>
        <p:spPr>
          <a:xfrm>
            <a:off x="1805727" y="4581163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93A8E0F-FCB0-3B03-7783-39503B923E20}"/>
              </a:ext>
            </a:extLst>
          </p:cNvPr>
          <p:cNvSpPr/>
          <p:nvPr/>
        </p:nvSpPr>
        <p:spPr>
          <a:xfrm>
            <a:off x="3514005" y="4581163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AB51ECF-EE49-387F-34D5-F1B18FD2591B}"/>
              </a:ext>
            </a:extLst>
          </p:cNvPr>
          <p:cNvCxnSpPr>
            <a:cxnSpLocks/>
          </p:cNvCxnSpPr>
          <p:nvPr/>
        </p:nvCxnSpPr>
        <p:spPr>
          <a:xfrm>
            <a:off x="1339833" y="5259213"/>
            <a:ext cx="569344" cy="4967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67D6F4A-0BEE-2021-43B9-434F3A00C40C}"/>
              </a:ext>
            </a:extLst>
          </p:cNvPr>
          <p:cNvCxnSpPr>
            <a:cxnSpLocks/>
          </p:cNvCxnSpPr>
          <p:nvPr/>
        </p:nvCxnSpPr>
        <p:spPr>
          <a:xfrm>
            <a:off x="7676918" y="4102671"/>
            <a:ext cx="569344" cy="4967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82FA6C8-E0C3-4688-4E13-37D38E01928A}"/>
              </a:ext>
            </a:extLst>
          </p:cNvPr>
          <p:cNvSpPr/>
          <p:nvPr/>
        </p:nvSpPr>
        <p:spPr>
          <a:xfrm>
            <a:off x="8023117" y="4567986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  <a:endParaRPr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409BBA1-B2BD-5EA9-DCC9-E550FD3D14BB}"/>
              </a:ext>
            </a:extLst>
          </p:cNvPr>
          <p:cNvSpPr/>
          <p:nvPr/>
        </p:nvSpPr>
        <p:spPr>
          <a:xfrm>
            <a:off x="1807815" y="5798273"/>
            <a:ext cx="776490" cy="548640"/>
          </a:xfrm>
          <a:prstGeom prst="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6B95A6-4FDB-2849-4A17-C8E4B6848C26}"/>
              </a:ext>
            </a:extLst>
          </p:cNvPr>
          <p:cNvSpPr/>
          <p:nvPr/>
        </p:nvSpPr>
        <p:spPr>
          <a:xfrm>
            <a:off x="4491949" y="2234788"/>
            <a:ext cx="776490" cy="548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6</a:t>
            </a:r>
            <a:endParaRPr dirty="0">
              <a:solidFill>
                <a:sysClr val="windowText" lastClr="0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D7A508-2D40-BDE6-8A0F-7E333666AD5B}"/>
              </a:ext>
            </a:extLst>
          </p:cNvPr>
          <p:cNvSpPr/>
          <p:nvPr/>
        </p:nvSpPr>
        <p:spPr>
          <a:xfrm>
            <a:off x="6282336" y="3401631"/>
            <a:ext cx="776490" cy="548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8</a:t>
            </a:r>
            <a:endParaRPr dirty="0">
              <a:solidFill>
                <a:sysClr val="windowText" lastClr="00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F3B4A2-9627-EA6F-B288-DE0DBCF34E29}"/>
              </a:ext>
            </a:extLst>
          </p:cNvPr>
          <p:cNvSpPr/>
          <p:nvPr/>
        </p:nvSpPr>
        <p:spPr>
          <a:xfrm>
            <a:off x="923080" y="5800401"/>
            <a:ext cx="776490" cy="548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</a:t>
            </a:r>
            <a:endParaRPr dirty="0">
              <a:solidFill>
                <a:sysClr val="windowText" lastClr="0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5CD24C3-89DB-DDB3-431F-E655DFC8CA54}"/>
              </a:ext>
            </a:extLst>
          </p:cNvPr>
          <p:cNvSpPr/>
          <p:nvPr/>
        </p:nvSpPr>
        <p:spPr>
          <a:xfrm>
            <a:off x="2644799" y="4599373"/>
            <a:ext cx="776490" cy="548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</a:t>
            </a:r>
            <a:endParaRPr dirty="0">
              <a:solidFill>
                <a:sysClr val="windowText" lastClr="000000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B1449E-216D-F8F1-23CF-1AD5320B0363}"/>
              </a:ext>
            </a:extLst>
          </p:cNvPr>
          <p:cNvSpPr/>
          <p:nvPr/>
        </p:nvSpPr>
        <p:spPr>
          <a:xfrm>
            <a:off x="7185100" y="4567986"/>
            <a:ext cx="776490" cy="548640"/>
          </a:xfrm>
          <a:prstGeom prst="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9</a:t>
            </a:r>
            <a:endParaRPr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367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2CEC668-4A3F-FA4E-3600-2F7A4B22FD4B}"/>
              </a:ext>
            </a:extLst>
          </p:cNvPr>
          <p:cNvGrpSpPr/>
          <p:nvPr/>
        </p:nvGrpSpPr>
        <p:grpSpPr>
          <a:xfrm>
            <a:off x="162932" y="1066799"/>
            <a:ext cx="8818136" cy="5486401"/>
            <a:chOff x="162932" y="1066799"/>
            <a:chExt cx="8818136" cy="5486401"/>
          </a:xfrm>
        </p:grpSpPr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D4A51C1-3DDF-3564-D616-172F3D898A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" b="45437"/>
            <a:stretch/>
          </p:blipFill>
          <p:spPr>
            <a:xfrm>
              <a:off x="162932" y="1066799"/>
              <a:ext cx="4549955" cy="5486401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D99295E-015D-6C9E-BFBD-9670AEFE6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5547" b="-118"/>
            <a:stretch/>
          </p:blipFill>
          <p:spPr>
            <a:xfrm>
              <a:off x="4431113" y="1066799"/>
              <a:ext cx="4549955" cy="5486400"/>
            </a:xfrm>
            <a:prstGeom prst="rect">
              <a:avLst/>
            </a:prstGeom>
            <a:ln w="57150">
              <a:solidFill>
                <a:schemeClr val="bg1"/>
              </a:solidFill>
            </a:ln>
          </p:spPr>
        </p:pic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23CA484B-AE70-CDB3-6EC4-62EB5C7C1842}"/>
              </a:ext>
            </a:extLst>
          </p:cNvPr>
          <p:cNvSpPr txBox="1">
            <a:spLocks/>
          </p:cNvSpPr>
          <p:nvPr/>
        </p:nvSpPr>
        <p:spPr>
          <a:xfrm>
            <a:off x="798728" y="190500"/>
            <a:ext cx="3278361" cy="7619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/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4078822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Best: O(n log n)</a:t>
            </a:r>
          </a:p>
          <a:p>
            <a:r>
              <a:rPr dirty="0"/>
              <a:t>Average: O(n log n)</a:t>
            </a:r>
          </a:p>
          <a:p>
            <a:r>
              <a:rPr dirty="0"/>
              <a:t>Worst: O(n²)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Space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• O(log n) due to recursion</a:t>
            </a:r>
          </a:p>
          <a:p>
            <a:pPr marL="0" indent="0">
              <a:buNone/>
            </a:pPr>
            <a:r>
              <a:t>• In‑place sorting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C2D4-32EF-E3E8-DC28-D2B5AD0A7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6556220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377</TotalTime>
  <Words>307</Words>
  <Application>Microsoft Office PowerPoint</Application>
  <PresentationFormat>On-screen Show (4:3)</PresentationFormat>
  <Paragraphs>107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Berlin</vt:lpstr>
      <vt:lpstr>Quick Sort</vt:lpstr>
      <vt:lpstr>What is Quick sort</vt:lpstr>
      <vt:lpstr>Why is Quick Sort Important?</vt:lpstr>
      <vt:lpstr>How Quick Sort Works</vt:lpstr>
      <vt:lpstr>Methodology </vt:lpstr>
      <vt:lpstr>PowerPoint Presentation</vt:lpstr>
      <vt:lpstr>PowerPoint Presentation</vt:lpstr>
      <vt:lpstr>PowerPoint Presentation</vt:lpstr>
      <vt:lpstr>Time Complexity</vt:lpstr>
      <vt:lpstr>Space Complexity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Xpert</dc:creator>
  <cp:keywords/>
  <dc:description>generated using python-pptx</dc:description>
  <cp:lastModifiedBy>Xpert</cp:lastModifiedBy>
  <cp:revision>22</cp:revision>
  <dcterms:created xsi:type="dcterms:W3CDTF">2013-01-27T09:14:16Z</dcterms:created>
  <dcterms:modified xsi:type="dcterms:W3CDTF">2025-12-02T09:37:17Z</dcterms:modified>
  <cp:category/>
</cp:coreProperties>
</file>