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5" r:id="rId4"/>
  </p:sldMasterIdLst>
  <p:sldIdLst>
    <p:sldId id="343" r:id="rId5"/>
    <p:sldId id="257" r:id="rId6"/>
    <p:sldId id="350" r:id="rId7"/>
    <p:sldId id="259" r:id="rId8"/>
    <p:sldId id="283" r:id="rId9"/>
    <p:sldId id="284" r:id="rId10"/>
    <p:sldId id="342" r:id="rId11"/>
    <p:sldId id="264" r:id="rId12"/>
    <p:sldId id="352" r:id="rId13"/>
    <p:sldId id="351" r:id="rId14"/>
    <p:sldId id="353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34" autoAdjust="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4217870" y="0"/>
            <a:ext cx="3599236" cy="68579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70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>
            <a:extLst>
              <a:ext uri="{FF2B5EF4-FFF2-40B4-BE49-F238E27FC236}">
                <a16:creationId xmlns:a16="http://schemas.microsoft.com/office/drawing/2014/main" id="{64248D99-2B30-464D-B9B7-4E5C3A1F3FB2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3FAFF55B-FDE6-394B-A39B-22627D8FB6E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9E345E4-E77C-484E-9FBB-E4EC71F08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22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83ACCAC0-2C8A-CE43-8C55-22BB53C73920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4076461-FF7A-8843-B7F9-D041F3FB2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39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29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754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4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>
                <a:solidFill>
                  <a:schemeClr val="tx1"/>
                </a:solidFill>
              </a:defRPr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942871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73589"/>
            <a:ext cx="5711810" cy="3941540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21039"/>
            <a:ext cx="4589130" cy="5603086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03250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8/3/2026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75" r:id="rId3"/>
    <p:sldLayoutId id="2147483684" r:id="rId4"/>
    <p:sldLayoutId id="2147483678" r:id="rId5"/>
    <p:sldLayoutId id="2147483688" r:id="rId6"/>
    <p:sldLayoutId id="2147483679" r:id="rId7"/>
    <p:sldLayoutId id="2147483692" r:id="rId8"/>
    <p:sldLayoutId id="2147483691" r:id="rId9"/>
    <p:sldLayoutId id="2147483690" r:id="rId10"/>
    <p:sldLayoutId id="2147483689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047" y="718456"/>
            <a:ext cx="10058400" cy="1227349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Welcome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455" y="1945805"/>
            <a:ext cx="100584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BSCS-3</a:t>
            </a:r>
          </a:p>
        </p:txBody>
      </p:sp>
    </p:spTree>
    <p:extLst>
      <p:ext uri="{BB962C8B-B14F-4D97-AF65-F5344CB8AC3E}">
        <p14:creationId xmlns:p14="http://schemas.microsoft.com/office/powerpoint/2010/main" val="18333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5BA9AC8-EA60-644D-9DDA-B76203EA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E7591AD-81F4-2E45-AE36-F4DA40C190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are Sorting Techniques</a:t>
            </a:r>
          </a:p>
          <a:p>
            <a:r>
              <a:rPr lang="en-US" dirty="0"/>
              <a:t>Importance</a:t>
            </a:r>
          </a:p>
          <a:p>
            <a:r>
              <a:rPr lang="en-US" dirty="0"/>
              <a:t>Working Process of Bubble, Selection and insertion Sort</a:t>
            </a:r>
          </a:p>
          <a:p>
            <a:r>
              <a:rPr lang="en-US" dirty="0"/>
              <a:t>Activity</a:t>
            </a:r>
          </a:p>
          <a:p>
            <a:r>
              <a:rPr lang="en-US" dirty="0"/>
              <a:t>Multidimensional Array</a:t>
            </a:r>
          </a:p>
          <a:p>
            <a:r>
              <a:rPr lang="en-US" dirty="0"/>
              <a:t>Sorting Program</a:t>
            </a:r>
          </a:p>
        </p:txBody>
      </p:sp>
    </p:spTree>
    <p:extLst>
      <p:ext uri="{BB962C8B-B14F-4D97-AF65-F5344CB8AC3E}">
        <p14:creationId xmlns:p14="http://schemas.microsoft.com/office/powerpoint/2010/main" val="227689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6"/>
            <a:ext cx="5387848" cy="632121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are sorting Algorithms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“Sorting algorithms are a set of instructions or techniques used to arrange data in a specific order, usually in ascending or descending order”</a:t>
            </a:r>
            <a:endParaRPr lang="en-US" spc="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97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3EFDC-D9E5-4185-9B8F-C3C93FF51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211159"/>
            <a:ext cx="4639736" cy="2910821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Simplifies Problem Solving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Sorted data helps solve problems faster, like finding duplicates.</a:t>
            </a:r>
          </a:p>
          <a:p>
            <a:pPr marL="201168" lvl="1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Saves Memory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Some sorting methods use less memory, which is helpful in limited storage environments.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62B56-74BF-47D4-B1CD-AF93A810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</p:spPr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8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1097281" y="2211159"/>
            <a:ext cx="478100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Data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Sorted data is easier to find and use, making searches faster.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Boosts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tasks work better with sorted data, like searching and merging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68205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CEAD8830-262F-F14F-8007-721D1F2C1E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240638"/>
              </p:ext>
            </p:extLst>
          </p:nvPr>
        </p:nvGraphicFramePr>
        <p:xfrm>
          <a:off x="1341438" y="1839977"/>
          <a:ext cx="9814242" cy="41726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271414">
                  <a:extLst>
                    <a:ext uri="{9D8B030D-6E8A-4147-A177-3AD203B41FA5}">
                      <a16:colId xmlns:a16="http://schemas.microsoft.com/office/drawing/2014/main" val="3628234326"/>
                    </a:ext>
                  </a:extLst>
                </a:gridCol>
                <a:gridCol w="3271414">
                  <a:extLst>
                    <a:ext uri="{9D8B030D-6E8A-4147-A177-3AD203B41FA5}">
                      <a16:colId xmlns:a16="http://schemas.microsoft.com/office/drawing/2014/main" val="1083199451"/>
                    </a:ext>
                  </a:extLst>
                </a:gridCol>
                <a:gridCol w="3271414">
                  <a:extLst>
                    <a:ext uri="{9D8B030D-6E8A-4147-A177-3AD203B41FA5}">
                      <a16:colId xmlns:a16="http://schemas.microsoft.com/office/drawing/2014/main" val="1334118722"/>
                    </a:ext>
                  </a:extLst>
                </a:gridCol>
              </a:tblGrid>
              <a:tr h="940771"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all" spc="150" dirty="0">
                          <a:solidFill>
                            <a:schemeClr val="lt1"/>
                          </a:solidFill>
                        </a:rPr>
                        <a:t>Bubble</a:t>
                      </a:r>
                      <a:r>
                        <a:rPr lang="en-US" sz="2400" b="1" cap="all" spc="150" baseline="0" dirty="0">
                          <a:solidFill>
                            <a:schemeClr val="lt1"/>
                          </a:solidFill>
                        </a:rPr>
                        <a:t> Sort</a:t>
                      </a:r>
                      <a:endParaRPr lang="en-US" sz="2400" b="0" cap="all" spc="150" dirty="0">
                        <a:solidFill>
                          <a:schemeClr val="lt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cap="all" spc="150" dirty="0">
                          <a:solidFill>
                            <a:schemeClr val="lt1"/>
                          </a:solidFill>
                        </a:rPr>
                        <a:t>Selection</a:t>
                      </a:r>
                      <a:r>
                        <a:rPr lang="en-US" sz="2400" b="1" cap="all" spc="150" baseline="0" dirty="0">
                          <a:solidFill>
                            <a:schemeClr val="lt1"/>
                          </a:solidFill>
                        </a:rPr>
                        <a:t> Sort</a:t>
                      </a:r>
                      <a:endParaRPr lang="en-US" sz="2400" b="1" cap="all" spc="150" dirty="0">
                        <a:solidFill>
                          <a:schemeClr val="lt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cap="all" spc="150" dirty="0">
                          <a:solidFill>
                            <a:schemeClr val="lt1"/>
                          </a:solidFill>
                        </a:rPr>
                        <a:t>Insertion</a:t>
                      </a:r>
                      <a:r>
                        <a:rPr lang="en-US" sz="2400" b="1" cap="all" spc="150" baseline="0" dirty="0">
                          <a:solidFill>
                            <a:schemeClr val="lt1"/>
                          </a:solidFill>
                        </a:rPr>
                        <a:t> sort</a:t>
                      </a:r>
                      <a:endParaRPr lang="en-US" sz="2400" b="0" cap="all" spc="150" dirty="0">
                        <a:solidFill>
                          <a:schemeClr val="lt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608299"/>
                  </a:ext>
                </a:extLst>
              </a:tr>
              <a:tr h="21472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Simple but inefficient for large data; repeatedly swaps adjacent elements if they are in the wrong order.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rgbClr val="F6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Divides the list into sorted and unsorted parts; repeatedly selects the smallest (or largest) element from the unsorted part and moves it to the sorted part.</a:t>
                      </a:r>
                    </a:p>
                  </a:txBody>
                  <a:tcPr marL="224212" marR="224212" marT="224212" marB="224212" anchor="ctr">
                    <a:solidFill>
                      <a:srgbClr val="F6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Builds the sorted list one element at a time by inserting each new element into its correct position among already sorted elements; efficient for small datasets</a:t>
                      </a:r>
                    </a:p>
                  </a:txBody>
                  <a:tcPr marL="224212" marR="224212" marT="224212" marB="224212" anchor="ctr">
                    <a:solidFill>
                      <a:srgbClr val="F6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518332"/>
                  </a:ext>
                </a:extLst>
              </a:tr>
              <a:tr h="8632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24212" marR="224212" marT="224212" marB="224212" anchor="ctr">
                    <a:solidFill>
                      <a:srgbClr val="ED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41155"/>
                  </a:ext>
                </a:extLst>
              </a:tr>
            </a:tbl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09E9EE2C-A105-614C-A133-EF7DF2AD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</p:spTree>
    <p:extLst>
      <p:ext uri="{BB962C8B-B14F-4D97-AF65-F5344CB8AC3E}">
        <p14:creationId xmlns:p14="http://schemas.microsoft.com/office/powerpoint/2010/main" val="70740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Bubble sort and selection sort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5" r="12506"/>
          <a:stretch/>
        </p:blipFill>
        <p:spPr bwMode="auto">
          <a:xfrm>
            <a:off x="3274402" y="1066159"/>
            <a:ext cx="6169152" cy="494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35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598" y="955063"/>
            <a:ext cx="5711810" cy="587584"/>
          </a:xfrm>
        </p:spPr>
        <p:txBody>
          <a:bodyPr/>
          <a:lstStyle/>
          <a:p>
            <a:r>
              <a:rPr lang="en-US" dirty="0"/>
              <a:t>Selection sort:</a:t>
            </a:r>
          </a:p>
        </p:txBody>
      </p:sp>
      <p:pic>
        <p:nvPicPr>
          <p:cNvPr id="2050" name="Picture 2" descr="../_images/selectionsortn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015" y="1542647"/>
            <a:ext cx="3678301" cy="454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20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0498-C6E0-4603-8DF5-64D8BE8F2FB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r>
              <a:rPr lang="en-US" dirty="0"/>
              <a:t>Insertion Sort</a:t>
            </a:r>
            <a:br>
              <a:rPr lang="en-US" dirty="0"/>
            </a:br>
            <a:endParaRPr lang="en-US" dirty="0"/>
          </a:p>
        </p:txBody>
      </p:sp>
      <p:pic>
        <p:nvPicPr>
          <p:cNvPr id="3076" name="Picture 4" descr="The Insertion S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695" y="1688019"/>
            <a:ext cx="6013577" cy="406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02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0498-C6E0-4603-8DF5-64D8BE8F2FB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r>
              <a:rPr lang="en-US" dirty="0"/>
              <a:t>Activity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06062" y="1938048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array[] = {1, 2, 3, 4, 5, 6, 7, 8, 9};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4301" y="2530307"/>
            <a:ext cx="360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array[] = {5, 3, 8, 3,  5, 6, 1};</a:t>
            </a:r>
          </a:p>
        </p:txBody>
      </p:sp>
    </p:spTree>
    <p:extLst>
      <p:ext uri="{BB962C8B-B14F-4D97-AF65-F5344CB8AC3E}">
        <p14:creationId xmlns:p14="http://schemas.microsoft.com/office/powerpoint/2010/main" val="3050671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6"/>
            <a:ext cx="5387848" cy="632121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Multidimensional Array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“A Multidimensional array </a:t>
            </a:r>
            <a:r>
              <a:rPr lang="en-US" dirty="0"/>
              <a:t>is essentially an array of arrays. It allows you to store data in a structured, table-like format with rows and columns. The most common type of multidimensional array is the </a:t>
            </a:r>
            <a:r>
              <a:rPr lang="en-US" b="1" dirty="0"/>
              <a:t>2D array</a:t>
            </a:r>
            <a:r>
              <a:rPr lang="en-US" dirty="0"/>
              <a:t> (two-dimensional)</a:t>
            </a:r>
            <a:r>
              <a:rPr lang="en-US" spc="200" dirty="0"/>
              <a:t>”</a:t>
            </a:r>
            <a:endParaRPr lang="en-US" spc="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60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598" y="955063"/>
            <a:ext cx="5711810" cy="587584"/>
          </a:xfrm>
        </p:spPr>
        <p:txBody>
          <a:bodyPr/>
          <a:lstStyle/>
          <a:p>
            <a:r>
              <a:rPr lang="en-US" dirty="0" err="1"/>
              <a:t>Syntax+code</a:t>
            </a:r>
            <a:r>
              <a:rPr lang="en-US" dirty="0"/>
              <a:t>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BB2AEAB-2466-FFDF-6579-2D39715C0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21937" y="1234738"/>
            <a:ext cx="8134634" cy="4904806"/>
          </a:xfrm>
        </p:spPr>
        <p:txBody>
          <a:bodyPr/>
          <a:lstStyle/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#include &lt;iostream&gt;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using namespace std;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int main()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{  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 err="1"/>
              <a:t>cout</a:t>
            </a:r>
            <a:r>
              <a:rPr lang="en-US" spc="200" dirty="0"/>
              <a:t> &lt;&lt; "Try programiz.pro";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Int array[4][4]={{1,2,5,7},{8,0,4,2},{6,9,10,6},{1,4,7,3}};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for(int </a:t>
            </a:r>
            <a:r>
              <a:rPr lang="en-US" spc="200" dirty="0" err="1"/>
              <a:t>i</a:t>
            </a:r>
            <a:r>
              <a:rPr lang="en-US" spc="200" dirty="0"/>
              <a:t>=0;i&lt;4;i++){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for(int j=0;j&lt;4;j++){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 err="1"/>
              <a:t>cout</a:t>
            </a:r>
            <a:r>
              <a:rPr lang="en-US" spc="200" dirty="0"/>
              <a:t> &lt;&lt; array[</a:t>
            </a:r>
            <a:r>
              <a:rPr lang="en-US" spc="200" dirty="0" err="1"/>
              <a:t>i</a:t>
            </a:r>
            <a:r>
              <a:rPr lang="en-US" spc="200" dirty="0"/>
              <a:t>][j]&lt;&lt;" ";    }    </a:t>
            </a:r>
            <a:r>
              <a:rPr lang="en-US" spc="200" dirty="0" err="1"/>
              <a:t>cout</a:t>
            </a:r>
            <a:r>
              <a:rPr lang="en-US" spc="200" dirty="0"/>
              <a:t>&lt;&lt;"\n";}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pc="200" dirty="0"/>
              <a:t> return 0;}</a:t>
            </a:r>
            <a:endParaRPr lang="en-US" spc="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1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3100-3076-4726-B6E8-AE7CD2CC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2052" name="Picture 4" descr="Free Thank You Slide | Slidebazaar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8" b="2312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2172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2_Win32_AS_v3" id="{A204E388-A84B-4CC6-98FC-54ED9900B3CD}" vid="{1AF041A9-EA2C-4539-9272-70AF2168FE9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0A43D08-F4F9-4D95-9CB2-7DE374416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29FA76-0C86-4BF1-99F1-A3115FBFFA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FAF7B5-E40C-46BE-9C83-DA251FCAE61E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16c05727-aa75-4e4a-9b5f-8a80a1165891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389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Gothic</vt:lpstr>
      <vt:lpstr>RetrospectVTI</vt:lpstr>
      <vt:lpstr>Welcome</vt:lpstr>
      <vt:lpstr>OUTLINE</vt:lpstr>
      <vt:lpstr>What are sorting Algorithms</vt:lpstr>
      <vt:lpstr>Importance</vt:lpstr>
      <vt:lpstr>techniques</vt:lpstr>
      <vt:lpstr>Bubble Sort: </vt:lpstr>
      <vt:lpstr>Selection sort:</vt:lpstr>
      <vt:lpstr>Insertion Sort </vt:lpstr>
      <vt:lpstr>Activity </vt:lpstr>
      <vt:lpstr>Multidimensional Array</vt:lpstr>
      <vt:lpstr>Syntax+code: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2024-11-12T16:13:44Z</dcterms:created>
  <dcterms:modified xsi:type="dcterms:W3CDTF">2026-08-03T08:00:44Z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