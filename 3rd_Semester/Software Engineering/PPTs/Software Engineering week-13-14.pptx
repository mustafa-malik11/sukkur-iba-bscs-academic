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B3153-0274-4D7F-9B29-408F338C0180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51042-4AB4-4925-874E-88CDA07FF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2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651042-4AB4-4925-874E-88CDA07FF0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6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A490-885A-4974-B68C-21324789D940}" type="datetime1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CF5AF-4CF2-4AD4-BFBF-25BA14B35528}" type="datetime1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7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27E9-F727-4A15-9A74-C24FED25A10F}" type="datetime1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957D2-3BF7-4B6C-9280-C30DE8003AB1}" type="datetime1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9366-D597-4B2D-981C-2E7057721581}" type="datetime1">
              <a:rPr lang="en-US" smtClean="0"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4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B626-69E8-4F39-BD7E-9DCB51503DD3}" type="datetime1">
              <a:rPr lang="en-US" smtClean="0"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2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51ED7-05D2-4801-A19F-F49A287D6CC1}" type="datetime1">
              <a:rPr lang="en-US" smtClean="0"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6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A30E1-7539-4D4A-BA0E-5AC92D2A1B75}" type="datetime1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3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DF3D-D266-40E5-989F-986FDD5E6FCB}" type="datetime1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9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792-593C-4FEE-9051-172611B6D153}" type="datetime1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6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572A-0199-4CBE-BB5C-F57229E6F900}" type="datetime1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0" y="263525"/>
            <a:ext cx="10515600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1E185-DDE2-487D-8DA4-A3C95F0281CE}" type="datetime1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Chapter 6 Architectural design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801FB-9CF5-4898-86FE-D956CE9C8A1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0800" y="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8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5" dirty="0">
                <a:latin typeface="Carlito"/>
                <a:cs typeface="Carlito"/>
              </a:rPr>
              <a:t>Architectural</a:t>
            </a:r>
            <a:r>
              <a:rPr lang="en-US" spc="-45" dirty="0">
                <a:latin typeface="Carlito"/>
                <a:cs typeface="Carlito"/>
              </a:rPr>
              <a:t> </a:t>
            </a:r>
            <a:r>
              <a:rPr lang="en-US" spc="-5" dirty="0">
                <a:latin typeface="Carlito"/>
                <a:cs typeface="Carlito"/>
              </a:rPr>
              <a:t>Design</a:t>
            </a:r>
            <a:endParaRPr lang="en-US" dirty="0">
              <a:latin typeface="Carlito"/>
              <a:cs typeface="Carlit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04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1405" y="461594"/>
            <a:ext cx="495363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Software architecture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66800" y="1607643"/>
            <a:ext cx="9994900" cy="2714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up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sub-system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</a:t>
            </a:r>
            <a:r>
              <a:rPr sz="2800" spc="4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800" i="1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i="1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23850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this design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800" spc="50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6477" y="461594"/>
            <a:ext cx="455739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Architectural</a:t>
            </a:r>
            <a:r>
              <a:rPr sz="4400" spc="-60" dirty="0"/>
              <a:t> </a:t>
            </a:r>
            <a:r>
              <a:rPr sz="4400" spc="-5" dirty="0"/>
              <a:t>design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73100" y="1508926"/>
            <a:ext cx="11074400" cy="25737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early stage of the system design process.</a:t>
            </a:r>
          </a:p>
          <a:p>
            <a:pPr marL="355600" marR="5080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link between specification and  design processes.</a:t>
            </a:r>
          </a:p>
          <a:p>
            <a:pPr marL="355600" marR="1209040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carried out in parallel with some  specification activities.</a:t>
            </a:r>
          </a:p>
          <a:p>
            <a:pPr marL="355600" marR="1011555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identifying major system  components and their communications.</a:t>
            </a:r>
          </a:p>
        </p:txBody>
      </p:sp>
    </p:spTree>
    <p:extLst>
      <p:ext uri="{BB962C8B-B14F-4D97-AF65-F5344CB8AC3E}">
        <p14:creationId xmlns:p14="http://schemas.microsoft.com/office/powerpoint/2010/main" val="90815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338595"/>
            <a:ext cx="10845800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529205" marR="5080" indent="-21082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spc="-15" dirty="0"/>
              <a:t>architecture </a:t>
            </a:r>
            <a:r>
              <a:rPr spc="-5" dirty="0"/>
              <a:t>of a </a:t>
            </a:r>
            <a:r>
              <a:rPr spc="-10" dirty="0"/>
              <a:t>packing </a:t>
            </a:r>
            <a:r>
              <a:rPr spc="-20" dirty="0"/>
              <a:t>robot  </a:t>
            </a:r>
            <a:r>
              <a:rPr spc="-25" dirty="0"/>
              <a:t>control</a:t>
            </a:r>
            <a:r>
              <a:rPr spc="-10" dirty="0"/>
              <a:t> </a:t>
            </a:r>
            <a:r>
              <a:rPr spc="-4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1752600" y="1971039"/>
            <a:ext cx="8356600" cy="389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833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8505" y="461594"/>
            <a:ext cx="564070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Architectural</a:t>
            </a:r>
            <a:r>
              <a:rPr sz="4400" spc="-50" dirty="0"/>
              <a:t> </a:t>
            </a:r>
            <a:r>
              <a:rPr sz="4400" spc="-10" dirty="0"/>
              <a:t>abstraction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98500" y="1563446"/>
            <a:ext cx="10769599" cy="379488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individual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programs.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level,  we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51765" indent="-342900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enterprise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other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components.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over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owned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</a:t>
            </a:r>
            <a:r>
              <a:rPr sz="3000" spc="-10" dirty="0">
                <a:latin typeface="Carlito"/>
                <a:cs typeface="Carlito"/>
              </a:rPr>
              <a:t>.</a:t>
            </a:r>
            <a:endParaRPr sz="3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39599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2658" y="461594"/>
            <a:ext cx="7877809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Advantages </a:t>
            </a:r>
            <a:r>
              <a:rPr sz="4400" dirty="0"/>
              <a:t>of </a:t>
            </a:r>
            <a:r>
              <a:rPr sz="4400" spc="-15" dirty="0"/>
              <a:t>explicit</a:t>
            </a:r>
            <a:r>
              <a:rPr sz="4400" spc="-40" dirty="0"/>
              <a:t> </a:t>
            </a:r>
            <a:r>
              <a:rPr sz="4400" spc="-10" dirty="0"/>
              <a:t>architecture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71500" y="1519251"/>
            <a:ext cx="10947400" cy="37375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5080" lvl="1" indent="-287020">
              <a:lnSpc>
                <a:spcPts val="2690"/>
              </a:lnSpc>
              <a:spcBef>
                <a:spcPts val="66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discussion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51435" lvl="1" indent="-287020">
              <a:lnSpc>
                <a:spcPts val="2690"/>
              </a:lnSpc>
              <a:spcBef>
                <a:spcPts val="66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analysis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whether the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 meet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non-functional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</a:t>
            </a:r>
            <a:r>
              <a:rPr sz="2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64465" lvl="1" indent="-287020">
              <a:lnSpc>
                <a:spcPts val="2690"/>
              </a:lnSpc>
              <a:spcBef>
                <a:spcPts val="66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2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Product-line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27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4943" y="461594"/>
            <a:ext cx="667067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Architectural</a:t>
            </a:r>
            <a:r>
              <a:rPr sz="4400" spc="-10" dirty="0"/>
              <a:t> </a:t>
            </a:r>
            <a:r>
              <a:rPr sz="4400" spc="-15" dirty="0"/>
              <a:t>representations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24980" y="1563446"/>
            <a:ext cx="11150600" cy="3956723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10922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 method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922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criticised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semantics, do not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 between entities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8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9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74955" indent="-342900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models.The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semantics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88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464922"/>
            <a:ext cx="7376415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Box </a:t>
            </a:r>
            <a:r>
              <a:rPr sz="4400" dirty="0"/>
              <a:t>and line</a:t>
            </a:r>
            <a:r>
              <a:rPr sz="4400" spc="-25" dirty="0"/>
              <a:t> </a:t>
            </a:r>
            <a:r>
              <a:rPr sz="4400" spc="-15" dirty="0"/>
              <a:t>diagrams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635000" y="1607643"/>
            <a:ext cx="10490200" cy="22833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abstract - they do not show the nature of  component relationships nor the externally  visible properties of the sub-systems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927735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useful for communication with  stakeholders and for project planning.</a:t>
            </a:r>
          </a:p>
        </p:txBody>
      </p:sp>
    </p:spTree>
    <p:extLst>
      <p:ext uri="{BB962C8B-B14F-4D97-AF65-F5344CB8AC3E}">
        <p14:creationId xmlns:p14="http://schemas.microsoft.com/office/powerpoint/2010/main" val="303820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562" y="461594"/>
            <a:ext cx="627062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Use </a:t>
            </a:r>
            <a:r>
              <a:rPr sz="4400" spc="5" dirty="0"/>
              <a:t>of </a:t>
            </a:r>
            <a:r>
              <a:rPr sz="4400" spc="-15" dirty="0"/>
              <a:t>architectural</a:t>
            </a:r>
            <a:r>
              <a:rPr sz="4400" spc="-30" dirty="0"/>
              <a:t> </a:t>
            </a:r>
            <a:r>
              <a:rPr sz="4400" dirty="0"/>
              <a:t>models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71500" y="1537539"/>
            <a:ext cx="11290300" cy="415934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578485" indent="-342900">
              <a:lnSpc>
                <a:spcPts val="259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56845" lvl="1" indent="-287020">
              <a:lnSpc>
                <a:spcPct val="800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architectural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because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cluttered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detail.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 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 whole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being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confused by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56845" lvl="1" indent="-287020">
              <a:lnSpc>
                <a:spcPct val="800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56845" lvl="1" indent="-287020">
              <a:lnSpc>
                <a:spcPct val="800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8000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documenting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 designed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52400" lvl="1" indent="-287020">
              <a:lnSpc>
                <a:spcPts val="2310"/>
              </a:lnSpc>
              <a:spcBef>
                <a:spcPts val="56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their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79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030" y="461594"/>
            <a:ext cx="677672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Architectural </a:t>
            </a:r>
            <a:r>
              <a:rPr sz="4400" spc="-5" dirty="0"/>
              <a:t>design decisions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3400" y="1607643"/>
            <a:ext cx="10845800" cy="30835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479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differs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</a:t>
            </a:r>
            <a:r>
              <a:rPr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r>
              <a:rPr sz="3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479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common decisions  span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decisions 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283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030" y="461594"/>
            <a:ext cx="677672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Architectural </a:t>
            </a:r>
            <a:r>
              <a:rPr sz="4400" spc="-5" dirty="0"/>
              <a:t>design decisions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73100" y="1540574"/>
            <a:ext cx="10845800" cy="40722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application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that can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architectural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approach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used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be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documented?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745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4118" y="461594"/>
            <a:ext cx="423100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Architecture</a:t>
            </a:r>
            <a:r>
              <a:rPr sz="4400" spc="-20" dirty="0"/>
              <a:t> </a:t>
            </a:r>
            <a:r>
              <a:rPr sz="4400" spc="-10" dirty="0"/>
              <a:t>reuse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93700" y="1526871"/>
            <a:ext cx="11277600" cy="36174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286385" indent="-342900">
              <a:lnSpc>
                <a:spcPct val="8000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in the same domain often have similar  architectures that reflect domain concepts.</a:t>
            </a:r>
          </a:p>
          <a:p>
            <a:pPr marL="355600" marR="88265" indent="-342900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product lines are built around a core  architecture with variants that satisfy particular  customer requirements.</a:t>
            </a:r>
          </a:p>
          <a:p>
            <a:pPr marL="355600" marR="479425" indent="-342900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of a system may be designed  around one of more architectural patterns or  ‘styles’.</a:t>
            </a:r>
          </a:p>
          <a:p>
            <a:pPr marL="355600" marR="5080" lvl="1" indent="-342900">
              <a:lnSpc>
                <a:spcPct val="8000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capture the essence of an architecture and can  be instantiated in different ways.</a:t>
            </a:r>
          </a:p>
          <a:p>
            <a:pPr marL="355600" lvl="1" indent="-342900"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Discussed later in this lecture.</a:t>
            </a:r>
          </a:p>
        </p:txBody>
      </p:sp>
    </p:spTree>
    <p:extLst>
      <p:ext uri="{BB962C8B-B14F-4D97-AF65-F5344CB8AC3E}">
        <p14:creationId xmlns:p14="http://schemas.microsoft.com/office/powerpoint/2010/main" val="254048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7877" y="415798"/>
            <a:ext cx="808863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Architecture </a:t>
            </a:r>
            <a:r>
              <a:rPr spc="-5" dirty="0"/>
              <a:t>and </a:t>
            </a:r>
            <a:r>
              <a:rPr spc="-40" dirty="0"/>
              <a:t>system</a:t>
            </a:r>
            <a:r>
              <a:rPr spc="5" dirty="0"/>
              <a:t> </a:t>
            </a:r>
            <a:r>
              <a:rPr spc="-1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0992" y="1498942"/>
            <a:ext cx="9042400" cy="40543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indent="-342900">
              <a:spcBef>
                <a:spcPts val="4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15" dirty="0">
                <a:latin typeface="Carlito"/>
                <a:cs typeface="Carlito"/>
              </a:rPr>
              <a:t>Performance</a:t>
            </a:r>
            <a:endParaRPr sz="2400" b="1" dirty="0">
              <a:latin typeface="Carlito"/>
              <a:cs typeface="Carlito"/>
            </a:endParaRPr>
          </a:p>
          <a:p>
            <a:pPr marL="756285" marR="5080" lvl="1" indent="-287020">
              <a:lnSpc>
                <a:spcPts val="2160"/>
              </a:lnSpc>
              <a:spcBef>
                <a:spcPts val="54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rlito"/>
                <a:cs typeface="Carlito"/>
              </a:rPr>
              <a:t>Localise critical </a:t>
            </a:r>
            <a:r>
              <a:rPr sz="2000" spc="-10" dirty="0">
                <a:latin typeface="Carlito"/>
                <a:cs typeface="Carlito"/>
              </a:rPr>
              <a:t>operations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5" dirty="0">
                <a:latin typeface="Carlito"/>
                <a:cs typeface="Carlito"/>
              </a:rPr>
              <a:t>minimise communications. </a:t>
            </a:r>
            <a:r>
              <a:rPr sz="2000" spc="-5" dirty="0">
                <a:latin typeface="Carlito"/>
                <a:cs typeface="Carlito"/>
              </a:rPr>
              <a:t>Use </a:t>
            </a:r>
            <a:r>
              <a:rPr sz="2000" spc="-10" dirty="0">
                <a:latin typeface="Carlito"/>
                <a:cs typeface="Carlito"/>
              </a:rPr>
              <a:t>large  rather </a:t>
            </a:r>
            <a:r>
              <a:rPr sz="2000" dirty="0">
                <a:latin typeface="Carlito"/>
                <a:cs typeface="Carlito"/>
              </a:rPr>
              <a:t>than </a:t>
            </a:r>
            <a:r>
              <a:rPr sz="2000" spc="-5" dirty="0">
                <a:latin typeface="Carlito"/>
                <a:cs typeface="Carlito"/>
              </a:rPr>
              <a:t>fine-grain</a:t>
            </a:r>
            <a:r>
              <a:rPr sz="2000" spc="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components.</a:t>
            </a:r>
            <a:endParaRPr sz="2000" dirty="0">
              <a:latin typeface="Carlito"/>
              <a:cs typeface="Carlito"/>
            </a:endParaRPr>
          </a:p>
          <a:p>
            <a:pPr marL="355600" indent="-342900">
              <a:spcBef>
                <a:spcPts val="22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Carlito"/>
                <a:cs typeface="Carlito"/>
              </a:rPr>
              <a:t>Security</a:t>
            </a:r>
          </a:p>
          <a:p>
            <a:pPr marL="756285" lvl="1" indent="-287020">
              <a:spcBef>
                <a:spcPts val="27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rlito"/>
                <a:cs typeface="Carlito"/>
              </a:rPr>
              <a:t>Use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5" dirty="0">
                <a:latin typeface="Carlito"/>
                <a:cs typeface="Carlito"/>
              </a:rPr>
              <a:t>layered </a:t>
            </a:r>
            <a:r>
              <a:rPr sz="2000" spc="-5" dirty="0">
                <a:latin typeface="Carlito"/>
                <a:cs typeface="Carlito"/>
              </a:rPr>
              <a:t>architecture </a:t>
            </a:r>
            <a:r>
              <a:rPr sz="2000" dirty="0">
                <a:latin typeface="Carlito"/>
                <a:cs typeface="Carlito"/>
              </a:rPr>
              <a:t>with </a:t>
            </a:r>
            <a:r>
              <a:rPr sz="2000" spc="-5" dirty="0">
                <a:latin typeface="Carlito"/>
                <a:cs typeface="Carlito"/>
              </a:rPr>
              <a:t>critical assets </a:t>
            </a:r>
            <a:r>
              <a:rPr sz="2000" dirty="0">
                <a:latin typeface="Carlito"/>
                <a:cs typeface="Carlito"/>
              </a:rPr>
              <a:t>in the inner</a:t>
            </a:r>
            <a:r>
              <a:rPr sz="2000" spc="5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layers.</a:t>
            </a:r>
            <a:endParaRPr sz="2000" dirty="0">
              <a:latin typeface="Carlito"/>
              <a:cs typeface="Carlito"/>
            </a:endParaRPr>
          </a:p>
          <a:p>
            <a:pPr marL="355600" indent="-342900"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15" dirty="0">
                <a:latin typeface="Carlito"/>
                <a:cs typeface="Carlito"/>
              </a:rPr>
              <a:t>Safety</a:t>
            </a:r>
            <a:endParaRPr sz="2400" b="1" dirty="0">
              <a:latin typeface="Carlito"/>
              <a:cs typeface="Carlito"/>
            </a:endParaRPr>
          </a:p>
          <a:p>
            <a:pPr marL="756285" lvl="1" indent="-287020">
              <a:spcBef>
                <a:spcPts val="27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rlito"/>
                <a:cs typeface="Carlito"/>
              </a:rPr>
              <a:t>Localise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safety-critical </a:t>
            </a:r>
            <a:r>
              <a:rPr sz="2000" spc="-15" dirty="0">
                <a:latin typeface="Carlito"/>
                <a:cs typeface="Carlito"/>
              </a:rPr>
              <a:t>features </a:t>
            </a:r>
            <a:r>
              <a:rPr sz="2000" dirty="0">
                <a:latin typeface="Carlito"/>
                <a:cs typeface="Carlito"/>
              </a:rPr>
              <a:t>in a </a:t>
            </a:r>
            <a:r>
              <a:rPr sz="2000" spc="-5" dirty="0">
                <a:latin typeface="Carlito"/>
                <a:cs typeface="Carlito"/>
              </a:rPr>
              <a:t>small </a:t>
            </a:r>
            <a:r>
              <a:rPr sz="2000" dirty="0">
                <a:latin typeface="Carlito"/>
                <a:cs typeface="Carlito"/>
              </a:rPr>
              <a:t>number </a:t>
            </a:r>
            <a:r>
              <a:rPr sz="2000" spc="-5" dirty="0">
                <a:latin typeface="Carlito"/>
                <a:cs typeface="Carlito"/>
              </a:rPr>
              <a:t>of</a:t>
            </a:r>
            <a:r>
              <a:rPr sz="2000" spc="140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sub-systems.</a:t>
            </a:r>
            <a:endParaRPr sz="2000" dirty="0">
              <a:latin typeface="Carlito"/>
              <a:cs typeface="Carlito"/>
            </a:endParaRPr>
          </a:p>
          <a:p>
            <a:pPr marL="355600" indent="-342900"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10" dirty="0">
                <a:latin typeface="Carlito"/>
                <a:cs typeface="Carlito"/>
              </a:rPr>
              <a:t>Availability</a:t>
            </a:r>
            <a:endParaRPr sz="2400" b="1" dirty="0">
              <a:latin typeface="Carlito"/>
              <a:cs typeface="Carlito"/>
            </a:endParaRPr>
          </a:p>
          <a:p>
            <a:pPr marL="756285" lvl="1" indent="-287020">
              <a:spcBef>
                <a:spcPts val="27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rlito"/>
                <a:cs typeface="Carlito"/>
              </a:rPr>
              <a:t>Include </a:t>
            </a:r>
            <a:r>
              <a:rPr sz="2000" spc="-5" dirty="0">
                <a:latin typeface="Carlito"/>
                <a:cs typeface="Carlito"/>
              </a:rPr>
              <a:t>redundant components </a:t>
            </a:r>
            <a:r>
              <a:rPr sz="2000" dirty="0">
                <a:latin typeface="Carlito"/>
                <a:cs typeface="Carlito"/>
              </a:rPr>
              <a:t>and mechanisms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spc="-10" dirty="0">
                <a:latin typeface="Carlito"/>
                <a:cs typeface="Carlito"/>
              </a:rPr>
              <a:t>fault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tolerance.</a:t>
            </a:r>
            <a:endParaRPr sz="2000" dirty="0">
              <a:latin typeface="Carlito"/>
              <a:cs typeface="Carlito"/>
            </a:endParaRPr>
          </a:p>
          <a:p>
            <a:pPr marL="355600" indent="-342900"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Carlito"/>
                <a:cs typeface="Carlito"/>
              </a:rPr>
              <a:t>Maintainability</a:t>
            </a:r>
            <a:endParaRPr sz="2400" b="1" dirty="0">
              <a:latin typeface="Carlito"/>
              <a:cs typeface="Carlito"/>
            </a:endParaRPr>
          </a:p>
          <a:p>
            <a:pPr marL="756285" lvl="1" indent="-287020"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rlito"/>
                <a:cs typeface="Carlito"/>
              </a:rPr>
              <a:t>Use fine-grain, replaceable</a:t>
            </a:r>
            <a:r>
              <a:rPr sz="2000" spc="1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components.</a:t>
            </a:r>
            <a:endParaRPr sz="2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031688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0800" y="464922"/>
            <a:ext cx="6955408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Architectural</a:t>
            </a:r>
            <a:r>
              <a:rPr sz="4400" spc="-50" dirty="0"/>
              <a:t> </a:t>
            </a:r>
            <a:r>
              <a:rPr sz="4400" spc="-10" dirty="0"/>
              <a:t>views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95300" y="1537539"/>
            <a:ext cx="11125200" cy="3950569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27305" indent="-342900">
              <a:lnSpc>
                <a:spcPts val="259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rlito"/>
                <a:cs typeface="Carlito"/>
              </a:rPr>
              <a:t>What views </a:t>
            </a:r>
            <a:r>
              <a:rPr sz="2700" spc="-5" dirty="0">
                <a:latin typeface="Carlito"/>
                <a:cs typeface="Carlito"/>
              </a:rPr>
              <a:t>or </a:t>
            </a:r>
            <a:r>
              <a:rPr sz="2700" spc="-10" dirty="0">
                <a:latin typeface="Carlito"/>
                <a:cs typeface="Carlito"/>
              </a:rPr>
              <a:t>perspectives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useful </a:t>
            </a:r>
            <a:r>
              <a:rPr sz="2700" spc="-5" dirty="0">
                <a:latin typeface="Carlito"/>
                <a:cs typeface="Carlito"/>
              </a:rPr>
              <a:t>when designing 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documenting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40" dirty="0">
                <a:latin typeface="Carlito"/>
                <a:cs typeface="Carlito"/>
              </a:rPr>
              <a:t>system’s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architecture?</a:t>
            </a:r>
            <a:endParaRPr sz="2700" dirty="0">
              <a:latin typeface="Carlito"/>
              <a:cs typeface="Carlito"/>
            </a:endParaRPr>
          </a:p>
          <a:p>
            <a:pPr marL="355600" marR="1224915" indent="-342900">
              <a:lnSpc>
                <a:spcPct val="8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rlito"/>
                <a:cs typeface="Carlito"/>
              </a:rPr>
              <a:t>What notations </a:t>
            </a:r>
            <a:r>
              <a:rPr sz="2700" spc="-5" dirty="0">
                <a:latin typeface="Carlito"/>
                <a:cs typeface="Carlito"/>
              </a:rPr>
              <a:t>should be used </a:t>
            </a:r>
            <a:r>
              <a:rPr sz="2700" spc="-25" dirty="0">
                <a:latin typeface="Carlito"/>
                <a:cs typeface="Carlito"/>
              </a:rPr>
              <a:t>for </a:t>
            </a:r>
            <a:r>
              <a:rPr sz="2700" spc="-5" dirty="0">
                <a:latin typeface="Carlito"/>
                <a:cs typeface="Carlito"/>
              </a:rPr>
              <a:t>describing  </a:t>
            </a:r>
            <a:r>
              <a:rPr sz="2700" spc="-15" dirty="0">
                <a:latin typeface="Carlito"/>
                <a:cs typeface="Carlito"/>
              </a:rPr>
              <a:t>architectural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models?</a:t>
            </a:r>
            <a:endParaRPr sz="2700" dirty="0">
              <a:latin typeface="Carlito"/>
              <a:cs typeface="Carlito"/>
            </a:endParaRPr>
          </a:p>
          <a:p>
            <a:pPr marL="355600" marR="763905" indent="-342900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rlito"/>
                <a:cs typeface="Carlito"/>
              </a:rPr>
              <a:t>Each architectural </a:t>
            </a:r>
            <a:r>
              <a:rPr sz="2700" dirty="0">
                <a:latin typeface="Carlito"/>
                <a:cs typeface="Carlito"/>
              </a:rPr>
              <a:t>model </a:t>
            </a:r>
            <a:r>
              <a:rPr sz="2700" spc="-5" dirty="0">
                <a:latin typeface="Carlito"/>
                <a:cs typeface="Carlito"/>
              </a:rPr>
              <a:t>only </a:t>
            </a:r>
            <a:r>
              <a:rPr sz="2700" spc="-10" dirty="0">
                <a:latin typeface="Carlito"/>
                <a:cs typeface="Carlito"/>
              </a:rPr>
              <a:t>shows </a:t>
            </a:r>
            <a:r>
              <a:rPr sz="2700" spc="-5" dirty="0">
                <a:latin typeface="Carlito"/>
                <a:cs typeface="Carlito"/>
              </a:rPr>
              <a:t>one view or  </a:t>
            </a:r>
            <a:r>
              <a:rPr sz="2700" spc="-15" dirty="0">
                <a:latin typeface="Carlito"/>
                <a:cs typeface="Carlito"/>
              </a:rPr>
              <a:t>perspective </a:t>
            </a:r>
            <a:r>
              <a:rPr sz="2700" spc="-5" dirty="0">
                <a:latin typeface="Carlito"/>
                <a:cs typeface="Carlito"/>
              </a:rPr>
              <a:t>of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spc="-25" dirty="0">
                <a:latin typeface="Carlito"/>
                <a:cs typeface="Carlito"/>
              </a:rPr>
              <a:t>system</a:t>
            </a:r>
            <a:r>
              <a:rPr sz="2700" spc="-25" dirty="0" smtClean="0">
                <a:latin typeface="Carlito"/>
                <a:cs typeface="Carlito"/>
              </a:rPr>
              <a:t>.</a:t>
            </a:r>
            <a:endParaRPr lang="en-US" sz="2700" spc="-25" dirty="0" smtClean="0">
              <a:latin typeface="Carlito"/>
              <a:cs typeface="Carlito"/>
            </a:endParaRPr>
          </a:p>
          <a:p>
            <a:pPr marL="355600" marR="763905" indent="-342900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700" dirty="0">
              <a:latin typeface="Carlito"/>
              <a:cs typeface="Carlito"/>
            </a:endParaRPr>
          </a:p>
          <a:p>
            <a:pPr marL="756285" marR="5080" indent="-287020">
              <a:lnSpc>
                <a:spcPct val="800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5" dirty="0">
                <a:latin typeface="Carlito"/>
                <a:cs typeface="Carlito"/>
              </a:rPr>
              <a:t>might </a:t>
            </a:r>
            <a:r>
              <a:rPr sz="2400" spc="-10" dirty="0">
                <a:latin typeface="Carlito"/>
                <a:cs typeface="Carlito"/>
              </a:rPr>
              <a:t>show how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decomposed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modules,  </a:t>
            </a: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run-time </a:t>
            </a:r>
            <a:r>
              <a:rPr sz="2400" spc="-10" dirty="0">
                <a:latin typeface="Carlito"/>
                <a:cs typeface="Carlito"/>
              </a:rPr>
              <a:t>processes </a:t>
            </a:r>
            <a:r>
              <a:rPr sz="2400" spc="-15" dirty="0">
                <a:latin typeface="Carlito"/>
                <a:cs typeface="Carlito"/>
              </a:rPr>
              <a:t>interact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25" dirty="0">
                <a:latin typeface="Carlito"/>
                <a:cs typeface="Carlito"/>
              </a:rPr>
              <a:t>ways  </a:t>
            </a:r>
            <a:r>
              <a:rPr sz="2400" dirty="0">
                <a:latin typeface="Carlito"/>
                <a:cs typeface="Carlito"/>
              </a:rPr>
              <a:t>in which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0" dirty="0">
                <a:latin typeface="Carlito"/>
                <a:cs typeface="Carlito"/>
              </a:rPr>
              <a:t>components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distributed across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network. </a:t>
            </a:r>
            <a:r>
              <a:rPr sz="2400" spc="-15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both design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documentation, you usually  </a:t>
            </a:r>
            <a:r>
              <a:rPr sz="2400" spc="-5" dirty="0">
                <a:latin typeface="Carlito"/>
                <a:cs typeface="Carlito"/>
              </a:rPr>
              <a:t>need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present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0" dirty="0">
                <a:latin typeface="Carlito"/>
                <a:cs typeface="Carlito"/>
              </a:rPr>
              <a:t>views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software  architecture.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1228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99" y="530478"/>
            <a:ext cx="7757159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4 + 1 </a:t>
            </a:r>
            <a:r>
              <a:rPr sz="3600" spc="-5" dirty="0"/>
              <a:t>view </a:t>
            </a:r>
            <a:r>
              <a:rPr sz="3600" dirty="0"/>
              <a:t>model </a:t>
            </a:r>
            <a:r>
              <a:rPr sz="3600" spc="-5" dirty="0"/>
              <a:t>of </a:t>
            </a:r>
            <a:r>
              <a:rPr sz="3600" spc="-15" dirty="0"/>
              <a:t>software</a:t>
            </a:r>
            <a:r>
              <a:rPr sz="3600" spc="-30" dirty="0"/>
              <a:t> </a:t>
            </a:r>
            <a:r>
              <a:rPr sz="3600" spc="-15" dirty="0"/>
              <a:t>architecture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20700" y="1613739"/>
            <a:ext cx="11315700" cy="419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or object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3622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how,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run-time, 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interacting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897255" indent="-342900"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6034" indent="-342900"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 software components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across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the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use cases or scenarios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(+1)</a:t>
            </a:r>
          </a:p>
        </p:txBody>
      </p:sp>
    </p:spTree>
    <p:extLst>
      <p:ext uri="{BB962C8B-B14F-4D97-AF65-F5344CB8AC3E}">
        <p14:creationId xmlns:p14="http://schemas.microsoft.com/office/powerpoint/2010/main" val="2710174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3117" y="461594"/>
            <a:ext cx="499237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Architectural</a:t>
            </a:r>
            <a:r>
              <a:rPr sz="4400" spc="-45" dirty="0"/>
              <a:t> </a:t>
            </a:r>
            <a:r>
              <a:rPr sz="4400" spc="-15" dirty="0"/>
              <a:t>patterns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49300" y="1610691"/>
            <a:ext cx="10604500" cy="32976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9690" indent="-342900"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means 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representing, sharing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reusing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stylized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 good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has been tried and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53365" indent="-342900"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when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when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86409" indent="-342900"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tabular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66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200" y="534087"/>
            <a:ext cx="9425279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The </a:t>
            </a:r>
            <a:r>
              <a:rPr sz="3600" spc="-10" dirty="0"/>
              <a:t>Model-View-Controller (MVC)</a:t>
            </a:r>
            <a:r>
              <a:rPr sz="3600" spc="-95" dirty="0"/>
              <a:t> </a:t>
            </a:r>
            <a:r>
              <a:rPr sz="3600" spc="-20" dirty="0"/>
              <a:t>pattern</a:t>
            </a:r>
            <a:endParaRPr sz="36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74850" y="1687068"/>
          <a:ext cx="8230235" cy="4210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2155"/>
                <a:gridCol w="6228080"/>
              </a:tblGrid>
              <a:tr h="429133">
                <a:tc>
                  <a:txBody>
                    <a:bodyPr/>
                    <a:lstStyle/>
                    <a:p>
                      <a:pPr marL="67945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Name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5" dirty="0">
                          <a:latin typeface="Arial"/>
                          <a:cs typeface="Arial"/>
                        </a:rPr>
                        <a:t>MVC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(Model-View-Controller)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1551940">
                <a:tc>
                  <a:txBody>
                    <a:bodyPr/>
                    <a:lstStyle/>
                    <a:p>
                      <a:pPr marL="67945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8419" algn="just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Separates presentation and interaction from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data.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system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is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structured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three logical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interact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with each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other.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Model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 manages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system data 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associated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operations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on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data. The View component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defines 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manages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how the data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is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presented to the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user.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 Controller component manages user interaction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(e.g.,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key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presses, mouse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clicks,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etc.)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passes these interactions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 algn="just">
                        <a:lnSpc>
                          <a:spcPts val="1625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View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 the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Model.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Figure</a:t>
                      </a:r>
                      <a:r>
                        <a:rPr sz="1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6.3.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49579">
                <a:tc>
                  <a:txBody>
                    <a:bodyPr/>
                    <a:lstStyle/>
                    <a:p>
                      <a:pPr marL="67945">
                        <a:lnSpc>
                          <a:spcPts val="164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Example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8419">
                        <a:lnSpc>
                          <a:spcPts val="1680"/>
                        </a:lnSpc>
                        <a:spcBef>
                          <a:spcPts val="20"/>
                        </a:spcBef>
                        <a:tabLst>
                          <a:tab pos="1702435" algn="l"/>
                          <a:tab pos="3403600" algn="l"/>
                        </a:tabLst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Figure </a:t>
                      </a:r>
                      <a:r>
                        <a:rPr sz="1400" spc="2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6.4 </a:t>
                      </a:r>
                      <a:r>
                        <a:rPr sz="1400" spc="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shows	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2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architecture </a:t>
                      </a:r>
                      <a:r>
                        <a:rPr sz="1400" spc="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	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web-based application system  organized using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MVC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pattern.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 marL="67945">
                        <a:lnSpc>
                          <a:spcPts val="1645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8419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Used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when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there are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multiple ways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to view 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interact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data.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Also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used  when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future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requirements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for interaction 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presentation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are  unknown.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665098">
                <a:tc>
                  <a:txBody>
                    <a:bodyPr/>
                    <a:lstStyle/>
                    <a:p>
                      <a:pPr marL="67945">
                        <a:lnSpc>
                          <a:spcPts val="1645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9055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Allows the data to change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independently 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its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representation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and vice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versa.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Supports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presentation 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same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different ways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changes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made 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one representation shown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all of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them.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49630">
                <a:tc>
                  <a:txBody>
                    <a:bodyPr/>
                    <a:lstStyle/>
                    <a:p>
                      <a:pPr marL="67945">
                        <a:lnSpc>
                          <a:spcPts val="1650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Disadvantages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9690">
                        <a:lnSpc>
                          <a:spcPts val="1680"/>
                        </a:lnSpc>
                        <a:spcBef>
                          <a:spcPts val="2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involve additional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code and code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complexity when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model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and  interactions are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simple.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680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8189" y="564008"/>
            <a:ext cx="7736840" cy="51371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The </a:t>
            </a:r>
            <a:r>
              <a:rPr sz="3200" spc="-20" dirty="0"/>
              <a:t>organization </a:t>
            </a:r>
            <a:r>
              <a:rPr sz="3200" spc="-5" dirty="0"/>
              <a:t>of the</a:t>
            </a:r>
            <a:r>
              <a:rPr sz="3200" spc="20" dirty="0"/>
              <a:t> </a:t>
            </a:r>
            <a:r>
              <a:rPr sz="3200" spc="-5" dirty="0"/>
              <a:t>Model-View-Controller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765300" y="2273300"/>
            <a:ext cx="6375400" cy="3009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012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34875"/>
            <a:ext cx="10515600" cy="635174"/>
          </a:xfrm>
          <a:prstGeom prst="rect">
            <a:avLst/>
          </a:prstGeom>
        </p:spPr>
        <p:txBody>
          <a:bodyPr vert="horz" wrap="square" lIns="0" tIns="141351" rIns="0" bIns="0" rtlCol="0" anchor="ctr">
            <a:spAutoFit/>
          </a:bodyPr>
          <a:lstStyle/>
          <a:p>
            <a:pPr marL="3422650" marR="5080" indent="-3025775">
              <a:lnSpc>
                <a:spcPct val="100000"/>
              </a:lnSpc>
              <a:spcBef>
                <a:spcPts val="105"/>
              </a:spcBef>
            </a:pPr>
            <a:r>
              <a:rPr sz="3200" spc="-35" dirty="0"/>
              <a:t>Web </a:t>
            </a:r>
            <a:r>
              <a:rPr sz="3200" spc="-5" dirty="0"/>
              <a:t>application </a:t>
            </a:r>
            <a:r>
              <a:rPr sz="3200" spc="-10" dirty="0"/>
              <a:t>architecture </a:t>
            </a:r>
            <a:r>
              <a:rPr sz="3200" spc="-5" dirty="0"/>
              <a:t>using </a:t>
            </a:r>
            <a:r>
              <a:rPr sz="3200" dirty="0"/>
              <a:t>the </a:t>
            </a:r>
            <a:r>
              <a:rPr sz="3200" spc="-15" dirty="0"/>
              <a:t>MVC  </a:t>
            </a:r>
            <a:r>
              <a:rPr sz="3200" spc="-20" dirty="0"/>
              <a:t>pattern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2070100" y="1663700"/>
            <a:ext cx="6278879" cy="387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1538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470" y="461594"/>
            <a:ext cx="468947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Layered</a:t>
            </a:r>
            <a:r>
              <a:rPr sz="4400" spc="-45" dirty="0"/>
              <a:t> </a:t>
            </a:r>
            <a:r>
              <a:rPr sz="4400" spc="-15" dirty="0"/>
              <a:t>architecture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3400" y="1539491"/>
            <a:ext cx="11150600" cy="25333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 algn="just"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interfacing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sub-systems.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Organises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algn="just"/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machines)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services.</a:t>
            </a:r>
          </a:p>
          <a:p>
            <a:pPr marL="355600" marR="5080" indent="-342900" algn="just"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development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sub-systems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layers.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interface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changes,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324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1082" y="461594"/>
            <a:ext cx="7480934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spc="-30" dirty="0"/>
              <a:t>Layered </a:t>
            </a:r>
            <a:r>
              <a:rPr sz="4400" spc="-15" dirty="0"/>
              <a:t>architecture</a:t>
            </a:r>
            <a:r>
              <a:rPr sz="4400" spc="60" dirty="0"/>
              <a:t> </a:t>
            </a:r>
            <a:r>
              <a:rPr sz="4400" spc="-20" dirty="0"/>
              <a:t>pattern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42336" y="1614806"/>
          <a:ext cx="7190104" cy="4643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1514"/>
                <a:gridCol w="5228590"/>
              </a:tblGrid>
              <a:tr h="370840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Layered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architecture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7785">
                        <a:lnSpc>
                          <a:spcPts val="1680"/>
                        </a:lnSpc>
                        <a:spcBef>
                          <a:spcPts val="15"/>
                        </a:spcBef>
                        <a:tabLst>
                          <a:tab pos="1009015" algn="l"/>
                          <a:tab pos="1387475" algn="l"/>
                          <a:tab pos="2082164" algn="l"/>
                          <a:tab pos="2499995" algn="l"/>
                          <a:tab pos="3101975" algn="l"/>
                          <a:tab pos="3550285" algn="l"/>
                          <a:tab pos="422338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z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	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	s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	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	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er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	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	re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	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ional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ty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associated with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each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layer.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layer provides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services to the</a:t>
                      </a:r>
                      <a:r>
                        <a:rPr sz="1400" spc="2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layer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 marR="59690">
                        <a:lnSpc>
                          <a:spcPts val="168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above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so 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lowest-level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layers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represent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core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services that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are likely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 used throughout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system. See Figure</a:t>
                      </a:r>
                      <a:r>
                        <a:rPr sz="14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6.6.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Example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9690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layered model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 for sharing copyright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documents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held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different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libraries,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as shown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Figure</a:t>
                      </a:r>
                      <a:r>
                        <a:rPr sz="14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6.7.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ts val="1639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Used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when building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new facilities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top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existing</a:t>
                      </a:r>
                      <a:r>
                        <a:rPr sz="14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systems;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 marR="59055" algn="just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when 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development is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spread across several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teams with each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team responsibility for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layer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functionality; when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there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requirement for multi-level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security.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7785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Allows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replacement 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entire layers so long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interface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is 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maintained. Redundant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facilities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(e.g., authentication)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can be  provided</a:t>
                      </a:r>
                      <a:r>
                        <a:rPr sz="14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4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each</a:t>
                      </a:r>
                      <a:r>
                        <a:rPr sz="14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layer</a:t>
                      </a:r>
                      <a:r>
                        <a:rPr sz="14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increase</a:t>
                      </a:r>
                      <a:r>
                        <a:rPr sz="14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dependability</a:t>
                      </a:r>
                      <a:r>
                        <a:rPr sz="14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156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system.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280198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Disadvantages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56210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practice, providing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clean separation between layers is often  difficult and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high-level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layer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may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have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interact directly with  lower-level layers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rather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than through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layer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immediately  below it. Performance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problem because of multiple  levels of interpretation of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service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request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as it is processed</a:t>
                      </a:r>
                      <a:r>
                        <a:rPr sz="14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1555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each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layer.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964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2646" y="461594"/>
            <a:ext cx="683514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 </a:t>
            </a:r>
            <a:r>
              <a:rPr sz="4400" spc="-5" dirty="0"/>
              <a:t>generic </a:t>
            </a:r>
            <a:r>
              <a:rPr sz="4400" spc="-30" dirty="0"/>
              <a:t>layered</a:t>
            </a:r>
            <a:r>
              <a:rPr sz="4400" spc="-5" dirty="0"/>
              <a:t> </a:t>
            </a:r>
            <a:r>
              <a:rPr sz="4400" spc="-15" dirty="0"/>
              <a:t>architecture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276600" y="1638300"/>
            <a:ext cx="5499100" cy="398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1519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500" y="500583"/>
            <a:ext cx="9262339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The </a:t>
            </a:r>
            <a:r>
              <a:rPr spc="-15" dirty="0"/>
              <a:t>architecture </a:t>
            </a:r>
            <a:r>
              <a:rPr spc="-5" dirty="0"/>
              <a:t>of the </a:t>
            </a:r>
            <a:r>
              <a:rPr spc="-20" dirty="0"/>
              <a:t>LIBSYS </a:t>
            </a:r>
            <a:r>
              <a:rPr spc="-4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3289300" y="1371600"/>
            <a:ext cx="5537200" cy="452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0037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4900" y="464922"/>
            <a:ext cx="6180201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Key</a:t>
            </a:r>
            <a:r>
              <a:rPr sz="4400" spc="-60" dirty="0"/>
              <a:t> </a:t>
            </a:r>
            <a:r>
              <a:rPr sz="4400" spc="-10" dirty="0"/>
              <a:t>points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825500" y="1491234"/>
            <a:ext cx="10566399" cy="42543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221615" indent="-342900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 </a:t>
            </a:r>
            <a:r>
              <a:rPr sz="2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sz="25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spc="-2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1615" indent="-342900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decisions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type  of application, the distribution of the </a:t>
            </a:r>
            <a:r>
              <a:rPr sz="2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styles </a:t>
            </a: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5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5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46075" indent="-342900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</a:t>
            </a:r>
            <a:r>
              <a:rPr sz="2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documented </a:t>
            </a: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several </a:t>
            </a:r>
            <a:r>
              <a:rPr sz="2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 </a:t>
            </a: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viewssuch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</a:t>
            </a:r>
            <a:r>
              <a:rPr sz="25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logical  </a:t>
            </a:r>
            <a:r>
              <a:rPr sz="25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5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sz="25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sz="2500" spc="-3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spc="-3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46075" indent="-342900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75895" indent="-342900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patterns are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means of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reusing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 about generic </a:t>
            </a:r>
            <a:r>
              <a:rPr sz="2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architectures.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describe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 explain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it </a:t>
            </a:r>
            <a:r>
              <a:rPr sz="2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 </a:t>
            </a: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  <a:r>
              <a:rPr sz="2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5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sz="2500" spc="-15" dirty="0">
                <a:latin typeface="Carlito"/>
                <a:cs typeface="Carlito"/>
              </a:rPr>
              <a:t>.</a:t>
            </a:r>
            <a:endParaRPr sz="25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735640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285" y="461594"/>
            <a:ext cx="534670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Repository</a:t>
            </a:r>
            <a:r>
              <a:rPr sz="4400" spc="-65" dirty="0"/>
              <a:t> </a:t>
            </a:r>
            <a:r>
              <a:rPr sz="4400" spc="-15" dirty="0"/>
              <a:t>architecture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3400" y="1517727"/>
            <a:ext cx="10350500" cy="4153701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marR="5080" indent="-342900" algn="just">
              <a:lnSpc>
                <a:spcPts val="3070"/>
              </a:lnSpc>
              <a:spcBef>
                <a:spcPts val="850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Sub-systems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 done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ways</a:t>
            </a:r>
            <a:r>
              <a:rPr sz="2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spc="-2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lnSpc>
                <a:spcPts val="3070"/>
              </a:lnSpc>
              <a:spcBef>
                <a:spcPts val="850"/>
              </a:spcBef>
              <a:buFont typeface="Arial"/>
              <a:buChar char="•"/>
              <a:tabLst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995680" lvl="1" indent="-287020" algn="just">
              <a:lnSpc>
                <a:spcPct val="80000"/>
              </a:lnSpc>
              <a:spcBef>
                <a:spcPts val="71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database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accessed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sub-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73355" lvl="1" indent="-287020" algn="just">
              <a:lnSpc>
                <a:spcPts val="2690"/>
              </a:lnSpc>
              <a:spcBef>
                <a:spcPts val="65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sub-system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explicitly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sub-systems</a:t>
            </a:r>
            <a:r>
              <a:rPr sz="28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73355" lvl="1" indent="-287020" algn="just">
              <a:lnSpc>
                <a:spcPts val="2690"/>
              </a:lnSpc>
              <a:spcBef>
                <a:spcPts val="650"/>
              </a:spcBef>
              <a:buFont typeface="Arial"/>
              <a:buChar char="–"/>
              <a:tabLst>
                <a:tab pos="75692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8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shared,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this is 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mechanism.</a:t>
            </a:r>
          </a:p>
        </p:txBody>
      </p:sp>
    </p:spTree>
    <p:extLst>
      <p:ext uri="{BB962C8B-B14F-4D97-AF65-F5344CB8AC3E}">
        <p14:creationId xmlns:p14="http://schemas.microsoft.com/office/powerpoint/2010/main" val="1544647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053" y="461594"/>
            <a:ext cx="525081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spc="-10" dirty="0"/>
              <a:t>Repository</a:t>
            </a:r>
            <a:r>
              <a:rPr sz="4400" spc="-50" dirty="0"/>
              <a:t> </a:t>
            </a:r>
            <a:r>
              <a:rPr sz="4400" spc="-20" dirty="0"/>
              <a:t>pattern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31503" y="1411350"/>
          <a:ext cx="6595109" cy="50675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0035"/>
                <a:gridCol w="5045074"/>
              </a:tblGrid>
              <a:tr h="37083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Repository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9690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All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managed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central repository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accessible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all system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components. Components do</a:t>
                      </a:r>
                      <a:r>
                        <a:rPr sz="1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not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1565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interact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directly,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only through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repository.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Example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9055" algn="just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Figure 6.9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example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 IDE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where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use 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repository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 design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information. Each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software tool 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generates information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which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available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for use by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other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tools.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9055" algn="just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You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should use this pattern when you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have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 in which  large volumes 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information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are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generated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that has to be  stored for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long time.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You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may also use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it in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data-driven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systems where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inclusion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repository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triggers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 action or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tool.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Components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1400" spc="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independent—they</a:t>
                      </a:r>
                      <a:r>
                        <a:rPr sz="14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1400" spc="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4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need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know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 marR="59055" algn="just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existence of other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components.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Changes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made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one 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be propagated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all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components.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All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can  be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managed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consistently (e.g., backups done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same  time) as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it is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all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one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place.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066736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Disadvantages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9055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The repository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 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single point of failure so problems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 repository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affect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whole system. May be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inefficiencies</a:t>
                      </a:r>
                      <a:r>
                        <a:rPr sz="14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in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 marR="60325" algn="just">
                        <a:lnSpc>
                          <a:spcPts val="168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organizing all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communication through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repository.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Distributing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repository across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several computers may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  difficult.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6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5790" y="461594"/>
            <a:ext cx="804354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 </a:t>
            </a:r>
            <a:r>
              <a:rPr sz="4400" spc="-10" dirty="0"/>
              <a:t>repository </a:t>
            </a:r>
            <a:r>
              <a:rPr sz="4400" spc="-15" dirty="0"/>
              <a:t>architecture </a:t>
            </a:r>
            <a:r>
              <a:rPr sz="4400" spc="-40" dirty="0"/>
              <a:t>for </a:t>
            </a:r>
            <a:r>
              <a:rPr sz="4400" dirty="0"/>
              <a:t>an</a:t>
            </a:r>
            <a:r>
              <a:rPr sz="4400" spc="65" dirty="0"/>
              <a:t> </a:t>
            </a:r>
            <a:r>
              <a:rPr sz="4400" dirty="0"/>
              <a:t>IDE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260600" y="1782064"/>
            <a:ext cx="7200900" cy="318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382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1636" y="461594"/>
            <a:ext cx="581025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Client-server</a:t>
            </a:r>
            <a:r>
              <a:rPr sz="4400" spc="-60" dirty="0"/>
              <a:t> </a:t>
            </a:r>
            <a:r>
              <a:rPr sz="4400" spc="-15" dirty="0"/>
              <a:t>architecture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00100" y="1517726"/>
            <a:ext cx="10972800" cy="4066498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marR="5080" indent="-342900">
              <a:lnSpc>
                <a:spcPts val="3070"/>
              </a:lnSpc>
              <a:spcBef>
                <a:spcPts val="8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across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ts val="3354"/>
              </a:lnSpc>
              <a:spcBef>
                <a:spcPts val="4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spc="-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4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ts val="3354"/>
              </a:lnSpc>
              <a:spcBef>
                <a:spcPts val="4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46100" indent="-342900">
              <a:lnSpc>
                <a:spcPts val="307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stand-alone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printing,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management,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sz="28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46100" indent="-342900">
              <a:lnSpc>
                <a:spcPts val="307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clients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services.</a:t>
            </a:r>
          </a:p>
          <a:p>
            <a:pPr marL="355600" marR="859155" indent="-342900">
              <a:lnSpc>
                <a:spcPts val="307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989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589" y="461594"/>
            <a:ext cx="581914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Client–server</a:t>
            </a:r>
            <a:r>
              <a:rPr sz="4400" spc="-50" dirty="0"/>
              <a:t> </a:t>
            </a:r>
            <a:r>
              <a:rPr sz="4400" spc="-20" dirty="0"/>
              <a:t>pattern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47759" y="1593850"/>
          <a:ext cx="7298689" cy="4213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214"/>
                <a:gridCol w="5451475"/>
              </a:tblGrid>
              <a:tr h="37083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Client-server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ts val="1639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 a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client–server architecture,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functionality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system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 marR="57785" algn="just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organized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into services, with each service delivered from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separate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server.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Clients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are users of these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and access  servers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make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them.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Example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7785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Figure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6.11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 example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film and video/DVD library organized  as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client–server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Used</a:t>
                      </a:r>
                      <a:r>
                        <a:rPr sz="14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shared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database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has</a:t>
                      </a:r>
                      <a:r>
                        <a:rPr sz="14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14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accessed</a:t>
                      </a:r>
                      <a:r>
                        <a:rPr sz="1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4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range of locations. Because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servers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can be replicated, may also</a:t>
                      </a:r>
                      <a:r>
                        <a:rPr sz="1400" spc="3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1614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used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when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 load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variable.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7785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The principal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advantage 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this model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that servers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can be  distributed across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network. General functionality (e.g.,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printing  service) can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available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all clients 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does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not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need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  implemented by all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services.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Disadvantages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7785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Each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service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single point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failure so susceptible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denial of  service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attacks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server failure. Performance may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 unpredictable  because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it depends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on 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network as well as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system.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May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 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management problems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servers are owned by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different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organizations.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983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9600" y="363994"/>
            <a:ext cx="10515600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3375025" marR="5080" indent="-317373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-10" dirty="0"/>
              <a:t>client–server </a:t>
            </a:r>
            <a:r>
              <a:rPr spc="-15" dirty="0"/>
              <a:t>architecture </a:t>
            </a:r>
            <a:r>
              <a:rPr spc="-30" dirty="0"/>
              <a:t>for </a:t>
            </a:r>
            <a:r>
              <a:rPr spc="-5" dirty="0"/>
              <a:t>a </a:t>
            </a:r>
            <a:r>
              <a:rPr spc="-10" dirty="0"/>
              <a:t>film  </a:t>
            </a:r>
            <a:r>
              <a:rPr spc="-15" dirty="0"/>
              <a:t>library</a:t>
            </a:r>
          </a:p>
        </p:txBody>
      </p:sp>
      <p:sp>
        <p:nvSpPr>
          <p:cNvPr id="3" name="object 3"/>
          <p:cNvSpPr/>
          <p:nvPr/>
        </p:nvSpPr>
        <p:spPr>
          <a:xfrm>
            <a:off x="2514600" y="1917700"/>
            <a:ext cx="7048500" cy="393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7608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9905" y="461594"/>
            <a:ext cx="609346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Pipe and </a:t>
            </a:r>
            <a:r>
              <a:rPr sz="4400" spc="-15" dirty="0"/>
              <a:t>filter architecture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36600" y="1557350"/>
            <a:ext cx="10896600" cy="280422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904875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 inputs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07010" indent="-342900">
              <a:lnSpc>
                <a:spcPts val="346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shell).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9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common.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which 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extensively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3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 suitable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790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7149" y="461594"/>
            <a:ext cx="599694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pipe </a:t>
            </a:r>
            <a:r>
              <a:rPr sz="4400" dirty="0"/>
              <a:t>and </a:t>
            </a:r>
            <a:r>
              <a:rPr sz="4400" spc="-10" dirty="0"/>
              <a:t>filter</a:t>
            </a:r>
            <a:r>
              <a:rPr sz="4400" spc="-30" dirty="0"/>
              <a:t> </a:t>
            </a:r>
            <a:r>
              <a:rPr sz="4400" spc="-20" dirty="0"/>
              <a:t>pattern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39670" y="1593850"/>
          <a:ext cx="7190740" cy="4213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645"/>
                <a:gridCol w="5713095"/>
              </a:tblGrid>
              <a:tr h="37083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Name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Pipe and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filter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ts val="1639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The processing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 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organized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so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40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each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 marR="59690" algn="just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processing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component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(filter) is discrete and carries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out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type of  data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transformation. The data flows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(as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pipe) from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one component 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another for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processing.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Example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8419">
                        <a:lnSpc>
                          <a:spcPts val="1680"/>
                        </a:lnSpc>
                        <a:spcBef>
                          <a:spcPts val="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Figure 6.13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an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example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pipe and filter system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used for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processing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invoices.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used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639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Commonly </a:t>
                      </a:r>
                      <a:r>
                        <a:rPr sz="14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used </a:t>
                      </a:r>
                      <a:r>
                        <a:rPr sz="14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4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processing </a:t>
                      </a:r>
                      <a:r>
                        <a:rPr sz="14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applications </a:t>
                      </a:r>
                      <a:r>
                        <a:rPr sz="14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(both </a:t>
                      </a:r>
                      <a:r>
                        <a:rPr sz="14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batch- </a:t>
                      </a:r>
                      <a:r>
                        <a:rPr sz="14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and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transaction-based)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where  inputs are  processed  in separate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stages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5" dirty="0">
                          <a:latin typeface="Arial"/>
                          <a:cs typeface="Arial"/>
                        </a:rPr>
                        <a:t>to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1614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generate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related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outputs.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7785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Easy to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understand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supports transformation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reuse.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Workflow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style  matches the structure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of many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business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processes.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Evolution by  adding transformations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is straightforward. Can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implemented 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as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either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sequential or concurrent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system.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68580">
                        <a:lnSpc>
                          <a:spcPts val="1645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Disadvantages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8419" algn="just">
                        <a:lnSpc>
                          <a:spcPts val="1680"/>
                        </a:lnSpc>
                        <a:spcBef>
                          <a:spcPts val="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format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transfer has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be agreed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upon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between  communicating transformations.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Each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transformation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must parse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its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input 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unparse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its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output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the agreed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form. This increases system  overhead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may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mean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that it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impossible to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reuse functional 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transformations that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use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incompatible data</a:t>
                      </a:r>
                      <a:r>
                        <a:rPr sz="14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structures.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946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554494"/>
            <a:ext cx="10515600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781935" marR="5080" indent="-212788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An </a:t>
            </a:r>
            <a:r>
              <a:rPr spc="-25" dirty="0"/>
              <a:t>example </a:t>
            </a:r>
            <a:r>
              <a:rPr spc="-5" dirty="0"/>
              <a:t>of the </a:t>
            </a:r>
            <a:r>
              <a:rPr spc="-10" dirty="0"/>
              <a:t>pipe </a:t>
            </a:r>
            <a:r>
              <a:rPr spc="-5" dirty="0"/>
              <a:t>and </a:t>
            </a:r>
            <a:r>
              <a:rPr spc="-15" dirty="0"/>
              <a:t>filter  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2000796" y="2400300"/>
            <a:ext cx="8216900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6816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8201" y="372694"/>
            <a:ext cx="570738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Application</a:t>
            </a:r>
            <a:r>
              <a:rPr sz="4400" spc="-55" dirty="0"/>
              <a:t> </a:t>
            </a:r>
            <a:r>
              <a:rPr sz="4400" spc="-10" dirty="0"/>
              <a:t>architectures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749300" y="1610994"/>
            <a:ext cx="10820399" cy="41722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91895" indent="-343535"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an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191895" indent="-343535"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49605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 architecture 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sz="28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49605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generic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architecture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type 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meets specific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108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7574" y="461594"/>
            <a:ext cx="722249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Use of </a:t>
            </a:r>
            <a:r>
              <a:rPr sz="4400" spc="-5" dirty="0"/>
              <a:t>application</a:t>
            </a:r>
            <a:r>
              <a:rPr sz="4400" spc="-25" dirty="0"/>
              <a:t> </a:t>
            </a:r>
            <a:r>
              <a:rPr sz="4400" spc="-15" dirty="0"/>
              <a:t>architectures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89000" y="1511107"/>
            <a:ext cx="10553700" cy="26289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3535"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point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41400" indent="-343535">
              <a:lnSpc>
                <a:spcPts val="3460"/>
              </a:lnSpc>
              <a:spcBef>
                <a:spcPts val="8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organising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92150" indent="-343535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means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>
              <a:lnSpc>
                <a:spcPts val="346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</a:p>
        </p:txBody>
      </p:sp>
    </p:spTree>
    <p:extLst>
      <p:ext uri="{BB962C8B-B14F-4D97-AF65-F5344CB8AC3E}">
        <p14:creationId xmlns:p14="http://schemas.microsoft.com/office/powerpoint/2010/main" val="3865446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698" y="461594"/>
            <a:ext cx="6757034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Examples </a:t>
            </a:r>
            <a:r>
              <a:rPr sz="4400" dirty="0"/>
              <a:t>of </a:t>
            </a:r>
            <a:r>
              <a:rPr sz="4400" spc="-10" dirty="0"/>
              <a:t>application</a:t>
            </a:r>
            <a:r>
              <a:rPr sz="4400" spc="-15" dirty="0"/>
              <a:t> </a:t>
            </a:r>
            <a:r>
              <a:rPr sz="4400" dirty="0"/>
              <a:t>types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60400" y="1544777"/>
            <a:ext cx="11048999" cy="39907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b="1" spc="-20" dirty="0">
                <a:latin typeface="Carlito"/>
                <a:cs typeface="Carlito"/>
              </a:rPr>
              <a:t>Data </a:t>
            </a:r>
            <a:r>
              <a:rPr sz="2500" b="1" spc="-10" dirty="0">
                <a:latin typeface="Carlito"/>
                <a:cs typeface="Carlito"/>
              </a:rPr>
              <a:t>processing</a:t>
            </a:r>
            <a:r>
              <a:rPr sz="2500" b="1" spc="5" dirty="0">
                <a:latin typeface="Carlito"/>
                <a:cs typeface="Carlito"/>
              </a:rPr>
              <a:t> </a:t>
            </a:r>
            <a:r>
              <a:rPr sz="2500" b="1" spc="-10" dirty="0">
                <a:latin typeface="Carlito"/>
                <a:cs typeface="Carlito"/>
              </a:rPr>
              <a:t>applications</a:t>
            </a:r>
            <a:endParaRPr sz="2500" b="1" dirty="0">
              <a:latin typeface="Carlito"/>
              <a:cs typeface="Carlito"/>
            </a:endParaRPr>
          </a:p>
          <a:p>
            <a:pPr marL="756285" marR="5080" lvl="1" indent="-287020">
              <a:lnSpc>
                <a:spcPts val="211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20" dirty="0">
                <a:latin typeface="Carlito"/>
                <a:cs typeface="Carlito"/>
              </a:rPr>
              <a:t>Data </a:t>
            </a:r>
            <a:r>
              <a:rPr sz="2200" spc="-10" dirty="0">
                <a:latin typeface="Carlito"/>
                <a:cs typeface="Carlito"/>
              </a:rPr>
              <a:t>driven applications that process </a:t>
            </a:r>
            <a:r>
              <a:rPr sz="2200" spc="-20" dirty="0">
                <a:latin typeface="Carlito"/>
                <a:cs typeface="Carlito"/>
              </a:rPr>
              <a:t>data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5" dirty="0">
                <a:latin typeface="Carlito"/>
                <a:cs typeface="Carlito"/>
              </a:rPr>
              <a:t>batches </a:t>
            </a:r>
            <a:r>
              <a:rPr sz="2200" spc="-5" dirty="0">
                <a:latin typeface="Carlito"/>
                <a:cs typeface="Carlito"/>
              </a:rPr>
              <a:t>without  </a:t>
            </a:r>
            <a:r>
              <a:rPr sz="2200" spc="-15" dirty="0">
                <a:latin typeface="Carlito"/>
                <a:cs typeface="Carlito"/>
              </a:rPr>
              <a:t>explicit </a:t>
            </a:r>
            <a:r>
              <a:rPr sz="2200" spc="-5" dirty="0">
                <a:latin typeface="Carlito"/>
                <a:cs typeface="Carlito"/>
              </a:rPr>
              <a:t>user </a:t>
            </a:r>
            <a:r>
              <a:rPr sz="2200" spc="-10" dirty="0">
                <a:latin typeface="Carlito"/>
                <a:cs typeface="Carlito"/>
              </a:rPr>
              <a:t>intervention during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processing.</a:t>
            </a:r>
            <a:endParaRPr sz="2200" dirty="0">
              <a:latin typeface="Carlito"/>
              <a:cs typeface="Carlito"/>
            </a:endParaRPr>
          </a:p>
          <a:p>
            <a:pPr marL="355600" indent="-342900"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b="1" spc="-25" dirty="0">
                <a:latin typeface="Carlito"/>
                <a:cs typeface="Carlito"/>
              </a:rPr>
              <a:t>Transaction </a:t>
            </a:r>
            <a:r>
              <a:rPr sz="2500" b="1" spc="-10" dirty="0">
                <a:latin typeface="Carlito"/>
                <a:cs typeface="Carlito"/>
              </a:rPr>
              <a:t>processing</a:t>
            </a:r>
            <a:r>
              <a:rPr sz="2500" b="1" spc="30" dirty="0">
                <a:latin typeface="Carlito"/>
                <a:cs typeface="Carlito"/>
              </a:rPr>
              <a:t> </a:t>
            </a:r>
            <a:r>
              <a:rPr sz="2500" b="1" spc="-10" dirty="0">
                <a:latin typeface="Carlito"/>
                <a:cs typeface="Carlito"/>
              </a:rPr>
              <a:t>applications</a:t>
            </a:r>
            <a:endParaRPr sz="2500" b="1" dirty="0">
              <a:latin typeface="Carlito"/>
              <a:cs typeface="Carlito"/>
            </a:endParaRPr>
          </a:p>
          <a:p>
            <a:pPr marL="756285" lvl="1" indent="-287020">
              <a:lnSpc>
                <a:spcPts val="2375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rlito"/>
                <a:cs typeface="Carlito"/>
              </a:rPr>
              <a:t>Data-centred</a:t>
            </a:r>
            <a:r>
              <a:rPr sz="2200" spc="-1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applications that process </a:t>
            </a:r>
            <a:r>
              <a:rPr sz="2200" spc="-5" dirty="0">
                <a:latin typeface="Carlito"/>
                <a:cs typeface="Carlito"/>
              </a:rPr>
              <a:t>user </a:t>
            </a:r>
            <a:r>
              <a:rPr sz="2200" spc="-10" dirty="0">
                <a:latin typeface="Carlito"/>
                <a:cs typeface="Carlito"/>
              </a:rPr>
              <a:t>requests</a:t>
            </a:r>
            <a:r>
              <a:rPr sz="2200" spc="3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and</a:t>
            </a:r>
            <a:endParaRPr sz="2200" dirty="0">
              <a:latin typeface="Carlito"/>
              <a:cs typeface="Carlito"/>
            </a:endParaRPr>
          </a:p>
          <a:p>
            <a:pPr marL="756285">
              <a:lnSpc>
                <a:spcPts val="2370"/>
              </a:lnSpc>
            </a:pPr>
            <a:r>
              <a:rPr sz="2200" spc="-15" dirty="0">
                <a:latin typeface="Carlito"/>
                <a:cs typeface="Carlito"/>
              </a:rPr>
              <a:t>update </a:t>
            </a:r>
            <a:r>
              <a:rPr sz="2200" spc="-10" dirty="0">
                <a:latin typeface="Carlito"/>
                <a:cs typeface="Carlito"/>
              </a:rPr>
              <a:t>information </a:t>
            </a:r>
            <a:r>
              <a:rPr sz="2200" spc="-5" dirty="0">
                <a:latin typeface="Carlito"/>
                <a:cs typeface="Carlito"/>
              </a:rPr>
              <a:t>in a </a:t>
            </a:r>
            <a:r>
              <a:rPr sz="2200" spc="-25" dirty="0">
                <a:latin typeface="Carlito"/>
                <a:cs typeface="Carlito"/>
              </a:rPr>
              <a:t>system</a:t>
            </a:r>
            <a:r>
              <a:rPr sz="2200" spc="5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database.</a:t>
            </a:r>
            <a:endParaRPr sz="2200" dirty="0">
              <a:latin typeface="Carlito"/>
              <a:cs typeface="Carlito"/>
            </a:endParaRPr>
          </a:p>
          <a:p>
            <a:pPr marL="355600" indent="-342900">
              <a:lnSpc>
                <a:spcPts val="299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b="1" spc="-25" dirty="0">
                <a:latin typeface="Carlito"/>
                <a:cs typeface="Carlito"/>
              </a:rPr>
              <a:t>Event </a:t>
            </a:r>
            <a:r>
              <a:rPr sz="2500" b="1" spc="-10" dirty="0">
                <a:latin typeface="Carlito"/>
                <a:cs typeface="Carlito"/>
              </a:rPr>
              <a:t>processing</a:t>
            </a:r>
            <a:r>
              <a:rPr sz="2500" b="1" spc="25" dirty="0">
                <a:latin typeface="Carlito"/>
                <a:cs typeface="Carlito"/>
              </a:rPr>
              <a:t> </a:t>
            </a:r>
            <a:r>
              <a:rPr sz="2500" b="1" spc="-25" dirty="0">
                <a:latin typeface="Carlito"/>
                <a:cs typeface="Carlito"/>
              </a:rPr>
              <a:t>systems</a:t>
            </a:r>
            <a:endParaRPr sz="2500" b="1" dirty="0">
              <a:latin typeface="Carlito"/>
              <a:cs typeface="Carlito"/>
            </a:endParaRPr>
          </a:p>
          <a:p>
            <a:pPr marL="756285" lvl="1" indent="-287020">
              <a:lnSpc>
                <a:spcPts val="2375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Applications where </a:t>
            </a:r>
            <a:r>
              <a:rPr sz="2200" spc="-20" dirty="0">
                <a:latin typeface="Carlito"/>
                <a:cs typeface="Carlito"/>
              </a:rPr>
              <a:t>system </a:t>
            </a:r>
            <a:r>
              <a:rPr sz="2200" spc="-5" dirty="0">
                <a:latin typeface="Carlito"/>
                <a:cs typeface="Carlito"/>
              </a:rPr>
              <a:t>actions </a:t>
            </a:r>
            <a:r>
              <a:rPr sz="2200" spc="-10" dirty="0">
                <a:latin typeface="Carlito"/>
                <a:cs typeface="Carlito"/>
              </a:rPr>
              <a:t>depend </a:t>
            </a:r>
            <a:r>
              <a:rPr sz="2200" dirty="0">
                <a:latin typeface="Carlito"/>
                <a:cs typeface="Carlito"/>
              </a:rPr>
              <a:t>on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interpreting</a:t>
            </a:r>
            <a:endParaRPr sz="2200" dirty="0">
              <a:latin typeface="Carlito"/>
              <a:cs typeface="Carlito"/>
            </a:endParaRPr>
          </a:p>
          <a:p>
            <a:pPr marL="756285">
              <a:lnSpc>
                <a:spcPts val="2370"/>
              </a:lnSpc>
            </a:pPr>
            <a:r>
              <a:rPr sz="2200" spc="-15" dirty="0">
                <a:latin typeface="Carlito"/>
                <a:cs typeface="Carlito"/>
              </a:rPr>
              <a:t>events from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35" dirty="0">
                <a:latin typeface="Carlito"/>
                <a:cs typeface="Carlito"/>
              </a:rPr>
              <a:t>system’s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environment.</a:t>
            </a:r>
            <a:endParaRPr sz="2200" dirty="0">
              <a:latin typeface="Carlito"/>
              <a:cs typeface="Carlito"/>
            </a:endParaRPr>
          </a:p>
          <a:p>
            <a:pPr marL="355600" indent="-342900">
              <a:lnSpc>
                <a:spcPts val="299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b="1" spc="-10" dirty="0">
                <a:latin typeface="Carlito"/>
                <a:cs typeface="Carlito"/>
              </a:rPr>
              <a:t>Language processing</a:t>
            </a:r>
            <a:r>
              <a:rPr sz="2500" b="1" spc="30" dirty="0">
                <a:latin typeface="Carlito"/>
                <a:cs typeface="Carlito"/>
              </a:rPr>
              <a:t> </a:t>
            </a:r>
            <a:r>
              <a:rPr sz="2500" b="1" spc="-25" dirty="0">
                <a:latin typeface="Carlito"/>
                <a:cs typeface="Carlito"/>
              </a:rPr>
              <a:t>systems</a:t>
            </a:r>
            <a:endParaRPr sz="2500" b="1" dirty="0">
              <a:latin typeface="Carlito"/>
              <a:cs typeface="Carlito"/>
            </a:endParaRPr>
          </a:p>
          <a:p>
            <a:pPr marL="756285" marR="394970" lvl="1" indent="-287020">
              <a:lnSpc>
                <a:spcPct val="80000"/>
              </a:lnSpc>
              <a:spcBef>
                <a:spcPts val="54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Applications where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users’ intentions </a:t>
            </a:r>
            <a:r>
              <a:rPr sz="2200" spc="-10" dirty="0">
                <a:latin typeface="Carlito"/>
                <a:cs typeface="Carlito"/>
              </a:rPr>
              <a:t>are </a:t>
            </a:r>
            <a:r>
              <a:rPr sz="2200" spc="-5" dirty="0">
                <a:latin typeface="Carlito"/>
                <a:cs typeface="Carlito"/>
              </a:rPr>
              <a:t>specified in a  </a:t>
            </a:r>
            <a:r>
              <a:rPr sz="2200" spc="-15" dirty="0">
                <a:latin typeface="Carlito"/>
                <a:cs typeface="Carlito"/>
              </a:rPr>
              <a:t>formal </a:t>
            </a:r>
            <a:r>
              <a:rPr sz="2200" spc="-5" dirty="0">
                <a:latin typeface="Carlito"/>
                <a:cs typeface="Carlito"/>
              </a:rPr>
              <a:t>language </a:t>
            </a:r>
            <a:r>
              <a:rPr sz="2200" spc="-10" dirty="0">
                <a:latin typeface="Carlito"/>
                <a:cs typeface="Carlito"/>
              </a:rPr>
              <a:t>that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processed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interpreted </a:t>
            </a:r>
            <a:r>
              <a:rPr sz="2200" spc="-10" dirty="0">
                <a:latin typeface="Carlito"/>
                <a:cs typeface="Carlito"/>
              </a:rPr>
              <a:t>by </a:t>
            </a:r>
            <a:r>
              <a:rPr sz="2200" spc="-5" dirty="0">
                <a:latin typeface="Carlito"/>
                <a:cs typeface="Carlito"/>
              </a:rPr>
              <a:t>the  </a:t>
            </a:r>
            <a:r>
              <a:rPr sz="2200" spc="-20" dirty="0">
                <a:latin typeface="Carlito"/>
                <a:cs typeface="Carlito"/>
              </a:rPr>
              <a:t>system.</a:t>
            </a:r>
            <a:endParaRPr sz="22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88929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8673" y="461594"/>
            <a:ext cx="599884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Application </a:t>
            </a:r>
            <a:r>
              <a:rPr sz="4400" dirty="0"/>
              <a:t>type</a:t>
            </a:r>
            <a:r>
              <a:rPr sz="4400" spc="-55" dirty="0"/>
              <a:t> </a:t>
            </a:r>
            <a:r>
              <a:rPr sz="4400" spc="-20" dirty="0"/>
              <a:t>examples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50900" y="1578990"/>
            <a:ext cx="10858499" cy="259301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5080" indent="-343535">
              <a:lnSpc>
                <a:spcPts val="2480"/>
              </a:lnSpc>
              <a:spcBef>
                <a:spcPts val="4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300" spc="-10" dirty="0">
                <a:latin typeface="Carlito"/>
                <a:cs typeface="Carlito"/>
              </a:rPr>
              <a:t>Focus here </a:t>
            </a:r>
            <a:r>
              <a:rPr sz="2300" dirty="0">
                <a:latin typeface="Carlito"/>
                <a:cs typeface="Carlito"/>
              </a:rPr>
              <a:t>is </a:t>
            </a:r>
            <a:r>
              <a:rPr sz="2300" spc="-5" dirty="0">
                <a:latin typeface="Carlito"/>
                <a:cs typeface="Carlito"/>
              </a:rPr>
              <a:t>on </a:t>
            </a:r>
            <a:r>
              <a:rPr sz="2300" spc="-10" dirty="0">
                <a:latin typeface="Carlito"/>
                <a:cs typeface="Carlito"/>
              </a:rPr>
              <a:t>transaction processing </a:t>
            </a:r>
            <a:r>
              <a:rPr sz="2300" dirty="0">
                <a:latin typeface="Carlito"/>
                <a:cs typeface="Carlito"/>
              </a:rPr>
              <a:t>and </a:t>
            </a:r>
            <a:r>
              <a:rPr sz="2300" spc="-5" dirty="0">
                <a:latin typeface="Carlito"/>
                <a:cs typeface="Carlito"/>
              </a:rPr>
              <a:t>language </a:t>
            </a:r>
            <a:r>
              <a:rPr sz="2300" spc="-10" dirty="0">
                <a:latin typeface="Carlito"/>
                <a:cs typeface="Carlito"/>
              </a:rPr>
              <a:t>processing  </a:t>
            </a:r>
            <a:r>
              <a:rPr sz="2300" spc="-15" dirty="0">
                <a:latin typeface="Carlito"/>
                <a:cs typeface="Carlito"/>
              </a:rPr>
              <a:t>systems.</a:t>
            </a:r>
            <a:endParaRPr sz="2300" dirty="0">
              <a:latin typeface="Carlito"/>
              <a:cs typeface="Carlito"/>
            </a:endParaRPr>
          </a:p>
          <a:p>
            <a:pPr marL="355600" indent="-343535">
              <a:spcBef>
                <a:spcPts val="24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300" spc="-15" dirty="0">
                <a:latin typeface="Carlito"/>
                <a:cs typeface="Carlito"/>
              </a:rPr>
              <a:t>Transaction </a:t>
            </a:r>
            <a:r>
              <a:rPr sz="2300" spc="-5" dirty="0">
                <a:latin typeface="Carlito"/>
                <a:cs typeface="Carlito"/>
              </a:rPr>
              <a:t>processing</a:t>
            </a:r>
            <a:r>
              <a:rPr sz="2300" spc="-20" dirty="0">
                <a:latin typeface="Carlito"/>
                <a:cs typeface="Carlito"/>
              </a:rPr>
              <a:t> </a:t>
            </a:r>
            <a:r>
              <a:rPr sz="2300" spc="-15" dirty="0">
                <a:latin typeface="Carlito"/>
                <a:cs typeface="Carlito"/>
              </a:rPr>
              <a:t>systems</a:t>
            </a:r>
            <a:endParaRPr sz="2300" dirty="0">
              <a:latin typeface="Carlito"/>
              <a:cs typeface="Carlito"/>
            </a:endParaRPr>
          </a:p>
          <a:p>
            <a:pPr marL="756285" lvl="1" indent="-287020">
              <a:spcBef>
                <a:spcPts val="27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100" spc="-10" dirty="0">
                <a:latin typeface="Carlito"/>
                <a:cs typeface="Carlito"/>
              </a:rPr>
              <a:t>E-commerce</a:t>
            </a:r>
            <a:r>
              <a:rPr sz="2100" spc="-5" dirty="0">
                <a:latin typeface="Carlito"/>
                <a:cs typeface="Carlito"/>
              </a:rPr>
              <a:t> </a:t>
            </a:r>
            <a:r>
              <a:rPr sz="2100" spc="-15" dirty="0">
                <a:latin typeface="Carlito"/>
                <a:cs typeface="Carlito"/>
              </a:rPr>
              <a:t>systems;</a:t>
            </a:r>
            <a:endParaRPr sz="2100" dirty="0">
              <a:latin typeface="Carlito"/>
              <a:cs typeface="Carlito"/>
            </a:endParaRPr>
          </a:p>
          <a:p>
            <a:pPr marL="756285" lvl="1" indent="-287020">
              <a:spcBef>
                <a:spcPts val="254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100" spc="-10" dirty="0">
                <a:latin typeface="Carlito"/>
                <a:cs typeface="Carlito"/>
              </a:rPr>
              <a:t>Reservation</a:t>
            </a:r>
            <a:r>
              <a:rPr sz="2100" spc="25" dirty="0">
                <a:latin typeface="Carlito"/>
                <a:cs typeface="Carlito"/>
              </a:rPr>
              <a:t> </a:t>
            </a:r>
            <a:r>
              <a:rPr sz="2100" spc="-20" dirty="0">
                <a:latin typeface="Carlito"/>
                <a:cs typeface="Carlito"/>
              </a:rPr>
              <a:t>systems.</a:t>
            </a:r>
            <a:endParaRPr sz="2100" dirty="0">
              <a:latin typeface="Carlito"/>
              <a:cs typeface="Carlito"/>
            </a:endParaRPr>
          </a:p>
          <a:p>
            <a:pPr marL="355600" indent="-343535">
              <a:spcBef>
                <a:spcPts val="25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300" spc="-5" dirty="0">
                <a:latin typeface="Carlito"/>
                <a:cs typeface="Carlito"/>
              </a:rPr>
              <a:t>Language processing </a:t>
            </a:r>
            <a:r>
              <a:rPr sz="2300" spc="-15" dirty="0">
                <a:latin typeface="Carlito"/>
                <a:cs typeface="Carlito"/>
              </a:rPr>
              <a:t>systems</a:t>
            </a:r>
            <a:endParaRPr sz="2300" dirty="0">
              <a:latin typeface="Carlito"/>
              <a:cs typeface="Carlito"/>
            </a:endParaRPr>
          </a:p>
          <a:p>
            <a:pPr marL="756285" lvl="1" indent="-287020">
              <a:spcBef>
                <a:spcPts val="27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100" spc="-10" dirty="0">
                <a:latin typeface="Carlito"/>
                <a:cs typeface="Carlito"/>
              </a:rPr>
              <a:t>Compilers;</a:t>
            </a:r>
            <a:endParaRPr sz="2100" dirty="0">
              <a:latin typeface="Carlito"/>
              <a:cs typeface="Carlito"/>
            </a:endParaRPr>
          </a:p>
          <a:p>
            <a:pPr marL="756285" lvl="1" indent="-287020">
              <a:spcBef>
                <a:spcPts val="25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100" spc="-5" dirty="0">
                <a:latin typeface="Carlito"/>
                <a:cs typeface="Carlito"/>
              </a:rPr>
              <a:t>Command</a:t>
            </a:r>
            <a:r>
              <a:rPr sz="2100" spc="-10" dirty="0">
                <a:latin typeface="Carlito"/>
                <a:cs typeface="Carlito"/>
              </a:rPr>
              <a:t> </a:t>
            </a:r>
            <a:r>
              <a:rPr sz="2100" spc="-15" dirty="0">
                <a:latin typeface="Carlito"/>
                <a:cs typeface="Carlito"/>
              </a:rPr>
              <a:t>interpreters.</a:t>
            </a:r>
            <a:endParaRPr sz="21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1749510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3962" y="461594"/>
            <a:ext cx="710819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Transaction </a:t>
            </a:r>
            <a:r>
              <a:rPr sz="4400" spc="-10" dirty="0"/>
              <a:t>processing</a:t>
            </a:r>
            <a:r>
              <a:rPr sz="4400" spc="5" dirty="0"/>
              <a:t> </a:t>
            </a:r>
            <a:r>
              <a:rPr sz="4400" spc="-30" dirty="0"/>
              <a:t>systems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27100" y="1519555"/>
            <a:ext cx="10515599" cy="3343094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marR="197485" indent="-343535">
              <a:lnSpc>
                <a:spcPts val="3070"/>
              </a:lnSpc>
              <a:spcBef>
                <a:spcPts val="84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from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spcBef>
                <a:spcPts val="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</a:p>
          <a:p>
            <a:pPr marL="756285" marR="5080" lvl="1" indent="-287020">
              <a:lnSpc>
                <a:spcPct val="8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satisfies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143635" lvl="1" indent="-287020">
              <a:lnSpc>
                <a:spcPts val="2690"/>
              </a:lnSpc>
              <a:spcBef>
                <a:spcPts val="65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times 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London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Paris.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0330" indent="-343535">
              <a:lnSpc>
                <a:spcPct val="80000"/>
              </a:lnSpc>
              <a:spcBef>
                <a:spcPts val="7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requests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 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by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99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750" y="386419"/>
            <a:ext cx="10515600" cy="124328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794635" marR="5080" indent="-27825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spc="-15" dirty="0"/>
              <a:t>structure </a:t>
            </a:r>
            <a:r>
              <a:rPr spc="-5" dirty="0"/>
              <a:t>of </a:t>
            </a:r>
            <a:r>
              <a:rPr spc="-10" dirty="0"/>
              <a:t>transaction </a:t>
            </a:r>
            <a:r>
              <a:rPr spc="-15" dirty="0"/>
              <a:t>processing 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2235200" y="2794000"/>
            <a:ext cx="763270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0343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0998" y="564008"/>
            <a:ext cx="7291070" cy="51371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The </a:t>
            </a:r>
            <a:r>
              <a:rPr sz="3200" spc="-15" dirty="0"/>
              <a:t>software architecture </a:t>
            </a:r>
            <a:r>
              <a:rPr sz="3200" spc="-5" dirty="0"/>
              <a:t>of </a:t>
            </a:r>
            <a:r>
              <a:rPr sz="3200" dirty="0"/>
              <a:t>an </a:t>
            </a:r>
            <a:r>
              <a:rPr sz="3200" spc="-85" dirty="0"/>
              <a:t>ATM</a:t>
            </a:r>
            <a:r>
              <a:rPr sz="3200" spc="45" dirty="0"/>
              <a:t> </a:t>
            </a:r>
            <a:r>
              <a:rPr sz="3200" spc="-30" dirty="0"/>
              <a:t>system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2501900" y="2019300"/>
            <a:ext cx="7073900" cy="298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168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8074" y="496950"/>
            <a:ext cx="683768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Information </a:t>
            </a:r>
            <a:r>
              <a:rPr spc="-35" dirty="0"/>
              <a:t>systems</a:t>
            </a:r>
            <a:r>
              <a:rPr spc="20" dirty="0"/>
              <a:t> </a:t>
            </a:r>
            <a:r>
              <a:rPr spc="-1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1" y="1382394"/>
            <a:ext cx="10375900" cy="4131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have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generic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that  can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organised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66700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transaction-based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these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60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90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8223" y="530478"/>
            <a:ext cx="752792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Layered </a:t>
            </a:r>
            <a:r>
              <a:rPr sz="3600" spc="-15" dirty="0"/>
              <a:t>information </a:t>
            </a:r>
            <a:r>
              <a:rPr sz="3600" spc="-30" dirty="0"/>
              <a:t>system</a:t>
            </a:r>
            <a:r>
              <a:rPr sz="3600" spc="-5" dirty="0"/>
              <a:t> </a:t>
            </a:r>
            <a:r>
              <a:rPr sz="3600" spc="-15" dirty="0"/>
              <a:t>architecture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213100" y="1567180"/>
            <a:ext cx="5575300" cy="401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08962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200" y="464922"/>
            <a:ext cx="9226017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spc="-15" dirty="0"/>
              <a:t>architecture </a:t>
            </a:r>
            <a:r>
              <a:rPr sz="4400" dirty="0"/>
              <a:t>of the</a:t>
            </a:r>
            <a:r>
              <a:rPr sz="4400" spc="-25" dirty="0"/>
              <a:t> </a:t>
            </a:r>
            <a:r>
              <a:rPr sz="4400" dirty="0"/>
              <a:t>MHC-PMS</a:t>
            </a:r>
          </a:p>
        </p:txBody>
      </p:sp>
      <p:sp>
        <p:nvSpPr>
          <p:cNvPr id="3" name="object 3"/>
          <p:cNvSpPr/>
          <p:nvPr/>
        </p:nvSpPr>
        <p:spPr>
          <a:xfrm>
            <a:off x="3403600" y="1752600"/>
            <a:ext cx="5461000" cy="391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285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1186" y="461594"/>
            <a:ext cx="733298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Web-based information</a:t>
            </a:r>
            <a:r>
              <a:rPr sz="4400" spc="-70" dirty="0"/>
              <a:t> </a:t>
            </a:r>
            <a:r>
              <a:rPr sz="4400" spc="-30" dirty="0"/>
              <a:t>systems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00100" y="1613739"/>
            <a:ext cx="10414000" cy="4319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61035" indent="-342900" algn="just"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web-based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sz="2400" spc="-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4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61035" indent="-342900" algn="just"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e-commerce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Internet-based  resource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electronic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goods 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and then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of these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goods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sz="2400" i="1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i="1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application-specific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01295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additional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supporting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‘shopping 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cart’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for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all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 transaction.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8132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052" y="461594"/>
            <a:ext cx="525399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Server</a:t>
            </a:r>
            <a:r>
              <a:rPr sz="4400" spc="-25" dirty="0"/>
              <a:t> </a:t>
            </a:r>
            <a:r>
              <a:rPr sz="4400" spc="-10" dirty="0"/>
              <a:t>implementation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84200" y="1563446"/>
            <a:ext cx="10998200" cy="383566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38735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3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implemented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 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server/architectures </a:t>
            </a:r>
            <a:endParaRPr lang="en-US" sz="30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8735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 communications,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6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 using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sz="26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6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8735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22860" lvl="1" indent="-287020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server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 application-specific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as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sz="2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requests;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321310" lvl="1" indent="-287020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information 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transaction</a:t>
            </a:r>
            <a:r>
              <a:rPr sz="2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2694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1038" y="461594"/>
            <a:ext cx="6649084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Language </a:t>
            </a:r>
            <a:r>
              <a:rPr sz="4400" spc="-10" dirty="0"/>
              <a:t>processing</a:t>
            </a:r>
            <a:r>
              <a:rPr sz="4400" spc="-45" dirty="0"/>
              <a:t> </a:t>
            </a:r>
            <a:r>
              <a:rPr sz="4400" spc="-30" dirty="0"/>
              <a:t>systems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06400" y="1614043"/>
            <a:ext cx="11379200" cy="4630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92455" indent="-343535"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input and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other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92455" indent="-343535"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87705" indent="-343535">
              <a:spcBef>
                <a:spcPts val="5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that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being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</a:t>
            </a:r>
            <a:r>
              <a:rPr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87705" indent="-343535">
              <a:spcBef>
                <a:spcPts val="5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spcBef>
                <a:spcPts val="5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situations where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easiest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/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279400" indent="-287020">
              <a:spcBef>
                <a:spcPts val="525"/>
              </a:spcBef>
              <a:tabLst>
                <a:tab pos="75628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Meta-case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process tool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descriptions, method rules,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416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95300" y="440195"/>
            <a:ext cx="11049000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166620" marR="5080" indent="-126111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spc="-15" dirty="0"/>
              <a:t>architecture </a:t>
            </a:r>
            <a:r>
              <a:rPr spc="-5" dirty="0"/>
              <a:t>of a language  </a:t>
            </a:r>
            <a:r>
              <a:rPr spc="-10" dirty="0"/>
              <a:t>processing </a:t>
            </a:r>
            <a:r>
              <a:rPr spc="-35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3136900" y="1993900"/>
            <a:ext cx="5791200" cy="3848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61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114" y="461594"/>
            <a:ext cx="505269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Compiler</a:t>
            </a:r>
            <a:r>
              <a:rPr sz="4400" spc="-65" dirty="0"/>
              <a:t> </a:t>
            </a:r>
            <a:r>
              <a:rPr sz="4400" spc="-5" dirty="0"/>
              <a:t>components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85800" y="1563447"/>
            <a:ext cx="11226800" cy="356276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423545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analyzer,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language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12395" indent="-342900">
              <a:lnSpc>
                <a:spcPct val="9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table,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 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 of entities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(variables,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names,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names,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etc.)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analyzer,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being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838200" indent="-342900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6832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114" y="461594"/>
            <a:ext cx="5052695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Compiler</a:t>
            </a:r>
            <a:r>
              <a:rPr sz="4400" spc="-65" dirty="0"/>
              <a:t> </a:t>
            </a:r>
            <a:r>
              <a:rPr sz="4400" spc="-5" dirty="0"/>
              <a:t>components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46100" y="1607643"/>
            <a:ext cx="10909300" cy="30835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3495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analyzer that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 from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table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correctness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 language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32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spc="-2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3495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‘walks’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4895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1133" y="496950"/>
            <a:ext cx="787273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-10" dirty="0"/>
              <a:t>pipe </a:t>
            </a:r>
            <a:r>
              <a:rPr spc="-5" dirty="0"/>
              <a:t>and </a:t>
            </a:r>
            <a:r>
              <a:rPr spc="-10" dirty="0"/>
              <a:t>filter compiler</a:t>
            </a:r>
            <a:r>
              <a:rPr dirty="0"/>
              <a:t> </a:t>
            </a:r>
            <a:r>
              <a:rPr spc="-15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2921000" y="2514600"/>
            <a:ext cx="6350000" cy="1892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891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400" y="476351"/>
            <a:ext cx="11518900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177290" marR="5080" indent="-245745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A </a:t>
            </a:r>
            <a:r>
              <a:rPr sz="3200" spc="-10" dirty="0"/>
              <a:t>repository </a:t>
            </a:r>
            <a:r>
              <a:rPr sz="3200" spc="-15" dirty="0"/>
              <a:t>architecture </a:t>
            </a:r>
            <a:r>
              <a:rPr sz="3200" spc="-35" dirty="0"/>
              <a:t>for </a:t>
            </a:r>
            <a:r>
              <a:rPr sz="3200" spc="-5" dirty="0"/>
              <a:t>a  language </a:t>
            </a:r>
            <a:r>
              <a:rPr sz="3200" spc="-15" dirty="0"/>
              <a:t>processing</a:t>
            </a:r>
            <a:r>
              <a:rPr sz="3200" spc="-25" dirty="0"/>
              <a:t> </a:t>
            </a:r>
            <a:r>
              <a:rPr sz="3200" spc="-4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2755900" y="1968500"/>
            <a:ext cx="6654800" cy="3543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69321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9400" y="464922"/>
            <a:ext cx="5735701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Key</a:t>
            </a:r>
            <a:r>
              <a:rPr sz="4400" spc="-60" dirty="0"/>
              <a:t> </a:t>
            </a:r>
            <a:r>
              <a:rPr sz="4400" spc="-10" dirty="0"/>
              <a:t>points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31800" y="1537539"/>
            <a:ext cx="11264900" cy="449892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420370" indent="-342900">
              <a:lnSpc>
                <a:spcPts val="259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application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assess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 components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20370" indent="-342900">
              <a:lnSpc>
                <a:spcPts val="259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259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interactive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remotely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and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sz="28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259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3505" indent="-342900">
              <a:lnSpc>
                <a:spcPct val="80000"/>
              </a:lnSpc>
              <a:spcBef>
                <a:spcPts val="6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processing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translate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texts 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language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and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 out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input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language.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translator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53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3071</Words>
  <Application>Microsoft Office PowerPoint</Application>
  <PresentationFormat>Widescreen</PresentationFormat>
  <Paragraphs>299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Carlito</vt:lpstr>
      <vt:lpstr>Times New Roman</vt:lpstr>
      <vt:lpstr>Office Theme</vt:lpstr>
      <vt:lpstr>Software Engineering</vt:lpstr>
      <vt:lpstr>Software architecture</vt:lpstr>
      <vt:lpstr>Architectural design</vt:lpstr>
      <vt:lpstr>The architecture of a packing robot  control system</vt:lpstr>
      <vt:lpstr>Architectural abstraction</vt:lpstr>
      <vt:lpstr>Advantages of explicit architecture</vt:lpstr>
      <vt:lpstr>Architectural representations</vt:lpstr>
      <vt:lpstr>Box and line diagrams</vt:lpstr>
      <vt:lpstr>Use of architectural models</vt:lpstr>
      <vt:lpstr>Architectural design decisions</vt:lpstr>
      <vt:lpstr>Architectural design decisions</vt:lpstr>
      <vt:lpstr>Architecture reuse</vt:lpstr>
      <vt:lpstr>Architecture and system characteristics</vt:lpstr>
      <vt:lpstr>Architectural views</vt:lpstr>
      <vt:lpstr>4 + 1 view model of software architecture</vt:lpstr>
      <vt:lpstr>Architectural patterns</vt:lpstr>
      <vt:lpstr>The Model-View-Controller (MVC) pattern</vt:lpstr>
      <vt:lpstr>The organization of the Model-View-Controller</vt:lpstr>
      <vt:lpstr>Web application architecture using the MVC  pattern</vt:lpstr>
      <vt:lpstr>Layered architecture</vt:lpstr>
      <vt:lpstr>The Layered architecture pattern</vt:lpstr>
      <vt:lpstr>A generic layered architecture</vt:lpstr>
      <vt:lpstr>The architecture of the LIBSYS system</vt:lpstr>
      <vt:lpstr>Key points</vt:lpstr>
      <vt:lpstr>Repository architecture</vt:lpstr>
      <vt:lpstr>The Repository pattern</vt:lpstr>
      <vt:lpstr>A repository architecture for an IDE</vt:lpstr>
      <vt:lpstr>Client-server architecture</vt:lpstr>
      <vt:lpstr>The Client–server pattern</vt:lpstr>
      <vt:lpstr>A client–server architecture for a film  library</vt:lpstr>
      <vt:lpstr>Pipe and filter architecture</vt:lpstr>
      <vt:lpstr>The pipe and filter pattern</vt:lpstr>
      <vt:lpstr>An example of the pipe and filter  architecture</vt:lpstr>
      <vt:lpstr>Application architectures</vt:lpstr>
      <vt:lpstr>Use of application architectures</vt:lpstr>
      <vt:lpstr>Examples of application types</vt:lpstr>
      <vt:lpstr>Application type examples</vt:lpstr>
      <vt:lpstr>Transaction processing systems</vt:lpstr>
      <vt:lpstr>The structure of transaction processing  applications</vt:lpstr>
      <vt:lpstr>The software architecture of an ATM system</vt:lpstr>
      <vt:lpstr>Information systems architecture</vt:lpstr>
      <vt:lpstr>Layered information system architecture</vt:lpstr>
      <vt:lpstr>The architecture of the MHC-PMS</vt:lpstr>
      <vt:lpstr>Web-based information systems</vt:lpstr>
      <vt:lpstr>Server implementation</vt:lpstr>
      <vt:lpstr>Language processing systems</vt:lpstr>
      <vt:lpstr>The architecture of a language  processing system</vt:lpstr>
      <vt:lpstr>Compiler components</vt:lpstr>
      <vt:lpstr>Compiler components</vt:lpstr>
      <vt:lpstr>A pipe and filter compiler architecture</vt:lpstr>
      <vt:lpstr>A repository architecture for a  language processing system</vt:lpstr>
      <vt:lpstr>Key points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Noor Nabi</dc:creator>
  <cp:lastModifiedBy>Noor Nabi</cp:lastModifiedBy>
  <cp:revision>15</cp:revision>
  <dcterms:created xsi:type="dcterms:W3CDTF">2020-10-14T04:24:51Z</dcterms:created>
  <dcterms:modified xsi:type="dcterms:W3CDTF">2020-12-01T06:59:19Z</dcterms:modified>
</cp:coreProperties>
</file>