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02"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CF8EAFE-2AC1-4141-AA83-5DBE391966D9}">
          <p14:sldIdLst>
            <p14:sldId id="256"/>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WEEK-12 LECTURE" id="{9ABE8207-7769-4705-A57C-907DA48851A7}">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523" autoAdjust="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0B3153-0274-4D7F-9B29-408F338C0180}" type="datetimeFigureOut">
              <a:rPr lang="en-US" smtClean="0"/>
              <a:t>12/20/2021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51042-4AB4-4925-874E-88CDA07FF0E4}" type="slidenum">
              <a:rPr lang="en-US" smtClean="0"/>
              <a:t>‹#›</a:t>
            </a:fld>
            <a:endParaRPr lang="en-US"/>
          </a:p>
        </p:txBody>
      </p:sp>
    </p:spTree>
    <p:extLst>
      <p:ext uri="{BB962C8B-B14F-4D97-AF65-F5344CB8AC3E}">
        <p14:creationId xmlns:p14="http://schemas.microsoft.com/office/powerpoint/2010/main" val="424042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651042-4AB4-4925-874E-88CDA07FF0E4}" type="slidenum">
              <a:rPr lang="en-US" smtClean="0"/>
              <a:t>5</a:t>
            </a:fld>
            <a:endParaRPr lang="en-US"/>
          </a:p>
        </p:txBody>
      </p:sp>
    </p:spTree>
    <p:extLst>
      <p:ext uri="{BB962C8B-B14F-4D97-AF65-F5344CB8AC3E}">
        <p14:creationId xmlns:p14="http://schemas.microsoft.com/office/powerpoint/2010/main" val="1533822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4B0A137-CEE4-4C1C-8ADB-88DF9427E6F0}" type="slidenum">
              <a:rPr lang="en-US" smtClean="0"/>
              <a:t>66</a:t>
            </a:fld>
            <a:endParaRPr lang="en-US"/>
          </a:p>
        </p:txBody>
      </p:sp>
    </p:spTree>
    <p:extLst>
      <p:ext uri="{BB962C8B-B14F-4D97-AF65-F5344CB8AC3E}">
        <p14:creationId xmlns:p14="http://schemas.microsoft.com/office/powerpoint/2010/main" val="877203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A8A411-5D0F-4B5A-AB82-F05192A444E1}" type="datetime1">
              <a:rPr lang="en-US" smtClean="0"/>
              <a:t>12/20/2021</a:t>
            </a:fld>
            <a:endParaRPr lang="en-US"/>
          </a:p>
        </p:txBody>
      </p:sp>
      <p:sp>
        <p:nvSpPr>
          <p:cNvPr id="5" name="Footer Placeholder 4"/>
          <p:cNvSpPr>
            <a:spLocks noGrp="1"/>
          </p:cNvSpPr>
          <p:nvPr>
            <p:ph type="ftr" sz="quarter" idx="11"/>
          </p:nvPr>
        </p:nvSpPr>
        <p:spPr/>
        <p:txBody>
          <a:bodyPr/>
          <a:lstStyle/>
          <a:p>
            <a:r>
              <a:rPr lang="en-US" smtClean="0"/>
              <a:t>Chapter 5 System modeling</a:t>
            </a:r>
            <a:endParaRPr lang="en-US"/>
          </a:p>
        </p:txBody>
      </p:sp>
      <p:sp>
        <p:nvSpPr>
          <p:cNvPr id="6" name="Slide Number Placeholder 5"/>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11188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8BD4FE8-A585-41D5-B647-85496C11C1A4}" type="datetime1">
              <a:rPr lang="en-US" smtClean="0"/>
              <a:t>12/20/2021</a:t>
            </a:fld>
            <a:endParaRPr lang="en-US"/>
          </a:p>
        </p:txBody>
      </p:sp>
      <p:sp>
        <p:nvSpPr>
          <p:cNvPr id="5" name="Footer Placeholder 4"/>
          <p:cNvSpPr>
            <a:spLocks noGrp="1"/>
          </p:cNvSpPr>
          <p:nvPr>
            <p:ph type="ftr" sz="quarter" idx="11"/>
          </p:nvPr>
        </p:nvSpPr>
        <p:spPr/>
        <p:txBody>
          <a:bodyPr/>
          <a:lstStyle/>
          <a:p>
            <a:r>
              <a:rPr lang="en-US" smtClean="0"/>
              <a:t>Chapter 5 System modeling</a:t>
            </a:r>
            <a:endParaRPr lang="en-US"/>
          </a:p>
        </p:txBody>
      </p:sp>
      <p:sp>
        <p:nvSpPr>
          <p:cNvPr id="6" name="Slide Number Placeholder 5"/>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1181475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EF38B06-ABB9-472A-B1D6-F8D96A868F55}" type="datetime1">
              <a:rPr lang="en-US" smtClean="0"/>
              <a:t>12/20/2021</a:t>
            </a:fld>
            <a:endParaRPr lang="en-US"/>
          </a:p>
        </p:txBody>
      </p:sp>
      <p:sp>
        <p:nvSpPr>
          <p:cNvPr id="5" name="Footer Placeholder 4"/>
          <p:cNvSpPr>
            <a:spLocks noGrp="1"/>
          </p:cNvSpPr>
          <p:nvPr>
            <p:ph type="ftr" sz="quarter" idx="11"/>
          </p:nvPr>
        </p:nvSpPr>
        <p:spPr/>
        <p:txBody>
          <a:bodyPr/>
          <a:lstStyle/>
          <a:p>
            <a:r>
              <a:rPr lang="en-US" smtClean="0"/>
              <a:t>Chapter 5 System modeling</a:t>
            </a:r>
            <a:endParaRPr lang="en-US"/>
          </a:p>
        </p:txBody>
      </p:sp>
      <p:sp>
        <p:nvSpPr>
          <p:cNvPr id="6" name="Slide Number Placeholder 5"/>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326324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4369B84-5BA8-4D4B-B17E-9DE0C15B4D6A}" type="datetime1">
              <a:rPr lang="en-US" smtClean="0"/>
              <a:t>12/20/2021</a:t>
            </a:fld>
            <a:endParaRPr lang="en-US"/>
          </a:p>
        </p:txBody>
      </p:sp>
      <p:sp>
        <p:nvSpPr>
          <p:cNvPr id="6" name="Footer Placeholder 5"/>
          <p:cNvSpPr>
            <a:spLocks noGrp="1"/>
          </p:cNvSpPr>
          <p:nvPr>
            <p:ph type="ftr" sz="quarter" idx="11"/>
          </p:nvPr>
        </p:nvSpPr>
        <p:spPr/>
        <p:txBody>
          <a:bodyPr/>
          <a:lstStyle/>
          <a:p>
            <a:r>
              <a:rPr lang="en-US" smtClean="0"/>
              <a:t>Chapter 5 System modeling</a:t>
            </a:r>
            <a:endParaRPr lang="en-US"/>
          </a:p>
        </p:txBody>
      </p:sp>
      <p:sp>
        <p:nvSpPr>
          <p:cNvPr id="7" name="Slide Number Placeholder 6"/>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1772651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7AF411B-74B9-45BB-8B6E-67472CEFBC97}" type="datetime1">
              <a:rPr lang="en-US" smtClean="0"/>
              <a:t>12/20/2021</a:t>
            </a:fld>
            <a:endParaRPr lang="en-US"/>
          </a:p>
        </p:txBody>
      </p:sp>
      <p:sp>
        <p:nvSpPr>
          <p:cNvPr id="8" name="Footer Placeholder 7"/>
          <p:cNvSpPr>
            <a:spLocks noGrp="1"/>
          </p:cNvSpPr>
          <p:nvPr>
            <p:ph type="ftr" sz="quarter" idx="11"/>
          </p:nvPr>
        </p:nvSpPr>
        <p:spPr/>
        <p:txBody>
          <a:bodyPr/>
          <a:lstStyle/>
          <a:p>
            <a:r>
              <a:rPr lang="en-US" smtClean="0"/>
              <a:t>Chapter 5 System modeling</a:t>
            </a:r>
            <a:endParaRPr lang="en-US"/>
          </a:p>
        </p:txBody>
      </p:sp>
      <p:sp>
        <p:nvSpPr>
          <p:cNvPr id="9" name="Slide Number Placeholder 8"/>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671440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0D6024C-0365-4F41-9858-6114DC0C36D6}" type="datetime1">
              <a:rPr lang="en-US" smtClean="0"/>
              <a:t>12/20/2021</a:t>
            </a:fld>
            <a:endParaRPr lang="en-US"/>
          </a:p>
        </p:txBody>
      </p:sp>
      <p:sp>
        <p:nvSpPr>
          <p:cNvPr id="4" name="Footer Placeholder 3"/>
          <p:cNvSpPr>
            <a:spLocks noGrp="1"/>
          </p:cNvSpPr>
          <p:nvPr>
            <p:ph type="ftr" sz="quarter" idx="11"/>
          </p:nvPr>
        </p:nvSpPr>
        <p:spPr/>
        <p:txBody>
          <a:bodyPr/>
          <a:lstStyle/>
          <a:p>
            <a:r>
              <a:rPr lang="en-US" smtClean="0"/>
              <a:t>Chapter 5 System modeling</a:t>
            </a:r>
            <a:endParaRPr lang="en-US"/>
          </a:p>
        </p:txBody>
      </p:sp>
      <p:sp>
        <p:nvSpPr>
          <p:cNvPr id="5" name="Slide Number Placeholder 4"/>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627229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655690-6113-41F8-94DC-4AA8045A8E79}" type="datetime1">
              <a:rPr lang="en-US" smtClean="0"/>
              <a:t>12/20/2021</a:t>
            </a:fld>
            <a:endParaRPr lang="en-US"/>
          </a:p>
        </p:txBody>
      </p:sp>
      <p:sp>
        <p:nvSpPr>
          <p:cNvPr id="3" name="Footer Placeholder 2"/>
          <p:cNvSpPr>
            <a:spLocks noGrp="1"/>
          </p:cNvSpPr>
          <p:nvPr>
            <p:ph type="ftr" sz="quarter" idx="11"/>
          </p:nvPr>
        </p:nvSpPr>
        <p:spPr/>
        <p:txBody>
          <a:bodyPr/>
          <a:lstStyle/>
          <a:p>
            <a:r>
              <a:rPr lang="en-US" smtClean="0"/>
              <a:t>Chapter 5 System modeling</a:t>
            </a:r>
            <a:endParaRPr lang="en-US"/>
          </a:p>
        </p:txBody>
      </p:sp>
      <p:sp>
        <p:nvSpPr>
          <p:cNvPr id="4" name="Slide Number Placeholder 3"/>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623768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E923DB1-1627-43DA-9464-BF057DE9BA23}" type="datetime1">
              <a:rPr lang="en-US" smtClean="0"/>
              <a:t>12/20/2021</a:t>
            </a:fld>
            <a:endParaRPr lang="en-US"/>
          </a:p>
        </p:txBody>
      </p:sp>
      <p:sp>
        <p:nvSpPr>
          <p:cNvPr id="6" name="Footer Placeholder 5"/>
          <p:cNvSpPr>
            <a:spLocks noGrp="1"/>
          </p:cNvSpPr>
          <p:nvPr>
            <p:ph type="ftr" sz="quarter" idx="11"/>
          </p:nvPr>
        </p:nvSpPr>
        <p:spPr/>
        <p:txBody>
          <a:bodyPr/>
          <a:lstStyle/>
          <a:p>
            <a:r>
              <a:rPr lang="en-US" smtClean="0"/>
              <a:t>Chapter 5 System modeling</a:t>
            </a:r>
            <a:endParaRPr lang="en-US"/>
          </a:p>
        </p:txBody>
      </p:sp>
      <p:sp>
        <p:nvSpPr>
          <p:cNvPr id="7" name="Slide Number Placeholder 6"/>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50083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AA01C0C-F736-4CB5-ACE8-895E2E466F5E}" type="datetime1">
              <a:rPr lang="en-US" smtClean="0"/>
              <a:t>12/20/2021</a:t>
            </a:fld>
            <a:endParaRPr lang="en-US"/>
          </a:p>
        </p:txBody>
      </p:sp>
      <p:sp>
        <p:nvSpPr>
          <p:cNvPr id="6" name="Footer Placeholder 5"/>
          <p:cNvSpPr>
            <a:spLocks noGrp="1"/>
          </p:cNvSpPr>
          <p:nvPr>
            <p:ph type="ftr" sz="quarter" idx="11"/>
          </p:nvPr>
        </p:nvSpPr>
        <p:spPr/>
        <p:txBody>
          <a:bodyPr/>
          <a:lstStyle/>
          <a:p>
            <a:r>
              <a:rPr lang="en-US" smtClean="0"/>
              <a:t>Chapter 5 System modeling</a:t>
            </a:r>
            <a:endParaRPr lang="en-US"/>
          </a:p>
        </p:txBody>
      </p:sp>
      <p:sp>
        <p:nvSpPr>
          <p:cNvPr id="7" name="Slide Number Placeholder 6"/>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2797296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1A5A66A-8B59-4D81-9A72-EF45859596EE}" type="datetime1">
              <a:rPr lang="en-US" smtClean="0"/>
              <a:t>12/20/2021</a:t>
            </a:fld>
            <a:endParaRPr lang="en-US"/>
          </a:p>
        </p:txBody>
      </p:sp>
      <p:sp>
        <p:nvSpPr>
          <p:cNvPr id="5" name="Footer Placeholder 4"/>
          <p:cNvSpPr>
            <a:spLocks noGrp="1"/>
          </p:cNvSpPr>
          <p:nvPr>
            <p:ph type="ftr" sz="quarter" idx="11"/>
          </p:nvPr>
        </p:nvSpPr>
        <p:spPr/>
        <p:txBody>
          <a:bodyPr/>
          <a:lstStyle/>
          <a:p>
            <a:r>
              <a:rPr lang="en-US" smtClean="0"/>
              <a:t>Chapter 5 System modeling</a:t>
            </a:r>
            <a:endParaRPr lang="en-US"/>
          </a:p>
        </p:txBody>
      </p:sp>
      <p:sp>
        <p:nvSpPr>
          <p:cNvPr id="6" name="Slide Number Placeholder 5"/>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3666766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EC87BF-C38F-4594-B1A9-E56D93ACF4B0}" type="datetime1">
              <a:rPr lang="en-US" smtClean="0"/>
              <a:t>12/20/2021</a:t>
            </a:fld>
            <a:endParaRPr lang="en-US"/>
          </a:p>
        </p:txBody>
      </p:sp>
      <p:sp>
        <p:nvSpPr>
          <p:cNvPr id="5" name="Footer Placeholder 4"/>
          <p:cNvSpPr>
            <a:spLocks noGrp="1"/>
          </p:cNvSpPr>
          <p:nvPr>
            <p:ph type="ftr" sz="quarter" idx="11"/>
          </p:nvPr>
        </p:nvSpPr>
        <p:spPr/>
        <p:txBody>
          <a:bodyPr/>
          <a:lstStyle/>
          <a:p>
            <a:r>
              <a:rPr lang="en-US" smtClean="0"/>
              <a:t>Chapter 5 System modeling</a:t>
            </a:r>
            <a:endParaRPr lang="en-US"/>
          </a:p>
        </p:txBody>
      </p:sp>
      <p:sp>
        <p:nvSpPr>
          <p:cNvPr id="6" name="Slide Number Placeholder 5"/>
          <p:cNvSpPr>
            <a:spLocks noGrp="1"/>
          </p:cNvSpPr>
          <p:nvPr>
            <p:ph type="sldNum" sz="quarter" idx="12"/>
          </p:nvPr>
        </p:nvSpPr>
        <p:spPr/>
        <p:txBody>
          <a:bodyPr/>
          <a:lstStyle/>
          <a:p>
            <a:fld id="{4C4801FB-9CF5-4898-86FE-D956CE9C8A17}" type="slidenum">
              <a:rPr lang="en-US" smtClean="0"/>
              <a:t>‹#›</a:t>
            </a:fld>
            <a:endParaRPr lang="en-US"/>
          </a:p>
        </p:txBody>
      </p:sp>
    </p:spTree>
    <p:extLst>
      <p:ext uri="{BB962C8B-B14F-4D97-AF65-F5344CB8AC3E}">
        <p14:creationId xmlns:p14="http://schemas.microsoft.com/office/powerpoint/2010/main" val="4502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5600" y="263525"/>
            <a:ext cx="10515600" cy="828675"/>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CE73AF-B365-4AB3-9C1A-47700A0C25B2}" type="datetime1">
              <a:rPr lang="en-US" smtClean="0"/>
              <a:t>12/20/2021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Chapter 5 System modeling</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480800" y="1"/>
            <a:ext cx="711200" cy="711200"/>
          </a:xfrm>
          <a:prstGeom prst="rect">
            <a:avLst/>
          </a:prstGeom>
        </p:spPr>
      </p:pic>
    </p:spTree>
    <p:extLst>
      <p:ext uri="{BB962C8B-B14F-4D97-AF65-F5344CB8AC3E}">
        <p14:creationId xmlns:p14="http://schemas.microsoft.com/office/powerpoint/2010/main" val="1443888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000" kern="1200">
          <a:solidFill>
            <a:srgbClr val="00206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Software Engineering</a:t>
            </a:r>
            <a:endParaRPr lang="en-US" dirty="0"/>
          </a:p>
        </p:txBody>
      </p:sp>
      <p:sp>
        <p:nvSpPr>
          <p:cNvPr id="3" name="Subtitle 2"/>
          <p:cNvSpPr>
            <a:spLocks noGrp="1"/>
          </p:cNvSpPr>
          <p:nvPr>
            <p:ph type="subTitle" idx="1"/>
          </p:nvPr>
        </p:nvSpPr>
        <p:spPr/>
        <p:txBody>
          <a:bodyPr/>
          <a:lstStyle/>
          <a:p>
            <a:r>
              <a:rPr lang="en-US" dirty="0" smtClean="0"/>
              <a:t>System Modeling </a:t>
            </a:r>
            <a:endParaRPr lang="en-US" dirty="0"/>
          </a:p>
        </p:txBody>
      </p:sp>
    </p:spTree>
    <p:extLst>
      <p:ext uri="{BB962C8B-B14F-4D97-AF65-F5344CB8AC3E}">
        <p14:creationId xmlns:p14="http://schemas.microsoft.com/office/powerpoint/2010/main" val="41580455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Topics covered</a:t>
            </a:r>
          </a:p>
        </p:txBody>
      </p:sp>
      <p:sp>
        <p:nvSpPr>
          <p:cNvPr id="5123" name="Content Placeholder 2"/>
          <p:cNvSpPr>
            <a:spLocks noGrp="1"/>
          </p:cNvSpPr>
          <p:nvPr>
            <p:ph idx="1"/>
          </p:nvPr>
        </p:nvSpPr>
        <p:spPr bwMode="auto">
          <a:xfrm>
            <a:off x="838200" y="1548606"/>
            <a:ext cx="10515600" cy="4351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lnSpc>
                <a:spcPct val="200000"/>
              </a:lnSpc>
              <a:buFont typeface="Wingdings" panose="05000000000000000000" pitchFamily="2" charset="2"/>
              <a:buChar char="Ø"/>
            </a:pPr>
            <a:r>
              <a:rPr lang="en-US" altLang="en-US" b="1" i="1" dirty="0" smtClean="0">
                <a:ea typeface="ＭＳ Ｐゴシック" panose="020B0600070205080204" pitchFamily="34" charset="-128"/>
              </a:rPr>
              <a:t>Context models</a:t>
            </a:r>
            <a:endParaRPr lang="en-GB" altLang="en-US" b="1" i="1" dirty="0" smtClean="0">
              <a:ea typeface="ＭＳ Ｐゴシック" panose="020B0600070205080204" pitchFamily="34" charset="-128"/>
            </a:endParaRPr>
          </a:p>
          <a:p>
            <a:pPr eaLnBrk="1" hangingPunct="1">
              <a:lnSpc>
                <a:spcPct val="200000"/>
              </a:lnSpc>
              <a:buFont typeface="Wingdings" panose="05000000000000000000" pitchFamily="2" charset="2"/>
              <a:buChar char="Ø"/>
            </a:pPr>
            <a:r>
              <a:rPr lang="en-US" altLang="en-US" b="1" i="1" dirty="0" smtClean="0">
                <a:ea typeface="ＭＳ Ｐゴシック" panose="020B0600070205080204" pitchFamily="34" charset="-128"/>
              </a:rPr>
              <a:t>Interaction models</a:t>
            </a:r>
            <a:endParaRPr lang="en-GB" altLang="en-US" b="1" i="1" dirty="0" smtClean="0">
              <a:ea typeface="ＭＳ Ｐゴシック" panose="020B0600070205080204" pitchFamily="34" charset="-128"/>
            </a:endParaRPr>
          </a:p>
          <a:p>
            <a:pPr eaLnBrk="1" hangingPunct="1">
              <a:lnSpc>
                <a:spcPct val="200000"/>
              </a:lnSpc>
              <a:buFont typeface="Wingdings" panose="05000000000000000000" pitchFamily="2" charset="2"/>
              <a:buChar char="Ø"/>
            </a:pPr>
            <a:r>
              <a:rPr lang="en-US" altLang="en-US" b="1" i="1" dirty="0" smtClean="0">
                <a:ea typeface="ＭＳ Ｐゴシック" panose="020B0600070205080204" pitchFamily="34" charset="-128"/>
              </a:rPr>
              <a:t>Structural models</a:t>
            </a:r>
            <a:endParaRPr lang="en-GB" altLang="en-US" b="1" i="1" dirty="0" smtClean="0">
              <a:ea typeface="ＭＳ Ｐゴシック" panose="020B0600070205080204" pitchFamily="34" charset="-128"/>
            </a:endParaRPr>
          </a:p>
          <a:p>
            <a:pPr eaLnBrk="1" hangingPunct="1">
              <a:lnSpc>
                <a:spcPct val="200000"/>
              </a:lnSpc>
              <a:buFont typeface="Wingdings" panose="05000000000000000000" pitchFamily="2" charset="2"/>
              <a:buChar char="Ø"/>
            </a:pPr>
            <a:r>
              <a:rPr lang="en-US" altLang="en-US" b="1" i="1" dirty="0" smtClean="0">
                <a:ea typeface="ＭＳ Ｐゴシック" panose="020B0600070205080204" pitchFamily="34" charset="-128"/>
              </a:rPr>
              <a:t>Behavioral models</a:t>
            </a:r>
            <a:endParaRPr lang="en-GB" altLang="en-US" b="1" i="1" dirty="0" smtClean="0">
              <a:ea typeface="ＭＳ Ｐゴシック" panose="020B0600070205080204" pitchFamily="34" charset="-128"/>
            </a:endParaRPr>
          </a:p>
          <a:p>
            <a:pPr eaLnBrk="1" hangingPunct="1">
              <a:lnSpc>
                <a:spcPct val="200000"/>
              </a:lnSpc>
              <a:buFont typeface="Wingdings" panose="05000000000000000000" pitchFamily="2" charset="2"/>
              <a:buChar char="Ø"/>
            </a:pPr>
            <a:r>
              <a:rPr lang="en-US" altLang="en-US" b="1" i="1" dirty="0" smtClean="0">
                <a:ea typeface="ＭＳ Ｐゴシック" panose="020B0600070205080204" pitchFamily="34" charset="-128"/>
              </a:rPr>
              <a:t>Model-driven engineering</a:t>
            </a:r>
            <a:r>
              <a:rPr lang="en-GB" altLang="en-US" b="1" i="1" dirty="0" smtClean="0">
                <a:ea typeface="ＭＳ Ｐゴシック" panose="020B0600070205080204" pitchFamily="34" charset="-128"/>
              </a:rPr>
              <a:t> </a:t>
            </a:r>
            <a:endParaRPr lang="en-US" altLang="en-US" b="1" i="1" dirty="0" smtClean="0">
              <a:ea typeface="ＭＳ Ｐゴシック" panose="020B0600070205080204" pitchFamily="34" charset="-128"/>
            </a:endParaRPr>
          </a:p>
        </p:txBody>
      </p:sp>
    </p:spTree>
    <p:extLst>
      <p:ext uri="{BB962C8B-B14F-4D97-AF65-F5344CB8AC3E}">
        <p14:creationId xmlns:p14="http://schemas.microsoft.com/office/powerpoint/2010/main" val="117355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vert="horz" lIns="90487" tIns="44450" rIns="90487" bIns="44450" rtlCol="0" anchor="ctr">
            <a:normAutofit/>
          </a:bodyPr>
          <a:lstStyle/>
          <a:p>
            <a:pPr eaLnBrk="1" hangingPunct="1"/>
            <a:r>
              <a:rPr lang="en-GB" altLang="en-US" smtClean="0">
                <a:latin typeface="Arial" panose="020B0604020202020204" pitchFamily="34" charset="0"/>
                <a:ea typeface="ＭＳ Ｐゴシック" panose="020B0600070205080204" pitchFamily="34" charset="-128"/>
                <a:cs typeface="Arial" panose="020B0604020202020204" pitchFamily="34" charset="0"/>
              </a:rPr>
              <a:t>Existing and planned system models</a:t>
            </a:r>
          </a:p>
        </p:txBody>
      </p:sp>
      <p:sp>
        <p:nvSpPr>
          <p:cNvPr id="6147"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7" tIns="44450" rIns="90487" bIns="44450" numCol="1" rtlCol="0" anchor="t" anchorCtr="0" compatLnSpc="1">
            <a:prstTxWarp prst="textNoShape">
              <a:avLst/>
            </a:prstTxWarp>
            <a:normAutofit/>
          </a:bodyPr>
          <a:lstStyle/>
          <a:p>
            <a:pPr eaLnBrk="1" hangingPunct="1">
              <a:lnSpc>
                <a:spcPct val="150000"/>
              </a:lnSpc>
              <a:buFont typeface="Wingdings" panose="05000000000000000000" pitchFamily="2" charset="2"/>
              <a:buChar char="Ø"/>
            </a:pPr>
            <a:r>
              <a:rPr lang="en-US" altLang="en-US" dirty="0">
                <a:ea typeface="ＭＳ Ｐゴシック" panose="020B0600070205080204" pitchFamily="34" charset="-128"/>
              </a:rPr>
              <a:t>Model the existing system - clarify minimum needs and current process</a:t>
            </a:r>
            <a:endParaRPr lang="en-GB" altLang="en-US" dirty="0">
              <a:ea typeface="ＭＳ Ｐゴシック" panose="020B0600070205080204" pitchFamily="34" charset="-128"/>
            </a:endParaRPr>
          </a:p>
          <a:p>
            <a:pPr eaLnBrk="1" hangingPunct="1">
              <a:lnSpc>
                <a:spcPct val="150000"/>
              </a:lnSpc>
              <a:buFont typeface="Wingdings" panose="05000000000000000000" pitchFamily="2" charset="2"/>
              <a:buChar char="Ø"/>
            </a:pPr>
            <a:r>
              <a:rPr lang="en-US" altLang="en-US" dirty="0">
                <a:ea typeface="ＭＳ Ｐゴシック" panose="020B0600070205080204" pitchFamily="34" charset="-128"/>
              </a:rPr>
              <a:t>Model the new system - discuss new system requirements</a:t>
            </a:r>
          </a:p>
          <a:p>
            <a:pPr eaLnBrk="1" hangingPunct="1">
              <a:lnSpc>
                <a:spcPct val="150000"/>
              </a:lnSpc>
              <a:buFont typeface="Wingdings" panose="05000000000000000000" pitchFamily="2" charset="2"/>
              <a:buChar char="Ø"/>
            </a:pPr>
            <a:r>
              <a:rPr lang="en-US" altLang="en-US" dirty="0">
                <a:ea typeface="ＭＳ Ｐゴシック" panose="020B0600070205080204" pitchFamily="34" charset="-128"/>
              </a:rPr>
              <a:t>In a model-driven engineering process, use MDA (model driven architecture) to create code from the models.</a:t>
            </a:r>
            <a:endParaRPr lang="en-GB" altLang="en-US" dirty="0" smtClean="0">
              <a:ea typeface="ＭＳ Ｐゴシック" panose="020B0600070205080204" pitchFamily="34" charset="-128"/>
            </a:endParaRPr>
          </a:p>
          <a:p>
            <a:pPr eaLnBrk="1" hangingPunct="1">
              <a:buFont typeface="Wingdings" panose="05000000000000000000" pitchFamily="2" charset="2"/>
              <a:buChar char="²"/>
            </a:pPr>
            <a:endParaRPr lang="en-GB" altLang="en-US" sz="20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3500406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System perspectives</a:t>
            </a:r>
          </a:p>
        </p:txBody>
      </p:sp>
      <p:sp>
        <p:nvSpPr>
          <p:cNvPr id="3" name="Content Placeholder 2"/>
          <p:cNvSpPr>
            <a:spLocks noGrp="1"/>
          </p:cNvSpPr>
          <p:nvPr>
            <p:ph idx="1"/>
          </p:nvPr>
        </p:nvSpPr>
        <p:spPr/>
        <p:txBody>
          <a:bodyPr/>
          <a:lstStyle/>
          <a:p>
            <a:pPr eaLnBrk="1" hangingPunct="1">
              <a:defRPr/>
            </a:pPr>
            <a:r>
              <a:rPr lang="en-US" b="1" i="1" dirty="0" smtClean="0"/>
              <a:t>External </a:t>
            </a:r>
          </a:p>
          <a:p>
            <a:pPr lvl="1" eaLnBrk="1" hangingPunct="1">
              <a:defRPr/>
            </a:pPr>
            <a:r>
              <a:rPr lang="en-US" dirty="0" smtClean="0"/>
              <a:t> context and environment  (context model)</a:t>
            </a:r>
            <a:endParaRPr lang="en-GB" dirty="0" smtClean="0"/>
          </a:p>
          <a:p>
            <a:pPr>
              <a:defRPr/>
            </a:pPr>
            <a:r>
              <a:rPr lang="en-US" b="1" i="1" dirty="0"/>
              <a:t>Interaction </a:t>
            </a:r>
          </a:p>
          <a:p>
            <a:pPr lvl="1" eaLnBrk="1" hangingPunct="1">
              <a:defRPr/>
            </a:pPr>
            <a:r>
              <a:rPr lang="en-US" dirty="0" smtClean="0"/>
              <a:t>Between system and its external environment (use case)</a:t>
            </a:r>
          </a:p>
          <a:p>
            <a:pPr lvl="1" eaLnBrk="1" hangingPunct="1">
              <a:defRPr/>
            </a:pPr>
            <a:r>
              <a:rPr lang="en-US" dirty="0" smtClean="0"/>
              <a:t>Between the components of a system. (sequence diagram)</a:t>
            </a:r>
            <a:endParaRPr lang="en-GB" dirty="0" smtClean="0"/>
          </a:p>
          <a:p>
            <a:pPr>
              <a:defRPr/>
            </a:pPr>
            <a:r>
              <a:rPr lang="en-US" b="1" i="1" dirty="0"/>
              <a:t>Structural</a:t>
            </a:r>
          </a:p>
          <a:p>
            <a:pPr lvl="1" eaLnBrk="1" hangingPunct="1">
              <a:defRPr/>
            </a:pPr>
            <a:r>
              <a:rPr lang="en-US" dirty="0" smtClean="0"/>
              <a:t>organization of a system (class diagram)</a:t>
            </a:r>
          </a:p>
          <a:p>
            <a:pPr lvl="1" eaLnBrk="1" hangingPunct="1">
              <a:defRPr/>
            </a:pPr>
            <a:r>
              <a:rPr lang="en-US" dirty="0" smtClean="0"/>
              <a:t>structure of the data  </a:t>
            </a:r>
            <a:endParaRPr lang="en-GB" dirty="0" smtClean="0"/>
          </a:p>
          <a:p>
            <a:pPr>
              <a:defRPr/>
            </a:pPr>
            <a:r>
              <a:rPr lang="en-US" b="1" i="1" dirty="0"/>
              <a:t>Behavioral </a:t>
            </a:r>
          </a:p>
          <a:p>
            <a:pPr lvl="1" eaLnBrk="1" hangingPunct="1">
              <a:defRPr/>
            </a:pPr>
            <a:r>
              <a:rPr lang="en-US" dirty="0" smtClean="0"/>
              <a:t>Response to events (state diagram, activity diagram)</a:t>
            </a:r>
          </a:p>
          <a:p>
            <a:pPr marL="0" indent="0">
              <a:buNone/>
              <a:defRPr/>
            </a:pPr>
            <a:endParaRPr lang="en-GB" dirty="0" smtClean="0"/>
          </a:p>
          <a:p>
            <a:pPr eaLnBrk="1" hangingPunct="1">
              <a:defRPr/>
            </a:pPr>
            <a:endParaRPr lang="en-US" dirty="0"/>
          </a:p>
        </p:txBody>
      </p:sp>
    </p:spTree>
    <p:extLst>
      <p:ext uri="{BB962C8B-B14F-4D97-AF65-F5344CB8AC3E}">
        <p14:creationId xmlns:p14="http://schemas.microsoft.com/office/powerpoint/2010/main" val="717981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Use of graphical models</a:t>
            </a:r>
          </a:p>
        </p:txBody>
      </p:sp>
      <p:sp>
        <p:nvSpPr>
          <p:cNvPr id="8195" name="Content Placeholder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Char char="Ø"/>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facilitating discussion </a:t>
            </a:r>
          </a:p>
          <a:p>
            <a:pPr lvl="1" eaLnBrk="1" hangingPunct="1">
              <a:buFont typeface="Wingdings" panose="05000000000000000000" pitchFamily="2" charset="2"/>
              <a:buChar char="§"/>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Incomplete and incorrect models are OK as their role is to support discussion.</a:t>
            </a:r>
          </a:p>
          <a:p>
            <a:pPr lvl="1" eaLnBrk="1" hangingPunct="1">
              <a:buFont typeface="Wingdings" panose="05000000000000000000" pitchFamily="2" charset="2"/>
              <a:buChar char="§"/>
            </a:pPr>
            <a:endParaRPr lang="en-GB" altLang="en-US" dirty="0" smtClean="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Ø"/>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documenting an existing system</a:t>
            </a:r>
          </a:p>
          <a:p>
            <a:pPr lvl="1" eaLnBrk="1" hangingPunct="1">
              <a:buFont typeface="Wingdings" panose="05000000000000000000" pitchFamily="2" charset="2"/>
              <a:buChar char="§"/>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accurate representation of the system but need not be complete.</a:t>
            </a:r>
          </a:p>
          <a:p>
            <a:pPr lvl="1" eaLnBrk="1" hangingPunct="1">
              <a:buFont typeface="Wingdings" panose="05000000000000000000" pitchFamily="2" charset="2"/>
              <a:buChar char="§"/>
            </a:pPr>
            <a:endParaRPr lang="en-GB" altLang="en-US" dirty="0" smtClean="0">
              <a:latin typeface="Arial" panose="020B0604020202020204" pitchFamily="34" charset="0"/>
              <a:ea typeface="ＭＳ Ｐゴシック" panose="020B0600070205080204" pitchFamily="34" charset="-128"/>
              <a:cs typeface="Arial" panose="020B0604020202020204" pitchFamily="34" charset="0"/>
            </a:endParaRPr>
          </a:p>
          <a:p>
            <a:pPr>
              <a:buFont typeface="Wingdings" panose="05000000000000000000" pitchFamily="2" charset="2"/>
              <a:buChar char="Ø"/>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basis for system implementation  </a:t>
            </a:r>
          </a:p>
          <a:p>
            <a:pPr lvl="1" eaLnBrk="1" hangingPunct="1">
              <a:buFont typeface="Wingdings" panose="05000000000000000000" pitchFamily="2" charset="2"/>
              <a:buChar char="§"/>
            </a:pPr>
            <a:r>
              <a:rPr lang="en-US" altLang="en-US" dirty="0" smtClean="0">
                <a:latin typeface="Arial" panose="020B0604020202020204" pitchFamily="34" charset="0"/>
                <a:ea typeface="ＭＳ Ｐゴシック" panose="020B0600070205080204" pitchFamily="34" charset="-128"/>
                <a:cs typeface="Arial" panose="020B0604020202020204" pitchFamily="34" charset="0"/>
              </a:rPr>
              <a:t>Models have to be both correct and complete.</a:t>
            </a:r>
            <a:endParaRPr lang="en-GB"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buFont typeface="Wingdings" panose="05000000000000000000" pitchFamily="2" charset="2"/>
              <a:buChar char="²"/>
            </a:pP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9161683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GB" altLang="en-US" smtClean="0">
                <a:latin typeface="Arial" panose="020B0604020202020204" pitchFamily="34" charset="0"/>
                <a:ea typeface="ＭＳ Ｐゴシック" panose="020B0600070205080204" pitchFamily="34" charset="-128"/>
                <a:cs typeface="Arial" panose="020B0604020202020204" pitchFamily="34" charset="0"/>
              </a:rPr>
              <a:t>Context models</a:t>
            </a:r>
          </a:p>
        </p:txBody>
      </p:sp>
      <p:sp>
        <p:nvSpPr>
          <p:cNvPr id="9219"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Char char="Ø"/>
            </a:pPr>
            <a:r>
              <a:rPr lang="en-GB" altLang="en-US" dirty="0" smtClean="0">
                <a:ea typeface="ＭＳ Ｐゴシック" panose="020B0600070205080204" pitchFamily="34" charset="-128"/>
              </a:rPr>
              <a:t>Context models </a:t>
            </a:r>
          </a:p>
          <a:p>
            <a:pPr lvl="1" eaLnBrk="1" hangingPunct="1">
              <a:buFont typeface="Wingdings" panose="05000000000000000000" pitchFamily="2" charset="2"/>
              <a:buChar char="§"/>
            </a:pPr>
            <a:r>
              <a:rPr lang="en-GB" altLang="en-US" dirty="0" smtClean="0">
                <a:ea typeface="ＭＳ Ｐゴシック" panose="020B0600070205080204" pitchFamily="34" charset="-128"/>
              </a:rPr>
              <a:t>Show what lies outside the system boundaries.</a:t>
            </a:r>
          </a:p>
          <a:p>
            <a:pPr lvl="1" eaLnBrk="1" hangingPunct="1">
              <a:buFont typeface="Wingdings" panose="05000000000000000000" pitchFamily="2" charset="2"/>
              <a:buChar char="§"/>
            </a:pPr>
            <a:r>
              <a:rPr lang="en-GB" altLang="en-US" dirty="0" smtClean="0">
                <a:ea typeface="ＭＳ Ｐゴシック" panose="020B0600070205080204" pitchFamily="34" charset="-128"/>
              </a:rPr>
              <a:t>Does not show process or how the systems interact</a:t>
            </a:r>
          </a:p>
          <a:p>
            <a:pPr lvl="1" eaLnBrk="1" hangingPunct="1">
              <a:buFont typeface="Wingdings" panose="05000000000000000000" pitchFamily="2" charset="2"/>
              <a:buChar char="§"/>
            </a:pPr>
            <a:endParaRPr lang="en-GB" altLang="en-US" dirty="0" smtClean="0">
              <a:ea typeface="ＭＳ Ｐゴシック" panose="020B0600070205080204" pitchFamily="34" charset="-128"/>
            </a:endParaRPr>
          </a:p>
          <a:p>
            <a:pPr eaLnBrk="1" hangingPunct="1">
              <a:buFont typeface="Wingdings" panose="05000000000000000000" pitchFamily="2" charset="2"/>
              <a:buChar char="Ø"/>
            </a:pPr>
            <a:r>
              <a:rPr lang="en-GB" altLang="en-US" dirty="0" smtClean="0">
                <a:ea typeface="ＭＳ Ｐゴシック" panose="020B0600070205080204" pitchFamily="34" charset="-128"/>
              </a:rPr>
              <a:t> Must first determine system boundaries</a:t>
            </a:r>
          </a:p>
          <a:p>
            <a:pPr lvl="1" eaLnBrk="1" hangingPunct="1">
              <a:buFont typeface="Wingdings" panose="05000000000000000000" pitchFamily="2" charset="2"/>
              <a:buChar char="§"/>
            </a:pPr>
            <a:r>
              <a:rPr lang="en-US" altLang="en-US" dirty="0" smtClean="0">
                <a:ea typeface="ＭＳ Ｐゴシック" panose="020B0600070205080204" pitchFamily="34" charset="-128"/>
              </a:rPr>
              <a:t>Systems that need your system and those your system needs</a:t>
            </a:r>
          </a:p>
          <a:p>
            <a:pPr lvl="1" eaLnBrk="1" hangingPunct="1">
              <a:buFont typeface="Wingdings" panose="05000000000000000000" pitchFamily="2" charset="2"/>
              <a:buChar char="§"/>
            </a:pPr>
            <a:r>
              <a:rPr lang="en-US" altLang="en-US" dirty="0" smtClean="0">
                <a:ea typeface="ＭＳ Ｐゴシック" panose="020B0600070205080204" pitchFamily="34" charset="-128"/>
              </a:rPr>
              <a:t>Profoundly effects system requirements</a:t>
            </a:r>
          </a:p>
          <a:p>
            <a:pPr lvl="1" eaLnBrk="1" hangingPunct="1">
              <a:buFont typeface="Wingdings" panose="05000000000000000000" pitchFamily="2" charset="2"/>
              <a:buChar char="§"/>
            </a:pPr>
            <a:r>
              <a:rPr lang="en-US" altLang="en-US" dirty="0" smtClean="0">
                <a:ea typeface="ＭＳ Ｐゴシック" panose="020B0600070205080204" pitchFamily="34" charset="-128"/>
              </a:rPr>
              <a:t>Political judgment </a:t>
            </a:r>
          </a:p>
          <a:p>
            <a:pPr marL="457200" lvl="1" indent="0" eaLnBrk="1" hangingPunct="1">
              <a:buNone/>
            </a:pP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lvl="2" eaLnBrk="1" hangingPunct="1"/>
            <a:r>
              <a:rPr lang="en-US" altLang="en-US" dirty="0" smtClean="0">
                <a:ea typeface="ＭＳ Ｐゴシック" panose="020B0600070205080204" pitchFamily="34" charset="-128"/>
              </a:rPr>
              <a:t>The boundary will often effect workflows in different departments </a:t>
            </a:r>
          </a:p>
          <a:p>
            <a:pPr eaLnBrk="1" hangingPunct="1">
              <a:buFont typeface="Wingdings" panose="05000000000000000000" pitchFamily="2" charset="2"/>
              <a:buChar char="²"/>
            </a:pPr>
            <a:endParaRPr lang="en-GB"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130311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context of the MHC-PMS</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10243" name="Picture 3" descr="5.1 MHCPMS-Context.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1665289"/>
            <a:ext cx="7277100" cy="379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95709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UML Activity Diagrams - behavior</a:t>
            </a:r>
          </a:p>
        </p:txBody>
      </p:sp>
      <p:sp>
        <p:nvSpPr>
          <p:cNvPr id="4" name="Content Placeholder 3"/>
          <p:cNvSpPr>
            <a:spLocks noGrp="1"/>
          </p:cNvSpPr>
          <p:nvPr>
            <p:ph idx="1"/>
          </p:nvPr>
        </p:nvSpPr>
        <p:spPr>
          <a:xfrm>
            <a:off x="571500" y="1384300"/>
            <a:ext cx="10744200" cy="4792663"/>
          </a:xfrm>
        </p:spPr>
        <p:txBody>
          <a:bodyPr/>
          <a:lstStyle/>
          <a:p>
            <a:pPr eaLnBrk="1" hangingPunct="1">
              <a:defRPr/>
            </a:pPr>
            <a:r>
              <a:rPr lang="en-US" sz="1800" dirty="0"/>
              <a:t>Can be used to define high level business process or workflows</a:t>
            </a:r>
          </a:p>
          <a:p>
            <a:pPr lvl="1" eaLnBrk="1" hangingPunct="1">
              <a:defRPr/>
            </a:pPr>
            <a:r>
              <a:rPr lang="en-US" sz="1600" dirty="0"/>
              <a:t>Shows how the system will be used at a high level</a:t>
            </a:r>
          </a:p>
          <a:p>
            <a:pPr lvl="1" eaLnBrk="1" hangingPunct="1">
              <a:defRPr/>
            </a:pPr>
            <a:r>
              <a:rPr lang="en-US" sz="1600" dirty="0"/>
              <a:t>Order of activity made of many actions  </a:t>
            </a:r>
          </a:p>
          <a:p>
            <a:pPr lvl="1" eaLnBrk="1" hangingPunct="1">
              <a:defRPr/>
            </a:pPr>
            <a:r>
              <a:rPr lang="en-US" sz="1600" dirty="0"/>
              <a:t>Different from flowcharts - </a:t>
            </a:r>
            <a:r>
              <a:rPr lang="en-US" sz="1400" dirty="0"/>
              <a:t>Support parallel behavior</a:t>
            </a:r>
          </a:p>
          <a:p>
            <a:pPr lvl="1" eaLnBrk="1" hangingPunct="1">
              <a:defRPr/>
            </a:pPr>
            <a:r>
              <a:rPr lang="en-US" sz="1600" dirty="0"/>
              <a:t>Shows essential </a:t>
            </a:r>
            <a:r>
              <a:rPr lang="en-US" sz="1600" dirty="0" smtClean="0"/>
              <a:t>sequencing</a:t>
            </a:r>
          </a:p>
          <a:p>
            <a:pPr marL="457200" lvl="1" indent="0" eaLnBrk="1" hangingPunct="1">
              <a:buNone/>
              <a:defRPr/>
            </a:pPr>
            <a:endParaRPr lang="en-US" sz="1600" dirty="0"/>
          </a:p>
          <a:p>
            <a:pPr eaLnBrk="1" hangingPunct="1">
              <a:defRPr/>
            </a:pPr>
            <a:r>
              <a:rPr lang="en-US" sz="1800" dirty="0"/>
              <a:t>Components </a:t>
            </a:r>
          </a:p>
          <a:p>
            <a:pPr lvl="1" eaLnBrk="1" hangingPunct="1">
              <a:defRPr/>
            </a:pPr>
            <a:r>
              <a:rPr lang="en-US" sz="1600" dirty="0"/>
              <a:t>Actions box - (can be a basis for another activity diagram)</a:t>
            </a:r>
          </a:p>
          <a:p>
            <a:pPr lvl="1" eaLnBrk="1" hangingPunct="1">
              <a:defRPr/>
            </a:pPr>
            <a:r>
              <a:rPr lang="en-US" sz="1600" dirty="0"/>
              <a:t>Process line</a:t>
            </a:r>
          </a:p>
          <a:p>
            <a:pPr lvl="2" eaLnBrk="1" hangingPunct="1">
              <a:buFont typeface="Arial" charset="0"/>
              <a:buChar char="•"/>
              <a:defRPr/>
            </a:pPr>
            <a:r>
              <a:rPr lang="en-US" sz="1400" dirty="0"/>
              <a:t>Fork line - one in and several out - multiple actions can start</a:t>
            </a:r>
          </a:p>
          <a:p>
            <a:pPr lvl="2" eaLnBrk="1" hangingPunct="1">
              <a:buFont typeface="Arial" charset="0"/>
              <a:buChar char="•"/>
              <a:defRPr/>
            </a:pPr>
            <a:r>
              <a:rPr lang="en-US" sz="1400" dirty="0"/>
              <a:t>Join line - close parallel actions - every action done by this line</a:t>
            </a:r>
          </a:p>
          <a:p>
            <a:pPr lvl="1" eaLnBrk="1" hangingPunct="1">
              <a:defRPr/>
            </a:pPr>
            <a:r>
              <a:rPr lang="en-US" sz="1600" dirty="0"/>
              <a:t>Condition diamonds - decisions</a:t>
            </a:r>
          </a:p>
          <a:p>
            <a:pPr lvl="2" eaLnBrk="1" hangingPunct="1">
              <a:buFont typeface="Arial" charset="0"/>
              <a:buChar char="•"/>
              <a:defRPr/>
            </a:pPr>
            <a:r>
              <a:rPr lang="en-US" sz="1400" dirty="0"/>
              <a:t>Branch diamond - start conditional</a:t>
            </a:r>
          </a:p>
          <a:p>
            <a:pPr lvl="2" eaLnBrk="1" hangingPunct="1">
              <a:buFont typeface="Arial" charset="0"/>
              <a:buChar char="•"/>
              <a:defRPr/>
            </a:pPr>
            <a:r>
              <a:rPr lang="en-US" sz="1400" dirty="0"/>
              <a:t>Merge diamond - join back to the flow</a:t>
            </a:r>
          </a:p>
          <a:p>
            <a:pPr lvl="1" eaLnBrk="1" hangingPunct="1">
              <a:defRPr/>
            </a:pPr>
            <a:r>
              <a:rPr lang="en-US" sz="1600" dirty="0"/>
              <a:t>Partition lines</a:t>
            </a:r>
          </a:p>
          <a:p>
            <a:pPr lvl="2" eaLnBrk="1" hangingPunct="1">
              <a:buFont typeface="Arial" charset="0"/>
              <a:buChar char="•"/>
              <a:defRPr/>
            </a:pPr>
            <a:r>
              <a:rPr lang="en-US" sz="1400" dirty="0"/>
              <a:t>Illustrate which system does what</a:t>
            </a:r>
          </a:p>
          <a:p>
            <a:pPr marL="457200" lvl="1" indent="0">
              <a:buNone/>
              <a:defRPr/>
            </a:pPr>
            <a:endParaRPr lang="en-US" dirty="0"/>
          </a:p>
        </p:txBody>
      </p:sp>
    </p:spTree>
    <p:extLst>
      <p:ext uri="{BB962C8B-B14F-4D97-AF65-F5344CB8AC3E}">
        <p14:creationId xmlns:p14="http://schemas.microsoft.com/office/powerpoint/2010/main" val="31061773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Process model of involuntary detention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12291" name="Picture 3" descr="5.2 DetentionProces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0100" y="1320800"/>
            <a:ext cx="105537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78295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Use case modeling - Interaction</a:t>
            </a:r>
          </a:p>
        </p:txBody>
      </p:sp>
      <p:sp>
        <p:nvSpPr>
          <p:cNvPr id="3" name="Content Placeholder 2"/>
          <p:cNvSpPr>
            <a:spLocks noGrp="1"/>
          </p:cNvSpPr>
          <p:nvPr>
            <p:ph idx="1"/>
          </p:nvPr>
        </p:nvSpPr>
        <p:spPr/>
        <p:txBody>
          <a:bodyPr/>
          <a:lstStyle/>
          <a:p>
            <a:pPr eaLnBrk="1" hangingPunct="1">
              <a:defRPr/>
            </a:pPr>
            <a:r>
              <a:rPr lang="en-US" sz="2000" b="1" dirty="0"/>
              <a:t>Originally developed for requirements phase</a:t>
            </a:r>
          </a:p>
          <a:p>
            <a:pPr lvl="1" eaLnBrk="1" hangingPunct="1">
              <a:defRPr/>
            </a:pPr>
            <a:r>
              <a:rPr lang="en-US" sz="1800" dirty="0"/>
              <a:t>Shows system boundary </a:t>
            </a:r>
          </a:p>
          <a:p>
            <a:pPr lvl="1" eaLnBrk="1" hangingPunct="1">
              <a:defRPr/>
            </a:pPr>
            <a:r>
              <a:rPr lang="en-US" sz="1800" dirty="0"/>
              <a:t>Shows interactions with the outside world</a:t>
            </a:r>
          </a:p>
          <a:p>
            <a:pPr eaLnBrk="1" hangingPunct="1">
              <a:defRPr/>
            </a:pPr>
            <a:r>
              <a:rPr lang="en-US" sz="2000" dirty="0"/>
              <a:t>Model discrete task - Set of scenarios with one goal</a:t>
            </a:r>
          </a:p>
          <a:p>
            <a:pPr eaLnBrk="1" hangingPunct="1">
              <a:defRPr/>
            </a:pPr>
            <a:r>
              <a:rPr lang="en-US" sz="2000" dirty="0"/>
              <a:t>Actors (roles)  may be people or other systems.</a:t>
            </a:r>
          </a:p>
          <a:p>
            <a:pPr eaLnBrk="1" hangingPunct="1">
              <a:defRPr/>
            </a:pPr>
            <a:r>
              <a:rPr lang="en-US" sz="2000" b="1" dirty="0"/>
              <a:t>Diagram or Text</a:t>
            </a:r>
          </a:p>
          <a:p>
            <a:pPr lvl="1" eaLnBrk="1" hangingPunct="1">
              <a:defRPr/>
            </a:pPr>
            <a:r>
              <a:rPr lang="en-US" sz="1800" dirty="0"/>
              <a:t>Start with the main success case</a:t>
            </a:r>
          </a:p>
          <a:p>
            <a:pPr lvl="1" eaLnBrk="1" hangingPunct="1">
              <a:defRPr/>
            </a:pPr>
            <a:r>
              <a:rPr lang="en-US" sz="1800" dirty="0"/>
              <a:t>Write the other scenarios into the case as extensions</a:t>
            </a:r>
          </a:p>
          <a:p>
            <a:pPr lvl="1" eaLnBrk="1" hangingPunct="1">
              <a:defRPr/>
            </a:pPr>
            <a:r>
              <a:rPr lang="en-US" sz="1800" dirty="0"/>
              <a:t>Can include other already defined use cases </a:t>
            </a:r>
          </a:p>
          <a:p>
            <a:pPr lvl="1" eaLnBrk="1" hangingPunct="1">
              <a:defRPr/>
            </a:pPr>
            <a:r>
              <a:rPr lang="en-US" sz="1800" dirty="0"/>
              <a:t>Pre-condition  / Guarantee at end / Trigger to start event</a:t>
            </a:r>
          </a:p>
          <a:p>
            <a:pPr lvl="1" eaLnBrk="1" hangingPunct="1">
              <a:defRPr/>
            </a:pPr>
            <a:r>
              <a:rPr lang="en-US" sz="1800" dirty="0"/>
              <a:t>Keep steps simple and show who is involved in each step</a:t>
            </a:r>
          </a:p>
          <a:p>
            <a:pPr marL="457200" lvl="1" indent="0">
              <a:buNone/>
              <a:defRPr/>
            </a:pPr>
            <a:endParaRPr lang="en-US" dirty="0"/>
          </a:p>
          <a:p>
            <a:pPr lvl="1" eaLnBrk="1" hangingPunct="1">
              <a:defRPr/>
            </a:pPr>
            <a:endParaRPr lang="en-US" dirty="0" smtClean="0"/>
          </a:p>
          <a:p>
            <a:pPr marL="0" indent="0">
              <a:buNone/>
              <a:defRPr/>
            </a:pPr>
            <a:endParaRPr lang="en-US" dirty="0"/>
          </a:p>
        </p:txBody>
      </p:sp>
    </p:spTree>
    <p:extLst>
      <p:ext uri="{BB962C8B-B14F-4D97-AF65-F5344CB8AC3E}">
        <p14:creationId xmlns:p14="http://schemas.microsoft.com/office/powerpoint/2010/main" val="42375883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Transfer-data use case</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14339"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eaLnBrk="1" hangingPunct="1">
              <a:buFont typeface="Wingdings" panose="05000000000000000000" pitchFamily="2" charset="2"/>
              <a:buChar char="²"/>
            </a:pPr>
            <a:r>
              <a:rPr lang="en-US" altLang="en-US" smtClean="0">
                <a:latin typeface="Arial" panose="020B0604020202020204" pitchFamily="34" charset="0"/>
                <a:ea typeface="ＭＳ Ｐゴシック" panose="020B0600070205080204" pitchFamily="34" charset="-128"/>
                <a:cs typeface="Arial" panose="020B0604020202020204" pitchFamily="34" charset="0"/>
              </a:rPr>
              <a:t>A use case in the MHC-PMS</a:t>
            </a:r>
          </a:p>
        </p:txBody>
      </p:sp>
      <p:pic>
        <p:nvPicPr>
          <p:cNvPr id="14340" name="Picture 3" descr="5.3 UseCase.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90775" y="3259139"/>
            <a:ext cx="74866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2150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Tabular description of the ‘Transfer data’ use-case</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89472534"/>
              </p:ext>
            </p:extLst>
          </p:nvPr>
        </p:nvGraphicFramePr>
        <p:xfrm>
          <a:off x="1308100" y="1333499"/>
          <a:ext cx="9398000" cy="4927599"/>
        </p:xfrm>
        <a:graphic>
          <a:graphicData uri="http://schemas.openxmlformats.org/drawingml/2006/table">
            <a:tbl>
              <a:tblPr/>
              <a:tblGrid>
                <a:gridCol w="2523939"/>
                <a:gridCol w="6874061"/>
              </a:tblGrid>
              <a:tr h="45169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MHC</a:t>
                      </a:r>
                      <a:r>
                        <a:rPr kumimoji="0" lang="en-GB" sz="1600" b="1" i="0" u="none" strike="noStrike" cap="none" normalizeH="0" baseline="0" dirty="0">
                          <a:ln>
                            <a:noFill/>
                          </a:ln>
                          <a:solidFill>
                            <a:srgbClr val="000000"/>
                          </a:solidFill>
                          <a:effectLst/>
                          <a:latin typeface="Arial" charset="0"/>
                          <a:ea typeface="Times New Roman" charset="0"/>
                        </a:rPr>
                        <a:t>-PMS: Transfer </a:t>
                      </a:r>
                      <a:r>
                        <a:rPr kumimoji="0" lang="en-GB" sz="1600" b="1" i="0" u="none" strike="noStrike" cap="none" normalizeH="0" baseline="0" dirty="0" smtClean="0">
                          <a:ln>
                            <a:noFill/>
                          </a:ln>
                          <a:solidFill>
                            <a:srgbClr val="000000"/>
                          </a:solidFill>
                          <a:effectLst/>
                          <a:latin typeface="Arial" charset="0"/>
                          <a:ea typeface="Times New Roman" charset="0"/>
                        </a:rPr>
                        <a:t>data</a:t>
                      </a:r>
                      <a:endParaRPr kumimoji="0" lang="en-GB" sz="1600" b="1"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4516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Actors</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177941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516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516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5169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970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Tree>
    <p:extLst>
      <p:ext uri="{BB962C8B-B14F-4D97-AF65-F5344CB8AC3E}">
        <p14:creationId xmlns:p14="http://schemas.microsoft.com/office/powerpoint/2010/main" val="3009529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fontScale="90000"/>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Use cases in the MHC-PMS involving the role ‘Medical Receptionist’</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16387" name="Picture 3" descr="5.5 RecepUseCase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47839"/>
            <a:ext cx="5727700" cy="479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3747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Sequence diagrams - Interaction</a:t>
            </a:r>
          </a:p>
        </p:txBody>
      </p:sp>
      <p:sp>
        <p:nvSpPr>
          <p:cNvPr id="3" name="Content Placeholder 2"/>
          <p:cNvSpPr>
            <a:spLocks noGrp="1"/>
          </p:cNvSpPr>
          <p:nvPr>
            <p:ph idx="1"/>
          </p:nvPr>
        </p:nvSpPr>
        <p:spPr/>
        <p:txBody>
          <a:bodyPr>
            <a:normAutofit lnSpcReduction="10000"/>
          </a:bodyPr>
          <a:lstStyle/>
          <a:p>
            <a:pPr eaLnBrk="1" hangingPunct="1">
              <a:defRPr/>
            </a:pPr>
            <a:r>
              <a:rPr lang="en-US" sz="2000" b="1" dirty="0"/>
              <a:t>Sequence during a single scenario or use case </a:t>
            </a:r>
          </a:p>
          <a:p>
            <a:pPr lvl="1" eaLnBrk="1" hangingPunct="1">
              <a:defRPr/>
            </a:pPr>
            <a:r>
              <a:rPr lang="en-US" sz="1400" dirty="0"/>
              <a:t>See behavior of several objects in one use case</a:t>
            </a:r>
          </a:p>
          <a:p>
            <a:pPr lvl="1" eaLnBrk="1" hangingPunct="1">
              <a:defRPr/>
            </a:pPr>
            <a:r>
              <a:rPr lang="en-US" sz="1400" dirty="0"/>
              <a:t>Illustrate calls between participants and who is in charge of each step</a:t>
            </a:r>
          </a:p>
          <a:p>
            <a:pPr lvl="1" eaLnBrk="1" hangingPunct="1">
              <a:defRPr/>
            </a:pPr>
            <a:r>
              <a:rPr lang="en-US" sz="1400" dirty="0"/>
              <a:t>Do not illustrate algorithms, loops, and conditions well </a:t>
            </a:r>
          </a:p>
          <a:p>
            <a:pPr eaLnBrk="1" hangingPunct="1">
              <a:defRPr/>
            </a:pPr>
            <a:r>
              <a:rPr lang="en-US" sz="1800" b="1" dirty="0"/>
              <a:t>The objects and actors (participants) at the top</a:t>
            </a:r>
          </a:p>
          <a:p>
            <a:pPr eaLnBrk="1" hangingPunct="1">
              <a:defRPr/>
            </a:pPr>
            <a:r>
              <a:rPr lang="en-US" sz="1800" b="1" dirty="0"/>
              <a:t>Dotted line drawn vertically (lifeline) from each participant </a:t>
            </a:r>
          </a:p>
          <a:p>
            <a:pPr lvl="1" eaLnBrk="1" hangingPunct="1">
              <a:defRPr/>
            </a:pPr>
            <a:r>
              <a:rPr lang="en-US" sz="1600" dirty="0"/>
              <a:t>Rectangle over dotted line for activation of object</a:t>
            </a:r>
          </a:p>
          <a:p>
            <a:pPr eaLnBrk="1" hangingPunct="1">
              <a:defRPr/>
            </a:pPr>
            <a:r>
              <a:rPr lang="en-US" sz="1800" b="1" dirty="0"/>
              <a:t>Interactions between objects -&gt; annotated arrows</a:t>
            </a:r>
          </a:p>
          <a:p>
            <a:pPr lvl="1" eaLnBrk="1" hangingPunct="1">
              <a:defRPr/>
            </a:pPr>
            <a:r>
              <a:rPr lang="en-US" sz="1600" dirty="0"/>
              <a:t>Data passing can be listed on arrows. Can put a participant name on an arrow</a:t>
            </a:r>
          </a:p>
          <a:p>
            <a:pPr lvl="1" eaLnBrk="1" hangingPunct="1">
              <a:defRPr/>
            </a:pPr>
            <a:r>
              <a:rPr lang="en-US" sz="1600" dirty="0"/>
              <a:t>No need to determine how data is gathered, just that it is needed</a:t>
            </a:r>
          </a:p>
          <a:p>
            <a:pPr lvl="1" eaLnBrk="1" hangingPunct="1">
              <a:defRPr/>
            </a:pPr>
            <a:r>
              <a:rPr lang="en-US" sz="1600" dirty="0"/>
              <a:t>Use a return arrow if you feel it will be helpful</a:t>
            </a:r>
          </a:p>
          <a:p>
            <a:pPr eaLnBrk="1" hangingPunct="1">
              <a:defRPr/>
            </a:pPr>
            <a:r>
              <a:rPr lang="en-US" sz="1800" b="1" dirty="0"/>
              <a:t>Read Top to bottom; starting top left</a:t>
            </a:r>
          </a:p>
          <a:p>
            <a:pPr eaLnBrk="1" hangingPunct="1">
              <a:defRPr/>
            </a:pPr>
            <a:r>
              <a:rPr lang="en-US" sz="1800" dirty="0"/>
              <a:t>Alt box - can handle conditions; conditions in [ ]</a:t>
            </a:r>
          </a:p>
          <a:p>
            <a:pPr marL="457200" lvl="1" indent="0">
              <a:buNone/>
              <a:defRPr/>
            </a:pPr>
            <a:r>
              <a:rPr lang="en-US" dirty="0" smtClean="0"/>
              <a:t> </a:t>
            </a:r>
            <a:endParaRPr lang="en-US" dirty="0"/>
          </a:p>
        </p:txBody>
      </p:sp>
    </p:spTree>
    <p:extLst>
      <p:ext uri="{BB962C8B-B14F-4D97-AF65-F5344CB8AC3E}">
        <p14:creationId xmlns:p14="http://schemas.microsoft.com/office/powerpoint/2010/main" val="15123454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fontScale="90000"/>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Sequence diagram for View patient information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18435" name="Picture 3" descr="5.6 ViewInfoSeqDiag.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62100" y="1727200"/>
            <a:ext cx="8915399"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14180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Sequence diagram for Transfer Data</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19459" name="Picture 3" descr="5.7 TransferData.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08100" y="1231900"/>
            <a:ext cx="9563099"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52070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Class diagrams - Structural</a:t>
            </a:r>
          </a:p>
        </p:txBody>
      </p:sp>
      <p:sp>
        <p:nvSpPr>
          <p:cNvPr id="20483" name="Content Placeholder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Class diagrams are used when developing an object-oriented system model to show the classes in a system and the associations between these classes. </a:t>
            </a:r>
          </a:p>
          <a:p>
            <a:pPr eaLnBrk="1" hangingPunct="1">
              <a:buFont typeface="Wingdings" panose="05000000000000000000" pitchFamily="2" charset="2"/>
              <a:buChar char="²"/>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An object class can be thought of as a general definition of one kind of system object. </a:t>
            </a:r>
          </a:p>
          <a:p>
            <a:pPr marL="0" indent="0" eaLnBrk="1" hangingPunct="1">
              <a:buNone/>
            </a:pPr>
            <a:r>
              <a:rPr lang="en-US" altLang="en-US" dirty="0" smtClean="0">
                <a:ea typeface="ＭＳ Ｐゴシック" panose="020B0600070205080204" pitchFamily="34" charset="-128"/>
              </a:rPr>
              <a:t>An association is a link between classes that indicates that there is some relationship between these classes.</a:t>
            </a:r>
            <a:r>
              <a:rPr lang="en-GB" altLang="en-US" dirty="0" smtClean="0">
                <a:ea typeface="ＭＳ Ｐゴシック" panose="020B0600070205080204" pitchFamily="34" charset="-128"/>
              </a:rPr>
              <a:t> </a:t>
            </a:r>
          </a:p>
          <a:p>
            <a:pPr eaLnBrk="1" hangingPunct="1">
              <a:buFont typeface="Wingdings" panose="05000000000000000000" pitchFamily="2" charset="2"/>
              <a:buChar char="²"/>
            </a:pPr>
            <a:endParaRPr lang="en-GB"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When you are developing models during the early stages of the software engineering process, objects represent something in the real world, such as a patient, a prescription, doctor, etc. </a:t>
            </a:r>
          </a:p>
        </p:txBody>
      </p:sp>
    </p:spTree>
    <p:extLst>
      <p:ext uri="{BB962C8B-B14F-4D97-AF65-F5344CB8AC3E}">
        <p14:creationId xmlns:p14="http://schemas.microsoft.com/office/powerpoint/2010/main" val="220474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UML classes and association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1507" name="Picture 3" descr="5.8 ClassAssoc.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00451" y="3060700"/>
            <a:ext cx="53117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63011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Classes and associations in the MHC-PMS </a:t>
            </a:r>
          </a:p>
        </p:txBody>
      </p:sp>
      <p:pic>
        <p:nvPicPr>
          <p:cNvPr id="22531" name="Picture 3" descr="5.9 MHCPMS-classe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7151" y="1746250"/>
            <a:ext cx="6677025" cy="447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57402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Consultation class</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3555" name="Picture 3" descr="5.10 Consultation Clas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1727201"/>
            <a:ext cx="2654300"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72105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Key points</a:t>
            </a:r>
          </a:p>
        </p:txBody>
      </p:sp>
      <p:sp>
        <p:nvSpPr>
          <p:cNvPr id="24579"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GB" altLang="en-US" sz="2000" dirty="0">
                <a:ea typeface="ＭＳ Ｐゴシック" panose="020B0600070205080204" pitchFamily="34" charset="-128"/>
              </a:rPr>
              <a:t>Model definition -  abstract view of a system that ignores system details. Types: system’s context, interactions, structure and </a:t>
            </a:r>
            <a:r>
              <a:rPr lang="en-GB" altLang="en-US" sz="2000" dirty="0" smtClean="0">
                <a:ea typeface="ＭＳ Ｐゴシック" panose="020B0600070205080204" pitchFamily="34" charset="-128"/>
              </a:rPr>
              <a:t>behaviour.</a:t>
            </a:r>
          </a:p>
          <a:p>
            <a:pPr eaLnBrk="1" hangingPunct="1">
              <a:buFont typeface="Wingdings" panose="05000000000000000000" pitchFamily="2" charset="2"/>
              <a:buChar char="²"/>
            </a:pPr>
            <a:endParaRPr lang="en-GB" altLang="en-US" sz="2000" dirty="0">
              <a:ea typeface="ＭＳ Ｐゴシック" panose="020B0600070205080204" pitchFamily="34" charset="-128"/>
            </a:endParaRPr>
          </a:p>
          <a:p>
            <a:pPr marL="0" indent="0" eaLnBrk="1" hangingPunct="1">
              <a:buNone/>
            </a:pPr>
            <a:r>
              <a:rPr lang="en-GB" altLang="en-US" sz="2000" dirty="0">
                <a:ea typeface="ＭＳ Ｐゴシック" panose="020B0600070205080204" pitchFamily="34" charset="-128"/>
              </a:rPr>
              <a:t>Context models </a:t>
            </a:r>
            <a:r>
              <a:rPr lang="en-US" altLang="en-US" sz="2000" dirty="0">
                <a:ea typeface="ＭＳ Ｐゴシック" panose="020B0600070205080204" pitchFamily="34" charset="-128"/>
              </a:rPr>
              <a:t>- position in the environment</a:t>
            </a:r>
          </a:p>
          <a:p>
            <a:pPr marL="0" indent="0" eaLnBrk="1" hangingPunct="1">
              <a:buNone/>
            </a:pPr>
            <a:r>
              <a:rPr lang="en-US" altLang="en-US" sz="2000" dirty="0">
                <a:ea typeface="ＭＳ Ｐゴシック" panose="020B0600070205080204" pitchFamily="34" charset="-128"/>
              </a:rPr>
              <a:t>Behavior - Activity diagram shows </a:t>
            </a:r>
            <a:r>
              <a:rPr lang="en-US" altLang="en-US" sz="2000" dirty="0" smtClean="0">
                <a:ea typeface="ＭＳ Ｐゴシック" panose="020B0600070205080204" pitchFamily="34" charset="-128"/>
              </a:rPr>
              <a:t>workflow</a:t>
            </a:r>
          </a:p>
          <a:p>
            <a:pPr eaLnBrk="1" hangingPunct="1">
              <a:buFont typeface="Wingdings" panose="05000000000000000000" pitchFamily="2" charset="2"/>
              <a:buChar char="²"/>
            </a:pPr>
            <a:endParaRPr lang="en-GB" altLang="en-US" sz="2000" dirty="0">
              <a:ea typeface="ＭＳ Ｐゴシック" panose="020B0600070205080204" pitchFamily="34" charset="-128"/>
            </a:endParaRPr>
          </a:p>
          <a:p>
            <a:pPr marL="0" indent="0" eaLnBrk="1" hangingPunct="1">
              <a:buNone/>
            </a:pPr>
            <a:r>
              <a:rPr lang="en-US" altLang="en-US" sz="2000" dirty="0">
                <a:ea typeface="ＭＳ Ｐゴシック" panose="020B0600070205080204" pitchFamily="34" charset="-128"/>
              </a:rPr>
              <a:t>Interaction - users (including other systems) and your system</a:t>
            </a:r>
          </a:p>
          <a:p>
            <a:pPr lvl="1" eaLnBrk="1" hangingPunct="1">
              <a:buFont typeface="Wingdings" panose="05000000000000000000" pitchFamily="2" charset="2"/>
              <a:buChar char="§"/>
            </a:pPr>
            <a:r>
              <a:rPr lang="en-US" altLang="en-US" sz="1600" dirty="0">
                <a:ea typeface="ＭＳ Ｐゴシック" panose="020B0600070205080204" pitchFamily="34" charset="-128"/>
              </a:rPr>
              <a:t>Use cases - who touches what</a:t>
            </a:r>
          </a:p>
          <a:p>
            <a:pPr lvl="1" eaLnBrk="1" hangingPunct="1">
              <a:buFont typeface="Wingdings" panose="05000000000000000000" pitchFamily="2" charset="2"/>
              <a:buChar char="§"/>
            </a:pPr>
            <a:r>
              <a:rPr lang="en-US" altLang="en-US" sz="1600" dirty="0">
                <a:ea typeface="ＭＳ Ｐゴシック" panose="020B0600070205080204" pitchFamily="34" charset="-128"/>
              </a:rPr>
              <a:t>Sequence diagrams - messages sent back and forth in a sequence</a:t>
            </a:r>
            <a:r>
              <a:rPr lang="en-US" altLang="en-US" sz="1600" dirty="0" smtClean="0">
                <a:ea typeface="ＭＳ Ｐゴシック" panose="020B0600070205080204" pitchFamily="34" charset="-128"/>
              </a:rPr>
              <a:t>.</a:t>
            </a:r>
          </a:p>
          <a:p>
            <a:pPr marL="457200" lvl="1" indent="0" eaLnBrk="1" hangingPunct="1">
              <a:buNone/>
            </a:pPr>
            <a:endParaRPr lang="en-GB" altLang="en-US" sz="1600" dirty="0">
              <a:ea typeface="ＭＳ Ｐゴシック" panose="020B0600070205080204" pitchFamily="34" charset="-128"/>
            </a:endParaRPr>
          </a:p>
          <a:p>
            <a:pPr marL="0" indent="0" eaLnBrk="1" hangingPunct="1">
              <a:buNone/>
            </a:pPr>
            <a:r>
              <a:rPr lang="en-US" altLang="en-US" sz="2000" dirty="0">
                <a:ea typeface="ＭＳ Ｐゴシック" panose="020B0600070205080204" pitchFamily="34" charset="-128"/>
              </a:rPr>
              <a:t>Structural  -  organization and architecture of a system. </a:t>
            </a:r>
          </a:p>
          <a:p>
            <a:pPr lvl="1" eaLnBrk="1" hangingPunct="1">
              <a:buFont typeface="Wingdings" panose="05000000000000000000" pitchFamily="2" charset="2"/>
              <a:buChar char="§"/>
            </a:pPr>
            <a:r>
              <a:rPr lang="en-US" altLang="en-US" sz="1600" dirty="0">
                <a:ea typeface="ＭＳ Ｐゴシック" panose="020B0600070205080204" pitchFamily="34" charset="-128"/>
              </a:rPr>
              <a:t>Class diagrams - define the static structure of classes in a system and their association to other classes</a:t>
            </a:r>
            <a:endParaRPr lang="en-GB" altLang="en-US" sz="1600" dirty="0">
              <a:ea typeface="ＭＳ Ｐゴシック" panose="020B0600070205080204" pitchFamily="34" charset="-128"/>
            </a:endParaRPr>
          </a:p>
          <a:p>
            <a:pPr eaLnBrk="1" hangingPunct="1">
              <a:buFont typeface="Wingdings" panose="05000000000000000000" pitchFamily="2" charset="2"/>
              <a:buChar char="²"/>
            </a:pP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8615714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Generalization</a:t>
            </a:r>
          </a:p>
        </p:txBody>
      </p:sp>
      <p:sp>
        <p:nvSpPr>
          <p:cNvPr id="26627"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Generalization is an </a:t>
            </a:r>
            <a:r>
              <a:rPr lang="en-US" altLang="en-US" b="1" dirty="0" smtClean="0">
                <a:ea typeface="ＭＳ Ｐゴシック" panose="020B0600070205080204" pitchFamily="34" charset="-128"/>
              </a:rPr>
              <a:t>everyday</a:t>
            </a:r>
            <a:r>
              <a:rPr lang="en-US" altLang="en-US" dirty="0" smtClean="0">
                <a:ea typeface="ＭＳ Ｐゴシック" panose="020B0600070205080204" pitchFamily="34" charset="-128"/>
              </a:rPr>
              <a:t> technique that we use to manage complexity. </a:t>
            </a:r>
          </a:p>
          <a:p>
            <a:pPr marL="0" indent="0" eaLnBrk="1" hangingPunct="1">
              <a:buNone/>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Rather than learn the detailed characteristics of every entity that we experience, we place these entities in </a:t>
            </a:r>
            <a:r>
              <a:rPr lang="en-US" altLang="en-US" b="1" dirty="0" smtClean="0">
                <a:ea typeface="ＭＳ Ｐゴシック" panose="020B0600070205080204" pitchFamily="34" charset="-128"/>
              </a:rPr>
              <a:t>more general classes </a:t>
            </a:r>
            <a:r>
              <a:rPr lang="en-US" altLang="en-US" dirty="0" smtClean="0">
                <a:ea typeface="ＭＳ Ｐゴシック" panose="020B0600070205080204" pitchFamily="34" charset="-128"/>
              </a:rPr>
              <a:t>(animals, cars, houses, etc.) and learn the characteristics of these classes. </a:t>
            </a:r>
          </a:p>
          <a:p>
            <a:pPr marL="0" indent="0" eaLnBrk="1" hangingPunct="1">
              <a:buNone/>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This allows us to </a:t>
            </a:r>
            <a:r>
              <a:rPr lang="en-US" altLang="en-US" b="1" dirty="0" smtClean="0">
                <a:ea typeface="ＭＳ Ｐゴシック" panose="020B0600070205080204" pitchFamily="34" charset="-128"/>
              </a:rPr>
              <a:t>infer </a:t>
            </a:r>
            <a:r>
              <a:rPr lang="en-US" altLang="en-US" dirty="0" smtClean="0">
                <a:ea typeface="ＭＳ Ｐゴシック" panose="020B0600070205080204" pitchFamily="34" charset="-128"/>
              </a:rPr>
              <a:t>that different members of these classes have some common characteristics e.g. squirrels and rats are rodents. </a:t>
            </a:r>
          </a:p>
        </p:txBody>
      </p:sp>
    </p:spTree>
    <p:extLst>
      <p:ext uri="{BB962C8B-B14F-4D97-AF65-F5344CB8AC3E}">
        <p14:creationId xmlns:p14="http://schemas.microsoft.com/office/powerpoint/2010/main" val="9291916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Generalization</a:t>
            </a:r>
          </a:p>
        </p:txBody>
      </p:sp>
      <p:sp>
        <p:nvSpPr>
          <p:cNvPr id="27651" name="Content Placeholder 2"/>
          <p:cNvSpPr>
            <a:spLocks noGrp="1"/>
          </p:cNvSpPr>
          <p:nvPr>
            <p:ph idx="1"/>
          </p:nvPr>
        </p:nvSpPr>
        <p:spPr bwMode="auto">
          <a:xfrm>
            <a:off x="469900" y="1622425"/>
            <a:ext cx="11150600" cy="4351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sz="2100" dirty="0">
                <a:ea typeface="ＭＳ Ｐゴシック" panose="020B0600070205080204" pitchFamily="34" charset="-128"/>
              </a:rPr>
              <a:t>In modeling systems, it is often useful to examine the classes in a system to see </a:t>
            </a:r>
            <a:r>
              <a:rPr lang="en-US" altLang="en-US" sz="2100" b="1" dirty="0">
                <a:ea typeface="ＭＳ Ｐゴシック" panose="020B0600070205080204" pitchFamily="34" charset="-128"/>
              </a:rPr>
              <a:t>if there is scope for generalization</a:t>
            </a:r>
            <a:r>
              <a:rPr lang="en-US" altLang="en-US" sz="2100" dirty="0">
                <a:ea typeface="ＭＳ Ｐゴシック" panose="020B0600070205080204" pitchFamily="34" charset="-128"/>
              </a:rPr>
              <a:t>. If changes are proposed, then you do not have to look at all classes in the system to see if they are affected by the change. </a:t>
            </a:r>
            <a:endParaRPr lang="en-US" altLang="en-US" sz="2100" dirty="0" smtClean="0">
              <a:ea typeface="ＭＳ Ｐゴシック" panose="020B0600070205080204" pitchFamily="34" charset="-128"/>
            </a:endParaRPr>
          </a:p>
          <a:p>
            <a:pPr marL="0" indent="0" eaLnBrk="1" hangingPunct="1">
              <a:buNone/>
            </a:pPr>
            <a:endParaRPr lang="en-US" altLang="en-US" sz="2100" dirty="0">
              <a:ea typeface="ＭＳ Ｐゴシック" panose="020B0600070205080204" pitchFamily="34" charset="-128"/>
            </a:endParaRPr>
          </a:p>
          <a:p>
            <a:pPr marL="0" indent="0" eaLnBrk="1" hangingPunct="1">
              <a:buNone/>
            </a:pPr>
            <a:r>
              <a:rPr lang="en-US" altLang="en-US" sz="2100" dirty="0">
                <a:ea typeface="ＭＳ Ｐゴシック" panose="020B0600070205080204" pitchFamily="34" charset="-128"/>
              </a:rPr>
              <a:t>In object-oriented languages, such as Java, generalization is implemented using the </a:t>
            </a:r>
            <a:r>
              <a:rPr lang="en-US" altLang="en-US" sz="2100" b="1" dirty="0">
                <a:ea typeface="ＭＳ Ｐゴシック" panose="020B0600070205080204" pitchFamily="34" charset="-128"/>
              </a:rPr>
              <a:t>class inheritance</a:t>
            </a:r>
            <a:r>
              <a:rPr lang="en-US" altLang="en-US" sz="2100" dirty="0">
                <a:ea typeface="ＭＳ Ｐゴシック" panose="020B0600070205080204" pitchFamily="34" charset="-128"/>
              </a:rPr>
              <a:t> mechanisms built into the language.</a:t>
            </a:r>
            <a:r>
              <a:rPr lang="en-GB" altLang="en-US" sz="2100" dirty="0">
                <a:ea typeface="ＭＳ Ｐゴシック" panose="020B0600070205080204" pitchFamily="34" charset="-128"/>
              </a:rPr>
              <a:t> </a:t>
            </a:r>
            <a:endParaRPr lang="en-GB" altLang="en-US" sz="2100" dirty="0" smtClean="0">
              <a:ea typeface="ＭＳ Ｐゴシック" panose="020B0600070205080204" pitchFamily="34" charset="-128"/>
            </a:endParaRPr>
          </a:p>
          <a:p>
            <a:pPr marL="0" indent="0" eaLnBrk="1" hangingPunct="1">
              <a:buNone/>
            </a:pPr>
            <a:endParaRPr lang="en-GB" altLang="en-US" sz="2100" dirty="0">
              <a:ea typeface="ＭＳ Ｐゴシック" panose="020B0600070205080204" pitchFamily="34" charset="-128"/>
            </a:endParaRPr>
          </a:p>
          <a:p>
            <a:pPr marL="0" indent="0" eaLnBrk="1" hangingPunct="1">
              <a:buNone/>
            </a:pPr>
            <a:r>
              <a:rPr lang="en-US" altLang="en-US" sz="2100" dirty="0">
                <a:ea typeface="ＭＳ Ｐゴシック" panose="020B0600070205080204" pitchFamily="34" charset="-128"/>
              </a:rPr>
              <a:t>In a generalization, the attributes and operations associated with higher-level classes </a:t>
            </a:r>
            <a:r>
              <a:rPr lang="en-US" altLang="en-US" sz="2100" b="1" dirty="0">
                <a:ea typeface="ＭＳ Ｐゴシック" panose="020B0600070205080204" pitchFamily="34" charset="-128"/>
              </a:rPr>
              <a:t>are also associated with the lower-level </a:t>
            </a:r>
            <a:r>
              <a:rPr lang="en-US" altLang="en-US" sz="2100" dirty="0">
                <a:ea typeface="ＭＳ Ｐゴシック" panose="020B0600070205080204" pitchFamily="34" charset="-128"/>
              </a:rPr>
              <a:t>classes</a:t>
            </a:r>
            <a:r>
              <a:rPr lang="en-US" altLang="en-US" sz="2100" dirty="0" smtClean="0">
                <a:ea typeface="ＭＳ Ｐゴシック" panose="020B0600070205080204" pitchFamily="34" charset="-128"/>
              </a:rPr>
              <a:t>.</a:t>
            </a:r>
          </a:p>
          <a:p>
            <a:pPr marL="0" indent="0" eaLnBrk="1" hangingPunct="1">
              <a:buNone/>
            </a:pPr>
            <a:endParaRPr lang="en-US" altLang="en-US" sz="2100" dirty="0">
              <a:ea typeface="ＭＳ Ｐゴシック" panose="020B0600070205080204" pitchFamily="34" charset="-128"/>
            </a:endParaRPr>
          </a:p>
          <a:p>
            <a:pPr marL="0" indent="0" eaLnBrk="1" hangingPunct="1">
              <a:buNone/>
            </a:pPr>
            <a:r>
              <a:rPr lang="en-US" altLang="en-US" sz="2100" dirty="0" smtClean="0">
                <a:ea typeface="ＭＳ Ｐゴシック" panose="020B0600070205080204" pitchFamily="34" charset="-128"/>
              </a:rPr>
              <a:t>The </a:t>
            </a:r>
            <a:r>
              <a:rPr lang="en-US" altLang="en-US" sz="2100" dirty="0">
                <a:ea typeface="ＭＳ Ｐゴシック" panose="020B0600070205080204" pitchFamily="34" charset="-128"/>
              </a:rPr>
              <a:t>lower-level classes are subclasses inherit the attributes and operations from their </a:t>
            </a:r>
            <a:r>
              <a:rPr lang="en-US" altLang="en-US" sz="2100" dirty="0" smtClean="0">
                <a:ea typeface="ＭＳ Ｐゴシック" panose="020B0600070205080204" pitchFamily="34" charset="-128"/>
              </a:rPr>
              <a:t>super classes</a:t>
            </a:r>
            <a:r>
              <a:rPr lang="en-US" altLang="en-US" sz="2100" dirty="0">
                <a:ea typeface="ＭＳ Ｐゴシック" panose="020B0600070205080204" pitchFamily="34" charset="-128"/>
              </a:rPr>
              <a:t>. These </a:t>
            </a:r>
            <a:r>
              <a:rPr lang="en-US" altLang="en-US" sz="2100" b="1" dirty="0">
                <a:ea typeface="ＭＳ Ｐゴシック" panose="020B0600070205080204" pitchFamily="34" charset="-128"/>
              </a:rPr>
              <a:t>lower-level classes then add more </a:t>
            </a:r>
            <a:r>
              <a:rPr lang="en-US" altLang="en-US" sz="2100" dirty="0">
                <a:ea typeface="ＭＳ Ｐゴシック" panose="020B0600070205080204" pitchFamily="34" charset="-128"/>
              </a:rPr>
              <a:t>specific attributes and operations. </a:t>
            </a:r>
          </a:p>
        </p:txBody>
      </p:sp>
    </p:spTree>
    <p:extLst>
      <p:ext uri="{BB962C8B-B14F-4D97-AF65-F5344CB8AC3E}">
        <p14:creationId xmlns:p14="http://schemas.microsoft.com/office/powerpoint/2010/main" val="13881412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 generalization hierarchy</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8675" name="Picture 3" descr="5.11 GeneralizationHierarchy.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1200" y="2133600"/>
            <a:ext cx="62103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19480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 generalization hierarchy with added detail</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29699" name="Picture 3" descr="5.12 GeneralisationDetail.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25801" y="1879600"/>
            <a:ext cx="5307014"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5532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vert="horz" lIns="90487" tIns="44450" rIns="90487" bIns="44450" rtlCol="0" anchor="ctr">
            <a:normAutofit/>
          </a:bodyPr>
          <a:lstStyle/>
          <a:p>
            <a:pPr eaLnBrk="1" hangingPunct="1"/>
            <a:r>
              <a:rPr lang="en-GB" altLang="en-US" smtClean="0">
                <a:latin typeface="Arial" panose="020B0604020202020204" pitchFamily="34" charset="0"/>
                <a:ea typeface="ＭＳ Ｐゴシック" panose="020B0600070205080204" pitchFamily="34" charset="-128"/>
                <a:cs typeface="Arial" panose="020B0604020202020204" pitchFamily="34" charset="0"/>
              </a:rPr>
              <a:t>Object class aggregation models</a:t>
            </a:r>
          </a:p>
        </p:txBody>
      </p:sp>
      <p:sp>
        <p:nvSpPr>
          <p:cNvPr id="28675" name="Rectangle 3"/>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487" tIns="44450" rIns="90487" bIns="44450" numCol="1" rtlCol="0" anchor="t" anchorCtr="0" compatLnSpc="1">
            <a:prstTxWarp prst="textNoShape">
              <a:avLst/>
            </a:prstTxWarp>
            <a:normAutofit/>
          </a:bodyPr>
          <a:lstStyle/>
          <a:p>
            <a:pPr marL="0" indent="0" eaLnBrk="1" hangingPunct="1">
              <a:buNone/>
              <a:defRPr/>
            </a:pPr>
            <a:r>
              <a:rPr lang="en-GB" altLang="en-US" dirty="0" smtClean="0">
                <a:ea typeface="ＭＳ Ｐゴシック" pitchFamily="34" charset="-128"/>
              </a:rPr>
              <a:t>An aggregation model shows how classes that are </a:t>
            </a:r>
            <a:r>
              <a:rPr lang="en-GB" altLang="en-US" b="1" dirty="0" smtClean="0">
                <a:ea typeface="ＭＳ Ｐゴシック" pitchFamily="34" charset="-128"/>
              </a:rPr>
              <a:t>collections</a:t>
            </a:r>
            <a:r>
              <a:rPr lang="en-GB" altLang="en-US" dirty="0" smtClean="0">
                <a:ea typeface="ＭＳ Ｐゴシック" pitchFamily="34" charset="-128"/>
              </a:rPr>
              <a:t> are composed of other classes.</a:t>
            </a:r>
          </a:p>
          <a:p>
            <a:pPr marL="0" indent="0" eaLnBrk="1" hangingPunct="1">
              <a:buNone/>
              <a:defRPr/>
            </a:pPr>
            <a:endParaRPr lang="en-GB" altLang="en-US" dirty="0" smtClean="0">
              <a:ea typeface="ＭＳ Ｐゴシック" pitchFamily="34" charset="-128"/>
            </a:endParaRPr>
          </a:p>
          <a:p>
            <a:pPr marL="0" indent="0" eaLnBrk="1" hangingPunct="1">
              <a:buNone/>
              <a:defRPr/>
            </a:pPr>
            <a:r>
              <a:rPr lang="en-GB" altLang="en-US" dirty="0" smtClean="0">
                <a:ea typeface="ＭＳ Ｐゴシック" pitchFamily="34" charset="-128"/>
              </a:rPr>
              <a:t>Aggregation models are similar to the </a:t>
            </a:r>
            <a:r>
              <a:rPr lang="en-GB" altLang="en-US" b="1" dirty="0" smtClean="0">
                <a:ea typeface="ＭＳ Ｐゴシック" pitchFamily="34" charset="-128"/>
              </a:rPr>
              <a:t>part-of / has –a </a:t>
            </a:r>
            <a:r>
              <a:rPr lang="en-GB" altLang="en-US" dirty="0" smtClean="0">
                <a:ea typeface="ＭＳ Ｐゴシック" pitchFamily="34" charset="-128"/>
              </a:rPr>
              <a:t>relationship in semantic data models.</a:t>
            </a:r>
          </a:p>
          <a:p>
            <a:pPr marL="0" indent="0" eaLnBrk="1" hangingPunct="1">
              <a:buNone/>
              <a:defRPr/>
            </a:pPr>
            <a:r>
              <a:rPr lang="en-GB" altLang="en-US" dirty="0" smtClean="0">
                <a:ea typeface="ＭＳ Ｐゴシック" pitchFamily="34" charset="-128"/>
              </a:rPr>
              <a:t> </a:t>
            </a:r>
          </a:p>
          <a:p>
            <a:pPr marL="0" indent="0" eaLnBrk="1" hangingPunct="1">
              <a:buNone/>
              <a:defRPr/>
            </a:pPr>
            <a:r>
              <a:rPr lang="en-GB" altLang="en-US" dirty="0" smtClean="0">
                <a:ea typeface="ＭＳ Ｐゴシック" pitchFamily="34" charset="-128"/>
              </a:rPr>
              <a:t>Use a diamond at the containing side</a:t>
            </a:r>
          </a:p>
          <a:p>
            <a:pPr marL="0" indent="0" eaLnBrk="1" hangingPunct="1">
              <a:buNone/>
              <a:defRPr/>
            </a:pPr>
            <a:endParaRPr lang="en-GB" altLang="en-US" dirty="0" smtClean="0">
              <a:ea typeface="ＭＳ Ｐゴシック" pitchFamily="34" charset="-128"/>
            </a:endParaRPr>
          </a:p>
          <a:p>
            <a:pPr marL="0" indent="0" eaLnBrk="1" hangingPunct="1">
              <a:buNone/>
              <a:defRPr/>
            </a:pPr>
            <a:r>
              <a:rPr lang="en-GB" altLang="en-US" dirty="0" smtClean="0">
                <a:ea typeface="ＭＳ Ｐゴシック" pitchFamily="34" charset="-128"/>
              </a:rPr>
              <a:t>Fill the diamond if the part cannot exist without the whole</a:t>
            </a:r>
          </a:p>
          <a:p>
            <a:pPr eaLnBrk="1" hangingPunct="1">
              <a:buFont typeface="Wingdings" pitchFamily="2" charset="2"/>
              <a:buChar char="²"/>
              <a:defRPr/>
            </a:pPr>
            <a:endParaRPr lang="en-GB" altLang="en-US" dirty="0" smtClean="0">
              <a:latin typeface="Arial" charset="0"/>
              <a:ea typeface="ＭＳ Ｐゴシック" pitchFamily="34" charset="-128"/>
              <a:cs typeface="Arial" charset="0"/>
            </a:endParaRPr>
          </a:p>
          <a:p>
            <a:pPr marL="0" indent="0">
              <a:buNone/>
              <a:defRPr/>
            </a:pPr>
            <a:endParaRPr lang="en-GB" altLang="en-US" dirty="0" smtClean="0">
              <a:latin typeface="Arial" charset="0"/>
              <a:ea typeface="ＭＳ Ｐゴシック" pitchFamily="34" charset="-128"/>
              <a:cs typeface="Arial" charset="0"/>
            </a:endParaRPr>
          </a:p>
        </p:txBody>
      </p:sp>
    </p:spTree>
    <p:extLst>
      <p:ext uri="{BB962C8B-B14F-4D97-AF65-F5344CB8AC3E}">
        <p14:creationId xmlns:p14="http://schemas.microsoft.com/office/powerpoint/2010/main" val="82276826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The aggregation association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31747" name="Picture 3" descr="5.13 Aggregation.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49700" y="2540000"/>
            <a:ext cx="419893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19925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Behavioral models</a:t>
            </a:r>
          </a:p>
        </p:txBody>
      </p:sp>
      <p:sp>
        <p:nvSpPr>
          <p:cNvPr id="30723" name="Content Placeholder 2"/>
          <p:cNvSpPr>
            <a:spLocks noGrp="1"/>
          </p:cNvSpPr>
          <p:nvPr>
            <p:ph idx="1"/>
          </p:nvPr>
        </p:nvSpPr>
        <p:spPr bwMode="auto">
          <a:xfrm>
            <a:off x="355600" y="1457324"/>
            <a:ext cx="11201400" cy="45116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0" indent="0" eaLnBrk="1" hangingPunct="1">
              <a:buNone/>
              <a:defRPr/>
            </a:pPr>
            <a:r>
              <a:rPr lang="en-US" altLang="en-US" dirty="0" smtClean="0">
                <a:ea typeface="ＭＳ Ｐゴシック" pitchFamily="34" charset="-128"/>
              </a:rPr>
              <a:t>Behavioral models – how a system responds to stimulus</a:t>
            </a:r>
          </a:p>
          <a:p>
            <a:pPr eaLnBrk="1" hangingPunct="1">
              <a:buFont typeface="Wingdings" pitchFamily="2" charset="2"/>
              <a:buChar char="²"/>
              <a:defRPr/>
            </a:pPr>
            <a:endParaRPr lang="en-US" altLang="en-US" dirty="0" smtClean="0">
              <a:ea typeface="ＭＳ Ｐゴシック" pitchFamily="34" charset="-128"/>
            </a:endParaRPr>
          </a:p>
          <a:p>
            <a:pPr marL="0" indent="0" eaLnBrk="1" hangingPunct="1">
              <a:buNone/>
              <a:defRPr/>
            </a:pPr>
            <a:r>
              <a:rPr lang="en-US" altLang="en-US" dirty="0" smtClean="0">
                <a:ea typeface="ＭＳ Ｐゴシック" pitchFamily="34" charset="-128"/>
              </a:rPr>
              <a:t>You can think of these stimuli as being of two types:</a:t>
            </a:r>
            <a:endParaRPr lang="en-GB" altLang="en-US" dirty="0" smtClean="0">
              <a:ea typeface="ＭＳ Ｐゴシック" pitchFamily="34" charset="-128"/>
            </a:endParaRPr>
          </a:p>
          <a:p>
            <a:pPr lvl="1" eaLnBrk="1" hangingPunct="1">
              <a:buFont typeface="Wingdings" pitchFamily="2" charset="2"/>
              <a:buChar char="§"/>
              <a:defRPr/>
            </a:pPr>
            <a:r>
              <a:rPr lang="en-US" altLang="en-US" dirty="0" smtClean="0">
                <a:solidFill>
                  <a:srgbClr val="FF0000"/>
                </a:solidFill>
                <a:ea typeface="ＭＳ Ｐゴシック" pitchFamily="34" charset="-128"/>
              </a:rPr>
              <a:t>Data </a:t>
            </a:r>
            <a:r>
              <a:rPr lang="en-US" altLang="en-US" dirty="0" smtClean="0">
                <a:ea typeface="ＭＳ Ｐゴシック" pitchFamily="34" charset="-128"/>
              </a:rPr>
              <a:t>Some data arrives that has to be processed by the system.</a:t>
            </a:r>
          </a:p>
          <a:p>
            <a:pPr lvl="1" eaLnBrk="1" hangingPunct="1">
              <a:buFont typeface="Wingdings" pitchFamily="2" charset="2"/>
              <a:buChar char="§"/>
              <a:defRPr/>
            </a:pPr>
            <a:r>
              <a:rPr lang="en-US" altLang="en-US" dirty="0" smtClean="0">
                <a:solidFill>
                  <a:srgbClr val="FF0000"/>
                </a:solidFill>
                <a:ea typeface="ＭＳ Ｐゴシック" pitchFamily="34" charset="-128"/>
              </a:rPr>
              <a:t>Events </a:t>
            </a:r>
            <a:r>
              <a:rPr lang="en-US" altLang="en-US" dirty="0" smtClean="0">
                <a:ea typeface="ＭＳ Ｐゴシック" pitchFamily="34" charset="-128"/>
              </a:rPr>
              <a:t>Some event happens that triggers system processing. Events may have associated data, although this is not always the case.</a:t>
            </a:r>
          </a:p>
          <a:p>
            <a:pPr lvl="1" eaLnBrk="1" hangingPunct="1">
              <a:buFont typeface="Wingdings" pitchFamily="2" charset="2"/>
              <a:buChar char="§"/>
              <a:defRPr/>
            </a:pPr>
            <a:endParaRPr lang="en-US" altLang="en-US" dirty="0" smtClean="0">
              <a:ea typeface="ＭＳ Ｐゴシック" pitchFamily="34" charset="-128"/>
            </a:endParaRPr>
          </a:p>
          <a:p>
            <a:pPr eaLnBrk="1" hangingPunct="1">
              <a:buFont typeface="Wingdings" pitchFamily="2" charset="2"/>
              <a:buChar char="§"/>
              <a:defRPr/>
            </a:pPr>
            <a:r>
              <a:rPr lang="en-US" altLang="en-US" dirty="0">
                <a:ea typeface="ＭＳ Ｐゴシック" pitchFamily="34" charset="-128"/>
              </a:rPr>
              <a:t>Diagrams - Input through to output </a:t>
            </a:r>
          </a:p>
          <a:p>
            <a:pPr lvl="1" eaLnBrk="1" hangingPunct="1">
              <a:buFont typeface="Wingdings" pitchFamily="2" charset="2"/>
              <a:buChar char="§"/>
              <a:defRPr/>
            </a:pPr>
            <a:r>
              <a:rPr lang="en-US" altLang="en-US" dirty="0">
                <a:ea typeface="ＭＳ Ｐゴシック" pitchFamily="34" charset="-128"/>
              </a:rPr>
              <a:t>Activity Diagram used on data </a:t>
            </a:r>
          </a:p>
          <a:p>
            <a:pPr lvl="2" eaLnBrk="1" hangingPunct="1">
              <a:buFont typeface="Wingdings" pitchFamily="2" charset="2"/>
              <a:buChar char="§"/>
              <a:defRPr/>
            </a:pPr>
            <a:r>
              <a:rPr lang="en-US" altLang="en-US" dirty="0">
                <a:ea typeface="ＭＳ Ｐゴシック" pitchFamily="34" charset="-128"/>
              </a:rPr>
              <a:t>Data (object / box) and Action ( oval ) </a:t>
            </a:r>
          </a:p>
          <a:p>
            <a:pPr lvl="1" eaLnBrk="1" hangingPunct="1">
              <a:buFont typeface="Wingdings" pitchFamily="2" charset="2"/>
              <a:buChar char="§"/>
              <a:defRPr/>
            </a:pPr>
            <a:r>
              <a:rPr lang="en-US" altLang="en-US" dirty="0">
                <a:ea typeface="ＭＳ Ｐゴシック" pitchFamily="34" charset="-128"/>
              </a:rPr>
              <a:t>Sequence diagram</a:t>
            </a:r>
          </a:p>
          <a:p>
            <a:pPr lvl="2" eaLnBrk="1" hangingPunct="1">
              <a:buFont typeface="Wingdings" pitchFamily="2" charset="2"/>
              <a:buChar char="§"/>
              <a:defRPr/>
            </a:pPr>
            <a:r>
              <a:rPr lang="en-US" altLang="en-US" dirty="0">
                <a:ea typeface="ＭＳ Ｐゴシック" pitchFamily="34" charset="-128"/>
              </a:rPr>
              <a:t>Data (top box ) and Actions (arrows) </a:t>
            </a:r>
          </a:p>
          <a:p>
            <a:pPr marL="0" indent="0">
              <a:buNone/>
              <a:defRPr/>
            </a:pPr>
            <a:endParaRPr lang="en-US" altLang="en-US" dirty="0" smtClean="0">
              <a:latin typeface="Arial" charset="0"/>
              <a:ea typeface="ＭＳ Ｐゴシック" pitchFamily="34" charset="-128"/>
              <a:cs typeface="Arial" charset="0"/>
            </a:endParaRPr>
          </a:p>
          <a:p>
            <a:pPr marL="0" indent="0">
              <a:buNone/>
              <a:defRPr/>
            </a:pPr>
            <a:endParaRPr lang="en-GB" altLang="en-US" dirty="0" smtClean="0">
              <a:latin typeface="Arial" charset="0"/>
              <a:ea typeface="ＭＳ Ｐゴシック" pitchFamily="34" charset="-128"/>
              <a:cs typeface="Arial" charset="0"/>
            </a:endParaRPr>
          </a:p>
          <a:p>
            <a:pPr eaLnBrk="1" hangingPunct="1">
              <a:buFont typeface="Wingdings" pitchFamily="2" charset="2"/>
              <a:buChar char="²"/>
              <a:defRPr/>
            </a:pPr>
            <a:endParaRPr lang="en-US" altLang="en-US" dirty="0" smtClean="0">
              <a:latin typeface="Arial" charset="0"/>
              <a:ea typeface="ＭＳ Ｐゴシック" pitchFamily="34" charset="-128"/>
              <a:cs typeface="Arial" charset="0"/>
            </a:endParaRPr>
          </a:p>
        </p:txBody>
      </p:sp>
    </p:spTree>
    <p:extLst>
      <p:ext uri="{BB962C8B-B14F-4D97-AF65-F5344CB8AC3E}">
        <p14:creationId xmlns:p14="http://schemas.microsoft.com/office/powerpoint/2010/main" val="19832972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ormAutofit fontScale="90000"/>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An activity model of the insulin pump’s operation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33795" name="Picture 3" descr="5.14 PumpDFD.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59050" y="2355850"/>
            <a:ext cx="7215188"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99662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Order processing</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34819" name="Picture 3" descr="5.15 OrderSeq.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6300" y="2000250"/>
            <a:ext cx="8128000"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41032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Event-driven modeling</a:t>
            </a:r>
          </a:p>
        </p:txBody>
      </p:sp>
      <p:sp>
        <p:nvSpPr>
          <p:cNvPr id="35843"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Real-time systems are often event-driven, with minimal data processing. For example, a landline phone switching system responds to events such as ‘receiver off hook’ by</a:t>
            </a:r>
            <a:r>
              <a:rPr lang="en-GB" altLang="en-US" dirty="0" smtClean="0">
                <a:ea typeface="ＭＳ Ｐゴシック" panose="020B0600070205080204" pitchFamily="34" charset="-128"/>
              </a:rPr>
              <a:t> </a:t>
            </a:r>
            <a:r>
              <a:rPr lang="en-US" altLang="en-US" dirty="0" smtClean="0">
                <a:ea typeface="ＭＳ Ｐゴシック" panose="020B0600070205080204" pitchFamily="34" charset="-128"/>
              </a:rPr>
              <a:t>generating a dial tone.</a:t>
            </a:r>
            <a:r>
              <a:rPr lang="en-GB" altLang="en-US" dirty="0" smtClean="0">
                <a:ea typeface="ＭＳ Ｐゴシック" panose="020B0600070205080204" pitchFamily="34" charset="-128"/>
              </a:rPr>
              <a:t> </a:t>
            </a:r>
          </a:p>
          <a:p>
            <a:pPr eaLnBrk="1" hangingPunct="1">
              <a:buFont typeface="Wingdings" panose="05000000000000000000" pitchFamily="2" charset="2"/>
              <a:buChar char="²"/>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Event-driven modeling shows how a system responds to external and internal events.</a:t>
            </a:r>
          </a:p>
          <a:p>
            <a:pPr eaLnBrk="1" hangingPunct="1">
              <a:buFont typeface="Wingdings" panose="05000000000000000000" pitchFamily="2" charset="2"/>
              <a:buChar char="²"/>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It is based on the assumption that a system has a finite number of states and that events (stimuli) may cause a transition from one state to another. </a:t>
            </a:r>
          </a:p>
        </p:txBody>
      </p:sp>
    </p:spTree>
    <p:extLst>
      <p:ext uri="{BB962C8B-B14F-4D97-AF65-F5344CB8AC3E}">
        <p14:creationId xmlns:p14="http://schemas.microsoft.com/office/powerpoint/2010/main" val="33875229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GB" altLang="en-US" smtClean="0">
                <a:latin typeface="Arial" panose="020B0604020202020204" pitchFamily="34" charset="0"/>
                <a:ea typeface="ＭＳ Ｐゴシック" panose="020B0600070205080204" pitchFamily="34" charset="-128"/>
                <a:cs typeface="Arial" panose="020B0604020202020204" pitchFamily="34" charset="0"/>
              </a:rPr>
              <a:t>State machine models</a:t>
            </a:r>
          </a:p>
        </p:txBody>
      </p:sp>
      <p:sp>
        <p:nvSpPr>
          <p:cNvPr id="36867" name="Rectangle 3"/>
          <p:cNvSpPr>
            <a:spLocks noGrp="1" noChangeArrowheads="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GB" altLang="en-US" dirty="0" smtClean="0">
                <a:ea typeface="ＭＳ Ｐゴシック" panose="020B0600070205080204" pitchFamily="34" charset="-128"/>
              </a:rPr>
              <a:t>These model the behaviour of the system in response to external and internal events.</a:t>
            </a:r>
          </a:p>
          <a:p>
            <a:pPr eaLnBrk="1" hangingPunct="1">
              <a:buFont typeface="Wingdings" panose="05000000000000000000" pitchFamily="2" charset="2"/>
              <a:buChar char="²"/>
            </a:pPr>
            <a:endParaRPr lang="en-GB" altLang="en-US" dirty="0" smtClean="0">
              <a:ea typeface="ＭＳ Ｐゴシック" panose="020B0600070205080204" pitchFamily="34" charset="-128"/>
            </a:endParaRPr>
          </a:p>
          <a:p>
            <a:pPr marL="0" indent="0" eaLnBrk="1" hangingPunct="1">
              <a:buNone/>
            </a:pPr>
            <a:r>
              <a:rPr lang="en-GB" altLang="en-US" dirty="0" smtClean="0">
                <a:ea typeface="ＭＳ Ｐゴシック" panose="020B0600070205080204" pitchFamily="34" charset="-128"/>
              </a:rPr>
              <a:t>They show the system’s responses to stimuli so are often used for modelling real-time systems.</a:t>
            </a:r>
          </a:p>
          <a:p>
            <a:pPr eaLnBrk="1" hangingPunct="1">
              <a:buFont typeface="Wingdings" panose="05000000000000000000" pitchFamily="2" charset="2"/>
              <a:buChar char="²"/>
            </a:pPr>
            <a:endParaRPr lang="en-GB" altLang="en-US" dirty="0" smtClean="0">
              <a:ea typeface="ＭＳ Ｐゴシック" panose="020B0600070205080204" pitchFamily="34" charset="-128"/>
            </a:endParaRPr>
          </a:p>
          <a:p>
            <a:pPr marL="0" indent="0" eaLnBrk="1" hangingPunct="1">
              <a:buNone/>
            </a:pPr>
            <a:r>
              <a:rPr lang="en-GB" altLang="en-US" dirty="0" smtClean="0">
                <a:ea typeface="ＭＳ Ｐゴシック" panose="020B0600070205080204" pitchFamily="34" charset="-128"/>
              </a:rPr>
              <a:t>State machine models show </a:t>
            </a:r>
            <a:r>
              <a:rPr lang="en-GB" altLang="en-US" b="1" dirty="0" smtClean="0">
                <a:ea typeface="ＭＳ Ｐゴシック" panose="020B0600070205080204" pitchFamily="34" charset="-128"/>
              </a:rPr>
              <a:t>system states as nodes </a:t>
            </a:r>
            <a:r>
              <a:rPr lang="en-GB" altLang="en-US" dirty="0" smtClean="0">
                <a:ea typeface="ＭＳ Ｐゴシック" panose="020B0600070205080204" pitchFamily="34" charset="-128"/>
              </a:rPr>
              <a:t>and </a:t>
            </a:r>
            <a:r>
              <a:rPr lang="en-GB" altLang="en-US" b="1" dirty="0" smtClean="0">
                <a:ea typeface="ＭＳ Ｐゴシック" panose="020B0600070205080204" pitchFamily="34" charset="-128"/>
              </a:rPr>
              <a:t>events as arcs </a:t>
            </a:r>
            <a:r>
              <a:rPr lang="en-GB" altLang="en-US" dirty="0" smtClean="0">
                <a:ea typeface="ＭＳ Ｐゴシック" panose="020B0600070205080204" pitchFamily="34" charset="-128"/>
              </a:rPr>
              <a:t>between these nodes. When an event occurs, the system moves from one state to another.</a:t>
            </a:r>
          </a:p>
          <a:p>
            <a:pPr eaLnBrk="1" hangingPunct="1">
              <a:buFont typeface="Wingdings" panose="05000000000000000000" pitchFamily="2" charset="2"/>
              <a:buChar char="²"/>
            </a:pPr>
            <a:endParaRPr lang="en-GB" altLang="en-US" dirty="0" smtClean="0">
              <a:ea typeface="ＭＳ Ｐゴシック" panose="020B0600070205080204" pitchFamily="34" charset="-128"/>
            </a:endParaRPr>
          </a:p>
          <a:p>
            <a:pPr marL="0" indent="0" eaLnBrk="1" hangingPunct="1">
              <a:buNone/>
            </a:pPr>
            <a:r>
              <a:rPr lang="en-GB" altLang="en-US" dirty="0" smtClean="0">
                <a:ea typeface="ＭＳ Ｐゴシック" panose="020B0600070205080204" pitchFamily="34" charset="-128"/>
              </a:rPr>
              <a:t>State</a:t>
            </a:r>
            <a:r>
              <a:rPr lang="" altLang="en-US" dirty="0" smtClean="0">
                <a:ea typeface="ＭＳ Ｐゴシック" panose="020B0600070205080204" pitchFamily="34" charset="-128"/>
              </a:rPr>
              <a:t> </a:t>
            </a:r>
            <a:r>
              <a:rPr lang="en-GB" altLang="en-US" dirty="0" smtClean="0">
                <a:ea typeface="ＭＳ Ｐゴシック" panose="020B0600070205080204" pitchFamily="34" charset="-128"/>
              </a:rPr>
              <a:t>charts </a:t>
            </a:r>
            <a:r>
              <a:rPr lang="en-GB" altLang="en-US" dirty="0" smtClean="0">
                <a:ea typeface="ＭＳ Ｐゴシック" panose="020B0600070205080204" pitchFamily="34" charset="-128"/>
              </a:rPr>
              <a:t>are an integral part of the UML and are used to represent state machine models.</a:t>
            </a:r>
          </a:p>
        </p:txBody>
      </p:sp>
    </p:spTree>
    <p:extLst>
      <p:ext uri="{BB962C8B-B14F-4D97-AF65-F5344CB8AC3E}">
        <p14:creationId xmlns:p14="http://schemas.microsoft.com/office/powerpoint/2010/main" val="42090335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State diagram of a microwave oven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37891" name="Picture 3" descr="5.16 MWOvenStateDiag.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89100"/>
            <a:ext cx="10541000"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43414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States and stimuli for the microwave oven (a)</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141868839"/>
              </p:ext>
            </p:extLst>
          </p:nvPr>
        </p:nvGraphicFramePr>
        <p:xfrm>
          <a:off x="977900" y="1435100"/>
          <a:ext cx="9893300" cy="4345020"/>
        </p:xfrm>
        <a:graphic>
          <a:graphicData uri="http://schemas.openxmlformats.org/drawingml/2006/table">
            <a:tbl>
              <a:tblPr/>
              <a:tblGrid>
                <a:gridCol w="2220945"/>
                <a:gridCol w="7672355"/>
              </a:tblGrid>
              <a:tr h="42668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State</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26"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charset="0"/>
                          <a:ea typeface="Times New Roman" charset="0"/>
                        </a:rPr>
                        <a:t>Description</a:t>
                      </a:r>
                      <a:endParaRPr kumimoji="0" lang="en-GB" sz="1600" b="1" i="0" u="none" strike="noStrike" cap="none" normalizeH="0" baseline="0">
                        <a:ln>
                          <a:noFill/>
                        </a:ln>
                        <a:solidFill>
                          <a:srgbClr val="000000"/>
                        </a:solidFill>
                        <a:effectLst/>
                        <a:latin typeface="Arial" charset="0"/>
                        <a:ea typeface="Times New Roman" charset="0"/>
                      </a:endParaRPr>
                    </a:p>
                  </a:txBody>
                  <a:tcPr marL="54610" marR="54610" marT="91426"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2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Waiting</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2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2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7909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7909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57909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106676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2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Tree>
    <p:extLst>
      <p:ext uri="{BB962C8B-B14F-4D97-AF65-F5344CB8AC3E}">
        <p14:creationId xmlns:p14="http://schemas.microsoft.com/office/powerpoint/2010/main" val="36934850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States and stimuli for the microwave oven (b)</a:t>
            </a:r>
            <a:r>
              <a:rPr lang="en-GB" altLang="en-US" smtClean="0">
                <a:latin typeface="Arial" panose="020B0604020202020204" pitchFamily="34" charset="0"/>
                <a:ea typeface="ＭＳ Ｐゴシック" panose="020B0600070205080204" pitchFamily="34" charset="-128"/>
                <a:cs typeface="Arial" panose="020B0604020202020204" pitchFamily="34" charset="0"/>
              </a:rPr>
              <a:t> </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97344143"/>
              </p:ext>
            </p:extLst>
          </p:nvPr>
        </p:nvGraphicFramePr>
        <p:xfrm>
          <a:off x="838200" y="1841500"/>
          <a:ext cx="10452100" cy="3760786"/>
        </p:xfrm>
        <a:graphic>
          <a:graphicData uri="http://schemas.openxmlformats.org/drawingml/2006/table">
            <a:tbl>
              <a:tblPr/>
              <a:tblGrid>
                <a:gridCol w="3040230"/>
                <a:gridCol w="7411870"/>
              </a:tblGrid>
              <a:tr h="42675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Stimulus</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8"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Description</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8"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8581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Half </a:t>
                      </a:r>
                      <a:r>
                        <a:rPr kumimoji="0" lang="en-GB" sz="1600" b="0" i="0" u="none" strike="noStrike" cap="none" normalizeH="0" baseline="0" dirty="0">
                          <a:ln>
                            <a:noFill/>
                          </a:ln>
                          <a:solidFill>
                            <a:srgbClr val="000000"/>
                          </a:solidFill>
                          <a:effectLst/>
                          <a:latin typeface="Arial" charset="0"/>
                          <a:ea typeface="Times New Roman" charset="0"/>
                        </a:rPr>
                        <a:t>power </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816">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Timer</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3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a:t>
                      </a:r>
                      <a:r>
                        <a:rPr kumimoji="0" lang="en-GB" sz="1600" b="0" i="0" u="none" strike="noStrike" cap="none" normalizeH="0" baseline="0" dirty="0" smtClean="0">
                          <a:ln>
                            <a:noFill/>
                          </a:ln>
                          <a:solidFill>
                            <a:srgbClr val="000000"/>
                          </a:solidFill>
                          <a:effectLst/>
                          <a:latin typeface="Arial" charset="0"/>
                          <a:ea typeface="Times New Roman" charset="0"/>
                        </a:rPr>
                        <a:t>. </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Tree>
    <p:extLst>
      <p:ext uri="{BB962C8B-B14F-4D97-AF65-F5344CB8AC3E}">
        <p14:creationId xmlns:p14="http://schemas.microsoft.com/office/powerpoint/2010/main" val="27829071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Microwave oven operation</a:t>
            </a:r>
            <a:r>
              <a:rPr lang="en-GB" altLang="en-US" smtClean="0">
                <a:latin typeface="Arial" panose="020B0604020202020204" pitchFamily="34" charset="0"/>
                <a:ea typeface="ＭＳ Ｐゴシック" panose="020B0600070205080204" pitchFamily="34" charset="-128"/>
                <a:cs typeface="Arial" panose="020B0604020202020204" pitchFamily="34" charset="0"/>
              </a:rPr>
              <a:t> – use superstate</a:t>
            </a:r>
            <a:endParaRPr lang="en-US" altLang="en-US" smtClean="0">
              <a:latin typeface="Arial" panose="020B0604020202020204" pitchFamily="34" charset="0"/>
              <a:ea typeface="ＭＳ Ｐゴシック" panose="020B0600070205080204" pitchFamily="34" charset="-128"/>
              <a:cs typeface="Arial" panose="020B0604020202020204" pitchFamily="34" charset="0"/>
            </a:endParaRPr>
          </a:p>
        </p:txBody>
      </p:sp>
      <p:pic>
        <p:nvPicPr>
          <p:cNvPr id="40963" name="Picture 3" descr="5.18 Operate-state-mc.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1746250"/>
            <a:ext cx="55626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587884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Usage of model-driven engineering</a:t>
            </a:r>
          </a:p>
        </p:txBody>
      </p:sp>
      <p:sp>
        <p:nvSpPr>
          <p:cNvPr id="41987" name="Content Placeholder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MDE  </a:t>
            </a:r>
          </a:p>
          <a:p>
            <a:pPr lvl="1" eaLnBrk="1" hangingPunct="1">
              <a:buFont typeface="Wingdings" panose="05000000000000000000" pitchFamily="2" charset="2"/>
              <a:buChar char="²"/>
            </a:pPr>
            <a:r>
              <a:rPr lang="en-US" altLang="en-US" dirty="0" smtClean="0">
                <a:ea typeface="ＭＳ Ｐゴシック" panose="020B0600070205080204" pitchFamily="34" charset="-128"/>
              </a:rPr>
              <a:t>Raise level of abstraction in program spec</a:t>
            </a:r>
          </a:p>
          <a:p>
            <a:pPr lvl="1" eaLnBrk="1" hangingPunct="1">
              <a:buFont typeface="Wingdings" panose="05000000000000000000" pitchFamily="2" charset="2"/>
              <a:buChar char="²"/>
            </a:pPr>
            <a:r>
              <a:rPr lang="en-US" altLang="en-US" dirty="0" smtClean="0">
                <a:ea typeface="ＭＳ Ｐゴシック" panose="020B0600070205080204" pitchFamily="34" charset="-128"/>
              </a:rPr>
              <a:t>Increase automation in programming</a:t>
            </a:r>
          </a:p>
          <a:p>
            <a:pPr marL="0" indent="0" eaLnBrk="1" hangingPunct="1">
              <a:buNone/>
            </a:pPr>
            <a:r>
              <a:rPr lang="en-GB" altLang="en-US" dirty="0" smtClean="0">
                <a:ea typeface="ＭＳ Ｐゴシック" panose="020B0600070205080204" pitchFamily="34" charset="-128"/>
              </a:rPr>
              <a:t>Pros</a:t>
            </a:r>
          </a:p>
          <a:p>
            <a:pPr lvl="1" eaLnBrk="1" hangingPunct="1">
              <a:buFont typeface="Wingdings" panose="05000000000000000000" pitchFamily="2" charset="2"/>
              <a:buChar char="§"/>
            </a:pPr>
            <a:r>
              <a:rPr lang="en-GB" altLang="en-US" dirty="0" smtClean="0">
                <a:ea typeface="ＭＳ Ｐゴシック" panose="020B0600070205080204" pitchFamily="34" charset="-128"/>
              </a:rPr>
              <a:t>Allows systems to be considered at higher levels of abstraction</a:t>
            </a:r>
          </a:p>
          <a:p>
            <a:pPr lvl="1" eaLnBrk="1" hangingPunct="1">
              <a:buFont typeface="Wingdings" panose="05000000000000000000" pitchFamily="2" charset="2"/>
              <a:buChar char="§"/>
            </a:pPr>
            <a:r>
              <a:rPr lang="en-GB" altLang="en-US" dirty="0" smtClean="0">
                <a:ea typeface="ＭＳ Ｐゴシック" panose="020B0600070205080204" pitchFamily="34" charset="-128"/>
              </a:rPr>
              <a:t>Generating code automatically means that it is cheaper to adapt systems to new platforms.</a:t>
            </a:r>
          </a:p>
          <a:p>
            <a:pPr marL="0" indent="0" eaLnBrk="1" hangingPunct="1">
              <a:buNone/>
            </a:pPr>
            <a:r>
              <a:rPr lang="en-GB" altLang="en-US" dirty="0" smtClean="0">
                <a:ea typeface="ＭＳ Ｐゴシック" panose="020B0600070205080204" pitchFamily="34" charset="-128"/>
              </a:rPr>
              <a:t>Cons</a:t>
            </a:r>
          </a:p>
          <a:p>
            <a:pPr lvl="1" eaLnBrk="1" hangingPunct="1">
              <a:buFont typeface="Wingdings" panose="05000000000000000000" pitchFamily="2" charset="2"/>
              <a:buChar char="§"/>
            </a:pPr>
            <a:r>
              <a:rPr lang="en-GB" altLang="en-US" dirty="0" smtClean="0">
                <a:ea typeface="ＭＳ Ｐゴシック" panose="020B0600070205080204" pitchFamily="34" charset="-128"/>
              </a:rPr>
              <a:t>Models for abstraction and not necessarily right for implementation.</a:t>
            </a:r>
          </a:p>
          <a:p>
            <a:pPr lvl="1" eaLnBrk="1" hangingPunct="1">
              <a:buFont typeface="Wingdings" panose="05000000000000000000" pitchFamily="2" charset="2"/>
              <a:buChar char="§"/>
            </a:pPr>
            <a:r>
              <a:rPr lang="en-GB" altLang="en-US" dirty="0" smtClean="0">
                <a:ea typeface="ＭＳ Ｐゴシック" panose="020B0600070205080204" pitchFamily="34" charset="-128"/>
              </a:rPr>
              <a:t>Savings from generating code may be outweighed by the costs of developing translators for new platforms.</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43200766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Model driven architecture (used by MDE)</a:t>
            </a:r>
          </a:p>
        </p:txBody>
      </p:sp>
      <p:sp>
        <p:nvSpPr>
          <p:cNvPr id="43011"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MDA is a model-focused approach to software design and implementation that uses a subset of UML models to describe a system. </a:t>
            </a:r>
          </a:p>
          <a:p>
            <a:pPr eaLnBrk="1" hangingPunct="1">
              <a:buFont typeface="Wingdings" panose="05000000000000000000" pitchFamily="2" charset="2"/>
              <a:buChar char="²"/>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Models at different levels of abstraction are created. From a high-level, platform independent model, it is possible, in principle, to generate a working program without manual intervention.</a:t>
            </a:r>
            <a:r>
              <a:rPr lang="en-GB" altLang="en-US" dirty="0" smtClean="0">
                <a:ea typeface="ＭＳ Ｐゴシック" panose="020B0600070205080204" pitchFamily="34" charset="-128"/>
              </a:rPr>
              <a:t> </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7334763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Types of model</a:t>
            </a:r>
          </a:p>
        </p:txBody>
      </p:sp>
      <p:sp>
        <p:nvSpPr>
          <p:cNvPr id="44035" name="Content Placeholder 2"/>
          <p:cNvSpPr>
            <a:spLocks noGrp="1"/>
          </p:cNvSpPr>
          <p:nvPr>
            <p:ph idx="1"/>
          </p:nvPr>
        </p:nvSpPr>
        <p:spPr bwMode="auto">
          <a:xfrm>
            <a:off x="825500" y="1536701"/>
            <a:ext cx="105410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0" indent="0" eaLnBrk="1" hangingPunct="1">
              <a:buNone/>
            </a:pPr>
            <a:r>
              <a:rPr lang="en-US" altLang="en-US" dirty="0" smtClean="0">
                <a:ea typeface="ＭＳ Ｐゴシック" panose="020B0600070205080204" pitchFamily="34" charset="-128"/>
              </a:rPr>
              <a:t>A computation independent model (CIM) </a:t>
            </a:r>
          </a:p>
          <a:p>
            <a:pPr lvl="1" eaLnBrk="1" hangingPunct="1">
              <a:buFont typeface="Wingdings" panose="05000000000000000000" pitchFamily="2" charset="2"/>
              <a:buChar char="§"/>
            </a:pPr>
            <a:r>
              <a:rPr lang="en-US" altLang="en-US" dirty="0" smtClean="0">
                <a:ea typeface="ＭＳ Ｐゴシック" panose="020B0600070205080204" pitchFamily="34" charset="-128"/>
              </a:rPr>
              <a:t>These model the important domain abstractions used in a system. CIMs are sometimes called domain models. </a:t>
            </a:r>
          </a:p>
          <a:p>
            <a:pPr lvl="1" eaLnBrk="1" hangingPunct="1">
              <a:buFont typeface="Wingdings" panose="05000000000000000000" pitchFamily="2" charset="2"/>
              <a:buChar char="§"/>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A platform independent model (PIM) </a:t>
            </a:r>
          </a:p>
          <a:p>
            <a:pPr lvl="1" eaLnBrk="1" hangingPunct="1">
              <a:buFont typeface="Wingdings" panose="05000000000000000000" pitchFamily="2" charset="2"/>
              <a:buChar char="§"/>
            </a:pPr>
            <a:r>
              <a:rPr lang="en-US" altLang="en-US" dirty="0" smtClean="0">
                <a:ea typeface="ＭＳ Ｐゴシック" panose="020B0600070205080204" pitchFamily="34" charset="-128"/>
              </a:rPr>
              <a:t>These model the operation of the system without reference to its implementation. The PIM is usually described using UML models that show the static system structure and how it responds to external and internal events.</a:t>
            </a:r>
          </a:p>
          <a:p>
            <a:pPr lvl="1" eaLnBrk="1" hangingPunct="1">
              <a:buFont typeface="Wingdings" panose="05000000000000000000" pitchFamily="2" charset="2"/>
              <a:buChar char="§"/>
            </a:pPr>
            <a:endParaRPr lang="en-US" altLang="en-US" dirty="0" smtClean="0">
              <a:ea typeface="ＭＳ Ｐゴシック" panose="020B0600070205080204" pitchFamily="34" charset="-128"/>
            </a:endParaRPr>
          </a:p>
          <a:p>
            <a:pPr marL="0" indent="0" eaLnBrk="1" hangingPunct="1">
              <a:buNone/>
            </a:pPr>
            <a:r>
              <a:rPr lang="en-US" altLang="en-US" i="1" dirty="0" smtClean="0">
                <a:ea typeface="ＭＳ Ｐゴシック" panose="020B0600070205080204" pitchFamily="34" charset="-128"/>
              </a:rPr>
              <a:t>Platform specific models (PSM)</a:t>
            </a:r>
            <a:r>
              <a:rPr lang="en-US" altLang="en-US" dirty="0" smtClean="0">
                <a:ea typeface="ＭＳ Ｐゴシック" panose="020B0600070205080204" pitchFamily="34" charset="-128"/>
              </a:rPr>
              <a:t> </a:t>
            </a:r>
          </a:p>
          <a:p>
            <a:pPr lvl="1" eaLnBrk="1" hangingPunct="1">
              <a:buFont typeface="Wingdings" panose="05000000000000000000" pitchFamily="2" charset="2"/>
              <a:buChar char="§"/>
            </a:pPr>
            <a:r>
              <a:rPr lang="en-US" altLang="en-US" dirty="0" smtClean="0">
                <a:ea typeface="ＭＳ Ｐゴシック" panose="020B0600070205080204" pitchFamily="34" charset="-128"/>
              </a:rPr>
              <a:t>These are transformations of the platform-independent model with a separate PSM for each application platform. In principle, there may be layers of PSM, with each layer adding some platform-specific detail.</a:t>
            </a:r>
            <a:r>
              <a:rPr lang="en-GB" altLang="en-US" dirty="0" smtClean="0">
                <a:ea typeface="ＭＳ Ｐゴシック" panose="020B0600070205080204" pitchFamily="34" charset="-128"/>
              </a:rPr>
              <a:t>  </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6772449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MDA transformations</a:t>
            </a:r>
          </a:p>
        </p:txBody>
      </p:sp>
      <p:pic>
        <p:nvPicPr>
          <p:cNvPr id="45059" name="Picture 3" descr="5.19 MDA-Transformation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89250" y="2273300"/>
            <a:ext cx="6789738"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144877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Multiple platform-specific models </a:t>
            </a:r>
          </a:p>
        </p:txBody>
      </p:sp>
      <p:pic>
        <p:nvPicPr>
          <p:cNvPr id="46083" name="Picture 3" descr="5.20 Multiple PSMs.eps"/>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81250" y="2438400"/>
            <a:ext cx="71183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565340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Agile methods and MDA</a:t>
            </a:r>
          </a:p>
        </p:txBody>
      </p:sp>
      <p:sp>
        <p:nvSpPr>
          <p:cNvPr id="47107"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The developers of MDA claim that it is intended to support an iterative approach to development and so can be used within agile methods. </a:t>
            </a:r>
          </a:p>
          <a:p>
            <a:pPr marL="0" indent="0" eaLnBrk="1" hangingPunct="1">
              <a:buNone/>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The notion of extensive up-front modeling contradicts the fundamental ideas in the agile manifesto and I suspect that few agile developers feel comfortable with model-driven engineering.  </a:t>
            </a:r>
          </a:p>
          <a:p>
            <a:pPr marL="0" indent="0" eaLnBrk="1" hangingPunct="1">
              <a:buNone/>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If transformations can be completely automated and a complete program generated from a PIM, then, in principle, MDA could be used in an agile development process as no separate coding would be required. </a:t>
            </a:r>
          </a:p>
        </p:txBody>
      </p:sp>
    </p:spTree>
    <p:extLst>
      <p:ext uri="{BB962C8B-B14F-4D97-AF65-F5344CB8AC3E}">
        <p14:creationId xmlns:p14="http://schemas.microsoft.com/office/powerpoint/2010/main" val="35137201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Executable UML</a:t>
            </a:r>
          </a:p>
        </p:txBody>
      </p:sp>
      <p:sp>
        <p:nvSpPr>
          <p:cNvPr id="48131" name="Content Placeholder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The fundamental notion behind model-driven engineering is that completely automated transformation of models to code should be possible. </a:t>
            </a:r>
          </a:p>
          <a:p>
            <a:pPr eaLnBrk="1" hangingPunct="1">
              <a:buFont typeface="Wingdings" panose="05000000000000000000" pitchFamily="2" charset="2"/>
              <a:buChar char="²"/>
            </a:pPr>
            <a:endParaRPr lang="en-US" altLang="en-US" dirty="0">
              <a:ea typeface="ＭＳ Ｐゴシック" panose="020B0600070205080204" pitchFamily="34" charset="-128"/>
            </a:endParaRPr>
          </a:p>
          <a:p>
            <a:pPr marL="0" indent="0" eaLnBrk="1" hangingPunct="1">
              <a:buNone/>
            </a:pPr>
            <a:endParaRPr lang="en-US" altLang="en-US" dirty="0" smtClean="0">
              <a:ea typeface="ＭＳ Ｐゴシック" panose="020B0600070205080204" pitchFamily="34" charset="-128"/>
            </a:endParaRPr>
          </a:p>
          <a:p>
            <a:pPr marL="0" indent="0" eaLnBrk="1" hangingPunct="1">
              <a:buNone/>
            </a:pPr>
            <a:r>
              <a:rPr lang="en-US" altLang="en-US" dirty="0" smtClean="0">
                <a:ea typeface="ＭＳ Ｐゴシック" panose="020B0600070205080204" pitchFamily="34" charset="-128"/>
              </a:rPr>
              <a:t>This is possible using a subset of UML 2, called Executable UML or </a:t>
            </a:r>
            <a:r>
              <a:rPr lang="en-US" altLang="en-US" dirty="0" err="1" smtClean="0">
                <a:ea typeface="ＭＳ Ｐゴシック" panose="020B0600070205080204" pitchFamily="34" charset="-128"/>
              </a:rPr>
              <a:t>xUML</a:t>
            </a:r>
            <a:r>
              <a:rPr lang="en-GB" altLang="en-US" dirty="0" smtClean="0">
                <a:ea typeface="ＭＳ Ｐゴシック" panose="020B0600070205080204" pitchFamily="34" charset="-128"/>
              </a:rPr>
              <a:t>.</a:t>
            </a:r>
          </a:p>
          <a:p>
            <a:pPr eaLnBrk="1" hangingPunct="1">
              <a:buFont typeface="Wingdings" panose="05000000000000000000" pitchFamily="2" charset="2"/>
              <a:buChar char="²"/>
            </a:pP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715657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Features of executable UML</a:t>
            </a:r>
          </a:p>
        </p:txBody>
      </p:sp>
      <p:sp>
        <p:nvSpPr>
          <p:cNvPr id="49155" name="Content Placeholder 2"/>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marL="0" indent="0" eaLnBrk="1" hangingPunct="1">
              <a:buNone/>
            </a:pPr>
            <a:r>
              <a:rPr lang="en-US" altLang="en-US" dirty="0" smtClean="0">
                <a:ea typeface="ＭＳ Ｐゴシック" panose="020B0600070205080204" pitchFamily="34" charset="-128"/>
              </a:rPr>
              <a:t>To create an executable subset of UML, the number of model types has therefore been dramatically reduced to these 3 key types:</a:t>
            </a:r>
            <a:endParaRPr lang="en-GB" altLang="en-US" dirty="0" smtClean="0">
              <a:ea typeface="ＭＳ Ｐゴシック" panose="020B0600070205080204" pitchFamily="34" charset="-128"/>
            </a:endParaRPr>
          </a:p>
          <a:p>
            <a:pPr lvl="1" eaLnBrk="1" hangingPunct="1">
              <a:buFont typeface="Wingdings" panose="05000000000000000000" pitchFamily="2" charset="2"/>
              <a:buChar char="§"/>
            </a:pPr>
            <a:r>
              <a:rPr lang="en-US" altLang="en-US" dirty="0" smtClean="0">
                <a:ea typeface="ＭＳ Ｐゴシック" panose="020B0600070205080204" pitchFamily="34" charset="-128"/>
              </a:rPr>
              <a:t>Domain models that identify the principal concerns in a system. They are defined using UML class diagrams and include objects, attributes and associations. </a:t>
            </a:r>
            <a:endParaRPr lang="en-GB" altLang="en-US" dirty="0" smtClean="0">
              <a:ea typeface="ＭＳ Ｐゴシック" panose="020B0600070205080204" pitchFamily="34" charset="-128"/>
            </a:endParaRPr>
          </a:p>
          <a:p>
            <a:pPr lvl="1" eaLnBrk="1" hangingPunct="1">
              <a:buFont typeface="Wingdings" panose="05000000000000000000" pitchFamily="2" charset="2"/>
              <a:buChar char="§"/>
            </a:pPr>
            <a:r>
              <a:rPr lang="en-US" altLang="en-US" dirty="0" smtClean="0">
                <a:ea typeface="ＭＳ Ｐゴシック" panose="020B0600070205080204" pitchFamily="34" charset="-128"/>
              </a:rPr>
              <a:t>Class models in which classes are defined, along with their attributes and operations.</a:t>
            </a:r>
            <a:endParaRPr lang="en-GB" altLang="en-US" dirty="0" smtClean="0">
              <a:ea typeface="ＭＳ Ｐゴシック" panose="020B0600070205080204" pitchFamily="34" charset="-128"/>
            </a:endParaRPr>
          </a:p>
          <a:p>
            <a:pPr lvl="1" eaLnBrk="1" hangingPunct="1">
              <a:buFont typeface="Wingdings" panose="05000000000000000000" pitchFamily="2" charset="2"/>
              <a:buChar char="§"/>
            </a:pPr>
            <a:r>
              <a:rPr lang="en-GB" altLang="en-US" dirty="0" smtClean="0">
                <a:ea typeface="ＭＳ Ｐゴシック" panose="020B0600070205080204" pitchFamily="34" charset="-128"/>
              </a:rPr>
              <a:t>State models in which a state diagram is associated with each class and is used to describe the life cycle of the class. </a:t>
            </a:r>
          </a:p>
          <a:p>
            <a:pPr marL="0" indent="0" eaLnBrk="1" hangingPunct="1">
              <a:buNone/>
            </a:pPr>
            <a:r>
              <a:rPr lang="en-GB" altLang="en-US" dirty="0" smtClean="0">
                <a:ea typeface="ＭＳ Ｐゴシック" panose="020B0600070205080204" pitchFamily="34" charset="-128"/>
              </a:rPr>
              <a:t>The dynamic </a:t>
            </a:r>
            <a:r>
              <a:rPr lang="en-GB" altLang="en-US" dirty="0" err="1" smtClean="0">
                <a:ea typeface="ＭＳ Ｐゴシック" panose="020B0600070205080204" pitchFamily="34" charset="-128"/>
              </a:rPr>
              <a:t>behavior</a:t>
            </a:r>
            <a:r>
              <a:rPr lang="en-GB" altLang="en-US" dirty="0" smtClean="0">
                <a:ea typeface="ＭＳ Ｐゴシック" panose="020B0600070205080204" pitchFamily="34" charset="-128"/>
              </a:rPr>
              <a:t> of the system may be specified declaratively using the object constraint language (OCL), or may be expressed using UML’s action language. </a:t>
            </a:r>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9162905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04172" y="1001970"/>
            <a:ext cx="4580404" cy="626303"/>
          </a:xfrm>
          <a:prstGeom prst="rect">
            <a:avLst/>
          </a:prstGeom>
        </p:spPr>
        <p:txBody>
          <a:bodyPr vert="horz" wrap="square" lIns="0" tIns="10646" rIns="0" bIns="0" rtlCol="0" anchor="ctr">
            <a:spAutoFit/>
          </a:bodyPr>
          <a:lstStyle/>
          <a:p>
            <a:pPr marL="11206">
              <a:lnSpc>
                <a:spcPct val="100000"/>
              </a:lnSpc>
              <a:spcBef>
                <a:spcPts val="84"/>
              </a:spcBef>
            </a:pPr>
            <a:r>
              <a:rPr spc="-4" dirty="0"/>
              <a:t>Learning</a:t>
            </a:r>
            <a:r>
              <a:rPr spc="-18" dirty="0"/>
              <a:t> </a:t>
            </a:r>
            <a:r>
              <a:rPr spc="-4" dirty="0"/>
              <a:t>Objectives</a:t>
            </a:r>
          </a:p>
        </p:txBody>
      </p:sp>
      <p:sp>
        <p:nvSpPr>
          <p:cNvPr id="3" name="object 3"/>
          <p:cNvSpPr txBox="1"/>
          <p:nvPr/>
        </p:nvSpPr>
        <p:spPr>
          <a:xfrm>
            <a:off x="1600200" y="2269564"/>
            <a:ext cx="9690099" cy="2811056"/>
          </a:xfrm>
          <a:prstGeom prst="rect">
            <a:avLst/>
          </a:prstGeom>
        </p:spPr>
        <p:txBody>
          <a:bodyPr vert="horz" wrap="square" lIns="0" tIns="11206" rIns="0" bIns="0" rtlCol="0">
            <a:spAutoFit/>
          </a:bodyPr>
          <a:lstStyle/>
          <a:p>
            <a:pPr marL="318824" marR="4483" indent="-308178">
              <a:spcBef>
                <a:spcPts val="88"/>
              </a:spcBef>
              <a:buClr>
                <a:srgbClr val="6EB7D7"/>
              </a:buClr>
              <a:buSzPct val="108333"/>
              <a:buChar char="●"/>
              <a:tabLst>
                <a:tab pos="318824" algn="l"/>
                <a:tab pos="319385" algn="l"/>
              </a:tabLst>
            </a:pPr>
            <a:r>
              <a:rPr sz="2118" spc="-4" dirty="0">
                <a:solidFill>
                  <a:srgbClr val="585858"/>
                </a:solidFill>
                <a:latin typeface="Arial"/>
                <a:cs typeface="Arial"/>
              </a:rPr>
              <a:t>Understand the rules and style guidelines for sequence  and communication diagrams and behavioral state  machines.</a:t>
            </a:r>
            <a:endParaRPr sz="2118" dirty="0">
              <a:latin typeface="Arial"/>
              <a:cs typeface="Arial"/>
            </a:endParaRPr>
          </a:p>
          <a:p>
            <a:pPr marL="318824" marR="410157"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Understand the processes used </a:t>
            </a:r>
            <a:r>
              <a:rPr sz="2118" dirty="0">
                <a:solidFill>
                  <a:srgbClr val="585858"/>
                </a:solidFill>
                <a:latin typeface="Arial"/>
                <a:cs typeface="Arial"/>
              </a:rPr>
              <a:t>to </a:t>
            </a:r>
            <a:r>
              <a:rPr sz="2118" spc="-4" dirty="0">
                <a:solidFill>
                  <a:srgbClr val="585858"/>
                </a:solidFill>
                <a:latin typeface="Arial"/>
                <a:cs typeface="Arial"/>
              </a:rPr>
              <a:t>create sequence  and communication diagrams, behavioral state  machines and CRUDE</a:t>
            </a:r>
            <a:r>
              <a:rPr sz="2118" spc="57" dirty="0">
                <a:solidFill>
                  <a:srgbClr val="585858"/>
                </a:solidFill>
                <a:latin typeface="Arial"/>
                <a:cs typeface="Arial"/>
              </a:rPr>
              <a:t> </a:t>
            </a:r>
            <a:r>
              <a:rPr sz="2118" spc="-4" dirty="0">
                <a:solidFill>
                  <a:srgbClr val="585858"/>
                </a:solidFill>
                <a:latin typeface="Arial"/>
                <a:cs typeface="Arial"/>
              </a:rPr>
              <a:t>matrices.</a:t>
            </a:r>
            <a:endParaRPr sz="2118" dirty="0">
              <a:latin typeface="Arial"/>
              <a:cs typeface="Arial"/>
            </a:endParaRPr>
          </a:p>
          <a:p>
            <a:pPr marL="318824" marR="634847" indent="-308178">
              <a:spcBef>
                <a:spcPts val="529"/>
              </a:spcBef>
              <a:buClr>
                <a:srgbClr val="6EB7D7"/>
              </a:buClr>
              <a:buSzPct val="108333"/>
              <a:buFont typeface="Arial"/>
              <a:buChar char="●"/>
              <a:tabLst>
                <a:tab pos="392786" algn="l"/>
                <a:tab pos="393347" algn="l"/>
              </a:tabLst>
            </a:pPr>
            <a:r>
              <a:rPr sz="1588" dirty="0"/>
              <a:t>	</a:t>
            </a:r>
            <a:r>
              <a:rPr sz="2118" spc="-4" dirty="0">
                <a:solidFill>
                  <a:srgbClr val="585858"/>
                </a:solidFill>
                <a:latin typeface="Arial"/>
                <a:cs typeface="Arial"/>
              </a:rPr>
              <a:t>Be able </a:t>
            </a:r>
            <a:r>
              <a:rPr sz="2118" dirty="0">
                <a:solidFill>
                  <a:srgbClr val="585858"/>
                </a:solidFill>
                <a:latin typeface="Arial"/>
                <a:cs typeface="Arial"/>
              </a:rPr>
              <a:t>to </a:t>
            </a:r>
            <a:r>
              <a:rPr sz="2118" spc="-4" dirty="0">
                <a:solidFill>
                  <a:srgbClr val="585858"/>
                </a:solidFill>
                <a:latin typeface="Arial"/>
                <a:cs typeface="Arial"/>
              </a:rPr>
              <a:t>create sequence and communication  diagrams, behavioral state machines and CRUDE  matrices.</a:t>
            </a:r>
            <a:endParaRPr sz="2118" dirty="0">
              <a:latin typeface="Arial"/>
              <a:cs typeface="Arial"/>
            </a:endParaRPr>
          </a:p>
          <a:p>
            <a:pPr marL="318824" marR="42360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Understand the relationship between the behavioral  models and the structural and functional</a:t>
            </a:r>
            <a:r>
              <a:rPr sz="2118" spc="35" dirty="0">
                <a:solidFill>
                  <a:srgbClr val="585858"/>
                </a:solidFill>
                <a:latin typeface="Arial"/>
                <a:cs typeface="Arial"/>
              </a:rPr>
              <a:t> </a:t>
            </a:r>
            <a:r>
              <a:rPr sz="2118" spc="-4" dirty="0">
                <a:solidFill>
                  <a:srgbClr val="585858"/>
                </a:solidFill>
                <a:latin typeface="Arial"/>
                <a:cs typeface="Arial"/>
              </a:rPr>
              <a:t>models.</a:t>
            </a:r>
            <a:endParaRPr sz="2118" dirty="0">
              <a:latin typeface="Arial"/>
              <a:cs typeface="Arial"/>
            </a:endParaRPr>
          </a:p>
        </p:txBody>
      </p:sp>
    </p:spTree>
    <p:extLst>
      <p:ext uri="{BB962C8B-B14F-4D97-AF65-F5344CB8AC3E}">
        <p14:creationId xmlns:p14="http://schemas.microsoft.com/office/powerpoint/2010/main" val="12356692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38742" y="802954"/>
            <a:ext cx="2713504" cy="626303"/>
          </a:xfrm>
          <a:prstGeom prst="rect">
            <a:avLst/>
          </a:prstGeom>
        </p:spPr>
        <p:txBody>
          <a:bodyPr vert="horz" wrap="square" lIns="0" tIns="10646" rIns="0" bIns="0" rtlCol="0" anchor="ctr">
            <a:spAutoFit/>
          </a:bodyPr>
          <a:lstStyle/>
          <a:p>
            <a:pPr marL="11206">
              <a:lnSpc>
                <a:spcPct val="100000"/>
              </a:lnSpc>
              <a:spcBef>
                <a:spcPts val="84"/>
              </a:spcBef>
            </a:pPr>
            <a:r>
              <a:rPr spc="-13" dirty="0"/>
              <a:t>I</a:t>
            </a:r>
            <a:r>
              <a:rPr spc="-4" dirty="0"/>
              <a:t>n</a:t>
            </a:r>
            <a:r>
              <a:rPr spc="-13" dirty="0"/>
              <a:t>t</a:t>
            </a:r>
            <a:r>
              <a:rPr dirty="0"/>
              <a:t>r</a:t>
            </a:r>
            <a:r>
              <a:rPr spc="-4" dirty="0"/>
              <a:t>odu</a:t>
            </a:r>
            <a:r>
              <a:rPr dirty="0"/>
              <a:t>c</a:t>
            </a:r>
            <a:r>
              <a:rPr spc="-13" dirty="0"/>
              <a:t>t</a:t>
            </a:r>
            <a:r>
              <a:rPr spc="-9" dirty="0"/>
              <a:t>i</a:t>
            </a:r>
            <a:r>
              <a:rPr spc="-4" dirty="0"/>
              <a:t>on</a:t>
            </a:r>
          </a:p>
        </p:txBody>
      </p:sp>
      <p:sp>
        <p:nvSpPr>
          <p:cNvPr id="3" name="object 3"/>
          <p:cNvSpPr txBox="1"/>
          <p:nvPr/>
        </p:nvSpPr>
        <p:spPr>
          <a:xfrm>
            <a:off x="882144" y="2149287"/>
            <a:ext cx="10426700" cy="2850106"/>
          </a:xfrm>
          <a:prstGeom prst="rect">
            <a:avLst/>
          </a:prstGeom>
        </p:spPr>
        <p:txBody>
          <a:bodyPr vert="horz" wrap="square" lIns="0" tIns="11206" rIns="0" bIns="0" rtlCol="0">
            <a:spAutoFit/>
          </a:bodyPr>
          <a:lstStyle/>
          <a:p>
            <a:pPr marL="318824" marR="58274" indent="-308178">
              <a:spcBef>
                <a:spcPts val="88"/>
              </a:spcBef>
              <a:buClr>
                <a:srgbClr val="6EB7D7"/>
              </a:buClr>
              <a:buSzPct val="108333"/>
              <a:buChar char="●"/>
              <a:tabLst>
                <a:tab pos="318824" algn="l"/>
                <a:tab pos="319385" algn="l"/>
              </a:tabLst>
            </a:pPr>
            <a:r>
              <a:rPr sz="2118" spc="-4" dirty="0">
                <a:solidFill>
                  <a:srgbClr val="585858"/>
                </a:solidFill>
                <a:latin typeface="Arial"/>
                <a:cs typeface="Arial"/>
              </a:rPr>
              <a:t>Behavioral models describe the internal behavior of a  system</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Behavioral model</a:t>
            </a:r>
            <a:r>
              <a:rPr sz="2118" spc="40" dirty="0">
                <a:solidFill>
                  <a:srgbClr val="585858"/>
                </a:solidFill>
                <a:latin typeface="Arial"/>
                <a:cs typeface="Arial"/>
              </a:rPr>
              <a:t> </a:t>
            </a:r>
            <a:r>
              <a:rPr sz="2118" spc="-4" dirty="0">
                <a:solidFill>
                  <a:srgbClr val="585858"/>
                </a:solidFill>
                <a:latin typeface="Arial"/>
                <a:cs typeface="Arial"/>
              </a:rPr>
              <a:t>types:</a:t>
            </a:r>
            <a:endParaRPr sz="2118" dirty="0">
              <a:latin typeface="Arial"/>
              <a:cs typeface="Arial"/>
            </a:endParaRPr>
          </a:p>
          <a:p>
            <a:pPr marL="615796" marR="386063" lvl="1" indent="-297532">
              <a:spcBef>
                <a:spcPts val="525"/>
              </a:spcBef>
              <a:buClr>
                <a:srgbClr val="205C76"/>
              </a:buClr>
              <a:buSzPct val="109090"/>
              <a:buChar char="●"/>
              <a:tabLst>
                <a:tab pos="615796" algn="l"/>
                <a:tab pos="616356" algn="l"/>
              </a:tabLst>
            </a:pPr>
            <a:r>
              <a:rPr sz="1941" spc="-4" dirty="0">
                <a:solidFill>
                  <a:srgbClr val="585858"/>
                </a:solidFill>
                <a:latin typeface="Arial"/>
                <a:cs typeface="Arial"/>
              </a:rPr>
              <a:t>Representations of the details of a business process  identified by use-cases</a:t>
            </a:r>
            <a:endParaRPr sz="1941" dirty="0">
              <a:latin typeface="Arial"/>
              <a:cs typeface="Arial"/>
            </a:endParaRPr>
          </a:p>
          <a:p>
            <a:pPr marL="863459" lvl="2" indent="-249344">
              <a:spcBef>
                <a:spcPts val="534"/>
              </a:spcBef>
              <a:buClr>
                <a:srgbClr val="6EB7D7"/>
              </a:buClr>
              <a:buSzPct val="110000"/>
              <a:buChar char="●"/>
              <a:tabLst>
                <a:tab pos="863459" algn="l"/>
                <a:tab pos="864019" algn="l"/>
              </a:tabLst>
            </a:pPr>
            <a:r>
              <a:rPr sz="1765" spc="-4" dirty="0">
                <a:solidFill>
                  <a:srgbClr val="585858"/>
                </a:solidFill>
                <a:latin typeface="Arial"/>
                <a:cs typeface="Arial"/>
              </a:rPr>
              <a:t>Interaction </a:t>
            </a:r>
            <a:r>
              <a:rPr sz="1765" dirty="0">
                <a:solidFill>
                  <a:srgbClr val="585858"/>
                </a:solidFill>
                <a:latin typeface="Arial"/>
                <a:cs typeface="Arial"/>
              </a:rPr>
              <a:t>diagrams (Sequence &amp;</a:t>
            </a:r>
            <a:r>
              <a:rPr sz="1765" spc="-106" dirty="0">
                <a:solidFill>
                  <a:srgbClr val="585858"/>
                </a:solidFill>
                <a:latin typeface="Arial"/>
                <a:cs typeface="Arial"/>
              </a:rPr>
              <a:t> </a:t>
            </a:r>
            <a:r>
              <a:rPr sz="1765" dirty="0">
                <a:solidFill>
                  <a:srgbClr val="585858"/>
                </a:solidFill>
                <a:latin typeface="Arial"/>
                <a:cs typeface="Arial"/>
              </a:rPr>
              <a:t>Communication)</a:t>
            </a:r>
            <a:endParaRPr sz="1765" dirty="0">
              <a:latin typeface="Arial"/>
              <a:cs typeface="Arial"/>
            </a:endParaRPr>
          </a:p>
          <a:p>
            <a:pPr marL="863459" marR="115987" lvl="2" indent="-248784">
              <a:spcBef>
                <a:spcPts val="529"/>
              </a:spcBef>
              <a:buClr>
                <a:srgbClr val="6EB7D7"/>
              </a:buClr>
              <a:buSzPct val="110000"/>
              <a:buChar char="●"/>
              <a:tabLst>
                <a:tab pos="863459" algn="l"/>
                <a:tab pos="864019" algn="l"/>
              </a:tabLst>
            </a:pPr>
            <a:r>
              <a:rPr sz="1765" dirty="0">
                <a:solidFill>
                  <a:srgbClr val="585858"/>
                </a:solidFill>
                <a:latin typeface="Arial"/>
                <a:cs typeface="Arial"/>
              </a:rPr>
              <a:t>Shows how objects collaborate </a:t>
            </a:r>
            <a:r>
              <a:rPr sz="1765" spc="-4" dirty="0">
                <a:solidFill>
                  <a:srgbClr val="585858"/>
                </a:solidFill>
                <a:latin typeface="Arial"/>
                <a:cs typeface="Arial"/>
              </a:rPr>
              <a:t>to provide the functionality  defined in the </a:t>
            </a:r>
            <a:r>
              <a:rPr sz="1765" dirty="0">
                <a:solidFill>
                  <a:srgbClr val="585858"/>
                </a:solidFill>
                <a:latin typeface="Arial"/>
                <a:cs typeface="Arial"/>
              </a:rPr>
              <a:t>use</a:t>
            </a:r>
            <a:r>
              <a:rPr sz="1765" spc="-49" dirty="0">
                <a:solidFill>
                  <a:srgbClr val="585858"/>
                </a:solidFill>
                <a:latin typeface="Arial"/>
                <a:cs typeface="Arial"/>
              </a:rPr>
              <a:t> </a:t>
            </a:r>
            <a:r>
              <a:rPr sz="1765" dirty="0">
                <a:solidFill>
                  <a:srgbClr val="585858"/>
                </a:solidFill>
                <a:latin typeface="Arial"/>
                <a:cs typeface="Arial"/>
              </a:rPr>
              <a:t>cases.</a:t>
            </a:r>
            <a:endParaRPr sz="1765" dirty="0">
              <a:latin typeface="Arial"/>
              <a:cs typeface="Arial"/>
            </a:endParaRPr>
          </a:p>
          <a:p>
            <a:pPr marL="616356" lvl="1" indent="-297532">
              <a:spcBef>
                <a:spcPts val="525"/>
              </a:spcBef>
              <a:buClr>
                <a:srgbClr val="205C76"/>
              </a:buClr>
              <a:buSzPct val="109090"/>
              <a:buChar char="●"/>
              <a:tabLst>
                <a:tab pos="615796" algn="l"/>
                <a:tab pos="616356" algn="l"/>
              </a:tabLst>
            </a:pPr>
            <a:r>
              <a:rPr sz="1941" spc="-4" dirty="0">
                <a:solidFill>
                  <a:srgbClr val="585858"/>
                </a:solidFill>
                <a:latin typeface="Arial"/>
                <a:cs typeface="Arial"/>
              </a:rPr>
              <a:t>Representations of changes in the</a:t>
            </a:r>
            <a:r>
              <a:rPr sz="1941" spc="22" dirty="0">
                <a:solidFill>
                  <a:srgbClr val="585858"/>
                </a:solidFill>
                <a:latin typeface="Arial"/>
                <a:cs typeface="Arial"/>
              </a:rPr>
              <a:t> </a:t>
            </a:r>
            <a:r>
              <a:rPr sz="1941" spc="-4" dirty="0">
                <a:solidFill>
                  <a:srgbClr val="585858"/>
                </a:solidFill>
                <a:latin typeface="Arial"/>
                <a:cs typeface="Arial"/>
              </a:rPr>
              <a:t>data</a:t>
            </a:r>
            <a:endParaRPr sz="1941" dirty="0">
              <a:latin typeface="Arial"/>
              <a:cs typeface="Arial"/>
            </a:endParaRPr>
          </a:p>
          <a:p>
            <a:pPr marL="863459" lvl="2" indent="-249344">
              <a:spcBef>
                <a:spcPts val="534"/>
              </a:spcBef>
              <a:buClr>
                <a:srgbClr val="6EB7D7"/>
              </a:buClr>
              <a:buSzPct val="110000"/>
              <a:buChar char="●"/>
              <a:tabLst>
                <a:tab pos="863459" algn="l"/>
                <a:tab pos="864019" algn="l"/>
              </a:tabLst>
            </a:pPr>
            <a:r>
              <a:rPr sz="1765" spc="-4" dirty="0">
                <a:solidFill>
                  <a:srgbClr val="585858"/>
                </a:solidFill>
                <a:latin typeface="Arial"/>
                <a:cs typeface="Arial"/>
              </a:rPr>
              <a:t>Behavioral state</a:t>
            </a:r>
            <a:r>
              <a:rPr sz="1765" spc="-31" dirty="0">
                <a:solidFill>
                  <a:srgbClr val="585858"/>
                </a:solidFill>
                <a:latin typeface="Arial"/>
                <a:cs typeface="Arial"/>
              </a:rPr>
              <a:t> </a:t>
            </a:r>
            <a:r>
              <a:rPr sz="1765" dirty="0">
                <a:solidFill>
                  <a:srgbClr val="585858"/>
                </a:solidFill>
                <a:latin typeface="Arial"/>
                <a:cs typeface="Arial"/>
              </a:rPr>
              <a:t>machines</a:t>
            </a:r>
            <a:endParaRPr sz="1765"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Focus (for now) is on the dynamic view of the system,  not on how it is</a:t>
            </a:r>
            <a:r>
              <a:rPr sz="2118" spc="26" dirty="0">
                <a:solidFill>
                  <a:srgbClr val="585858"/>
                </a:solidFill>
                <a:latin typeface="Arial"/>
                <a:cs typeface="Arial"/>
              </a:rPr>
              <a:t> </a:t>
            </a:r>
            <a:r>
              <a:rPr sz="2118" spc="-4" dirty="0">
                <a:solidFill>
                  <a:srgbClr val="585858"/>
                </a:solidFill>
                <a:latin typeface="Arial"/>
                <a:cs typeface="Arial"/>
              </a:rPr>
              <a:t>implemented</a:t>
            </a:r>
            <a:endParaRPr sz="2118" dirty="0">
              <a:latin typeface="Arial"/>
              <a:cs typeface="Arial"/>
            </a:endParaRPr>
          </a:p>
        </p:txBody>
      </p:sp>
    </p:spTree>
    <p:extLst>
      <p:ext uri="{BB962C8B-B14F-4D97-AF65-F5344CB8AC3E}">
        <p14:creationId xmlns:p14="http://schemas.microsoft.com/office/powerpoint/2010/main" val="347282076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62848" y="1001970"/>
            <a:ext cx="4264399" cy="626303"/>
          </a:xfrm>
          <a:prstGeom prst="rect">
            <a:avLst/>
          </a:prstGeom>
        </p:spPr>
        <p:txBody>
          <a:bodyPr vert="horz" wrap="square" lIns="0" tIns="10646" rIns="0" bIns="0" rtlCol="0" anchor="ctr">
            <a:spAutoFit/>
          </a:bodyPr>
          <a:lstStyle/>
          <a:p>
            <a:pPr marL="11206">
              <a:lnSpc>
                <a:spcPct val="100000"/>
              </a:lnSpc>
              <a:spcBef>
                <a:spcPts val="84"/>
              </a:spcBef>
            </a:pPr>
            <a:r>
              <a:rPr spc="-4" dirty="0"/>
              <a:t>Behavioral</a:t>
            </a:r>
            <a:r>
              <a:rPr spc="-26" dirty="0"/>
              <a:t> </a:t>
            </a:r>
            <a:r>
              <a:rPr spc="-4" dirty="0"/>
              <a:t>Models</a:t>
            </a:r>
          </a:p>
        </p:txBody>
      </p:sp>
      <p:sp>
        <p:nvSpPr>
          <p:cNvPr id="3" name="object 3"/>
          <p:cNvSpPr txBox="1"/>
          <p:nvPr/>
        </p:nvSpPr>
        <p:spPr>
          <a:xfrm>
            <a:off x="1143000" y="1837764"/>
            <a:ext cx="10121899" cy="2776175"/>
          </a:xfrm>
          <a:prstGeom prst="rect">
            <a:avLst/>
          </a:prstGeom>
        </p:spPr>
        <p:txBody>
          <a:bodyPr vert="horz" wrap="square" lIns="0" tIns="11206" rIns="0" bIns="0" rtlCol="0">
            <a:spAutoFit/>
          </a:bodyPr>
          <a:lstStyle/>
          <a:p>
            <a:pPr marL="318824" marR="763722" indent="-308178">
              <a:spcBef>
                <a:spcPts val="88"/>
              </a:spcBef>
              <a:buClr>
                <a:srgbClr val="6EB7D7"/>
              </a:buClr>
              <a:buSzPct val="108333"/>
              <a:buChar char="●"/>
              <a:tabLst>
                <a:tab pos="318824" algn="l"/>
                <a:tab pos="319385" algn="l"/>
              </a:tabLst>
            </a:pPr>
            <a:r>
              <a:rPr sz="2118" spc="-4" dirty="0">
                <a:solidFill>
                  <a:srgbClr val="585858"/>
                </a:solidFill>
                <a:latin typeface="Arial"/>
                <a:cs typeface="Arial"/>
              </a:rPr>
              <a:t>Analysts view the problem as a set of use cases  supported by a set of collaborating</a:t>
            </a:r>
            <a:r>
              <a:rPr sz="2118" spc="53" dirty="0">
                <a:solidFill>
                  <a:srgbClr val="585858"/>
                </a:solidFill>
                <a:latin typeface="Arial"/>
                <a:cs typeface="Arial"/>
              </a:rPr>
              <a:t> </a:t>
            </a:r>
            <a:r>
              <a:rPr sz="2118" spc="-4" dirty="0">
                <a:solidFill>
                  <a:srgbClr val="585858"/>
                </a:solidFill>
                <a:latin typeface="Arial"/>
                <a:cs typeface="Arial"/>
              </a:rPr>
              <a:t>objects</a:t>
            </a:r>
            <a:endParaRPr sz="2118" dirty="0">
              <a:latin typeface="Arial"/>
              <a:cs typeface="Arial"/>
            </a:endParaRPr>
          </a:p>
          <a:p>
            <a:pPr marL="616356" lvl="1" indent="-297532">
              <a:spcBef>
                <a:spcPts val="525"/>
              </a:spcBef>
              <a:buClr>
                <a:srgbClr val="205C76"/>
              </a:buClr>
              <a:buSzPct val="109090"/>
              <a:buChar char="●"/>
              <a:tabLst>
                <a:tab pos="615796" algn="l"/>
                <a:tab pos="616356" algn="l"/>
              </a:tabLst>
            </a:pPr>
            <a:r>
              <a:rPr sz="1941" spc="-4" dirty="0">
                <a:solidFill>
                  <a:srgbClr val="585858"/>
                </a:solidFill>
                <a:latin typeface="Arial"/>
                <a:cs typeface="Arial"/>
              </a:rPr>
              <a:t>Aids in organizing and defining the</a:t>
            </a:r>
            <a:r>
              <a:rPr sz="1941" spc="13" dirty="0">
                <a:solidFill>
                  <a:srgbClr val="585858"/>
                </a:solidFill>
                <a:latin typeface="Arial"/>
                <a:cs typeface="Arial"/>
              </a:rPr>
              <a:t> </a:t>
            </a:r>
            <a:r>
              <a:rPr sz="1941" spc="-4" dirty="0">
                <a:solidFill>
                  <a:srgbClr val="585858"/>
                </a:solidFill>
                <a:latin typeface="Arial"/>
                <a:cs typeface="Arial"/>
              </a:rPr>
              <a:t>software</a:t>
            </a:r>
            <a:endParaRPr sz="1941" dirty="0">
              <a:latin typeface="Arial"/>
              <a:cs typeface="Arial"/>
            </a:endParaRPr>
          </a:p>
          <a:p>
            <a:pPr marL="615796" marR="690319" lvl="1" indent="-297532">
              <a:spcBef>
                <a:spcPts val="529"/>
              </a:spcBef>
              <a:buClr>
                <a:srgbClr val="205C76"/>
              </a:buClr>
              <a:buSzPct val="109090"/>
              <a:buChar char="●"/>
              <a:tabLst>
                <a:tab pos="615796" algn="l"/>
                <a:tab pos="616356" algn="l"/>
              </a:tabLst>
            </a:pPr>
            <a:r>
              <a:rPr sz="1941" spc="-4" dirty="0">
                <a:solidFill>
                  <a:srgbClr val="585858"/>
                </a:solidFill>
                <a:latin typeface="Arial"/>
                <a:cs typeface="Arial"/>
              </a:rPr>
              <a:t>Behavioral models depict this view of the business  </a:t>
            </a:r>
            <a:r>
              <a:rPr sz="1941" dirty="0">
                <a:solidFill>
                  <a:srgbClr val="585858"/>
                </a:solidFill>
                <a:latin typeface="Arial"/>
                <a:cs typeface="Arial"/>
              </a:rPr>
              <a:t>processes:</a:t>
            </a:r>
            <a:endParaRPr sz="1941" dirty="0">
              <a:latin typeface="Arial"/>
              <a:cs typeface="Arial"/>
            </a:endParaRPr>
          </a:p>
          <a:p>
            <a:pPr marL="863459" marR="29137" lvl="2" indent="-248784">
              <a:spcBef>
                <a:spcPts val="534"/>
              </a:spcBef>
              <a:buClr>
                <a:srgbClr val="6EB7D7"/>
              </a:buClr>
              <a:buSzPct val="110000"/>
              <a:buChar char="●"/>
              <a:tabLst>
                <a:tab pos="863459" algn="l"/>
                <a:tab pos="864019" algn="l"/>
              </a:tabLst>
            </a:pPr>
            <a:r>
              <a:rPr sz="1765" dirty="0">
                <a:solidFill>
                  <a:srgbClr val="585858"/>
                </a:solidFill>
                <a:latin typeface="Arial"/>
                <a:cs typeface="Arial"/>
              </a:rPr>
              <a:t>How </a:t>
            </a:r>
            <a:r>
              <a:rPr sz="1765" spc="-4" dirty="0">
                <a:solidFill>
                  <a:srgbClr val="585858"/>
                </a:solidFill>
                <a:latin typeface="Arial"/>
                <a:cs typeface="Arial"/>
              </a:rPr>
              <a:t>the </a:t>
            </a:r>
            <a:r>
              <a:rPr sz="1765" dirty="0">
                <a:solidFill>
                  <a:srgbClr val="585858"/>
                </a:solidFill>
                <a:latin typeface="Arial"/>
                <a:cs typeface="Arial"/>
              </a:rPr>
              <a:t>objects interact and </a:t>
            </a:r>
            <a:r>
              <a:rPr sz="1765" spc="-4" dirty="0">
                <a:solidFill>
                  <a:srgbClr val="585858"/>
                </a:solidFill>
                <a:latin typeface="Arial"/>
                <a:cs typeface="Arial"/>
              </a:rPr>
              <a:t>form </a:t>
            </a:r>
            <a:r>
              <a:rPr sz="1765" dirty="0">
                <a:solidFill>
                  <a:srgbClr val="585858"/>
                </a:solidFill>
                <a:latin typeface="Arial"/>
                <a:cs typeface="Arial"/>
              </a:rPr>
              <a:t>a collaboration </a:t>
            </a:r>
            <a:r>
              <a:rPr sz="1765" spc="-4" dirty="0">
                <a:solidFill>
                  <a:srgbClr val="585858"/>
                </a:solidFill>
                <a:latin typeface="Arial"/>
                <a:cs typeface="Arial"/>
              </a:rPr>
              <a:t>to</a:t>
            </a:r>
            <a:r>
              <a:rPr sz="1765" spc="-180" dirty="0">
                <a:solidFill>
                  <a:srgbClr val="585858"/>
                </a:solidFill>
                <a:latin typeface="Arial"/>
                <a:cs typeface="Arial"/>
              </a:rPr>
              <a:t> </a:t>
            </a:r>
            <a:r>
              <a:rPr sz="1765" dirty="0">
                <a:solidFill>
                  <a:srgbClr val="585858"/>
                </a:solidFill>
                <a:latin typeface="Arial"/>
                <a:cs typeface="Arial"/>
              </a:rPr>
              <a:t>support  </a:t>
            </a:r>
            <a:r>
              <a:rPr sz="1765" spc="-4" dirty="0">
                <a:solidFill>
                  <a:srgbClr val="585858"/>
                </a:solidFill>
                <a:latin typeface="Arial"/>
                <a:cs typeface="Arial"/>
              </a:rPr>
              <a:t>the </a:t>
            </a:r>
            <a:r>
              <a:rPr sz="1765" dirty="0">
                <a:solidFill>
                  <a:srgbClr val="585858"/>
                </a:solidFill>
                <a:latin typeface="Arial"/>
                <a:cs typeface="Arial"/>
              </a:rPr>
              <a:t>use</a:t>
            </a:r>
            <a:r>
              <a:rPr sz="1765" spc="-26" dirty="0">
                <a:solidFill>
                  <a:srgbClr val="585858"/>
                </a:solidFill>
                <a:latin typeface="Arial"/>
                <a:cs typeface="Arial"/>
              </a:rPr>
              <a:t> </a:t>
            </a:r>
            <a:r>
              <a:rPr sz="1765" dirty="0">
                <a:solidFill>
                  <a:srgbClr val="585858"/>
                </a:solidFill>
                <a:latin typeface="Arial"/>
                <a:cs typeface="Arial"/>
              </a:rPr>
              <a:t>cases</a:t>
            </a:r>
            <a:endParaRPr sz="1765" dirty="0">
              <a:latin typeface="Arial"/>
              <a:cs typeface="Arial"/>
            </a:endParaRPr>
          </a:p>
          <a:p>
            <a:pPr marL="863459" marR="4483" lvl="2" indent="-248784">
              <a:spcBef>
                <a:spcPts val="529"/>
              </a:spcBef>
              <a:buClr>
                <a:srgbClr val="6EB7D7"/>
              </a:buClr>
              <a:buSzPct val="110000"/>
              <a:buChar char="●"/>
              <a:tabLst>
                <a:tab pos="863459" algn="l"/>
                <a:tab pos="864019" algn="l"/>
              </a:tabLst>
            </a:pPr>
            <a:r>
              <a:rPr sz="1765" spc="-4" dirty="0">
                <a:solidFill>
                  <a:srgbClr val="585858"/>
                </a:solidFill>
                <a:latin typeface="Arial"/>
                <a:cs typeface="Arial"/>
              </a:rPr>
              <a:t>An internal view </a:t>
            </a:r>
            <a:r>
              <a:rPr sz="1765" dirty="0">
                <a:solidFill>
                  <a:srgbClr val="585858"/>
                </a:solidFill>
                <a:latin typeface="Arial"/>
                <a:cs typeface="Arial"/>
              </a:rPr>
              <a:t>of </a:t>
            </a:r>
            <a:r>
              <a:rPr sz="1765" spc="-4" dirty="0">
                <a:solidFill>
                  <a:srgbClr val="585858"/>
                </a:solidFill>
                <a:latin typeface="Arial"/>
                <a:cs typeface="Arial"/>
              </a:rPr>
              <a:t>the </a:t>
            </a:r>
            <a:r>
              <a:rPr sz="1765" dirty="0">
                <a:solidFill>
                  <a:srgbClr val="585858"/>
                </a:solidFill>
                <a:latin typeface="Arial"/>
                <a:cs typeface="Arial"/>
              </a:rPr>
              <a:t>business process described by a</a:t>
            </a:r>
            <a:r>
              <a:rPr sz="1765" spc="-119" dirty="0">
                <a:solidFill>
                  <a:srgbClr val="585858"/>
                </a:solidFill>
                <a:latin typeface="Arial"/>
                <a:cs typeface="Arial"/>
              </a:rPr>
              <a:t> </a:t>
            </a:r>
            <a:r>
              <a:rPr sz="1765" dirty="0">
                <a:solidFill>
                  <a:srgbClr val="585858"/>
                </a:solidFill>
                <a:latin typeface="Arial"/>
                <a:cs typeface="Arial"/>
              </a:rPr>
              <a:t>use  case</a:t>
            </a:r>
            <a:endParaRPr sz="1765" dirty="0">
              <a:latin typeface="Arial"/>
              <a:cs typeface="Arial"/>
            </a:endParaRPr>
          </a:p>
          <a:p>
            <a:pPr marL="318824" marR="533989"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Creating behavioral models is an iterative process  which may induce changes in other</a:t>
            </a:r>
            <a:r>
              <a:rPr sz="2118" spc="57" dirty="0">
                <a:solidFill>
                  <a:srgbClr val="585858"/>
                </a:solidFill>
                <a:latin typeface="Arial"/>
                <a:cs typeface="Arial"/>
              </a:rPr>
              <a:t> </a:t>
            </a:r>
            <a:r>
              <a:rPr sz="2118" spc="-4" dirty="0">
                <a:solidFill>
                  <a:srgbClr val="585858"/>
                </a:solidFill>
                <a:latin typeface="Arial"/>
                <a:cs typeface="Arial"/>
              </a:rPr>
              <a:t>models</a:t>
            </a:r>
            <a:endParaRPr sz="2118" dirty="0">
              <a:latin typeface="Arial"/>
              <a:cs typeface="Arial"/>
            </a:endParaRPr>
          </a:p>
        </p:txBody>
      </p:sp>
    </p:spTree>
    <p:extLst>
      <p:ext uri="{BB962C8B-B14F-4D97-AF65-F5344CB8AC3E}">
        <p14:creationId xmlns:p14="http://schemas.microsoft.com/office/powerpoint/2010/main" val="29964700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4664" y="735718"/>
            <a:ext cx="4779309" cy="626303"/>
          </a:xfrm>
          <a:prstGeom prst="rect">
            <a:avLst/>
          </a:prstGeom>
        </p:spPr>
        <p:txBody>
          <a:bodyPr vert="horz" wrap="square" lIns="0" tIns="10646" rIns="0" bIns="0" rtlCol="0" anchor="ctr">
            <a:spAutoFit/>
          </a:bodyPr>
          <a:lstStyle/>
          <a:p>
            <a:pPr marL="11206">
              <a:lnSpc>
                <a:spcPct val="100000"/>
              </a:lnSpc>
              <a:spcBef>
                <a:spcPts val="84"/>
              </a:spcBef>
            </a:pPr>
            <a:r>
              <a:rPr spc="-4" dirty="0"/>
              <a:t>Interaction</a:t>
            </a:r>
            <a:r>
              <a:rPr spc="-22" dirty="0"/>
              <a:t> </a:t>
            </a:r>
            <a:r>
              <a:rPr spc="-4" dirty="0"/>
              <a:t>Diagrams</a:t>
            </a:r>
          </a:p>
        </p:txBody>
      </p:sp>
      <p:sp>
        <p:nvSpPr>
          <p:cNvPr id="3" name="object 3"/>
          <p:cNvSpPr txBox="1"/>
          <p:nvPr/>
        </p:nvSpPr>
        <p:spPr>
          <a:xfrm>
            <a:off x="1104900" y="1883394"/>
            <a:ext cx="10261600" cy="3821378"/>
          </a:xfrm>
          <a:prstGeom prst="rect">
            <a:avLst/>
          </a:prstGeom>
        </p:spPr>
        <p:txBody>
          <a:bodyPr vert="horz" wrap="square" lIns="0" tIns="56590" rIns="0" bIns="0" rtlCol="0">
            <a:spAutoFit/>
          </a:bodyPr>
          <a:lstStyle/>
          <a:p>
            <a:pPr marL="318824" indent="-308178">
              <a:spcBef>
                <a:spcPts val="446"/>
              </a:spcBef>
              <a:buClr>
                <a:srgbClr val="6EB7D7"/>
              </a:buClr>
              <a:buSzPct val="109090"/>
              <a:buChar char="●"/>
              <a:tabLst>
                <a:tab pos="318824" algn="l"/>
                <a:tab pos="319385" algn="l"/>
              </a:tabLst>
            </a:pPr>
            <a:r>
              <a:rPr sz="1941" spc="-4" dirty="0">
                <a:solidFill>
                  <a:srgbClr val="585858"/>
                </a:solidFill>
                <a:latin typeface="Arial"/>
                <a:cs typeface="Arial"/>
              </a:rPr>
              <a:t>Objects—an instantiation of a</a:t>
            </a:r>
            <a:r>
              <a:rPr sz="1941" spc="9" dirty="0">
                <a:solidFill>
                  <a:srgbClr val="585858"/>
                </a:solidFill>
                <a:latin typeface="Arial"/>
                <a:cs typeface="Arial"/>
              </a:rPr>
              <a:t> </a:t>
            </a:r>
            <a:r>
              <a:rPr sz="1941" dirty="0">
                <a:solidFill>
                  <a:srgbClr val="585858"/>
                </a:solidFill>
                <a:latin typeface="Arial"/>
                <a:cs typeface="Arial"/>
              </a:rPr>
              <a:t>class</a:t>
            </a:r>
            <a:endParaRPr sz="1941" dirty="0">
              <a:latin typeface="Arial"/>
              <a:cs typeface="Arial"/>
            </a:endParaRPr>
          </a:p>
          <a:p>
            <a:pPr marL="616356" lvl="1" indent="-297532">
              <a:spcBef>
                <a:spcPts val="538"/>
              </a:spcBef>
              <a:buClr>
                <a:srgbClr val="205C76"/>
              </a:buClr>
              <a:buSzPct val="110000"/>
              <a:buChar char="●"/>
              <a:tabLst>
                <a:tab pos="615796" algn="l"/>
                <a:tab pos="616356" algn="l"/>
              </a:tabLst>
            </a:pPr>
            <a:r>
              <a:rPr sz="1765" spc="-4" dirty="0">
                <a:solidFill>
                  <a:srgbClr val="585858"/>
                </a:solidFill>
                <a:latin typeface="Arial"/>
                <a:cs typeface="Arial"/>
              </a:rPr>
              <a:t>Patient is </a:t>
            </a:r>
            <a:r>
              <a:rPr sz="1765" dirty="0">
                <a:solidFill>
                  <a:srgbClr val="585858"/>
                </a:solidFill>
                <a:latin typeface="Arial"/>
                <a:cs typeface="Arial"/>
              </a:rPr>
              <a:t>a</a:t>
            </a:r>
            <a:r>
              <a:rPr sz="1765" spc="-18" dirty="0">
                <a:solidFill>
                  <a:srgbClr val="585858"/>
                </a:solidFill>
                <a:latin typeface="Arial"/>
                <a:cs typeface="Arial"/>
              </a:rPr>
              <a:t> </a:t>
            </a:r>
            <a:r>
              <a:rPr sz="1765" dirty="0">
                <a:solidFill>
                  <a:srgbClr val="585858"/>
                </a:solidFill>
                <a:latin typeface="Arial"/>
                <a:cs typeface="Arial"/>
              </a:rPr>
              <a:t>class</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Mary Wilson </a:t>
            </a:r>
            <a:r>
              <a:rPr sz="1765" spc="-4" dirty="0">
                <a:solidFill>
                  <a:srgbClr val="585858"/>
                </a:solidFill>
                <a:latin typeface="Arial"/>
                <a:cs typeface="Arial"/>
              </a:rPr>
              <a:t>is </a:t>
            </a:r>
            <a:r>
              <a:rPr sz="1765" dirty="0">
                <a:solidFill>
                  <a:srgbClr val="585858"/>
                </a:solidFill>
                <a:latin typeface="Arial"/>
                <a:cs typeface="Arial"/>
              </a:rPr>
              <a:t>an </a:t>
            </a:r>
            <a:r>
              <a:rPr sz="1765" spc="-4" dirty="0">
                <a:solidFill>
                  <a:srgbClr val="585858"/>
                </a:solidFill>
                <a:latin typeface="Arial"/>
                <a:cs typeface="Arial"/>
              </a:rPr>
              <a:t>instantiation </a:t>
            </a:r>
            <a:r>
              <a:rPr sz="1765" dirty="0">
                <a:solidFill>
                  <a:srgbClr val="585858"/>
                </a:solidFill>
                <a:latin typeface="Arial"/>
                <a:cs typeface="Arial"/>
              </a:rPr>
              <a:t>of </a:t>
            </a:r>
            <a:r>
              <a:rPr sz="1765" spc="-4" dirty="0">
                <a:solidFill>
                  <a:srgbClr val="585858"/>
                </a:solidFill>
                <a:latin typeface="Arial"/>
                <a:cs typeface="Arial"/>
              </a:rPr>
              <a:t>the patient </a:t>
            </a:r>
            <a:r>
              <a:rPr sz="1765" dirty="0">
                <a:solidFill>
                  <a:srgbClr val="585858"/>
                </a:solidFill>
                <a:latin typeface="Arial"/>
                <a:cs typeface="Arial"/>
              </a:rPr>
              <a:t>class</a:t>
            </a:r>
            <a:r>
              <a:rPr sz="1765" spc="-128" dirty="0">
                <a:solidFill>
                  <a:srgbClr val="585858"/>
                </a:solidFill>
                <a:latin typeface="Arial"/>
                <a:cs typeface="Arial"/>
              </a:rPr>
              <a:t> </a:t>
            </a:r>
            <a:r>
              <a:rPr sz="1765" dirty="0">
                <a:solidFill>
                  <a:srgbClr val="585858"/>
                </a:solidFill>
                <a:latin typeface="Arial"/>
                <a:cs typeface="Arial"/>
              </a:rPr>
              <a:t>(object)</a:t>
            </a:r>
            <a:endParaRPr sz="1765" dirty="0">
              <a:latin typeface="Arial"/>
              <a:cs typeface="Arial"/>
            </a:endParaRPr>
          </a:p>
          <a:p>
            <a:pPr marL="318824" indent="-308178">
              <a:spcBef>
                <a:spcPts val="521"/>
              </a:spcBef>
              <a:buClr>
                <a:srgbClr val="6EB7D7"/>
              </a:buClr>
              <a:buSzPct val="109090"/>
              <a:buChar char="●"/>
              <a:tabLst>
                <a:tab pos="318824" algn="l"/>
                <a:tab pos="319385" algn="l"/>
              </a:tabLst>
            </a:pPr>
            <a:r>
              <a:rPr sz="1941" spc="-4" dirty="0">
                <a:solidFill>
                  <a:srgbClr val="585858"/>
                </a:solidFill>
                <a:latin typeface="Arial"/>
                <a:cs typeface="Arial"/>
              </a:rPr>
              <a:t>Attributes—characteristics of a</a:t>
            </a:r>
            <a:r>
              <a:rPr sz="1941" spc="13" dirty="0">
                <a:solidFill>
                  <a:srgbClr val="585858"/>
                </a:solidFill>
                <a:latin typeface="Arial"/>
                <a:cs typeface="Arial"/>
              </a:rPr>
              <a:t> </a:t>
            </a:r>
            <a:r>
              <a:rPr sz="1941" dirty="0">
                <a:solidFill>
                  <a:srgbClr val="585858"/>
                </a:solidFill>
                <a:latin typeface="Arial"/>
                <a:cs typeface="Arial"/>
              </a:rPr>
              <a:t>class</a:t>
            </a:r>
            <a:endParaRPr sz="1941" dirty="0">
              <a:latin typeface="Arial"/>
              <a:cs typeface="Arial"/>
            </a:endParaRPr>
          </a:p>
          <a:p>
            <a:pPr marL="616356" lvl="1" indent="-297532">
              <a:spcBef>
                <a:spcPts val="538"/>
              </a:spcBef>
              <a:buClr>
                <a:srgbClr val="205C76"/>
              </a:buClr>
              <a:buSzPct val="110000"/>
              <a:buChar char="●"/>
              <a:tabLst>
                <a:tab pos="615796" algn="l"/>
                <a:tab pos="616356" algn="l"/>
              </a:tabLst>
            </a:pPr>
            <a:r>
              <a:rPr sz="1765" spc="-4" dirty="0">
                <a:solidFill>
                  <a:srgbClr val="585858"/>
                </a:solidFill>
                <a:latin typeface="Arial"/>
                <a:cs typeface="Arial"/>
              </a:rPr>
              <a:t>Patient </a:t>
            </a:r>
            <a:r>
              <a:rPr sz="1765" dirty="0">
                <a:solidFill>
                  <a:srgbClr val="585858"/>
                </a:solidFill>
                <a:latin typeface="Arial"/>
                <a:cs typeface="Arial"/>
              </a:rPr>
              <a:t>class: name, address, phone,</a:t>
            </a:r>
            <a:r>
              <a:rPr sz="1765" spc="-154" dirty="0">
                <a:solidFill>
                  <a:srgbClr val="585858"/>
                </a:solidFill>
                <a:latin typeface="Arial"/>
                <a:cs typeface="Arial"/>
              </a:rPr>
              <a:t> </a:t>
            </a:r>
            <a:r>
              <a:rPr sz="1765" dirty="0">
                <a:solidFill>
                  <a:srgbClr val="585858"/>
                </a:solidFill>
                <a:latin typeface="Arial"/>
                <a:cs typeface="Arial"/>
              </a:rPr>
              <a:t>etc.</a:t>
            </a:r>
            <a:endParaRPr sz="1765" dirty="0">
              <a:latin typeface="Arial"/>
              <a:cs typeface="Arial"/>
            </a:endParaRPr>
          </a:p>
          <a:p>
            <a:pPr marL="318824" marR="442656" indent="-308178">
              <a:spcBef>
                <a:spcPts val="521"/>
              </a:spcBef>
              <a:buClr>
                <a:srgbClr val="6EB7D7"/>
              </a:buClr>
              <a:buSzPct val="109090"/>
              <a:buChar char="●"/>
              <a:tabLst>
                <a:tab pos="318824" algn="l"/>
                <a:tab pos="319385" algn="l"/>
              </a:tabLst>
            </a:pPr>
            <a:r>
              <a:rPr sz="1941" spc="-4" dirty="0">
                <a:solidFill>
                  <a:srgbClr val="585858"/>
                </a:solidFill>
                <a:latin typeface="Arial"/>
                <a:cs typeface="Arial"/>
              </a:rPr>
              <a:t>Operations—the behaviors of a </a:t>
            </a:r>
            <a:r>
              <a:rPr sz="1941" dirty="0">
                <a:solidFill>
                  <a:srgbClr val="585858"/>
                </a:solidFill>
                <a:latin typeface="Arial"/>
                <a:cs typeface="Arial"/>
              </a:rPr>
              <a:t>class, </a:t>
            </a:r>
            <a:r>
              <a:rPr sz="1941" spc="-4" dirty="0">
                <a:solidFill>
                  <a:srgbClr val="585858"/>
                </a:solidFill>
                <a:latin typeface="Arial"/>
                <a:cs typeface="Arial"/>
              </a:rPr>
              <a:t>or an action that an  object can</a:t>
            </a:r>
            <a:r>
              <a:rPr sz="1941" spc="-9" dirty="0">
                <a:solidFill>
                  <a:srgbClr val="585858"/>
                </a:solidFill>
                <a:latin typeface="Arial"/>
                <a:cs typeface="Arial"/>
              </a:rPr>
              <a:t> </a:t>
            </a:r>
            <a:r>
              <a:rPr sz="1941" spc="-4" dirty="0">
                <a:solidFill>
                  <a:srgbClr val="585858"/>
                </a:solidFill>
                <a:latin typeface="Arial"/>
                <a:cs typeface="Arial"/>
              </a:rPr>
              <a:t>perform</a:t>
            </a:r>
            <a:endParaRPr sz="1941" dirty="0">
              <a:latin typeface="Arial"/>
              <a:cs typeface="Arial"/>
            </a:endParaRPr>
          </a:p>
          <a:p>
            <a:pPr marL="318824" marR="4483"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Messages—information sent to objects to tell them to execute  one of their</a:t>
            </a:r>
            <a:r>
              <a:rPr sz="1941" spc="13" dirty="0">
                <a:solidFill>
                  <a:srgbClr val="585858"/>
                </a:solidFill>
                <a:latin typeface="Arial"/>
                <a:cs typeface="Arial"/>
              </a:rPr>
              <a:t> </a:t>
            </a:r>
            <a:r>
              <a:rPr sz="1941" spc="-4" dirty="0">
                <a:solidFill>
                  <a:srgbClr val="585858"/>
                </a:solidFill>
                <a:latin typeface="Arial"/>
                <a:cs typeface="Arial"/>
              </a:rPr>
              <a:t>behaviors</a:t>
            </a:r>
            <a:endParaRPr sz="1941" dirty="0">
              <a:latin typeface="Arial"/>
              <a:cs typeface="Arial"/>
            </a:endParaRPr>
          </a:p>
          <a:p>
            <a:pPr marL="616356" lvl="1" indent="-297532">
              <a:spcBef>
                <a:spcPts val="538"/>
              </a:spcBef>
              <a:buClr>
                <a:srgbClr val="205C76"/>
              </a:buClr>
              <a:buSzPct val="110000"/>
              <a:buChar char="●"/>
              <a:tabLst>
                <a:tab pos="615796" algn="l"/>
                <a:tab pos="616356" algn="l"/>
              </a:tabLst>
            </a:pPr>
            <a:r>
              <a:rPr sz="1765" dirty="0">
                <a:solidFill>
                  <a:srgbClr val="585858"/>
                </a:solidFill>
                <a:latin typeface="Arial"/>
                <a:cs typeface="Arial"/>
              </a:rPr>
              <a:t>A </a:t>
            </a:r>
            <a:r>
              <a:rPr sz="1765" spc="-4" dirty="0">
                <a:solidFill>
                  <a:srgbClr val="585858"/>
                </a:solidFill>
                <a:latin typeface="Arial"/>
                <a:cs typeface="Arial"/>
              </a:rPr>
              <a:t>function </a:t>
            </a:r>
            <a:r>
              <a:rPr sz="1765" dirty="0">
                <a:solidFill>
                  <a:srgbClr val="585858"/>
                </a:solidFill>
                <a:latin typeface="Arial"/>
                <a:cs typeface="Arial"/>
              </a:rPr>
              <a:t>call </a:t>
            </a:r>
            <a:r>
              <a:rPr sz="1765" spc="-4" dirty="0">
                <a:solidFill>
                  <a:srgbClr val="585858"/>
                </a:solidFill>
                <a:latin typeface="Arial"/>
                <a:cs typeface="Arial"/>
              </a:rPr>
              <a:t>from </a:t>
            </a:r>
            <a:r>
              <a:rPr sz="1765" dirty="0">
                <a:solidFill>
                  <a:srgbClr val="585858"/>
                </a:solidFill>
                <a:latin typeface="Arial"/>
                <a:cs typeface="Arial"/>
              </a:rPr>
              <a:t>one object </a:t>
            </a:r>
            <a:r>
              <a:rPr sz="1765" spc="-4" dirty="0">
                <a:solidFill>
                  <a:srgbClr val="585858"/>
                </a:solidFill>
                <a:latin typeface="Arial"/>
                <a:cs typeface="Arial"/>
              </a:rPr>
              <a:t>to</a:t>
            </a:r>
            <a:r>
              <a:rPr sz="1765" spc="-207" dirty="0">
                <a:solidFill>
                  <a:srgbClr val="585858"/>
                </a:solidFill>
                <a:latin typeface="Arial"/>
                <a:cs typeface="Arial"/>
              </a:rPr>
              <a:t> </a:t>
            </a:r>
            <a:r>
              <a:rPr sz="1765" dirty="0">
                <a:solidFill>
                  <a:srgbClr val="585858"/>
                </a:solidFill>
                <a:latin typeface="Arial"/>
                <a:cs typeface="Arial"/>
              </a:rPr>
              <a:t>another</a:t>
            </a:r>
            <a:endParaRPr sz="1765" dirty="0">
              <a:latin typeface="Arial"/>
              <a:cs typeface="Arial"/>
            </a:endParaRPr>
          </a:p>
          <a:p>
            <a:pPr marL="318824" indent="-308178">
              <a:spcBef>
                <a:spcPts val="521"/>
              </a:spcBef>
              <a:buClr>
                <a:srgbClr val="6EB7D7"/>
              </a:buClr>
              <a:buSzPct val="109090"/>
              <a:buChar char="●"/>
              <a:tabLst>
                <a:tab pos="318824" algn="l"/>
                <a:tab pos="319385" algn="l"/>
              </a:tabLst>
            </a:pPr>
            <a:r>
              <a:rPr sz="1941" spc="-26" dirty="0">
                <a:solidFill>
                  <a:srgbClr val="585858"/>
                </a:solidFill>
                <a:latin typeface="Arial"/>
                <a:cs typeface="Arial"/>
              </a:rPr>
              <a:t>Types</a:t>
            </a:r>
            <a:endParaRPr sz="1941" dirty="0">
              <a:latin typeface="Arial"/>
              <a:cs typeface="Arial"/>
            </a:endParaRPr>
          </a:p>
          <a:p>
            <a:pPr marL="616356" lvl="1" indent="-297532">
              <a:spcBef>
                <a:spcPts val="538"/>
              </a:spcBef>
              <a:buClr>
                <a:srgbClr val="205C76"/>
              </a:buClr>
              <a:buSzPct val="110000"/>
              <a:buChar char="●"/>
              <a:tabLst>
                <a:tab pos="615796" algn="l"/>
                <a:tab pos="616356" algn="l"/>
              </a:tabLst>
            </a:pPr>
            <a:r>
              <a:rPr sz="1765" dirty="0">
                <a:solidFill>
                  <a:srgbClr val="585858"/>
                </a:solidFill>
                <a:latin typeface="Arial"/>
                <a:cs typeface="Arial"/>
              </a:rPr>
              <a:t>Sequence Diagrams—emphasize message</a:t>
            </a:r>
            <a:r>
              <a:rPr sz="1765" spc="-110" dirty="0">
                <a:solidFill>
                  <a:srgbClr val="585858"/>
                </a:solidFill>
                <a:latin typeface="Arial"/>
                <a:cs typeface="Arial"/>
              </a:rPr>
              <a:t> </a:t>
            </a:r>
            <a:r>
              <a:rPr sz="1765" dirty="0">
                <a:solidFill>
                  <a:srgbClr val="585858"/>
                </a:solidFill>
                <a:latin typeface="Arial"/>
                <a:cs typeface="Arial"/>
              </a:rPr>
              <a:t>sequence</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Communication Diagrams—emphasize message</a:t>
            </a:r>
            <a:r>
              <a:rPr sz="1765" spc="-124" dirty="0">
                <a:solidFill>
                  <a:srgbClr val="585858"/>
                </a:solidFill>
                <a:latin typeface="Arial"/>
                <a:cs typeface="Arial"/>
              </a:rPr>
              <a:t> </a:t>
            </a:r>
            <a:r>
              <a:rPr sz="1765" spc="-4" dirty="0">
                <a:solidFill>
                  <a:srgbClr val="585858"/>
                </a:solidFill>
                <a:latin typeface="Arial"/>
                <a:cs typeface="Arial"/>
              </a:rPr>
              <a:t>flow</a:t>
            </a:r>
            <a:endParaRPr sz="1765" dirty="0">
              <a:latin typeface="Arial"/>
              <a:cs typeface="Arial"/>
            </a:endParaRPr>
          </a:p>
        </p:txBody>
      </p:sp>
    </p:spTree>
    <p:extLst>
      <p:ext uri="{BB962C8B-B14F-4D97-AF65-F5344CB8AC3E}">
        <p14:creationId xmlns:p14="http://schemas.microsoft.com/office/powerpoint/2010/main" val="368841942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47695" y="1001970"/>
            <a:ext cx="4693584" cy="626303"/>
          </a:xfrm>
          <a:prstGeom prst="rect">
            <a:avLst/>
          </a:prstGeom>
        </p:spPr>
        <p:txBody>
          <a:bodyPr vert="horz" wrap="square" lIns="0" tIns="10646" rIns="0" bIns="0" rtlCol="0" anchor="ctr">
            <a:spAutoFit/>
          </a:bodyPr>
          <a:lstStyle/>
          <a:p>
            <a:pPr marL="11206">
              <a:lnSpc>
                <a:spcPct val="100000"/>
              </a:lnSpc>
              <a:spcBef>
                <a:spcPts val="84"/>
              </a:spcBef>
            </a:pPr>
            <a:r>
              <a:rPr spc="-4" dirty="0"/>
              <a:t>Sequence</a:t>
            </a:r>
            <a:r>
              <a:rPr spc="-31" dirty="0"/>
              <a:t> </a:t>
            </a:r>
            <a:r>
              <a:rPr spc="-4" dirty="0"/>
              <a:t>Diagrams</a:t>
            </a:r>
          </a:p>
        </p:txBody>
      </p:sp>
      <p:sp>
        <p:nvSpPr>
          <p:cNvPr id="3" name="object 3"/>
          <p:cNvSpPr txBox="1"/>
          <p:nvPr/>
        </p:nvSpPr>
        <p:spPr>
          <a:xfrm>
            <a:off x="1955800" y="2182091"/>
            <a:ext cx="9359900" cy="2269724"/>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Illustrate the objects that participate in a single</a:t>
            </a:r>
            <a:r>
              <a:rPr sz="2118" spc="71" dirty="0">
                <a:solidFill>
                  <a:srgbClr val="585858"/>
                </a:solidFill>
                <a:latin typeface="Arial"/>
                <a:cs typeface="Arial"/>
              </a:rPr>
              <a:t> </a:t>
            </a:r>
            <a:r>
              <a:rPr sz="2118" spc="-4" dirty="0">
                <a:solidFill>
                  <a:srgbClr val="585858"/>
                </a:solidFill>
                <a:latin typeface="Arial"/>
                <a:cs typeface="Arial"/>
              </a:rPr>
              <a:t>use-case</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dirty="0">
                <a:solidFill>
                  <a:srgbClr val="585858"/>
                </a:solidFill>
                <a:latin typeface="Arial"/>
                <a:cs typeface="Arial"/>
              </a:rPr>
              <a:t>A </a:t>
            </a:r>
            <a:r>
              <a:rPr sz="2118" spc="-4" dirty="0">
                <a:solidFill>
                  <a:srgbClr val="585858"/>
                </a:solidFill>
                <a:latin typeface="Arial"/>
                <a:cs typeface="Arial"/>
              </a:rPr>
              <a:t>dynamic</a:t>
            </a:r>
            <a:r>
              <a:rPr sz="2118" spc="-110" dirty="0">
                <a:solidFill>
                  <a:srgbClr val="585858"/>
                </a:solidFill>
                <a:latin typeface="Arial"/>
                <a:cs typeface="Arial"/>
              </a:rPr>
              <a:t> </a:t>
            </a:r>
            <a:r>
              <a:rPr sz="2118" spc="-4" dirty="0">
                <a:solidFill>
                  <a:srgbClr val="585858"/>
                </a:solidFill>
                <a:latin typeface="Arial"/>
                <a:cs typeface="Arial"/>
              </a:rPr>
              <a:t>model</a:t>
            </a:r>
            <a:endParaRPr sz="2118" dirty="0">
              <a:latin typeface="Arial"/>
              <a:cs typeface="Arial"/>
            </a:endParaRPr>
          </a:p>
          <a:p>
            <a:pPr marL="615796" marR="561445" lvl="1" indent="-297532">
              <a:spcBef>
                <a:spcPts val="525"/>
              </a:spcBef>
              <a:buClr>
                <a:srgbClr val="205C76"/>
              </a:buClr>
              <a:buSzPct val="109090"/>
              <a:buChar char="●"/>
              <a:tabLst>
                <a:tab pos="615796" algn="l"/>
                <a:tab pos="616356" algn="l"/>
              </a:tabLst>
            </a:pPr>
            <a:r>
              <a:rPr sz="1941" spc="-4" dirty="0">
                <a:solidFill>
                  <a:srgbClr val="585858"/>
                </a:solidFill>
                <a:latin typeface="Arial"/>
                <a:cs typeface="Arial"/>
              </a:rPr>
              <a:t>Shows the sequence of messages that pass between  objects</a:t>
            </a:r>
            <a:endParaRPr sz="1941" dirty="0">
              <a:latin typeface="Arial"/>
              <a:cs typeface="Arial"/>
            </a:endParaRPr>
          </a:p>
          <a:p>
            <a:pPr marL="615796" marR="95255" lvl="1" indent="-297532">
              <a:spcBef>
                <a:spcPts val="529"/>
              </a:spcBef>
              <a:buClr>
                <a:srgbClr val="205C76"/>
              </a:buClr>
              <a:buSzPct val="109090"/>
              <a:buChar char="●"/>
              <a:tabLst>
                <a:tab pos="615796" algn="l"/>
                <a:tab pos="616356" algn="l"/>
              </a:tabLst>
            </a:pPr>
            <a:r>
              <a:rPr sz="1941" spc="-4" dirty="0">
                <a:solidFill>
                  <a:srgbClr val="585858"/>
                </a:solidFill>
                <a:latin typeface="Arial"/>
                <a:cs typeface="Arial"/>
              </a:rPr>
              <a:t>Aid in understanding real-time specifications and complex  use-cases</a:t>
            </a:r>
            <a:endParaRPr sz="1941" dirty="0">
              <a:latin typeface="Arial"/>
              <a:cs typeface="Arial"/>
            </a:endParaRPr>
          </a:p>
          <a:p>
            <a:pPr marL="318824" indent="-308178">
              <a:spcBef>
                <a:spcPts val="534"/>
              </a:spcBef>
              <a:buClr>
                <a:srgbClr val="6EB7D7"/>
              </a:buClr>
              <a:buSzPct val="108333"/>
              <a:buChar char="●"/>
              <a:tabLst>
                <a:tab pos="318824" algn="l"/>
                <a:tab pos="319385" algn="l"/>
              </a:tabLst>
            </a:pPr>
            <a:r>
              <a:rPr sz="2118" spc="-4" dirty="0">
                <a:solidFill>
                  <a:srgbClr val="585858"/>
                </a:solidFill>
                <a:latin typeface="Arial"/>
                <a:cs typeface="Arial"/>
              </a:rPr>
              <a:t>Generic diagram shows all scenarios for a</a:t>
            </a:r>
            <a:r>
              <a:rPr sz="2118" spc="75" dirty="0">
                <a:solidFill>
                  <a:srgbClr val="585858"/>
                </a:solidFill>
                <a:latin typeface="Arial"/>
                <a:cs typeface="Arial"/>
              </a:rPr>
              <a:t> </a:t>
            </a:r>
            <a:r>
              <a:rPr sz="2118" spc="-4" dirty="0">
                <a:solidFill>
                  <a:srgbClr val="585858"/>
                </a:solidFill>
                <a:latin typeface="Arial"/>
                <a:cs typeface="Arial"/>
              </a:rPr>
              <a:t>use-case</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Instance diagrams show a single</a:t>
            </a:r>
            <a:r>
              <a:rPr sz="2118" spc="49" dirty="0">
                <a:solidFill>
                  <a:srgbClr val="585858"/>
                </a:solidFill>
                <a:latin typeface="Arial"/>
                <a:cs typeface="Arial"/>
              </a:rPr>
              <a:t> </a:t>
            </a:r>
            <a:r>
              <a:rPr sz="2118" spc="-4" dirty="0">
                <a:solidFill>
                  <a:srgbClr val="585858"/>
                </a:solidFill>
                <a:latin typeface="Arial"/>
                <a:cs typeface="Arial"/>
              </a:rPr>
              <a:t>scenario</a:t>
            </a:r>
            <a:endParaRPr sz="2118" dirty="0">
              <a:latin typeface="Arial"/>
              <a:cs typeface="Arial"/>
            </a:endParaRPr>
          </a:p>
        </p:txBody>
      </p:sp>
    </p:spTree>
    <p:extLst>
      <p:ext uri="{BB962C8B-B14F-4D97-AF65-F5344CB8AC3E}">
        <p14:creationId xmlns:p14="http://schemas.microsoft.com/office/powerpoint/2010/main" val="32297241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16175" y="1001970"/>
            <a:ext cx="6157632" cy="626303"/>
          </a:xfrm>
          <a:prstGeom prst="rect">
            <a:avLst/>
          </a:prstGeom>
        </p:spPr>
        <p:txBody>
          <a:bodyPr vert="horz" wrap="square" lIns="0" tIns="10646" rIns="0" bIns="0" rtlCol="0" anchor="ctr">
            <a:spAutoFit/>
          </a:bodyPr>
          <a:lstStyle/>
          <a:p>
            <a:pPr marL="11206">
              <a:lnSpc>
                <a:spcPct val="100000"/>
              </a:lnSpc>
              <a:spcBef>
                <a:spcPts val="84"/>
              </a:spcBef>
            </a:pPr>
            <a:r>
              <a:rPr spc="-4" dirty="0"/>
              <a:t>Sequence Diagram</a:t>
            </a:r>
            <a:r>
              <a:rPr spc="9" dirty="0"/>
              <a:t> </a:t>
            </a:r>
            <a:r>
              <a:rPr spc="-4" dirty="0"/>
              <a:t>Syntax</a:t>
            </a:r>
          </a:p>
        </p:txBody>
      </p:sp>
      <p:sp>
        <p:nvSpPr>
          <p:cNvPr id="3" name="object 3"/>
          <p:cNvSpPr/>
          <p:nvPr/>
        </p:nvSpPr>
        <p:spPr>
          <a:xfrm>
            <a:off x="1346201" y="1764552"/>
            <a:ext cx="8953499" cy="4306047"/>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403218678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2235" y="284962"/>
            <a:ext cx="9278471" cy="626303"/>
          </a:xfrm>
          <a:prstGeom prst="rect">
            <a:avLst/>
          </a:prstGeom>
        </p:spPr>
        <p:txBody>
          <a:bodyPr vert="horz" wrap="square" lIns="0" tIns="10646" rIns="0" bIns="0" rtlCol="0" anchor="ctr">
            <a:spAutoFit/>
          </a:bodyPr>
          <a:lstStyle/>
          <a:p>
            <a:pPr marL="2160609" marR="4483" indent="-2080483">
              <a:lnSpc>
                <a:spcPct val="100000"/>
              </a:lnSpc>
              <a:spcBef>
                <a:spcPts val="84"/>
              </a:spcBef>
            </a:pPr>
            <a:r>
              <a:rPr spc="-4" dirty="0"/>
              <a:t>More Sequence Diagram  Syntax</a:t>
            </a:r>
          </a:p>
        </p:txBody>
      </p:sp>
      <p:sp>
        <p:nvSpPr>
          <p:cNvPr id="3" name="object 3"/>
          <p:cNvSpPr/>
          <p:nvPr/>
        </p:nvSpPr>
        <p:spPr>
          <a:xfrm>
            <a:off x="1181100" y="1815353"/>
            <a:ext cx="9829799" cy="3836147"/>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292131840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0114" y="1001970"/>
            <a:ext cx="6329643" cy="626303"/>
          </a:xfrm>
          <a:prstGeom prst="rect">
            <a:avLst/>
          </a:prstGeom>
        </p:spPr>
        <p:txBody>
          <a:bodyPr vert="horz" wrap="square" lIns="0" tIns="10646" rIns="0" bIns="0" rtlCol="0" anchor="ctr">
            <a:spAutoFit/>
          </a:bodyPr>
          <a:lstStyle/>
          <a:p>
            <a:pPr marL="11206">
              <a:lnSpc>
                <a:spcPct val="100000"/>
              </a:lnSpc>
              <a:spcBef>
                <a:spcPts val="84"/>
              </a:spcBef>
            </a:pPr>
            <a:r>
              <a:rPr spc="-9" dirty="0"/>
              <a:t>Sample </a:t>
            </a:r>
            <a:r>
              <a:rPr spc="-4" dirty="0"/>
              <a:t>Sequence</a:t>
            </a:r>
            <a:r>
              <a:rPr spc="31" dirty="0"/>
              <a:t> </a:t>
            </a:r>
            <a:r>
              <a:rPr spc="-4" dirty="0"/>
              <a:t>Diagram</a:t>
            </a:r>
          </a:p>
        </p:txBody>
      </p:sp>
      <p:sp>
        <p:nvSpPr>
          <p:cNvPr id="3" name="object 3"/>
          <p:cNvSpPr/>
          <p:nvPr/>
        </p:nvSpPr>
        <p:spPr>
          <a:xfrm>
            <a:off x="1066800" y="1748118"/>
            <a:ext cx="10109200" cy="4233582"/>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18373942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0200" y="829847"/>
            <a:ext cx="10185400" cy="626303"/>
          </a:xfrm>
          <a:prstGeom prst="rect">
            <a:avLst/>
          </a:prstGeom>
        </p:spPr>
        <p:txBody>
          <a:bodyPr vert="horz" wrap="square" lIns="0" tIns="10646" rIns="0" bIns="0" rtlCol="0" anchor="ctr">
            <a:spAutoFit/>
          </a:bodyPr>
          <a:lstStyle/>
          <a:p>
            <a:pPr marL="326669" marR="4483" indent="-316023">
              <a:lnSpc>
                <a:spcPct val="100000"/>
              </a:lnSpc>
              <a:spcBef>
                <a:spcPts val="84"/>
              </a:spcBef>
            </a:pPr>
            <a:r>
              <a:rPr spc="-4" dirty="0"/>
              <a:t>Guidelines for Creating  </a:t>
            </a:r>
            <a:r>
              <a:rPr dirty="0"/>
              <a:t>Use-Case</a:t>
            </a:r>
            <a:r>
              <a:rPr spc="-9" dirty="0"/>
              <a:t> </a:t>
            </a:r>
            <a:r>
              <a:rPr spc="-4" dirty="0"/>
              <a:t>Diagrams</a:t>
            </a:r>
          </a:p>
        </p:txBody>
      </p:sp>
      <p:sp>
        <p:nvSpPr>
          <p:cNvPr id="3" name="object 3"/>
          <p:cNvSpPr txBox="1"/>
          <p:nvPr/>
        </p:nvSpPr>
        <p:spPr>
          <a:xfrm>
            <a:off x="1206500" y="2005466"/>
            <a:ext cx="10312400" cy="2294147"/>
          </a:xfrm>
          <a:prstGeom prst="rect">
            <a:avLst/>
          </a:prstGeom>
        </p:spPr>
        <p:txBody>
          <a:bodyPr vert="horz" wrap="square" lIns="0" tIns="44824" rIns="0" bIns="0" rtlCol="0">
            <a:spAutoFit/>
          </a:bodyPr>
          <a:lstStyle/>
          <a:p>
            <a:pPr marL="318824" indent="-308178">
              <a:spcBef>
                <a:spcPts val="353"/>
              </a:spcBef>
              <a:buClr>
                <a:srgbClr val="6EB7D7"/>
              </a:buClr>
              <a:buSzPct val="109090"/>
              <a:buChar char="●"/>
              <a:tabLst>
                <a:tab pos="318824" algn="l"/>
                <a:tab pos="319385" algn="l"/>
              </a:tabLst>
            </a:pPr>
            <a:r>
              <a:rPr sz="1941" spc="-4" dirty="0">
                <a:solidFill>
                  <a:srgbClr val="585858"/>
                </a:solidFill>
                <a:latin typeface="Arial"/>
                <a:cs typeface="Arial"/>
              </a:rPr>
              <a:t>Order messages from left to right, top to</a:t>
            </a:r>
            <a:r>
              <a:rPr sz="1941" spc="84" dirty="0">
                <a:solidFill>
                  <a:srgbClr val="585858"/>
                </a:solidFill>
                <a:latin typeface="Arial"/>
                <a:cs typeface="Arial"/>
              </a:rPr>
              <a:t> </a:t>
            </a:r>
            <a:r>
              <a:rPr sz="1941" spc="-4" dirty="0">
                <a:solidFill>
                  <a:srgbClr val="585858"/>
                </a:solidFill>
                <a:latin typeface="Arial"/>
                <a:cs typeface="Arial"/>
              </a:rPr>
              <a:t>bottom</a:t>
            </a:r>
            <a:endParaRPr sz="1941"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Name actors and objects the same if they represent the  same idea</a:t>
            </a:r>
            <a:endParaRPr sz="2118" dirty="0">
              <a:latin typeface="Arial"/>
              <a:cs typeface="Arial"/>
            </a:endParaRPr>
          </a:p>
          <a:p>
            <a:pPr marL="318824" marR="706008"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Place the initiator of the scenario on the left of the  diagram</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Multiple objects of the same class: name</a:t>
            </a:r>
            <a:r>
              <a:rPr sz="2118" spc="35" dirty="0">
                <a:solidFill>
                  <a:srgbClr val="585858"/>
                </a:solidFill>
                <a:latin typeface="Arial"/>
                <a:cs typeface="Arial"/>
              </a:rPr>
              <a:t> </a:t>
            </a:r>
            <a:r>
              <a:rPr sz="2118" spc="-4" dirty="0">
                <a:solidFill>
                  <a:srgbClr val="585858"/>
                </a:solidFill>
                <a:latin typeface="Arial"/>
                <a:cs typeface="Arial"/>
              </a:rPr>
              <a:t>each</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Only show return values when they are not</a:t>
            </a:r>
            <a:r>
              <a:rPr sz="2118" spc="49" dirty="0">
                <a:solidFill>
                  <a:srgbClr val="585858"/>
                </a:solidFill>
                <a:latin typeface="Arial"/>
                <a:cs typeface="Arial"/>
              </a:rPr>
              <a:t> </a:t>
            </a:r>
            <a:r>
              <a:rPr sz="2118" spc="-4" dirty="0">
                <a:solidFill>
                  <a:srgbClr val="585858"/>
                </a:solidFill>
                <a:latin typeface="Arial"/>
                <a:cs typeface="Arial"/>
              </a:rPr>
              <a:t>obvious</a:t>
            </a:r>
            <a:endParaRPr sz="2118" dirty="0">
              <a:latin typeface="Arial"/>
              <a:cs typeface="Arial"/>
            </a:endParaRPr>
          </a:p>
          <a:p>
            <a:pPr marL="318824" marR="571530"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Justify messages near the arrowhead for improved  readability</a:t>
            </a:r>
            <a:endParaRPr sz="2118" dirty="0">
              <a:latin typeface="Arial"/>
              <a:cs typeface="Arial"/>
            </a:endParaRPr>
          </a:p>
        </p:txBody>
      </p:sp>
    </p:spTree>
    <p:extLst>
      <p:ext uri="{BB962C8B-B14F-4D97-AF65-F5344CB8AC3E}">
        <p14:creationId xmlns:p14="http://schemas.microsoft.com/office/powerpoint/2010/main" val="355561762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2800" y="561654"/>
            <a:ext cx="6673103" cy="626303"/>
          </a:xfrm>
          <a:prstGeom prst="rect">
            <a:avLst/>
          </a:prstGeom>
        </p:spPr>
        <p:txBody>
          <a:bodyPr vert="horz" wrap="square" lIns="0" tIns="10646" rIns="0" bIns="0" rtlCol="0" anchor="ctr">
            <a:spAutoFit/>
          </a:bodyPr>
          <a:lstStyle/>
          <a:p>
            <a:pPr marL="11206">
              <a:lnSpc>
                <a:spcPct val="100000"/>
              </a:lnSpc>
              <a:spcBef>
                <a:spcPts val="84"/>
              </a:spcBef>
            </a:pPr>
            <a:r>
              <a:rPr spc="-9" dirty="0"/>
              <a:t>Building </a:t>
            </a:r>
            <a:r>
              <a:rPr spc="-4" dirty="0"/>
              <a:t>Sequence</a:t>
            </a:r>
            <a:r>
              <a:rPr spc="40" dirty="0"/>
              <a:t> </a:t>
            </a:r>
            <a:r>
              <a:rPr spc="-4" dirty="0"/>
              <a:t>Diagrams</a:t>
            </a:r>
          </a:p>
        </p:txBody>
      </p:sp>
      <p:sp>
        <p:nvSpPr>
          <p:cNvPr id="3" name="object 3"/>
          <p:cNvSpPr txBox="1"/>
          <p:nvPr/>
        </p:nvSpPr>
        <p:spPr>
          <a:xfrm>
            <a:off x="812800" y="1532413"/>
            <a:ext cx="10795000" cy="3936997"/>
          </a:xfrm>
          <a:prstGeom prst="rect">
            <a:avLst/>
          </a:prstGeom>
        </p:spPr>
        <p:txBody>
          <a:bodyPr vert="horz" wrap="square" lIns="0" tIns="46504" rIns="0" bIns="0" rtlCol="0">
            <a:spAutoFit/>
          </a:bodyPr>
          <a:lstStyle/>
          <a:p>
            <a:pPr marL="318824" indent="-308178">
              <a:spcBef>
                <a:spcPts val="366"/>
              </a:spcBef>
              <a:buClr>
                <a:srgbClr val="6EB7D7"/>
              </a:buClr>
              <a:buSzPct val="109615"/>
              <a:buChar char="•"/>
              <a:tabLst>
                <a:tab pos="318824" algn="l"/>
                <a:tab pos="319385" algn="l"/>
              </a:tabLst>
            </a:pPr>
            <a:r>
              <a:rPr sz="2294" dirty="0">
                <a:solidFill>
                  <a:srgbClr val="585858"/>
                </a:solidFill>
                <a:latin typeface="Arial"/>
                <a:cs typeface="Arial"/>
              </a:rPr>
              <a:t>Set the</a:t>
            </a:r>
            <a:r>
              <a:rPr sz="2294" spc="-4" dirty="0">
                <a:solidFill>
                  <a:srgbClr val="585858"/>
                </a:solidFill>
                <a:latin typeface="Arial"/>
                <a:cs typeface="Arial"/>
              </a:rPr>
              <a:t> </a:t>
            </a:r>
            <a:r>
              <a:rPr sz="2294" dirty="0">
                <a:solidFill>
                  <a:srgbClr val="585858"/>
                </a:solidFill>
                <a:latin typeface="Arial"/>
                <a:cs typeface="Arial"/>
              </a:rPr>
              <a:t>context</a:t>
            </a:r>
            <a:endParaRPr sz="2294" dirty="0">
              <a:latin typeface="Arial"/>
              <a:cs typeface="Arial"/>
            </a:endParaRPr>
          </a:p>
          <a:p>
            <a:pPr marL="318824" marR="38662" indent="-308178">
              <a:spcBef>
                <a:spcPts val="529"/>
              </a:spcBef>
              <a:buClr>
                <a:srgbClr val="6EB7D7"/>
              </a:buClr>
              <a:buSzPct val="109615"/>
              <a:buChar char="•"/>
              <a:tabLst>
                <a:tab pos="318824" algn="l"/>
                <a:tab pos="319385" algn="l"/>
              </a:tabLst>
            </a:pPr>
            <a:r>
              <a:rPr sz="2294" spc="-4" dirty="0">
                <a:solidFill>
                  <a:srgbClr val="585858"/>
                </a:solidFill>
                <a:latin typeface="Arial"/>
                <a:cs typeface="Arial"/>
              </a:rPr>
              <a:t>Identify </a:t>
            </a:r>
            <a:r>
              <a:rPr sz="2294" dirty="0">
                <a:solidFill>
                  <a:srgbClr val="585858"/>
                </a:solidFill>
                <a:latin typeface="Arial"/>
                <a:cs typeface="Arial"/>
              </a:rPr>
              <a:t>actors and objects that interact </a:t>
            </a:r>
            <a:r>
              <a:rPr sz="2294" spc="-4" dirty="0">
                <a:solidFill>
                  <a:srgbClr val="585858"/>
                </a:solidFill>
                <a:latin typeface="Arial"/>
                <a:cs typeface="Arial"/>
              </a:rPr>
              <a:t>in </a:t>
            </a:r>
            <a:r>
              <a:rPr sz="2294" dirty="0">
                <a:solidFill>
                  <a:srgbClr val="585858"/>
                </a:solidFill>
                <a:latin typeface="Arial"/>
                <a:cs typeface="Arial"/>
              </a:rPr>
              <a:t>the use-  case</a:t>
            </a:r>
            <a:r>
              <a:rPr sz="2294" spc="-18" dirty="0">
                <a:solidFill>
                  <a:srgbClr val="585858"/>
                </a:solidFill>
                <a:latin typeface="Arial"/>
                <a:cs typeface="Arial"/>
              </a:rPr>
              <a:t> </a:t>
            </a:r>
            <a:r>
              <a:rPr sz="2294" dirty="0">
                <a:solidFill>
                  <a:srgbClr val="585858"/>
                </a:solidFill>
                <a:latin typeface="Arial"/>
                <a:cs typeface="Arial"/>
              </a:rPr>
              <a:t>scenario</a:t>
            </a:r>
            <a:endParaRPr sz="2294" dirty="0">
              <a:latin typeface="Arial"/>
              <a:cs typeface="Arial"/>
            </a:endParaRPr>
          </a:p>
          <a:p>
            <a:pPr marL="318824" indent="-308178">
              <a:spcBef>
                <a:spcPts val="529"/>
              </a:spcBef>
              <a:buClr>
                <a:srgbClr val="6EB7D7"/>
              </a:buClr>
              <a:buSzPct val="109615"/>
              <a:buChar char="•"/>
              <a:tabLst>
                <a:tab pos="318824" algn="l"/>
                <a:tab pos="319385" algn="l"/>
              </a:tabLst>
            </a:pPr>
            <a:r>
              <a:rPr sz="2294" dirty="0">
                <a:solidFill>
                  <a:srgbClr val="585858"/>
                </a:solidFill>
                <a:latin typeface="Arial"/>
                <a:cs typeface="Arial"/>
              </a:rPr>
              <a:t>Set the </a:t>
            </a:r>
            <a:r>
              <a:rPr sz="2294" spc="-4" dirty="0">
                <a:solidFill>
                  <a:srgbClr val="585858"/>
                </a:solidFill>
                <a:latin typeface="Arial"/>
                <a:cs typeface="Arial"/>
              </a:rPr>
              <a:t>lifeline for </a:t>
            </a:r>
            <a:r>
              <a:rPr sz="2294" dirty="0">
                <a:solidFill>
                  <a:srgbClr val="585858"/>
                </a:solidFill>
                <a:latin typeface="Arial"/>
                <a:cs typeface="Arial"/>
              </a:rPr>
              <a:t>each</a:t>
            </a:r>
            <a:r>
              <a:rPr sz="2294" spc="-4" dirty="0">
                <a:solidFill>
                  <a:srgbClr val="585858"/>
                </a:solidFill>
                <a:latin typeface="Arial"/>
                <a:cs typeface="Arial"/>
              </a:rPr>
              <a:t> </a:t>
            </a:r>
            <a:r>
              <a:rPr sz="2294" dirty="0">
                <a:solidFill>
                  <a:srgbClr val="585858"/>
                </a:solidFill>
                <a:latin typeface="Arial"/>
                <a:cs typeface="Arial"/>
              </a:rPr>
              <a:t>object</a:t>
            </a:r>
            <a:endParaRPr sz="2294" dirty="0">
              <a:latin typeface="Arial"/>
              <a:cs typeface="Arial"/>
            </a:endParaRPr>
          </a:p>
          <a:p>
            <a:pPr marL="318824" indent="-308178">
              <a:spcBef>
                <a:spcPts val="529"/>
              </a:spcBef>
              <a:buClr>
                <a:srgbClr val="6EB7D7"/>
              </a:buClr>
              <a:buSzPct val="109615"/>
              <a:buChar char="•"/>
              <a:tabLst>
                <a:tab pos="318824" algn="l"/>
                <a:tab pos="319385" algn="l"/>
              </a:tabLst>
            </a:pPr>
            <a:r>
              <a:rPr sz="2294" dirty="0">
                <a:solidFill>
                  <a:srgbClr val="585858"/>
                </a:solidFill>
                <a:latin typeface="Arial"/>
                <a:cs typeface="Arial"/>
              </a:rPr>
              <a:t>Add messages by drawing</a:t>
            </a:r>
            <a:r>
              <a:rPr sz="2294" spc="-62" dirty="0">
                <a:solidFill>
                  <a:srgbClr val="585858"/>
                </a:solidFill>
                <a:latin typeface="Arial"/>
                <a:cs typeface="Arial"/>
              </a:rPr>
              <a:t> </a:t>
            </a:r>
            <a:r>
              <a:rPr sz="2294" dirty="0">
                <a:solidFill>
                  <a:srgbClr val="585858"/>
                </a:solidFill>
                <a:latin typeface="Arial"/>
                <a:cs typeface="Arial"/>
              </a:rPr>
              <a:t>arrows</a:t>
            </a:r>
            <a:endParaRPr sz="2294" dirty="0">
              <a:latin typeface="Arial"/>
              <a:cs typeface="Arial"/>
            </a:endParaRPr>
          </a:p>
          <a:p>
            <a:pPr marL="761480" lvl="1" indent="-453862">
              <a:spcBef>
                <a:spcPts val="534"/>
              </a:spcBef>
              <a:buClr>
                <a:srgbClr val="205C76"/>
              </a:buClr>
              <a:buSzPct val="109090"/>
              <a:buChar char="•"/>
              <a:tabLst>
                <a:tab pos="761480" algn="l"/>
                <a:tab pos="762041" algn="l"/>
              </a:tabLst>
            </a:pPr>
            <a:r>
              <a:rPr sz="1941" spc="-4" dirty="0">
                <a:solidFill>
                  <a:srgbClr val="585858"/>
                </a:solidFill>
                <a:latin typeface="Arial"/>
                <a:cs typeface="Arial"/>
              </a:rPr>
              <a:t>Shows how they are passed from one object to</a:t>
            </a:r>
            <a:r>
              <a:rPr sz="1941" spc="84" dirty="0">
                <a:solidFill>
                  <a:srgbClr val="585858"/>
                </a:solidFill>
                <a:latin typeface="Arial"/>
                <a:cs typeface="Arial"/>
              </a:rPr>
              <a:t> </a:t>
            </a:r>
            <a:r>
              <a:rPr sz="1941" spc="-4" dirty="0">
                <a:solidFill>
                  <a:srgbClr val="585858"/>
                </a:solidFill>
                <a:latin typeface="Arial"/>
                <a:cs typeface="Arial"/>
              </a:rPr>
              <a:t>another</a:t>
            </a:r>
            <a:endParaRPr sz="1941" dirty="0">
              <a:latin typeface="Arial"/>
              <a:cs typeface="Arial"/>
            </a:endParaRPr>
          </a:p>
          <a:p>
            <a:pPr marL="761480" lvl="1" indent="-453862">
              <a:spcBef>
                <a:spcPts val="529"/>
              </a:spcBef>
              <a:buClr>
                <a:srgbClr val="205C76"/>
              </a:buClr>
              <a:buSzPct val="109090"/>
              <a:buChar char="•"/>
              <a:tabLst>
                <a:tab pos="761480" algn="l"/>
                <a:tab pos="762041" algn="l"/>
              </a:tabLst>
            </a:pPr>
            <a:r>
              <a:rPr sz="1941" spc="-4" dirty="0">
                <a:solidFill>
                  <a:srgbClr val="585858"/>
                </a:solidFill>
                <a:latin typeface="Arial"/>
                <a:cs typeface="Arial"/>
              </a:rPr>
              <a:t>Include any parameters in</a:t>
            </a:r>
            <a:r>
              <a:rPr sz="1941" spc="40" dirty="0">
                <a:solidFill>
                  <a:srgbClr val="585858"/>
                </a:solidFill>
                <a:latin typeface="Arial"/>
                <a:cs typeface="Arial"/>
              </a:rPr>
              <a:t> </a:t>
            </a:r>
            <a:r>
              <a:rPr sz="1941" spc="-4" dirty="0">
                <a:solidFill>
                  <a:srgbClr val="585858"/>
                </a:solidFill>
                <a:latin typeface="Arial"/>
                <a:cs typeface="Arial"/>
              </a:rPr>
              <a:t>parentheses</a:t>
            </a:r>
            <a:endParaRPr sz="1941" dirty="0">
              <a:latin typeface="Arial"/>
              <a:cs typeface="Arial"/>
            </a:endParaRPr>
          </a:p>
          <a:p>
            <a:pPr marL="761480" lvl="1" indent="-453862">
              <a:spcBef>
                <a:spcPts val="529"/>
              </a:spcBef>
              <a:buClr>
                <a:srgbClr val="205C76"/>
              </a:buClr>
              <a:buSzPct val="109090"/>
              <a:buChar char="•"/>
              <a:tabLst>
                <a:tab pos="761480" algn="l"/>
                <a:tab pos="762041" algn="l"/>
              </a:tabLst>
            </a:pPr>
            <a:r>
              <a:rPr sz="1941" spc="-4" dirty="0">
                <a:solidFill>
                  <a:srgbClr val="585858"/>
                </a:solidFill>
                <a:latin typeface="Arial"/>
                <a:cs typeface="Arial"/>
              </a:rPr>
              <a:t>Obvious return values are</a:t>
            </a:r>
            <a:r>
              <a:rPr sz="1941" spc="53" dirty="0">
                <a:solidFill>
                  <a:srgbClr val="585858"/>
                </a:solidFill>
                <a:latin typeface="Arial"/>
                <a:cs typeface="Arial"/>
              </a:rPr>
              <a:t> </a:t>
            </a:r>
            <a:r>
              <a:rPr sz="1941" spc="-4" dirty="0">
                <a:solidFill>
                  <a:srgbClr val="585858"/>
                </a:solidFill>
                <a:latin typeface="Arial"/>
                <a:cs typeface="Arial"/>
              </a:rPr>
              <a:t>excluded</a:t>
            </a:r>
            <a:endParaRPr sz="1941" dirty="0">
              <a:latin typeface="Arial"/>
              <a:cs typeface="Arial"/>
            </a:endParaRPr>
          </a:p>
          <a:p>
            <a:pPr marL="318824" indent="-308178">
              <a:spcBef>
                <a:spcPts val="525"/>
              </a:spcBef>
              <a:buClr>
                <a:srgbClr val="6EB7D7"/>
              </a:buClr>
              <a:buSzPct val="109615"/>
              <a:buChar char="•"/>
              <a:tabLst>
                <a:tab pos="318824" algn="l"/>
                <a:tab pos="319385" algn="l"/>
              </a:tabLst>
            </a:pPr>
            <a:r>
              <a:rPr sz="2294" dirty="0">
                <a:solidFill>
                  <a:srgbClr val="585858"/>
                </a:solidFill>
                <a:latin typeface="Arial"/>
                <a:cs typeface="Arial"/>
              </a:rPr>
              <a:t>Add execution occurrence </a:t>
            </a:r>
            <a:r>
              <a:rPr sz="2294" spc="-4" dirty="0">
                <a:solidFill>
                  <a:srgbClr val="585858"/>
                </a:solidFill>
                <a:latin typeface="Arial"/>
                <a:cs typeface="Arial"/>
              </a:rPr>
              <a:t>to </a:t>
            </a:r>
            <a:r>
              <a:rPr sz="2294" dirty="0">
                <a:solidFill>
                  <a:srgbClr val="585858"/>
                </a:solidFill>
                <a:latin typeface="Arial"/>
                <a:cs typeface="Arial"/>
              </a:rPr>
              <a:t>each </a:t>
            </a:r>
            <a:r>
              <a:rPr sz="2294" spc="-9" dirty="0">
                <a:solidFill>
                  <a:srgbClr val="585858"/>
                </a:solidFill>
                <a:latin typeface="Arial"/>
                <a:cs typeface="Arial"/>
              </a:rPr>
              <a:t>object’s</a:t>
            </a:r>
            <a:r>
              <a:rPr sz="2294" spc="-35" dirty="0">
                <a:solidFill>
                  <a:srgbClr val="585858"/>
                </a:solidFill>
                <a:latin typeface="Arial"/>
                <a:cs typeface="Arial"/>
              </a:rPr>
              <a:t> </a:t>
            </a:r>
            <a:r>
              <a:rPr sz="2294" spc="-4" dirty="0">
                <a:solidFill>
                  <a:srgbClr val="585858"/>
                </a:solidFill>
                <a:latin typeface="Arial"/>
                <a:cs typeface="Arial"/>
              </a:rPr>
              <a:t>lifeline</a:t>
            </a:r>
            <a:endParaRPr sz="2294" dirty="0">
              <a:latin typeface="Arial"/>
              <a:cs typeface="Arial"/>
            </a:endParaRPr>
          </a:p>
          <a:p>
            <a:pPr marL="318824" indent="-308178">
              <a:spcBef>
                <a:spcPts val="529"/>
              </a:spcBef>
              <a:buClr>
                <a:srgbClr val="6EB7D7"/>
              </a:buClr>
              <a:buSzPct val="109615"/>
              <a:buChar char="•"/>
              <a:tabLst>
                <a:tab pos="318824" algn="l"/>
                <a:tab pos="319385" algn="l"/>
              </a:tabLst>
            </a:pPr>
            <a:r>
              <a:rPr sz="2294" spc="-22" dirty="0">
                <a:solidFill>
                  <a:srgbClr val="585858"/>
                </a:solidFill>
                <a:latin typeface="Arial"/>
                <a:cs typeface="Arial"/>
              </a:rPr>
              <a:t>Validate </a:t>
            </a:r>
            <a:r>
              <a:rPr sz="2294" dirty="0">
                <a:solidFill>
                  <a:srgbClr val="585858"/>
                </a:solidFill>
                <a:latin typeface="Arial"/>
                <a:cs typeface="Arial"/>
              </a:rPr>
              <a:t>the sequence</a:t>
            </a:r>
            <a:r>
              <a:rPr sz="2294" spc="-9" dirty="0">
                <a:solidFill>
                  <a:srgbClr val="585858"/>
                </a:solidFill>
                <a:latin typeface="Arial"/>
                <a:cs typeface="Arial"/>
              </a:rPr>
              <a:t> </a:t>
            </a:r>
            <a:r>
              <a:rPr sz="2294" dirty="0">
                <a:solidFill>
                  <a:srgbClr val="585858"/>
                </a:solidFill>
                <a:latin typeface="Arial"/>
                <a:cs typeface="Arial"/>
              </a:rPr>
              <a:t>diagram</a:t>
            </a:r>
            <a:endParaRPr sz="2294" dirty="0">
              <a:latin typeface="Arial"/>
              <a:cs typeface="Arial"/>
            </a:endParaRPr>
          </a:p>
          <a:p>
            <a:pPr marL="616356" lvl="1" indent="-297532">
              <a:spcBef>
                <a:spcPts val="534"/>
              </a:spcBef>
              <a:buClr>
                <a:srgbClr val="205C76"/>
              </a:buClr>
              <a:buSzPct val="109090"/>
              <a:buChar char="•"/>
              <a:tabLst>
                <a:tab pos="615796" algn="l"/>
                <a:tab pos="616356" algn="l"/>
              </a:tabLst>
            </a:pPr>
            <a:r>
              <a:rPr sz="1941" spc="-4" dirty="0">
                <a:solidFill>
                  <a:srgbClr val="585858"/>
                </a:solidFill>
                <a:latin typeface="Arial"/>
                <a:cs typeface="Arial"/>
              </a:rPr>
              <a:t>Ensures that it depicts all of the steps in the</a:t>
            </a:r>
            <a:r>
              <a:rPr sz="1941" spc="75" dirty="0">
                <a:solidFill>
                  <a:srgbClr val="585858"/>
                </a:solidFill>
                <a:latin typeface="Arial"/>
                <a:cs typeface="Arial"/>
              </a:rPr>
              <a:t> </a:t>
            </a:r>
            <a:r>
              <a:rPr sz="1941" spc="-4" dirty="0">
                <a:solidFill>
                  <a:srgbClr val="585858"/>
                </a:solidFill>
                <a:latin typeface="Arial"/>
                <a:cs typeface="Arial"/>
              </a:rPr>
              <a:t>process</a:t>
            </a:r>
            <a:endParaRPr sz="1941" dirty="0">
              <a:latin typeface="Arial"/>
              <a:cs typeface="Arial"/>
            </a:endParaRPr>
          </a:p>
        </p:txBody>
      </p:sp>
    </p:spTree>
    <p:extLst>
      <p:ext uri="{BB962C8B-B14F-4D97-AF65-F5344CB8AC3E}">
        <p14:creationId xmlns:p14="http://schemas.microsoft.com/office/powerpoint/2010/main" val="38235889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3628" y="633670"/>
            <a:ext cx="5955926" cy="626303"/>
          </a:xfrm>
          <a:prstGeom prst="rect">
            <a:avLst/>
          </a:prstGeom>
        </p:spPr>
        <p:txBody>
          <a:bodyPr vert="horz" wrap="square" lIns="0" tIns="10646" rIns="0" bIns="0" rtlCol="0" anchor="ctr">
            <a:spAutoFit/>
          </a:bodyPr>
          <a:lstStyle/>
          <a:p>
            <a:pPr marL="11206">
              <a:lnSpc>
                <a:spcPct val="100000"/>
              </a:lnSpc>
              <a:spcBef>
                <a:spcPts val="84"/>
              </a:spcBef>
            </a:pPr>
            <a:r>
              <a:rPr spc="-4" dirty="0"/>
              <a:t>Communication Diagrams</a:t>
            </a:r>
          </a:p>
        </p:txBody>
      </p:sp>
      <p:sp>
        <p:nvSpPr>
          <p:cNvPr id="3" name="object 3"/>
          <p:cNvSpPr txBox="1"/>
          <p:nvPr/>
        </p:nvSpPr>
        <p:spPr>
          <a:xfrm>
            <a:off x="1511300" y="1801091"/>
            <a:ext cx="8940800" cy="1154098"/>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Depict the dependencies among the</a:t>
            </a:r>
            <a:r>
              <a:rPr sz="2118" spc="57" dirty="0">
                <a:solidFill>
                  <a:srgbClr val="585858"/>
                </a:solidFill>
                <a:latin typeface="Arial"/>
                <a:cs typeface="Arial"/>
              </a:rPr>
              <a:t> </a:t>
            </a:r>
            <a:r>
              <a:rPr sz="2118" spc="-4" dirty="0">
                <a:solidFill>
                  <a:srgbClr val="585858"/>
                </a:solidFill>
                <a:latin typeface="Arial"/>
                <a:cs typeface="Arial"/>
              </a:rPr>
              <a:t>objects</a:t>
            </a:r>
            <a:endParaRPr sz="2118"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An object diagram that shows message passing  relationships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Emphasize the flow through a set of</a:t>
            </a:r>
            <a:r>
              <a:rPr sz="2118" spc="26" dirty="0">
                <a:solidFill>
                  <a:srgbClr val="585858"/>
                </a:solidFill>
                <a:latin typeface="Arial"/>
                <a:cs typeface="Arial"/>
              </a:rPr>
              <a:t> </a:t>
            </a:r>
            <a:r>
              <a:rPr sz="2118" spc="-4" dirty="0">
                <a:solidFill>
                  <a:srgbClr val="585858"/>
                </a:solidFill>
                <a:latin typeface="Arial"/>
                <a:cs typeface="Arial"/>
              </a:rPr>
              <a:t>objects</a:t>
            </a:r>
            <a:endParaRPr sz="2118" dirty="0">
              <a:latin typeface="Arial"/>
              <a:cs typeface="Arial"/>
            </a:endParaRPr>
          </a:p>
        </p:txBody>
      </p:sp>
    </p:spTree>
    <p:extLst>
      <p:ext uri="{BB962C8B-B14F-4D97-AF65-F5344CB8AC3E}">
        <p14:creationId xmlns:p14="http://schemas.microsoft.com/office/powerpoint/2010/main" val="22135881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770" y="182148"/>
            <a:ext cx="7419415" cy="626303"/>
          </a:xfrm>
          <a:prstGeom prst="rect">
            <a:avLst/>
          </a:prstGeom>
        </p:spPr>
        <p:txBody>
          <a:bodyPr vert="horz" wrap="square" lIns="0" tIns="10646" rIns="0" bIns="0" rtlCol="0" anchor="ctr">
            <a:spAutoFit/>
          </a:bodyPr>
          <a:lstStyle/>
          <a:p>
            <a:pPr marL="11206">
              <a:lnSpc>
                <a:spcPct val="100000"/>
              </a:lnSpc>
              <a:spcBef>
                <a:spcPts val="84"/>
              </a:spcBef>
            </a:pPr>
            <a:r>
              <a:rPr spc="-4" dirty="0"/>
              <a:t>Communication Diagram</a:t>
            </a:r>
            <a:r>
              <a:rPr spc="22" dirty="0"/>
              <a:t> </a:t>
            </a:r>
            <a:r>
              <a:rPr spc="-4" dirty="0"/>
              <a:t>Syntax</a:t>
            </a:r>
          </a:p>
        </p:txBody>
      </p:sp>
      <p:sp>
        <p:nvSpPr>
          <p:cNvPr id="3" name="object 3"/>
          <p:cNvSpPr/>
          <p:nvPr/>
        </p:nvSpPr>
        <p:spPr>
          <a:xfrm>
            <a:off x="736600" y="1143000"/>
            <a:ext cx="10706100" cy="5308600"/>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60744328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0400" y="829847"/>
            <a:ext cx="8182161" cy="626303"/>
          </a:xfrm>
          <a:prstGeom prst="rect">
            <a:avLst/>
          </a:prstGeom>
        </p:spPr>
        <p:txBody>
          <a:bodyPr vert="horz" wrap="square" lIns="0" tIns="10646" rIns="0" bIns="0" rtlCol="0" anchor="ctr">
            <a:spAutoFit/>
          </a:bodyPr>
          <a:lstStyle/>
          <a:p>
            <a:pPr marL="1772305" marR="4483" indent="-1761658">
              <a:lnSpc>
                <a:spcPct val="100000"/>
              </a:lnSpc>
              <a:spcBef>
                <a:spcPts val="84"/>
              </a:spcBef>
            </a:pPr>
            <a:r>
              <a:rPr spc="-9" dirty="0"/>
              <a:t>Sample </a:t>
            </a:r>
            <a:r>
              <a:rPr spc="-4" dirty="0"/>
              <a:t>Communication  Diagram</a:t>
            </a:r>
          </a:p>
        </p:txBody>
      </p:sp>
      <p:sp>
        <p:nvSpPr>
          <p:cNvPr id="3" name="object 3"/>
          <p:cNvSpPr/>
          <p:nvPr/>
        </p:nvSpPr>
        <p:spPr>
          <a:xfrm>
            <a:off x="1066800" y="2151528"/>
            <a:ext cx="9525000" cy="4046071"/>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14037327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100" y="866154"/>
            <a:ext cx="10756900" cy="626303"/>
          </a:xfrm>
          <a:prstGeom prst="rect">
            <a:avLst/>
          </a:prstGeom>
        </p:spPr>
        <p:txBody>
          <a:bodyPr vert="horz" wrap="square" lIns="0" tIns="10646" rIns="0" bIns="0" rtlCol="0" anchor="ctr">
            <a:spAutoFit/>
          </a:bodyPr>
          <a:lstStyle/>
          <a:p>
            <a:pPr marL="11206" marR="4483" indent="329471">
              <a:lnSpc>
                <a:spcPct val="100000"/>
              </a:lnSpc>
              <a:spcBef>
                <a:spcPts val="84"/>
              </a:spcBef>
            </a:pPr>
            <a:r>
              <a:rPr spc="-4" dirty="0"/>
              <a:t>Guidelines for Creating  Communication</a:t>
            </a:r>
            <a:r>
              <a:rPr spc="-9" dirty="0"/>
              <a:t> </a:t>
            </a:r>
            <a:r>
              <a:rPr spc="-4" dirty="0"/>
              <a:t>Diagrams</a:t>
            </a:r>
          </a:p>
        </p:txBody>
      </p:sp>
      <p:sp>
        <p:nvSpPr>
          <p:cNvPr id="3" name="object 3"/>
          <p:cNvSpPr txBox="1"/>
          <p:nvPr/>
        </p:nvSpPr>
        <p:spPr>
          <a:xfrm>
            <a:off x="1104901" y="2241176"/>
            <a:ext cx="8467948" cy="1117324"/>
          </a:xfrm>
          <a:prstGeom prst="rect">
            <a:avLst/>
          </a:prstGeom>
        </p:spPr>
        <p:txBody>
          <a:bodyPr vert="horz" wrap="square" lIns="0" tIns="11206" rIns="0" bIns="0" rtlCol="0">
            <a:spAutoFit/>
          </a:bodyPr>
          <a:lstStyle/>
          <a:p>
            <a:pPr marL="318824" marR="482999" indent="-308178">
              <a:spcBef>
                <a:spcPts val="88"/>
              </a:spcBef>
              <a:buClr>
                <a:srgbClr val="6EB7D7"/>
              </a:buClr>
              <a:buSzPct val="108333"/>
              <a:buChar char="●"/>
              <a:tabLst>
                <a:tab pos="318824" algn="l"/>
                <a:tab pos="319385" algn="l"/>
              </a:tabLst>
            </a:pPr>
            <a:r>
              <a:rPr sz="2118" spc="-4" dirty="0">
                <a:solidFill>
                  <a:srgbClr val="585858"/>
                </a:solidFill>
                <a:latin typeface="Arial"/>
                <a:cs typeface="Arial"/>
              </a:rPr>
              <a:t>Use the diagram </a:t>
            </a:r>
            <a:r>
              <a:rPr sz="2118" dirty="0">
                <a:solidFill>
                  <a:srgbClr val="585858"/>
                </a:solidFill>
                <a:latin typeface="Arial"/>
                <a:cs typeface="Arial"/>
              </a:rPr>
              <a:t>to </a:t>
            </a:r>
            <a:r>
              <a:rPr sz="2118" spc="-4" dirty="0">
                <a:solidFill>
                  <a:srgbClr val="585858"/>
                </a:solidFill>
                <a:latin typeface="Arial"/>
                <a:cs typeface="Arial"/>
              </a:rPr>
              <a:t>identify the objects involved in a  use-case</a:t>
            </a:r>
            <a:endParaRPr sz="2118" dirty="0">
              <a:latin typeface="Arial"/>
              <a:cs typeface="Arial"/>
            </a:endParaRPr>
          </a:p>
          <a:p>
            <a:pPr marL="318824" marR="48747"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Do not use a communication diagram </a:t>
            </a:r>
            <a:r>
              <a:rPr sz="2118" dirty="0">
                <a:solidFill>
                  <a:srgbClr val="585858"/>
                </a:solidFill>
                <a:latin typeface="Arial"/>
                <a:cs typeface="Arial"/>
              </a:rPr>
              <a:t>to </a:t>
            </a:r>
            <a:r>
              <a:rPr sz="2118" spc="-4" dirty="0">
                <a:solidFill>
                  <a:srgbClr val="585858"/>
                </a:solidFill>
                <a:latin typeface="Arial"/>
                <a:cs typeface="Arial"/>
              </a:rPr>
              <a:t>model process  flow</a:t>
            </a:r>
            <a:endParaRPr sz="2118"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Do not use a communication diagram </a:t>
            </a:r>
            <a:r>
              <a:rPr sz="2118" dirty="0">
                <a:solidFill>
                  <a:srgbClr val="585858"/>
                </a:solidFill>
                <a:latin typeface="Arial"/>
                <a:cs typeface="Arial"/>
              </a:rPr>
              <a:t>to </a:t>
            </a:r>
            <a:r>
              <a:rPr sz="2118" spc="-4" dirty="0">
                <a:solidFill>
                  <a:srgbClr val="585858"/>
                </a:solidFill>
                <a:latin typeface="Arial"/>
                <a:cs typeface="Arial"/>
              </a:rPr>
              <a:t>show message  sequence</a:t>
            </a:r>
            <a:endParaRPr sz="2118" dirty="0">
              <a:latin typeface="Arial"/>
              <a:cs typeface="Arial"/>
            </a:endParaRPr>
          </a:p>
        </p:txBody>
      </p:sp>
    </p:spTree>
    <p:extLst>
      <p:ext uri="{BB962C8B-B14F-4D97-AF65-F5344CB8AC3E}">
        <p14:creationId xmlns:p14="http://schemas.microsoft.com/office/powerpoint/2010/main" val="333828399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81100" y="964318"/>
            <a:ext cx="7704491" cy="626303"/>
          </a:xfrm>
          <a:prstGeom prst="rect">
            <a:avLst/>
          </a:prstGeom>
        </p:spPr>
        <p:txBody>
          <a:bodyPr vert="horz" wrap="square" lIns="0" tIns="10646" rIns="0" bIns="0" rtlCol="0" anchor="ctr">
            <a:spAutoFit/>
          </a:bodyPr>
          <a:lstStyle/>
          <a:p>
            <a:pPr marL="1687696" marR="4483" indent="-1677050">
              <a:lnSpc>
                <a:spcPct val="100000"/>
              </a:lnSpc>
              <a:spcBef>
                <a:spcPts val="84"/>
              </a:spcBef>
            </a:pPr>
            <a:r>
              <a:rPr spc="-9" dirty="0"/>
              <a:t>Building </a:t>
            </a:r>
            <a:r>
              <a:rPr spc="-4" dirty="0"/>
              <a:t>Communication  Diagrams</a:t>
            </a:r>
          </a:p>
        </p:txBody>
      </p:sp>
      <p:sp>
        <p:nvSpPr>
          <p:cNvPr id="3" name="object 3"/>
          <p:cNvSpPr txBox="1"/>
          <p:nvPr/>
        </p:nvSpPr>
        <p:spPr>
          <a:xfrm>
            <a:off x="1295400" y="2204501"/>
            <a:ext cx="8172113" cy="1934184"/>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Set the context</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Identify objects, actors and associations between</a:t>
            </a:r>
            <a:r>
              <a:rPr sz="2118" spc="53" dirty="0">
                <a:solidFill>
                  <a:srgbClr val="585858"/>
                </a:solidFill>
                <a:latin typeface="Arial"/>
                <a:cs typeface="Arial"/>
              </a:rPr>
              <a:t> </a:t>
            </a:r>
            <a:r>
              <a:rPr sz="2118" spc="-4" dirty="0">
                <a:solidFill>
                  <a:srgbClr val="585858"/>
                </a:solidFill>
                <a:latin typeface="Arial"/>
                <a:cs typeface="Arial"/>
              </a:rPr>
              <a:t>them</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Lay out the</a:t>
            </a:r>
            <a:r>
              <a:rPr sz="2118" spc="4" dirty="0">
                <a:solidFill>
                  <a:srgbClr val="585858"/>
                </a:solidFill>
                <a:latin typeface="Arial"/>
                <a:cs typeface="Arial"/>
              </a:rPr>
              <a:t> </a:t>
            </a:r>
            <a:r>
              <a:rPr sz="2118" spc="-4" dirty="0">
                <a:solidFill>
                  <a:srgbClr val="585858"/>
                </a:solidFill>
                <a:latin typeface="Arial"/>
                <a:cs typeface="Arial"/>
              </a:rPr>
              <a:t>diagram</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Add the</a:t>
            </a:r>
            <a:r>
              <a:rPr sz="2118" spc="-57" dirty="0">
                <a:solidFill>
                  <a:srgbClr val="585858"/>
                </a:solidFill>
                <a:latin typeface="Arial"/>
                <a:cs typeface="Arial"/>
              </a:rPr>
              <a:t> </a:t>
            </a:r>
            <a:r>
              <a:rPr sz="2118" spc="-4" dirty="0">
                <a:solidFill>
                  <a:srgbClr val="585858"/>
                </a:solidFill>
                <a:latin typeface="Arial"/>
                <a:cs typeface="Arial"/>
              </a:rPr>
              <a:t>messages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26" dirty="0">
                <a:solidFill>
                  <a:srgbClr val="585858"/>
                </a:solidFill>
                <a:latin typeface="Arial"/>
                <a:cs typeface="Arial"/>
              </a:rPr>
              <a:t>Validate </a:t>
            </a:r>
            <a:r>
              <a:rPr sz="2118" spc="-4" dirty="0">
                <a:solidFill>
                  <a:srgbClr val="585858"/>
                </a:solidFill>
                <a:latin typeface="Arial"/>
                <a:cs typeface="Arial"/>
              </a:rPr>
              <a:t>the</a:t>
            </a:r>
            <a:r>
              <a:rPr sz="2118" dirty="0">
                <a:solidFill>
                  <a:srgbClr val="585858"/>
                </a:solidFill>
                <a:latin typeface="Arial"/>
                <a:cs typeface="Arial"/>
              </a:rPr>
              <a:t> </a:t>
            </a:r>
            <a:r>
              <a:rPr sz="2118" spc="-4" dirty="0">
                <a:solidFill>
                  <a:srgbClr val="585858"/>
                </a:solidFill>
                <a:latin typeface="Arial"/>
                <a:cs typeface="Arial"/>
              </a:rPr>
              <a:t>model</a:t>
            </a:r>
            <a:endParaRPr sz="2118" dirty="0">
              <a:latin typeface="Arial"/>
              <a:cs typeface="Arial"/>
            </a:endParaRPr>
          </a:p>
        </p:txBody>
      </p:sp>
    </p:spTree>
    <p:extLst>
      <p:ext uri="{BB962C8B-B14F-4D97-AF65-F5344CB8AC3E}">
        <p14:creationId xmlns:p14="http://schemas.microsoft.com/office/powerpoint/2010/main" val="27581567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4720" y="599754"/>
            <a:ext cx="6155390" cy="626303"/>
          </a:xfrm>
          <a:prstGeom prst="rect">
            <a:avLst/>
          </a:prstGeom>
        </p:spPr>
        <p:txBody>
          <a:bodyPr vert="horz" wrap="square" lIns="0" tIns="10646" rIns="0" bIns="0" rtlCol="0" anchor="ctr">
            <a:spAutoFit/>
          </a:bodyPr>
          <a:lstStyle/>
          <a:p>
            <a:pPr marL="11206">
              <a:lnSpc>
                <a:spcPct val="100000"/>
              </a:lnSpc>
              <a:spcBef>
                <a:spcPts val="84"/>
              </a:spcBef>
            </a:pPr>
            <a:r>
              <a:rPr spc="-4" dirty="0"/>
              <a:t>Behavioral </a:t>
            </a:r>
            <a:r>
              <a:rPr spc="-9" dirty="0"/>
              <a:t>State</a:t>
            </a:r>
            <a:r>
              <a:rPr spc="4" dirty="0"/>
              <a:t> </a:t>
            </a:r>
            <a:r>
              <a:rPr spc="-4" dirty="0"/>
              <a:t>Machines</a:t>
            </a:r>
          </a:p>
        </p:txBody>
      </p:sp>
      <p:sp>
        <p:nvSpPr>
          <p:cNvPr id="3" name="object 3"/>
          <p:cNvSpPr txBox="1"/>
          <p:nvPr/>
        </p:nvSpPr>
        <p:spPr>
          <a:xfrm>
            <a:off x="934721" y="1801090"/>
            <a:ext cx="8606192" cy="3222805"/>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Objects may change state in response </a:t>
            </a:r>
            <a:r>
              <a:rPr sz="2118" dirty="0">
                <a:solidFill>
                  <a:srgbClr val="585858"/>
                </a:solidFill>
                <a:latin typeface="Arial"/>
                <a:cs typeface="Arial"/>
              </a:rPr>
              <a:t>to </a:t>
            </a:r>
            <a:r>
              <a:rPr sz="2118" spc="-4" dirty="0">
                <a:solidFill>
                  <a:srgbClr val="585858"/>
                </a:solidFill>
                <a:latin typeface="Arial"/>
                <a:cs typeface="Arial"/>
              </a:rPr>
              <a:t>an</a:t>
            </a:r>
            <a:r>
              <a:rPr sz="2118" spc="13" dirty="0">
                <a:solidFill>
                  <a:srgbClr val="585858"/>
                </a:solidFill>
                <a:latin typeface="Arial"/>
                <a:cs typeface="Arial"/>
              </a:rPr>
              <a:t> </a:t>
            </a:r>
            <a:r>
              <a:rPr sz="2118" spc="-4" dirty="0">
                <a:solidFill>
                  <a:srgbClr val="585858"/>
                </a:solidFill>
                <a:latin typeface="Arial"/>
                <a:cs typeface="Arial"/>
              </a:rPr>
              <a:t>event</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9" dirty="0">
                <a:solidFill>
                  <a:srgbClr val="585858"/>
                </a:solidFill>
                <a:latin typeface="Arial"/>
                <a:cs typeface="Arial"/>
              </a:rPr>
              <a:t>Different </a:t>
            </a:r>
            <a:r>
              <a:rPr sz="2118" spc="-4" dirty="0">
                <a:solidFill>
                  <a:srgbClr val="585858"/>
                </a:solidFill>
                <a:latin typeface="Arial"/>
                <a:cs typeface="Arial"/>
              </a:rPr>
              <a:t>states are captured in this</a:t>
            </a:r>
            <a:r>
              <a:rPr sz="2118" spc="26" dirty="0">
                <a:solidFill>
                  <a:srgbClr val="585858"/>
                </a:solidFill>
                <a:latin typeface="Arial"/>
                <a:cs typeface="Arial"/>
              </a:rPr>
              <a:t> </a:t>
            </a:r>
            <a:r>
              <a:rPr sz="2118" spc="-4" dirty="0">
                <a:solidFill>
                  <a:srgbClr val="585858"/>
                </a:solidFill>
                <a:latin typeface="Arial"/>
                <a:cs typeface="Arial"/>
              </a:rPr>
              <a:t>model</a:t>
            </a:r>
            <a:endParaRPr sz="2118" dirty="0">
              <a:latin typeface="Arial"/>
              <a:cs typeface="Arial"/>
            </a:endParaRPr>
          </a:p>
          <a:p>
            <a:pPr marL="615796" marR="4483" lvl="1" indent="-297532">
              <a:spcBef>
                <a:spcPts val="534"/>
              </a:spcBef>
              <a:buClr>
                <a:srgbClr val="205C76"/>
              </a:buClr>
              <a:buSzPct val="110000"/>
              <a:buChar char="●"/>
              <a:tabLst>
                <a:tab pos="615796" algn="l"/>
                <a:tab pos="616356" algn="l"/>
              </a:tabLst>
            </a:pPr>
            <a:r>
              <a:rPr sz="1765" dirty="0">
                <a:solidFill>
                  <a:srgbClr val="585858"/>
                </a:solidFill>
                <a:latin typeface="Arial"/>
                <a:cs typeface="Arial"/>
              </a:rPr>
              <a:t>Shows </a:t>
            </a:r>
            <a:r>
              <a:rPr sz="1765" spc="-4" dirty="0">
                <a:solidFill>
                  <a:srgbClr val="585858"/>
                </a:solidFill>
                <a:latin typeface="Arial"/>
                <a:cs typeface="Arial"/>
              </a:rPr>
              <a:t>the </a:t>
            </a:r>
            <a:r>
              <a:rPr sz="1765" spc="-9" dirty="0">
                <a:solidFill>
                  <a:srgbClr val="585858"/>
                </a:solidFill>
                <a:latin typeface="Arial"/>
                <a:cs typeface="Arial"/>
              </a:rPr>
              <a:t>different </a:t>
            </a:r>
            <a:r>
              <a:rPr sz="1765" spc="-4" dirty="0">
                <a:solidFill>
                  <a:srgbClr val="585858"/>
                </a:solidFill>
                <a:latin typeface="Arial"/>
                <a:cs typeface="Arial"/>
              </a:rPr>
              <a:t>states </a:t>
            </a:r>
            <a:r>
              <a:rPr sz="1765" dirty="0">
                <a:solidFill>
                  <a:srgbClr val="585858"/>
                </a:solidFill>
                <a:latin typeface="Arial"/>
                <a:cs typeface="Arial"/>
              </a:rPr>
              <a:t>through which a single object</a:t>
            </a:r>
            <a:r>
              <a:rPr sz="1765" spc="-119" dirty="0">
                <a:solidFill>
                  <a:srgbClr val="585858"/>
                </a:solidFill>
                <a:latin typeface="Arial"/>
                <a:cs typeface="Arial"/>
              </a:rPr>
              <a:t> </a:t>
            </a:r>
            <a:r>
              <a:rPr sz="1765" dirty="0">
                <a:solidFill>
                  <a:srgbClr val="585858"/>
                </a:solidFill>
                <a:latin typeface="Arial"/>
                <a:cs typeface="Arial"/>
              </a:rPr>
              <a:t>passes  during </a:t>
            </a:r>
            <a:r>
              <a:rPr sz="1765" spc="-4" dirty="0">
                <a:solidFill>
                  <a:srgbClr val="585858"/>
                </a:solidFill>
                <a:latin typeface="Arial"/>
                <a:cs typeface="Arial"/>
              </a:rPr>
              <a:t>its</a:t>
            </a:r>
            <a:r>
              <a:rPr sz="1765" spc="-31" dirty="0">
                <a:solidFill>
                  <a:srgbClr val="585858"/>
                </a:solidFill>
                <a:latin typeface="Arial"/>
                <a:cs typeface="Arial"/>
              </a:rPr>
              <a:t> </a:t>
            </a:r>
            <a:r>
              <a:rPr sz="1765" spc="-4" dirty="0">
                <a:solidFill>
                  <a:srgbClr val="585858"/>
                </a:solidFill>
                <a:latin typeface="Arial"/>
                <a:cs typeface="Arial"/>
              </a:rPr>
              <a:t>life</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May include </a:t>
            </a:r>
            <a:r>
              <a:rPr sz="1765" spc="-4" dirty="0">
                <a:solidFill>
                  <a:srgbClr val="585858"/>
                </a:solidFill>
                <a:latin typeface="Arial"/>
                <a:cs typeface="Arial"/>
              </a:rPr>
              <a:t>the object’s </a:t>
            </a:r>
            <a:r>
              <a:rPr sz="1765" dirty="0">
                <a:solidFill>
                  <a:srgbClr val="585858"/>
                </a:solidFill>
                <a:latin typeface="Arial"/>
                <a:cs typeface="Arial"/>
              </a:rPr>
              <a:t>responses and</a:t>
            </a:r>
            <a:r>
              <a:rPr sz="1765" spc="-110" dirty="0">
                <a:solidFill>
                  <a:srgbClr val="585858"/>
                </a:solidFill>
                <a:latin typeface="Arial"/>
                <a:cs typeface="Arial"/>
              </a:rPr>
              <a:t> </a:t>
            </a:r>
            <a:r>
              <a:rPr sz="1765" dirty="0">
                <a:solidFill>
                  <a:srgbClr val="585858"/>
                </a:solidFill>
                <a:latin typeface="Arial"/>
                <a:cs typeface="Arial"/>
              </a:rPr>
              <a:t>actions</a:t>
            </a:r>
            <a:endParaRPr sz="1765" dirty="0">
              <a:latin typeface="Arial"/>
              <a:cs typeface="Arial"/>
            </a:endParaRPr>
          </a:p>
          <a:p>
            <a:pPr marL="318824" indent="-308178">
              <a:spcBef>
                <a:spcPts val="525"/>
              </a:spcBef>
              <a:buClr>
                <a:srgbClr val="6EB7D7"/>
              </a:buClr>
              <a:buSzPct val="108333"/>
              <a:buChar char="●"/>
              <a:tabLst>
                <a:tab pos="318824" algn="l"/>
                <a:tab pos="319385" algn="l"/>
              </a:tabLst>
            </a:pPr>
            <a:r>
              <a:rPr sz="2118" spc="-9" dirty="0">
                <a:solidFill>
                  <a:srgbClr val="585858"/>
                </a:solidFill>
                <a:latin typeface="Arial"/>
                <a:cs typeface="Arial"/>
              </a:rPr>
              <a:t>Example: </a:t>
            </a:r>
            <a:r>
              <a:rPr sz="2118" spc="-4" dirty="0">
                <a:solidFill>
                  <a:srgbClr val="585858"/>
                </a:solidFill>
                <a:latin typeface="Arial"/>
                <a:cs typeface="Arial"/>
              </a:rPr>
              <a:t>patient</a:t>
            </a:r>
            <a:r>
              <a:rPr sz="2118" spc="40" dirty="0">
                <a:solidFill>
                  <a:srgbClr val="585858"/>
                </a:solidFill>
                <a:latin typeface="Arial"/>
                <a:cs typeface="Arial"/>
              </a:rPr>
              <a:t> </a:t>
            </a:r>
            <a:r>
              <a:rPr sz="2118" spc="-4" dirty="0">
                <a:solidFill>
                  <a:srgbClr val="585858"/>
                </a:solidFill>
                <a:latin typeface="Arial"/>
                <a:cs typeface="Arial"/>
              </a:rPr>
              <a:t>states</a:t>
            </a:r>
            <a:endParaRPr sz="2118" dirty="0">
              <a:latin typeface="Arial"/>
              <a:cs typeface="Arial"/>
            </a:endParaRPr>
          </a:p>
          <a:p>
            <a:pPr marL="616356" lvl="1" indent="-297532">
              <a:spcBef>
                <a:spcPts val="534"/>
              </a:spcBef>
              <a:buClr>
                <a:srgbClr val="205C76"/>
              </a:buClr>
              <a:buSzPct val="110000"/>
              <a:buChar char="●"/>
              <a:tabLst>
                <a:tab pos="615796" algn="l"/>
                <a:tab pos="616356" algn="l"/>
              </a:tabLst>
            </a:pPr>
            <a:r>
              <a:rPr sz="1765" dirty="0">
                <a:solidFill>
                  <a:srgbClr val="585858"/>
                </a:solidFill>
                <a:latin typeface="Arial"/>
                <a:cs typeface="Arial"/>
              </a:rPr>
              <a:t>New </a:t>
            </a:r>
            <a:r>
              <a:rPr sz="1765" spc="-4" dirty="0">
                <a:solidFill>
                  <a:srgbClr val="585858"/>
                </a:solidFill>
                <a:latin typeface="Arial"/>
                <a:cs typeface="Arial"/>
              </a:rPr>
              <a:t>patient—has </a:t>
            </a:r>
            <a:r>
              <a:rPr sz="1765" dirty="0">
                <a:solidFill>
                  <a:srgbClr val="585858"/>
                </a:solidFill>
                <a:latin typeface="Arial"/>
                <a:cs typeface="Arial"/>
              </a:rPr>
              <a:t>not </a:t>
            </a:r>
            <a:r>
              <a:rPr sz="1765" spc="-4" dirty="0">
                <a:solidFill>
                  <a:srgbClr val="585858"/>
                </a:solidFill>
                <a:latin typeface="Arial"/>
                <a:cs typeface="Arial"/>
              </a:rPr>
              <a:t>yet </a:t>
            </a:r>
            <a:r>
              <a:rPr sz="1765" dirty="0">
                <a:solidFill>
                  <a:srgbClr val="585858"/>
                </a:solidFill>
                <a:latin typeface="Arial"/>
                <a:cs typeface="Arial"/>
              </a:rPr>
              <a:t>been</a:t>
            </a:r>
            <a:r>
              <a:rPr sz="1765" spc="-84" dirty="0">
                <a:solidFill>
                  <a:srgbClr val="585858"/>
                </a:solidFill>
                <a:latin typeface="Arial"/>
                <a:cs typeface="Arial"/>
              </a:rPr>
              <a:t> </a:t>
            </a:r>
            <a:r>
              <a:rPr sz="1765" dirty="0">
                <a:solidFill>
                  <a:srgbClr val="585858"/>
                </a:solidFill>
                <a:latin typeface="Arial"/>
                <a:cs typeface="Arial"/>
              </a:rPr>
              <a:t>seen</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Current </a:t>
            </a:r>
            <a:r>
              <a:rPr sz="1765" spc="-4" dirty="0">
                <a:solidFill>
                  <a:srgbClr val="585858"/>
                </a:solidFill>
                <a:latin typeface="Arial"/>
                <a:cs typeface="Arial"/>
              </a:rPr>
              <a:t>patient—is </a:t>
            </a:r>
            <a:r>
              <a:rPr sz="1765" dirty="0">
                <a:solidFill>
                  <a:srgbClr val="585858"/>
                </a:solidFill>
                <a:latin typeface="Arial"/>
                <a:cs typeface="Arial"/>
              </a:rPr>
              <a:t>now </a:t>
            </a:r>
            <a:r>
              <a:rPr sz="1765" spc="-4" dirty="0">
                <a:solidFill>
                  <a:srgbClr val="585858"/>
                </a:solidFill>
                <a:latin typeface="Arial"/>
                <a:cs typeface="Arial"/>
              </a:rPr>
              <a:t>receiving</a:t>
            </a:r>
            <a:r>
              <a:rPr sz="1765" spc="-84" dirty="0">
                <a:solidFill>
                  <a:srgbClr val="585858"/>
                </a:solidFill>
                <a:latin typeface="Arial"/>
                <a:cs typeface="Arial"/>
              </a:rPr>
              <a:t> </a:t>
            </a:r>
            <a:r>
              <a:rPr sz="1765" spc="-4" dirty="0">
                <a:solidFill>
                  <a:srgbClr val="585858"/>
                </a:solidFill>
                <a:latin typeface="Arial"/>
                <a:cs typeface="Arial"/>
              </a:rPr>
              <a:t>treatment</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Former </a:t>
            </a:r>
            <a:r>
              <a:rPr sz="1765" spc="-4" dirty="0">
                <a:solidFill>
                  <a:srgbClr val="585858"/>
                </a:solidFill>
                <a:latin typeface="Arial"/>
                <a:cs typeface="Arial"/>
              </a:rPr>
              <a:t>patient—no </a:t>
            </a:r>
            <a:r>
              <a:rPr sz="1765" dirty="0">
                <a:solidFill>
                  <a:srgbClr val="585858"/>
                </a:solidFill>
                <a:latin typeface="Arial"/>
                <a:cs typeface="Arial"/>
              </a:rPr>
              <a:t>longer being seen or</a:t>
            </a:r>
            <a:r>
              <a:rPr sz="1765" spc="-124" dirty="0">
                <a:solidFill>
                  <a:srgbClr val="585858"/>
                </a:solidFill>
                <a:latin typeface="Arial"/>
                <a:cs typeface="Arial"/>
              </a:rPr>
              <a:t> </a:t>
            </a:r>
            <a:r>
              <a:rPr sz="1765" spc="-4" dirty="0">
                <a:solidFill>
                  <a:srgbClr val="585858"/>
                </a:solidFill>
                <a:latin typeface="Arial"/>
                <a:cs typeface="Arial"/>
              </a:rPr>
              <a:t>treated</a:t>
            </a:r>
            <a:endParaRPr sz="1765" dirty="0">
              <a:latin typeface="Arial"/>
              <a:cs typeface="Arial"/>
            </a:endParaRPr>
          </a:p>
          <a:p>
            <a:pPr marL="318824" indent="-308178">
              <a:spcBef>
                <a:spcPts val="525"/>
              </a:spcBef>
              <a:buClr>
                <a:srgbClr val="6EB7D7"/>
              </a:buClr>
              <a:buSzPct val="108333"/>
              <a:buChar char="●"/>
              <a:tabLst>
                <a:tab pos="318824" algn="l"/>
                <a:tab pos="319385" algn="l"/>
              </a:tabLst>
            </a:pPr>
            <a:r>
              <a:rPr sz="2118" spc="-18" dirty="0">
                <a:solidFill>
                  <a:srgbClr val="585858"/>
                </a:solidFill>
                <a:latin typeface="Arial"/>
                <a:cs typeface="Arial"/>
              </a:rPr>
              <a:t>Typically </a:t>
            </a:r>
            <a:r>
              <a:rPr sz="2118" spc="-4" dirty="0">
                <a:solidFill>
                  <a:srgbClr val="585858"/>
                </a:solidFill>
                <a:latin typeface="Arial"/>
                <a:cs typeface="Arial"/>
              </a:rPr>
              <a:t>used only for complex</a:t>
            </a:r>
            <a:r>
              <a:rPr sz="2118" spc="71" dirty="0">
                <a:solidFill>
                  <a:srgbClr val="585858"/>
                </a:solidFill>
                <a:latin typeface="Arial"/>
                <a:cs typeface="Arial"/>
              </a:rPr>
              <a:t> </a:t>
            </a:r>
            <a:r>
              <a:rPr sz="2118" spc="-4" dirty="0">
                <a:solidFill>
                  <a:srgbClr val="585858"/>
                </a:solidFill>
                <a:latin typeface="Arial"/>
                <a:cs typeface="Arial"/>
              </a:rPr>
              <a:t>objects</a:t>
            </a:r>
            <a:endParaRPr sz="2118" dirty="0">
              <a:latin typeface="Arial"/>
              <a:cs typeface="Arial"/>
            </a:endParaRPr>
          </a:p>
        </p:txBody>
      </p:sp>
    </p:spTree>
    <p:extLst>
      <p:ext uri="{BB962C8B-B14F-4D97-AF65-F5344CB8AC3E}">
        <p14:creationId xmlns:p14="http://schemas.microsoft.com/office/powerpoint/2010/main" val="351202650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2700" y="829847"/>
            <a:ext cx="6667871" cy="626303"/>
          </a:xfrm>
          <a:prstGeom prst="rect">
            <a:avLst/>
          </a:prstGeom>
        </p:spPr>
        <p:txBody>
          <a:bodyPr vert="horz" wrap="square" lIns="0" tIns="10646" rIns="0" bIns="0" rtlCol="0" anchor="ctr">
            <a:spAutoFit/>
          </a:bodyPr>
          <a:lstStyle/>
          <a:p>
            <a:pPr marL="11206" marR="4483" indent="26896">
              <a:lnSpc>
                <a:spcPct val="100000"/>
              </a:lnSpc>
              <a:spcBef>
                <a:spcPts val="84"/>
              </a:spcBef>
            </a:pPr>
            <a:r>
              <a:rPr spc="-4" dirty="0"/>
              <a:t>Components of  </a:t>
            </a:r>
            <a:r>
              <a:rPr spc="-9" dirty="0"/>
              <a:t>State</a:t>
            </a:r>
            <a:r>
              <a:rPr spc="-53" dirty="0"/>
              <a:t> </a:t>
            </a:r>
            <a:r>
              <a:rPr spc="-4" dirty="0"/>
              <a:t>Machines</a:t>
            </a:r>
          </a:p>
        </p:txBody>
      </p:sp>
      <p:sp>
        <p:nvSpPr>
          <p:cNvPr id="3" name="object 3"/>
          <p:cNvSpPr txBox="1">
            <a:spLocks noGrp="1"/>
          </p:cNvSpPr>
          <p:nvPr>
            <p:ph idx="1"/>
          </p:nvPr>
        </p:nvSpPr>
        <p:spPr>
          <a:xfrm>
            <a:off x="1498601" y="2195046"/>
            <a:ext cx="10177930" cy="1527726"/>
          </a:xfrm>
          <a:prstGeom prst="rect">
            <a:avLst/>
          </a:prstGeom>
        </p:spPr>
        <p:txBody>
          <a:bodyPr vert="horz" wrap="square" lIns="0" tIns="47625" rIns="0" bIns="0" rtlCol="0">
            <a:spAutoFit/>
          </a:bodyPr>
          <a:lstStyle/>
          <a:p>
            <a:pPr marL="384943" indent="-308178">
              <a:lnSpc>
                <a:spcPct val="100000"/>
              </a:lnSpc>
              <a:spcBef>
                <a:spcPts val="375"/>
              </a:spcBef>
              <a:buClr>
                <a:srgbClr val="6EB7D7"/>
              </a:buClr>
              <a:buSzPct val="108333"/>
              <a:buChar char="●"/>
              <a:tabLst>
                <a:tab pos="385503" algn="l"/>
                <a:tab pos="386063" algn="l"/>
              </a:tabLst>
            </a:pPr>
            <a:r>
              <a:rPr spc="-4" dirty="0"/>
              <a:t>States—values of an </a:t>
            </a:r>
            <a:r>
              <a:rPr spc="-9" dirty="0"/>
              <a:t>object’s </a:t>
            </a:r>
            <a:r>
              <a:rPr spc="-4" dirty="0"/>
              <a:t>attributes at a point in</a:t>
            </a:r>
            <a:r>
              <a:rPr spc="71" dirty="0"/>
              <a:t> </a:t>
            </a:r>
            <a:r>
              <a:rPr spc="-4" dirty="0"/>
              <a:t>time</a:t>
            </a:r>
          </a:p>
          <a:p>
            <a:pPr marL="384943" marR="852253" indent="-308178">
              <a:lnSpc>
                <a:spcPct val="100000"/>
              </a:lnSpc>
              <a:spcBef>
                <a:spcPts val="529"/>
              </a:spcBef>
              <a:buClr>
                <a:srgbClr val="6EB7D7"/>
              </a:buClr>
              <a:buSzPct val="108333"/>
              <a:buChar char="●"/>
              <a:tabLst>
                <a:tab pos="385503" algn="l"/>
                <a:tab pos="386063" algn="l"/>
              </a:tabLst>
            </a:pPr>
            <a:r>
              <a:rPr spc="-4" dirty="0"/>
              <a:t>Events—the cause of the change in values of the  </a:t>
            </a:r>
            <a:r>
              <a:rPr spc="-9" dirty="0"/>
              <a:t>object’s</a:t>
            </a:r>
            <a:r>
              <a:rPr spc="9" dirty="0"/>
              <a:t> </a:t>
            </a:r>
            <a:r>
              <a:rPr spc="-4" dirty="0"/>
              <a:t>attributes</a:t>
            </a:r>
          </a:p>
          <a:p>
            <a:pPr marL="384943" marR="309299" indent="-308178">
              <a:lnSpc>
                <a:spcPct val="100000"/>
              </a:lnSpc>
              <a:spcBef>
                <a:spcPts val="529"/>
              </a:spcBef>
              <a:buClr>
                <a:srgbClr val="6EB7D7"/>
              </a:buClr>
              <a:buSzPct val="108333"/>
              <a:buChar char="●"/>
              <a:tabLst>
                <a:tab pos="385503" algn="l"/>
                <a:tab pos="386063" algn="l"/>
              </a:tabLst>
            </a:pPr>
            <a:r>
              <a:rPr spc="-9" dirty="0"/>
              <a:t>Transitions—movement </a:t>
            </a:r>
            <a:r>
              <a:rPr spc="-4" dirty="0"/>
              <a:t>of an object from one state </a:t>
            </a:r>
            <a:r>
              <a:rPr dirty="0"/>
              <a:t>to  </a:t>
            </a:r>
            <a:r>
              <a:rPr spc="-4" dirty="0"/>
              <a:t>another</a:t>
            </a:r>
          </a:p>
          <a:p>
            <a:pPr marL="681914" marR="66679" lvl="1" indent="-297532">
              <a:lnSpc>
                <a:spcPct val="100000"/>
              </a:lnSpc>
              <a:spcBef>
                <a:spcPts val="534"/>
              </a:spcBef>
              <a:buClr>
                <a:srgbClr val="205C76"/>
              </a:buClr>
              <a:buSzPct val="110000"/>
              <a:buChar char="●"/>
              <a:tabLst>
                <a:tab pos="682475" algn="l"/>
                <a:tab pos="683035" algn="l"/>
              </a:tabLst>
            </a:pPr>
            <a:r>
              <a:rPr sz="1765" dirty="0">
                <a:solidFill>
                  <a:srgbClr val="585858"/>
                </a:solidFill>
                <a:latin typeface="Arial"/>
                <a:cs typeface="Arial"/>
              </a:rPr>
              <a:t>May include a guard </a:t>
            </a:r>
            <a:r>
              <a:rPr sz="1765" spc="-4" dirty="0">
                <a:solidFill>
                  <a:srgbClr val="585858"/>
                </a:solidFill>
                <a:latin typeface="Arial"/>
                <a:cs typeface="Arial"/>
              </a:rPr>
              <a:t>condition to flag that </a:t>
            </a:r>
            <a:r>
              <a:rPr sz="1765" dirty="0">
                <a:solidFill>
                  <a:srgbClr val="585858"/>
                </a:solidFill>
                <a:latin typeface="Arial"/>
                <a:cs typeface="Arial"/>
              </a:rPr>
              <a:t>a </a:t>
            </a:r>
            <a:r>
              <a:rPr sz="1765" spc="-4" dirty="0">
                <a:solidFill>
                  <a:srgbClr val="585858"/>
                </a:solidFill>
                <a:latin typeface="Arial"/>
                <a:cs typeface="Arial"/>
              </a:rPr>
              <a:t>condition is true </a:t>
            </a:r>
            <a:r>
              <a:rPr sz="1765" dirty="0">
                <a:solidFill>
                  <a:srgbClr val="585858"/>
                </a:solidFill>
                <a:latin typeface="Arial"/>
                <a:cs typeface="Arial"/>
              </a:rPr>
              <a:t>and  </a:t>
            </a:r>
            <a:r>
              <a:rPr sz="1765" spc="-4" dirty="0">
                <a:solidFill>
                  <a:srgbClr val="585858"/>
                </a:solidFill>
                <a:latin typeface="Arial"/>
                <a:cs typeface="Arial"/>
              </a:rPr>
              <a:t>allow the</a:t>
            </a:r>
            <a:r>
              <a:rPr sz="1765" spc="-13" dirty="0">
                <a:solidFill>
                  <a:srgbClr val="585858"/>
                </a:solidFill>
                <a:latin typeface="Arial"/>
                <a:cs typeface="Arial"/>
              </a:rPr>
              <a:t> </a:t>
            </a:r>
            <a:r>
              <a:rPr sz="1765" spc="-4" dirty="0">
                <a:solidFill>
                  <a:srgbClr val="585858"/>
                </a:solidFill>
                <a:latin typeface="Arial"/>
                <a:cs typeface="Arial"/>
              </a:rPr>
              <a:t>transition</a:t>
            </a:r>
            <a:endParaRPr sz="1765" dirty="0">
              <a:latin typeface="Arial"/>
              <a:cs typeface="Arial"/>
            </a:endParaRPr>
          </a:p>
        </p:txBody>
      </p:sp>
    </p:spTree>
    <p:extLst>
      <p:ext uri="{BB962C8B-B14F-4D97-AF65-F5344CB8AC3E}">
        <p14:creationId xmlns:p14="http://schemas.microsoft.com/office/powerpoint/2010/main" val="99183140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54270"/>
            <a:ext cx="5036484" cy="626303"/>
          </a:xfrm>
          <a:prstGeom prst="rect">
            <a:avLst/>
          </a:prstGeom>
        </p:spPr>
        <p:txBody>
          <a:bodyPr vert="horz" wrap="square" lIns="0" tIns="10646" rIns="0" bIns="0" rtlCol="0" anchor="ctr">
            <a:spAutoFit/>
          </a:bodyPr>
          <a:lstStyle/>
          <a:p>
            <a:pPr marL="11206">
              <a:lnSpc>
                <a:spcPct val="100000"/>
              </a:lnSpc>
              <a:spcBef>
                <a:spcPts val="84"/>
              </a:spcBef>
            </a:pPr>
            <a:r>
              <a:rPr spc="-9" dirty="0"/>
              <a:t>State </a:t>
            </a:r>
            <a:r>
              <a:rPr spc="-4" dirty="0"/>
              <a:t>Machine</a:t>
            </a:r>
            <a:r>
              <a:rPr spc="-18" dirty="0"/>
              <a:t> </a:t>
            </a:r>
            <a:r>
              <a:rPr spc="-4" dirty="0"/>
              <a:t>Syntax</a:t>
            </a:r>
          </a:p>
        </p:txBody>
      </p:sp>
      <p:sp>
        <p:nvSpPr>
          <p:cNvPr id="3" name="object 3"/>
          <p:cNvSpPr/>
          <p:nvPr/>
        </p:nvSpPr>
        <p:spPr>
          <a:xfrm>
            <a:off x="838200" y="1320800"/>
            <a:ext cx="10629900" cy="5003799"/>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417805627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1" y="1001970"/>
            <a:ext cx="7746289" cy="626303"/>
          </a:xfrm>
          <a:prstGeom prst="rect">
            <a:avLst/>
          </a:prstGeom>
        </p:spPr>
        <p:txBody>
          <a:bodyPr vert="horz" wrap="square" lIns="0" tIns="10646" rIns="0" bIns="0" rtlCol="0" anchor="ctr">
            <a:spAutoFit/>
          </a:bodyPr>
          <a:lstStyle/>
          <a:p>
            <a:pPr marL="11206">
              <a:lnSpc>
                <a:spcPct val="100000"/>
              </a:lnSpc>
              <a:spcBef>
                <a:spcPts val="84"/>
              </a:spcBef>
            </a:pPr>
            <a:r>
              <a:rPr spc="-9" dirty="0"/>
              <a:t>Sample State</a:t>
            </a:r>
            <a:r>
              <a:rPr dirty="0"/>
              <a:t> </a:t>
            </a:r>
            <a:r>
              <a:rPr spc="-4" dirty="0"/>
              <a:t>Machine</a:t>
            </a:r>
          </a:p>
        </p:txBody>
      </p:sp>
      <p:grpSp>
        <p:nvGrpSpPr>
          <p:cNvPr id="3" name="object 3"/>
          <p:cNvGrpSpPr/>
          <p:nvPr/>
        </p:nvGrpSpPr>
        <p:grpSpPr>
          <a:xfrm>
            <a:off x="952501" y="1807284"/>
            <a:ext cx="8784066" cy="3818816"/>
            <a:chOff x="905255" y="2048255"/>
            <a:chExt cx="8249920" cy="2799715"/>
          </a:xfrm>
        </p:grpSpPr>
        <p:sp>
          <p:nvSpPr>
            <p:cNvPr id="4" name="object 4"/>
            <p:cNvSpPr/>
            <p:nvPr/>
          </p:nvSpPr>
          <p:spPr>
            <a:xfrm>
              <a:off x="914399" y="2057399"/>
              <a:ext cx="8229600" cy="2779776"/>
            </a:xfrm>
            <a:prstGeom prst="rect">
              <a:avLst/>
            </a:prstGeom>
            <a:blipFill>
              <a:blip r:embed="rId2" cstate="print"/>
              <a:stretch>
                <a:fillRect/>
              </a:stretch>
            </a:blipFill>
          </p:spPr>
          <p:txBody>
            <a:bodyPr wrap="square" lIns="0" tIns="0" rIns="0" bIns="0" rtlCol="0"/>
            <a:lstStyle/>
            <a:p>
              <a:endParaRPr sz="1588"/>
            </a:p>
          </p:txBody>
        </p:sp>
        <p:sp>
          <p:nvSpPr>
            <p:cNvPr id="5" name="object 5"/>
            <p:cNvSpPr/>
            <p:nvPr/>
          </p:nvSpPr>
          <p:spPr>
            <a:xfrm>
              <a:off x="905255" y="2048255"/>
              <a:ext cx="8249412" cy="2799588"/>
            </a:xfrm>
            <a:prstGeom prst="rect">
              <a:avLst/>
            </a:prstGeom>
            <a:blipFill>
              <a:blip r:embed="rId3" cstate="print"/>
              <a:stretch>
                <a:fillRect/>
              </a:stretch>
            </a:blipFill>
          </p:spPr>
          <p:txBody>
            <a:bodyPr wrap="square" lIns="0" tIns="0" rIns="0" bIns="0" rtlCol="0"/>
            <a:lstStyle/>
            <a:p>
              <a:endParaRPr sz="1588"/>
            </a:p>
          </p:txBody>
        </p:sp>
        <p:sp>
          <p:nvSpPr>
            <p:cNvPr id="6" name="object 6"/>
            <p:cNvSpPr/>
            <p:nvPr/>
          </p:nvSpPr>
          <p:spPr>
            <a:xfrm>
              <a:off x="905255" y="2048255"/>
              <a:ext cx="8249920" cy="2799715"/>
            </a:xfrm>
            <a:custGeom>
              <a:avLst/>
              <a:gdLst/>
              <a:ahLst/>
              <a:cxnLst/>
              <a:rect l="l" t="t" r="r" b="b"/>
              <a:pathLst>
                <a:path w="8249920" h="2799715">
                  <a:moveTo>
                    <a:pt x="8249412" y="2799588"/>
                  </a:moveTo>
                  <a:lnTo>
                    <a:pt x="8249412" y="0"/>
                  </a:lnTo>
                  <a:lnTo>
                    <a:pt x="0" y="0"/>
                  </a:lnTo>
                  <a:lnTo>
                    <a:pt x="0" y="2799588"/>
                  </a:lnTo>
                  <a:lnTo>
                    <a:pt x="4572" y="2799588"/>
                  </a:lnTo>
                  <a:lnTo>
                    <a:pt x="4572" y="9144"/>
                  </a:lnTo>
                  <a:lnTo>
                    <a:pt x="9144" y="4572"/>
                  </a:lnTo>
                  <a:lnTo>
                    <a:pt x="9144" y="9144"/>
                  </a:lnTo>
                  <a:lnTo>
                    <a:pt x="8238744" y="9144"/>
                  </a:lnTo>
                  <a:lnTo>
                    <a:pt x="8238744" y="4572"/>
                  </a:lnTo>
                  <a:lnTo>
                    <a:pt x="8244840" y="9144"/>
                  </a:lnTo>
                  <a:lnTo>
                    <a:pt x="8244840" y="2799588"/>
                  </a:lnTo>
                  <a:lnTo>
                    <a:pt x="8249412" y="2799588"/>
                  </a:lnTo>
                  <a:close/>
                </a:path>
                <a:path w="8249920" h="2799715">
                  <a:moveTo>
                    <a:pt x="9144" y="9144"/>
                  </a:moveTo>
                  <a:lnTo>
                    <a:pt x="9144" y="4572"/>
                  </a:lnTo>
                  <a:lnTo>
                    <a:pt x="4572" y="9144"/>
                  </a:lnTo>
                  <a:lnTo>
                    <a:pt x="9144" y="9144"/>
                  </a:lnTo>
                  <a:close/>
                </a:path>
                <a:path w="8249920" h="2799715">
                  <a:moveTo>
                    <a:pt x="9144" y="2788920"/>
                  </a:moveTo>
                  <a:lnTo>
                    <a:pt x="9144" y="9144"/>
                  </a:lnTo>
                  <a:lnTo>
                    <a:pt x="4572" y="9144"/>
                  </a:lnTo>
                  <a:lnTo>
                    <a:pt x="4572" y="2788920"/>
                  </a:lnTo>
                  <a:lnTo>
                    <a:pt x="9144" y="2788920"/>
                  </a:lnTo>
                  <a:close/>
                </a:path>
                <a:path w="8249920" h="2799715">
                  <a:moveTo>
                    <a:pt x="8244840" y="2788920"/>
                  </a:moveTo>
                  <a:lnTo>
                    <a:pt x="4572" y="2788920"/>
                  </a:lnTo>
                  <a:lnTo>
                    <a:pt x="9144" y="2795016"/>
                  </a:lnTo>
                  <a:lnTo>
                    <a:pt x="9144" y="2799588"/>
                  </a:lnTo>
                  <a:lnTo>
                    <a:pt x="8238744" y="2799588"/>
                  </a:lnTo>
                  <a:lnTo>
                    <a:pt x="8238744" y="2795016"/>
                  </a:lnTo>
                  <a:lnTo>
                    <a:pt x="8244840" y="2788920"/>
                  </a:lnTo>
                  <a:close/>
                </a:path>
                <a:path w="8249920" h="2799715">
                  <a:moveTo>
                    <a:pt x="9144" y="2799588"/>
                  </a:moveTo>
                  <a:lnTo>
                    <a:pt x="9144" y="2795016"/>
                  </a:lnTo>
                  <a:lnTo>
                    <a:pt x="4572" y="2788920"/>
                  </a:lnTo>
                  <a:lnTo>
                    <a:pt x="4572" y="2799588"/>
                  </a:lnTo>
                  <a:lnTo>
                    <a:pt x="9144" y="2799588"/>
                  </a:lnTo>
                  <a:close/>
                </a:path>
                <a:path w="8249920" h="2799715">
                  <a:moveTo>
                    <a:pt x="8244840" y="9144"/>
                  </a:moveTo>
                  <a:lnTo>
                    <a:pt x="8238744" y="4572"/>
                  </a:lnTo>
                  <a:lnTo>
                    <a:pt x="8238744" y="9144"/>
                  </a:lnTo>
                  <a:lnTo>
                    <a:pt x="8244840" y="9144"/>
                  </a:lnTo>
                  <a:close/>
                </a:path>
                <a:path w="8249920" h="2799715">
                  <a:moveTo>
                    <a:pt x="8244840" y="2788920"/>
                  </a:moveTo>
                  <a:lnTo>
                    <a:pt x="8244840" y="9144"/>
                  </a:lnTo>
                  <a:lnTo>
                    <a:pt x="8238744" y="9144"/>
                  </a:lnTo>
                  <a:lnTo>
                    <a:pt x="8238744" y="2788920"/>
                  </a:lnTo>
                  <a:lnTo>
                    <a:pt x="8244840" y="2788920"/>
                  </a:lnTo>
                  <a:close/>
                </a:path>
                <a:path w="8249920" h="2799715">
                  <a:moveTo>
                    <a:pt x="8244840" y="2799588"/>
                  </a:moveTo>
                  <a:lnTo>
                    <a:pt x="8244840" y="2788920"/>
                  </a:lnTo>
                  <a:lnTo>
                    <a:pt x="8238744" y="2795016"/>
                  </a:lnTo>
                  <a:lnTo>
                    <a:pt x="8238744" y="2799588"/>
                  </a:lnTo>
                  <a:lnTo>
                    <a:pt x="8244840" y="2799588"/>
                  </a:lnTo>
                  <a:close/>
                </a:path>
              </a:pathLst>
            </a:custGeom>
            <a:solidFill>
              <a:srgbClr val="000000"/>
            </a:solidFill>
          </p:spPr>
          <p:txBody>
            <a:bodyPr wrap="square" lIns="0" tIns="0" rIns="0" bIns="0" rtlCol="0"/>
            <a:lstStyle/>
            <a:p>
              <a:endParaRPr sz="1588"/>
            </a:p>
          </p:txBody>
        </p:sp>
      </p:grpSp>
    </p:spTree>
    <p:extLst>
      <p:ext uri="{BB962C8B-B14F-4D97-AF65-F5344CB8AC3E}">
        <p14:creationId xmlns:p14="http://schemas.microsoft.com/office/powerpoint/2010/main" val="117083003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500" y="824168"/>
            <a:ext cx="10579100" cy="503192"/>
          </a:xfrm>
          <a:prstGeom prst="rect">
            <a:avLst/>
          </a:prstGeom>
        </p:spPr>
        <p:txBody>
          <a:bodyPr vert="horz" wrap="square" lIns="0" tIns="10646" rIns="0" bIns="0" rtlCol="0" anchor="ctr">
            <a:spAutoFit/>
          </a:bodyPr>
          <a:lstStyle/>
          <a:p>
            <a:pPr marL="11206" marR="4483" indent="428648">
              <a:lnSpc>
                <a:spcPct val="100000"/>
              </a:lnSpc>
              <a:spcBef>
                <a:spcPts val="84"/>
              </a:spcBef>
            </a:pPr>
            <a:r>
              <a:rPr sz="3200" spc="-4" dirty="0"/>
              <a:t>Guidelines for Creating  Behavioral </a:t>
            </a:r>
            <a:r>
              <a:rPr sz="3200" spc="-9" dirty="0"/>
              <a:t>State</a:t>
            </a:r>
            <a:r>
              <a:rPr sz="3200" spc="4" dirty="0"/>
              <a:t> </a:t>
            </a:r>
            <a:r>
              <a:rPr sz="3200" spc="-4" dirty="0"/>
              <a:t>Machines</a:t>
            </a:r>
          </a:p>
        </p:txBody>
      </p:sp>
      <p:sp>
        <p:nvSpPr>
          <p:cNvPr id="3" name="object 3"/>
          <p:cNvSpPr txBox="1"/>
          <p:nvPr/>
        </p:nvSpPr>
        <p:spPr>
          <a:xfrm>
            <a:off x="1803400" y="2002796"/>
            <a:ext cx="7500507" cy="3040191"/>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Use only for complex</a:t>
            </a:r>
            <a:r>
              <a:rPr sz="2118" spc="31" dirty="0">
                <a:solidFill>
                  <a:srgbClr val="585858"/>
                </a:solidFill>
                <a:latin typeface="Arial"/>
                <a:cs typeface="Arial"/>
              </a:rPr>
              <a:t> </a:t>
            </a:r>
            <a:r>
              <a:rPr sz="2118" spc="-4" dirty="0">
                <a:solidFill>
                  <a:srgbClr val="585858"/>
                </a:solidFill>
                <a:latin typeface="Arial"/>
                <a:cs typeface="Arial"/>
              </a:rPr>
              <a:t>objects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Draw the initial state in the upper left</a:t>
            </a:r>
            <a:r>
              <a:rPr sz="2118" spc="49" dirty="0">
                <a:solidFill>
                  <a:srgbClr val="585858"/>
                </a:solidFill>
                <a:latin typeface="Arial"/>
                <a:cs typeface="Arial"/>
              </a:rPr>
              <a:t> </a:t>
            </a:r>
            <a:r>
              <a:rPr sz="2118" spc="-4" dirty="0">
                <a:solidFill>
                  <a:srgbClr val="585858"/>
                </a:solidFill>
                <a:latin typeface="Arial"/>
                <a:cs typeface="Arial"/>
              </a:rPr>
              <a:t>corner</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Draw the final state in the bottom right</a:t>
            </a:r>
            <a:r>
              <a:rPr sz="2118" spc="22" dirty="0">
                <a:solidFill>
                  <a:srgbClr val="585858"/>
                </a:solidFill>
                <a:latin typeface="Arial"/>
                <a:cs typeface="Arial"/>
              </a:rPr>
              <a:t> </a:t>
            </a:r>
            <a:r>
              <a:rPr sz="2118" spc="-4" dirty="0">
                <a:solidFill>
                  <a:srgbClr val="585858"/>
                </a:solidFill>
                <a:latin typeface="Arial"/>
                <a:cs typeface="Arial"/>
              </a:rPr>
              <a:t>corner</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Use simple, but descriptive names for</a:t>
            </a:r>
            <a:r>
              <a:rPr sz="2118" spc="53" dirty="0">
                <a:solidFill>
                  <a:srgbClr val="585858"/>
                </a:solidFill>
                <a:latin typeface="Arial"/>
                <a:cs typeface="Arial"/>
              </a:rPr>
              <a:t> </a:t>
            </a:r>
            <a:r>
              <a:rPr sz="2118" spc="-4" dirty="0">
                <a:solidFill>
                  <a:srgbClr val="585858"/>
                </a:solidFill>
                <a:latin typeface="Arial"/>
                <a:cs typeface="Arial"/>
              </a:rPr>
              <a:t>states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Look out for “black holes” and</a:t>
            </a:r>
            <a:r>
              <a:rPr sz="2118" spc="49" dirty="0">
                <a:solidFill>
                  <a:srgbClr val="585858"/>
                </a:solidFill>
                <a:latin typeface="Arial"/>
                <a:cs typeface="Arial"/>
              </a:rPr>
              <a:t> </a:t>
            </a:r>
            <a:r>
              <a:rPr sz="2118" spc="-4" dirty="0">
                <a:solidFill>
                  <a:srgbClr val="585858"/>
                </a:solidFill>
                <a:latin typeface="Arial"/>
                <a:cs typeface="Arial"/>
              </a:rPr>
              <a:t>“miracles”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Ensure guard conditions are mutually</a:t>
            </a:r>
            <a:r>
              <a:rPr sz="2118" spc="53" dirty="0">
                <a:solidFill>
                  <a:srgbClr val="585858"/>
                </a:solidFill>
                <a:latin typeface="Arial"/>
                <a:cs typeface="Arial"/>
              </a:rPr>
              <a:t> </a:t>
            </a:r>
            <a:r>
              <a:rPr sz="2118" spc="-4" dirty="0">
                <a:solidFill>
                  <a:srgbClr val="585858"/>
                </a:solidFill>
                <a:latin typeface="Arial"/>
                <a:cs typeface="Arial"/>
              </a:rPr>
              <a:t>exclusive</a:t>
            </a:r>
            <a:endParaRPr sz="2118"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Ensure transitions are associated with messages and  operations</a:t>
            </a:r>
            <a:endParaRPr sz="2118" dirty="0">
              <a:latin typeface="Arial"/>
              <a:cs typeface="Arial"/>
            </a:endParaRPr>
          </a:p>
        </p:txBody>
      </p:sp>
    </p:spTree>
    <p:extLst>
      <p:ext uri="{BB962C8B-B14F-4D97-AF65-F5344CB8AC3E}">
        <p14:creationId xmlns:p14="http://schemas.microsoft.com/office/powerpoint/2010/main" val="220119558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6599" y="284962"/>
            <a:ext cx="9690101" cy="626303"/>
          </a:xfrm>
          <a:prstGeom prst="rect">
            <a:avLst/>
          </a:prstGeom>
        </p:spPr>
        <p:txBody>
          <a:bodyPr vert="horz" wrap="square" lIns="0" tIns="10646" rIns="0" bIns="0" rtlCol="0" anchor="ctr">
            <a:spAutoFit/>
          </a:bodyPr>
          <a:lstStyle/>
          <a:p>
            <a:pPr marL="11206" marR="4483" indent="1804243">
              <a:lnSpc>
                <a:spcPct val="100000"/>
              </a:lnSpc>
              <a:spcBef>
                <a:spcPts val="84"/>
              </a:spcBef>
            </a:pPr>
            <a:r>
              <a:rPr spc="-9" dirty="0"/>
              <a:t>Building </a:t>
            </a:r>
            <a:r>
              <a:rPr spc="-4" dirty="0"/>
              <a:t>a  Behavioral </a:t>
            </a:r>
            <a:r>
              <a:rPr spc="-9" dirty="0"/>
              <a:t>State</a:t>
            </a:r>
            <a:r>
              <a:rPr dirty="0"/>
              <a:t> </a:t>
            </a:r>
            <a:r>
              <a:rPr spc="-4" dirty="0"/>
              <a:t>Machine</a:t>
            </a:r>
          </a:p>
        </p:txBody>
      </p:sp>
      <p:sp>
        <p:nvSpPr>
          <p:cNvPr id="3" name="object 3"/>
          <p:cNvSpPr txBox="1"/>
          <p:nvPr/>
        </p:nvSpPr>
        <p:spPr>
          <a:xfrm>
            <a:off x="1168400" y="1733855"/>
            <a:ext cx="7922035" cy="3948581"/>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Set the context</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Identify the states of the</a:t>
            </a:r>
            <a:r>
              <a:rPr sz="2118" spc="-26" dirty="0">
                <a:solidFill>
                  <a:srgbClr val="585858"/>
                </a:solidFill>
                <a:latin typeface="Arial"/>
                <a:cs typeface="Arial"/>
              </a:rPr>
              <a:t> </a:t>
            </a:r>
            <a:r>
              <a:rPr sz="2118" spc="-4" dirty="0">
                <a:solidFill>
                  <a:srgbClr val="585858"/>
                </a:solidFill>
                <a:latin typeface="Arial"/>
                <a:cs typeface="Arial"/>
              </a:rPr>
              <a:t>object</a:t>
            </a:r>
            <a:endParaRPr sz="2118" dirty="0">
              <a:latin typeface="Arial"/>
              <a:cs typeface="Arial"/>
            </a:endParaRPr>
          </a:p>
          <a:p>
            <a:pPr marL="616356" lvl="1" indent="-297532">
              <a:spcBef>
                <a:spcPts val="534"/>
              </a:spcBef>
              <a:buClr>
                <a:srgbClr val="205C76"/>
              </a:buClr>
              <a:buSzPct val="110000"/>
              <a:buChar char="•"/>
              <a:tabLst>
                <a:tab pos="615796" algn="l"/>
                <a:tab pos="616356" algn="l"/>
              </a:tabLst>
            </a:pPr>
            <a:r>
              <a:rPr sz="1765" spc="-4" dirty="0">
                <a:solidFill>
                  <a:srgbClr val="585858"/>
                </a:solidFill>
                <a:latin typeface="Arial"/>
                <a:cs typeface="Arial"/>
              </a:rPr>
              <a:t>Initial</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spc="-4" dirty="0">
                <a:solidFill>
                  <a:srgbClr val="585858"/>
                </a:solidFill>
                <a:latin typeface="Arial"/>
                <a:cs typeface="Arial"/>
              </a:rPr>
              <a:t>Final</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spc="-4" dirty="0">
                <a:solidFill>
                  <a:srgbClr val="585858"/>
                </a:solidFill>
                <a:latin typeface="Arial"/>
                <a:cs typeface="Arial"/>
              </a:rPr>
              <a:t>Stable states </a:t>
            </a:r>
            <a:r>
              <a:rPr sz="1765" dirty="0">
                <a:solidFill>
                  <a:srgbClr val="585858"/>
                </a:solidFill>
                <a:latin typeface="Arial"/>
                <a:cs typeface="Arial"/>
              </a:rPr>
              <a:t>during </a:t>
            </a:r>
            <a:r>
              <a:rPr sz="1765" spc="-4" dirty="0">
                <a:solidFill>
                  <a:srgbClr val="585858"/>
                </a:solidFill>
                <a:latin typeface="Arial"/>
                <a:cs typeface="Arial"/>
              </a:rPr>
              <a:t>its</a:t>
            </a:r>
            <a:r>
              <a:rPr sz="1765" spc="-53" dirty="0">
                <a:solidFill>
                  <a:srgbClr val="585858"/>
                </a:solidFill>
                <a:latin typeface="Arial"/>
                <a:cs typeface="Arial"/>
              </a:rPr>
              <a:t> </a:t>
            </a:r>
            <a:r>
              <a:rPr sz="1765" spc="-4" dirty="0">
                <a:solidFill>
                  <a:srgbClr val="585858"/>
                </a:solidFill>
                <a:latin typeface="Arial"/>
                <a:cs typeface="Arial"/>
              </a:rPr>
              <a:t>lifetime</a:t>
            </a:r>
            <a:endParaRPr sz="1765" dirty="0">
              <a:latin typeface="Arial"/>
              <a:cs typeface="Arial"/>
            </a:endParaRPr>
          </a:p>
          <a:p>
            <a:pPr marL="318824" indent="-308178">
              <a:spcBef>
                <a:spcPts val="525"/>
              </a:spcBef>
              <a:buClr>
                <a:srgbClr val="6EB7D7"/>
              </a:buClr>
              <a:buSzPct val="108333"/>
              <a:buChar char="•"/>
              <a:tabLst>
                <a:tab pos="318824" algn="l"/>
                <a:tab pos="319385" algn="l"/>
              </a:tabLst>
            </a:pPr>
            <a:r>
              <a:rPr sz="2118" spc="-4" dirty="0">
                <a:solidFill>
                  <a:srgbClr val="585858"/>
                </a:solidFill>
                <a:latin typeface="Arial"/>
                <a:cs typeface="Arial"/>
              </a:rPr>
              <a:t>Lay out the diagram—use a left </a:t>
            </a:r>
            <a:r>
              <a:rPr sz="2118" dirty="0">
                <a:solidFill>
                  <a:srgbClr val="585858"/>
                </a:solidFill>
                <a:latin typeface="Arial"/>
                <a:cs typeface="Arial"/>
              </a:rPr>
              <a:t>to </a:t>
            </a:r>
            <a:r>
              <a:rPr sz="2118" spc="-4" dirty="0">
                <a:solidFill>
                  <a:srgbClr val="585858"/>
                </a:solidFill>
                <a:latin typeface="Arial"/>
                <a:cs typeface="Arial"/>
              </a:rPr>
              <a:t>right</a:t>
            </a:r>
            <a:r>
              <a:rPr sz="2118" spc="22" dirty="0">
                <a:solidFill>
                  <a:srgbClr val="585858"/>
                </a:solidFill>
                <a:latin typeface="Arial"/>
                <a:cs typeface="Arial"/>
              </a:rPr>
              <a:t> </a:t>
            </a:r>
            <a:r>
              <a:rPr sz="2118" spc="-4" dirty="0">
                <a:solidFill>
                  <a:srgbClr val="585858"/>
                </a:solidFill>
                <a:latin typeface="Arial"/>
                <a:cs typeface="Arial"/>
              </a:rPr>
              <a:t>sequence</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Add the</a:t>
            </a:r>
            <a:r>
              <a:rPr sz="2118" dirty="0">
                <a:solidFill>
                  <a:srgbClr val="585858"/>
                </a:solidFill>
                <a:latin typeface="Arial"/>
                <a:cs typeface="Arial"/>
              </a:rPr>
              <a:t> </a:t>
            </a:r>
            <a:r>
              <a:rPr sz="2118" spc="-4" dirty="0">
                <a:solidFill>
                  <a:srgbClr val="585858"/>
                </a:solidFill>
                <a:latin typeface="Arial"/>
                <a:cs typeface="Arial"/>
              </a:rPr>
              <a:t>transitions</a:t>
            </a:r>
            <a:endParaRPr sz="2118" dirty="0">
              <a:latin typeface="Arial"/>
              <a:cs typeface="Arial"/>
            </a:endParaRPr>
          </a:p>
          <a:p>
            <a:pPr marL="616356" lvl="1" indent="-297532">
              <a:spcBef>
                <a:spcPts val="534"/>
              </a:spcBef>
              <a:buClr>
                <a:srgbClr val="205C76"/>
              </a:buClr>
              <a:buSzPct val="110000"/>
              <a:buChar char="•"/>
              <a:tabLst>
                <a:tab pos="615796" algn="l"/>
                <a:tab pos="616356" algn="l"/>
              </a:tabLst>
            </a:pPr>
            <a:r>
              <a:rPr sz="1765" spc="-4" dirty="0">
                <a:solidFill>
                  <a:srgbClr val="585858"/>
                </a:solidFill>
                <a:latin typeface="Arial"/>
                <a:cs typeface="Arial"/>
              </a:rPr>
              <a:t>Identify the triggers (events that </a:t>
            </a:r>
            <a:r>
              <a:rPr sz="1765" dirty="0">
                <a:solidFill>
                  <a:srgbClr val="585858"/>
                </a:solidFill>
                <a:latin typeface="Arial"/>
                <a:cs typeface="Arial"/>
              </a:rPr>
              <a:t>cause </a:t>
            </a:r>
            <a:r>
              <a:rPr sz="1765" spc="-4" dirty="0">
                <a:solidFill>
                  <a:srgbClr val="585858"/>
                </a:solidFill>
                <a:latin typeface="Arial"/>
                <a:cs typeface="Arial"/>
              </a:rPr>
              <a:t>the</a:t>
            </a:r>
            <a:r>
              <a:rPr sz="1765" spc="-101" dirty="0">
                <a:solidFill>
                  <a:srgbClr val="585858"/>
                </a:solidFill>
                <a:latin typeface="Arial"/>
                <a:cs typeface="Arial"/>
              </a:rPr>
              <a:t> </a:t>
            </a:r>
            <a:r>
              <a:rPr sz="1765" spc="-4" dirty="0">
                <a:solidFill>
                  <a:srgbClr val="585858"/>
                </a:solidFill>
                <a:latin typeface="Arial"/>
                <a:cs typeface="Arial"/>
              </a:rPr>
              <a:t>transition)</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spc="-4" dirty="0">
                <a:solidFill>
                  <a:srgbClr val="585858"/>
                </a:solidFill>
                <a:latin typeface="Arial"/>
                <a:cs typeface="Arial"/>
              </a:rPr>
              <a:t>Identify the </a:t>
            </a:r>
            <a:r>
              <a:rPr sz="1765" dirty="0">
                <a:solidFill>
                  <a:srgbClr val="585858"/>
                </a:solidFill>
                <a:latin typeface="Arial"/>
                <a:cs typeface="Arial"/>
              </a:rPr>
              <a:t>actions which</a:t>
            </a:r>
            <a:r>
              <a:rPr sz="1765" spc="-66" dirty="0">
                <a:solidFill>
                  <a:srgbClr val="585858"/>
                </a:solidFill>
                <a:latin typeface="Arial"/>
                <a:cs typeface="Arial"/>
              </a:rPr>
              <a:t> </a:t>
            </a:r>
            <a:r>
              <a:rPr sz="1765" spc="-4" dirty="0">
                <a:solidFill>
                  <a:srgbClr val="585858"/>
                </a:solidFill>
                <a:latin typeface="Arial"/>
                <a:cs typeface="Arial"/>
              </a:rPr>
              <a:t>execute</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spc="-4" dirty="0">
                <a:solidFill>
                  <a:srgbClr val="585858"/>
                </a:solidFill>
                <a:latin typeface="Arial"/>
                <a:cs typeface="Arial"/>
              </a:rPr>
              <a:t>Identify the </a:t>
            </a:r>
            <a:r>
              <a:rPr sz="1765" dirty="0">
                <a:solidFill>
                  <a:srgbClr val="585858"/>
                </a:solidFill>
                <a:latin typeface="Arial"/>
                <a:cs typeface="Arial"/>
              </a:rPr>
              <a:t>guard</a:t>
            </a:r>
            <a:r>
              <a:rPr sz="1765" spc="-57" dirty="0">
                <a:solidFill>
                  <a:srgbClr val="585858"/>
                </a:solidFill>
                <a:latin typeface="Arial"/>
                <a:cs typeface="Arial"/>
              </a:rPr>
              <a:t> </a:t>
            </a:r>
            <a:r>
              <a:rPr sz="1765" dirty="0">
                <a:solidFill>
                  <a:srgbClr val="585858"/>
                </a:solidFill>
                <a:latin typeface="Arial"/>
                <a:cs typeface="Arial"/>
              </a:rPr>
              <a:t>conditions</a:t>
            </a:r>
            <a:endParaRPr sz="1765" dirty="0">
              <a:latin typeface="Arial"/>
              <a:cs typeface="Arial"/>
            </a:endParaRPr>
          </a:p>
          <a:p>
            <a:pPr marL="318824" indent="-308178">
              <a:spcBef>
                <a:spcPts val="525"/>
              </a:spcBef>
              <a:buClr>
                <a:srgbClr val="6EB7D7"/>
              </a:buClr>
              <a:buSzPct val="108333"/>
              <a:buChar char="•"/>
              <a:tabLst>
                <a:tab pos="318824" algn="l"/>
                <a:tab pos="319385" algn="l"/>
              </a:tabLst>
            </a:pPr>
            <a:r>
              <a:rPr sz="2118" spc="-26" dirty="0">
                <a:solidFill>
                  <a:srgbClr val="585858"/>
                </a:solidFill>
                <a:latin typeface="Arial"/>
                <a:cs typeface="Arial"/>
              </a:rPr>
              <a:t>Validate </a:t>
            </a:r>
            <a:r>
              <a:rPr sz="2118" spc="-4" dirty="0">
                <a:solidFill>
                  <a:srgbClr val="585858"/>
                </a:solidFill>
                <a:latin typeface="Arial"/>
                <a:cs typeface="Arial"/>
              </a:rPr>
              <a:t>the model—ensure all states are</a:t>
            </a:r>
            <a:r>
              <a:rPr sz="2118" spc="93" dirty="0">
                <a:solidFill>
                  <a:srgbClr val="585858"/>
                </a:solidFill>
                <a:latin typeface="Arial"/>
                <a:cs typeface="Arial"/>
              </a:rPr>
              <a:t> </a:t>
            </a:r>
            <a:r>
              <a:rPr sz="2118" spc="-4" dirty="0">
                <a:solidFill>
                  <a:srgbClr val="585858"/>
                </a:solidFill>
                <a:latin typeface="Arial"/>
                <a:cs typeface="Arial"/>
              </a:rPr>
              <a:t>reachable</a:t>
            </a:r>
            <a:endParaRPr sz="2118" dirty="0">
              <a:latin typeface="Arial"/>
              <a:cs typeface="Arial"/>
            </a:endParaRPr>
          </a:p>
        </p:txBody>
      </p:sp>
    </p:spTree>
    <p:extLst>
      <p:ext uri="{BB962C8B-B14F-4D97-AF65-F5344CB8AC3E}">
        <p14:creationId xmlns:p14="http://schemas.microsoft.com/office/powerpoint/2010/main" val="397096238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0901" y="798770"/>
            <a:ext cx="3889562" cy="626303"/>
          </a:xfrm>
          <a:prstGeom prst="rect">
            <a:avLst/>
          </a:prstGeom>
        </p:spPr>
        <p:txBody>
          <a:bodyPr vert="horz" wrap="square" lIns="0" tIns="10646" rIns="0" bIns="0" rtlCol="0" anchor="ctr">
            <a:spAutoFit/>
          </a:bodyPr>
          <a:lstStyle/>
          <a:p>
            <a:pPr marL="11206">
              <a:lnSpc>
                <a:spcPct val="100000"/>
              </a:lnSpc>
              <a:spcBef>
                <a:spcPts val="84"/>
              </a:spcBef>
            </a:pPr>
            <a:r>
              <a:rPr dirty="0"/>
              <a:t>CRUDE</a:t>
            </a:r>
            <a:r>
              <a:rPr spc="-296" dirty="0"/>
              <a:t> </a:t>
            </a:r>
            <a:r>
              <a:rPr spc="-4" dirty="0"/>
              <a:t>Analysis</a:t>
            </a:r>
          </a:p>
        </p:txBody>
      </p:sp>
      <p:sp>
        <p:nvSpPr>
          <p:cNvPr id="3" name="object 3"/>
          <p:cNvSpPr txBox="1"/>
          <p:nvPr/>
        </p:nvSpPr>
        <p:spPr>
          <a:xfrm>
            <a:off x="850901" y="1801091"/>
            <a:ext cx="8408184" cy="3222805"/>
          </a:xfrm>
          <a:prstGeom prst="rect">
            <a:avLst/>
          </a:prstGeom>
        </p:spPr>
        <p:txBody>
          <a:bodyPr vert="horz" wrap="square" lIns="0" tIns="47625" rIns="0" bIns="0" rtlCol="0">
            <a:spAutoFit/>
          </a:bodyPr>
          <a:lstStyle/>
          <a:p>
            <a:pPr marL="318824" indent="-308178">
              <a:spcBef>
                <a:spcPts val="375"/>
              </a:spcBef>
              <a:buClr>
                <a:srgbClr val="6EB7D7"/>
              </a:buClr>
              <a:buSzPct val="108333"/>
              <a:buChar char="●"/>
              <a:tabLst>
                <a:tab pos="318824" algn="l"/>
                <a:tab pos="319385" algn="l"/>
              </a:tabLst>
            </a:pPr>
            <a:r>
              <a:rPr sz="2118" spc="-4" dirty="0">
                <a:solidFill>
                  <a:srgbClr val="585858"/>
                </a:solidFill>
                <a:latin typeface="Arial"/>
                <a:cs typeface="Arial"/>
              </a:rPr>
              <a:t>Helps </a:t>
            </a:r>
            <a:r>
              <a:rPr sz="2118" dirty="0">
                <a:solidFill>
                  <a:srgbClr val="585858"/>
                </a:solidFill>
                <a:latin typeface="Arial"/>
                <a:cs typeface="Arial"/>
              </a:rPr>
              <a:t>to </a:t>
            </a:r>
            <a:r>
              <a:rPr sz="2118" spc="-4" dirty="0">
                <a:solidFill>
                  <a:srgbClr val="585858"/>
                </a:solidFill>
                <a:latin typeface="Arial"/>
                <a:cs typeface="Arial"/>
              </a:rPr>
              <a:t>identify object</a:t>
            </a:r>
            <a:r>
              <a:rPr sz="2118" spc="26" dirty="0">
                <a:solidFill>
                  <a:srgbClr val="585858"/>
                </a:solidFill>
                <a:latin typeface="Arial"/>
                <a:cs typeface="Arial"/>
              </a:rPr>
              <a:t> </a:t>
            </a:r>
            <a:r>
              <a:rPr sz="2118" spc="-4" dirty="0">
                <a:solidFill>
                  <a:srgbClr val="585858"/>
                </a:solidFill>
                <a:latin typeface="Arial"/>
                <a:cs typeface="Arial"/>
              </a:rPr>
              <a:t>collaborations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Labels object interaction in 5 possible</a:t>
            </a:r>
            <a:r>
              <a:rPr sz="2118" spc="75" dirty="0">
                <a:solidFill>
                  <a:srgbClr val="585858"/>
                </a:solidFill>
                <a:latin typeface="Arial"/>
                <a:cs typeface="Arial"/>
              </a:rPr>
              <a:t> </a:t>
            </a:r>
            <a:r>
              <a:rPr sz="2118" spc="-4" dirty="0">
                <a:solidFill>
                  <a:srgbClr val="585858"/>
                </a:solidFill>
                <a:latin typeface="Arial"/>
                <a:cs typeface="Arial"/>
              </a:rPr>
              <a:t>ways:</a:t>
            </a:r>
            <a:endParaRPr sz="2118" dirty="0">
              <a:latin typeface="Arial"/>
              <a:cs typeface="Arial"/>
            </a:endParaRPr>
          </a:p>
          <a:p>
            <a:pPr marL="616356" lvl="1" indent="-297532">
              <a:spcBef>
                <a:spcPts val="534"/>
              </a:spcBef>
              <a:buClr>
                <a:srgbClr val="205C76"/>
              </a:buClr>
              <a:buSzPct val="110000"/>
              <a:buChar char="●"/>
              <a:tabLst>
                <a:tab pos="615796" algn="l"/>
                <a:tab pos="616356" algn="l"/>
              </a:tabLst>
            </a:pPr>
            <a:r>
              <a:rPr sz="1765" dirty="0">
                <a:solidFill>
                  <a:srgbClr val="585858"/>
                </a:solidFill>
                <a:latin typeface="Arial"/>
                <a:cs typeface="Arial"/>
              </a:rPr>
              <a:t>Create—can one object create</a:t>
            </a:r>
            <a:r>
              <a:rPr sz="1765" spc="-124" dirty="0">
                <a:solidFill>
                  <a:srgbClr val="585858"/>
                </a:solidFill>
                <a:latin typeface="Arial"/>
                <a:cs typeface="Arial"/>
              </a:rPr>
              <a:t> </a:t>
            </a:r>
            <a:r>
              <a:rPr sz="1765" dirty="0">
                <a:solidFill>
                  <a:srgbClr val="585858"/>
                </a:solidFill>
                <a:latin typeface="Arial"/>
                <a:cs typeface="Arial"/>
              </a:rPr>
              <a:t>another?</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Read—can one object read </a:t>
            </a:r>
            <a:r>
              <a:rPr sz="1765" spc="-4" dirty="0">
                <a:solidFill>
                  <a:srgbClr val="585858"/>
                </a:solidFill>
                <a:latin typeface="Arial"/>
                <a:cs typeface="Arial"/>
              </a:rPr>
              <a:t>the attributes </a:t>
            </a:r>
            <a:r>
              <a:rPr sz="1765" dirty="0">
                <a:solidFill>
                  <a:srgbClr val="585858"/>
                </a:solidFill>
                <a:latin typeface="Arial"/>
                <a:cs typeface="Arial"/>
              </a:rPr>
              <a:t>of</a:t>
            </a:r>
            <a:r>
              <a:rPr sz="1765" spc="-146" dirty="0">
                <a:solidFill>
                  <a:srgbClr val="585858"/>
                </a:solidFill>
                <a:latin typeface="Arial"/>
                <a:cs typeface="Arial"/>
              </a:rPr>
              <a:t> </a:t>
            </a:r>
            <a:r>
              <a:rPr sz="1765" dirty="0">
                <a:solidFill>
                  <a:srgbClr val="585858"/>
                </a:solidFill>
                <a:latin typeface="Arial"/>
                <a:cs typeface="Arial"/>
              </a:rPr>
              <a:t>another?</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Update—can one object change </a:t>
            </a:r>
            <a:r>
              <a:rPr sz="1765" spc="-4" dirty="0">
                <a:solidFill>
                  <a:srgbClr val="585858"/>
                </a:solidFill>
                <a:latin typeface="Arial"/>
                <a:cs typeface="Arial"/>
              </a:rPr>
              <a:t>values in</a:t>
            </a:r>
            <a:r>
              <a:rPr sz="1765" spc="-119" dirty="0">
                <a:solidFill>
                  <a:srgbClr val="585858"/>
                </a:solidFill>
                <a:latin typeface="Arial"/>
                <a:cs typeface="Arial"/>
              </a:rPr>
              <a:t> </a:t>
            </a:r>
            <a:r>
              <a:rPr sz="1765" dirty="0">
                <a:solidFill>
                  <a:srgbClr val="585858"/>
                </a:solidFill>
                <a:latin typeface="Arial"/>
                <a:cs typeface="Arial"/>
              </a:rPr>
              <a:t>another?</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Delete—can one object </a:t>
            </a:r>
            <a:r>
              <a:rPr sz="1765" spc="-4" dirty="0">
                <a:solidFill>
                  <a:srgbClr val="585858"/>
                </a:solidFill>
                <a:latin typeface="Arial"/>
                <a:cs typeface="Arial"/>
              </a:rPr>
              <a:t>delete </a:t>
            </a:r>
            <a:r>
              <a:rPr sz="1765" dirty="0">
                <a:solidFill>
                  <a:srgbClr val="585858"/>
                </a:solidFill>
                <a:latin typeface="Arial"/>
                <a:cs typeface="Arial"/>
              </a:rPr>
              <a:t>another</a:t>
            </a:r>
            <a:r>
              <a:rPr sz="1765" spc="-110" dirty="0">
                <a:solidFill>
                  <a:srgbClr val="585858"/>
                </a:solidFill>
                <a:latin typeface="Arial"/>
                <a:cs typeface="Arial"/>
              </a:rPr>
              <a:t> </a:t>
            </a:r>
            <a:r>
              <a:rPr sz="1765" dirty="0">
                <a:solidFill>
                  <a:srgbClr val="585858"/>
                </a:solidFill>
                <a:latin typeface="Arial"/>
                <a:cs typeface="Arial"/>
              </a:rPr>
              <a:t>object?</a:t>
            </a:r>
            <a:endParaRPr sz="1765" dirty="0">
              <a:latin typeface="Arial"/>
              <a:cs typeface="Arial"/>
            </a:endParaRPr>
          </a:p>
          <a:p>
            <a:pPr marL="616356" lvl="1" indent="-297532">
              <a:spcBef>
                <a:spcPts val="529"/>
              </a:spcBef>
              <a:buClr>
                <a:srgbClr val="205C76"/>
              </a:buClr>
              <a:buSzPct val="110000"/>
              <a:buChar char="●"/>
              <a:tabLst>
                <a:tab pos="615796" algn="l"/>
                <a:tab pos="616356" algn="l"/>
              </a:tabLst>
            </a:pPr>
            <a:r>
              <a:rPr sz="1765" dirty="0">
                <a:solidFill>
                  <a:srgbClr val="585858"/>
                </a:solidFill>
                <a:latin typeface="Arial"/>
                <a:cs typeface="Arial"/>
              </a:rPr>
              <a:t>Execute—can one object </a:t>
            </a:r>
            <a:r>
              <a:rPr sz="1765" spc="-4" dirty="0">
                <a:solidFill>
                  <a:srgbClr val="585858"/>
                </a:solidFill>
                <a:latin typeface="Arial"/>
                <a:cs typeface="Arial"/>
              </a:rPr>
              <a:t>execute the </a:t>
            </a:r>
            <a:r>
              <a:rPr sz="1765" dirty="0">
                <a:solidFill>
                  <a:srgbClr val="585858"/>
                </a:solidFill>
                <a:latin typeface="Arial"/>
                <a:cs typeface="Arial"/>
              </a:rPr>
              <a:t>operations of</a:t>
            </a:r>
            <a:r>
              <a:rPr sz="1765" spc="-163" dirty="0">
                <a:solidFill>
                  <a:srgbClr val="585858"/>
                </a:solidFill>
                <a:latin typeface="Arial"/>
                <a:cs typeface="Arial"/>
              </a:rPr>
              <a:t> </a:t>
            </a:r>
            <a:r>
              <a:rPr sz="1765" dirty="0">
                <a:solidFill>
                  <a:srgbClr val="585858"/>
                </a:solidFill>
                <a:latin typeface="Arial"/>
                <a:cs typeface="Arial"/>
              </a:rPr>
              <a:t>another?</a:t>
            </a:r>
            <a:endParaRPr sz="1765" dirty="0">
              <a:latin typeface="Arial"/>
              <a:cs typeface="Arial"/>
            </a:endParaRPr>
          </a:p>
          <a:p>
            <a:pPr marL="318824" marR="858415" indent="-308178">
              <a:spcBef>
                <a:spcPts val="525"/>
              </a:spcBef>
              <a:buClr>
                <a:srgbClr val="6EB7D7"/>
              </a:buClr>
              <a:buSzPct val="108333"/>
              <a:buChar char="●"/>
              <a:tabLst>
                <a:tab pos="318824" algn="l"/>
                <a:tab pos="319385" algn="l"/>
              </a:tabLst>
            </a:pPr>
            <a:r>
              <a:rPr sz="2118" spc="-4" dirty="0">
                <a:solidFill>
                  <a:srgbClr val="585858"/>
                </a:solidFill>
                <a:latin typeface="Arial"/>
                <a:cs typeface="Arial"/>
              </a:rPr>
              <a:t>Utilizes a matrix </a:t>
            </a:r>
            <a:r>
              <a:rPr sz="2118" dirty="0">
                <a:solidFill>
                  <a:srgbClr val="585858"/>
                </a:solidFill>
                <a:latin typeface="Arial"/>
                <a:cs typeface="Arial"/>
              </a:rPr>
              <a:t>to </a:t>
            </a:r>
            <a:r>
              <a:rPr sz="2118" spc="-4" dirty="0">
                <a:solidFill>
                  <a:srgbClr val="585858"/>
                </a:solidFill>
                <a:latin typeface="Arial"/>
                <a:cs typeface="Arial"/>
              </a:rPr>
              <a:t>represent objects and their  interactions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Most useful as a system-wide</a:t>
            </a:r>
            <a:r>
              <a:rPr sz="2118" spc="13" dirty="0">
                <a:solidFill>
                  <a:srgbClr val="585858"/>
                </a:solidFill>
                <a:latin typeface="Arial"/>
                <a:cs typeface="Arial"/>
              </a:rPr>
              <a:t> </a:t>
            </a:r>
            <a:r>
              <a:rPr sz="2118" spc="-4" dirty="0">
                <a:solidFill>
                  <a:srgbClr val="585858"/>
                </a:solidFill>
                <a:latin typeface="Arial"/>
                <a:cs typeface="Arial"/>
              </a:rPr>
              <a:t>representation</a:t>
            </a:r>
            <a:endParaRPr sz="2118" dirty="0">
              <a:latin typeface="Arial"/>
              <a:cs typeface="Arial"/>
            </a:endParaRPr>
          </a:p>
        </p:txBody>
      </p:sp>
    </p:spTree>
    <p:extLst>
      <p:ext uri="{BB962C8B-B14F-4D97-AF65-F5344CB8AC3E}">
        <p14:creationId xmlns:p14="http://schemas.microsoft.com/office/powerpoint/2010/main" val="38125104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93525" y="439883"/>
            <a:ext cx="5293099" cy="626303"/>
          </a:xfrm>
          <a:prstGeom prst="rect">
            <a:avLst/>
          </a:prstGeom>
        </p:spPr>
        <p:txBody>
          <a:bodyPr vert="horz" wrap="square" lIns="0" tIns="10646" rIns="0" bIns="0" rtlCol="0" anchor="ctr">
            <a:spAutoFit/>
          </a:bodyPr>
          <a:lstStyle/>
          <a:p>
            <a:pPr marL="11206">
              <a:lnSpc>
                <a:spcPct val="100000"/>
              </a:lnSpc>
              <a:spcBef>
                <a:spcPts val="84"/>
              </a:spcBef>
            </a:pPr>
            <a:r>
              <a:rPr spc="-9" dirty="0"/>
              <a:t>Sample </a:t>
            </a:r>
            <a:r>
              <a:rPr dirty="0"/>
              <a:t>CRUDE</a:t>
            </a:r>
            <a:r>
              <a:rPr spc="-26" dirty="0"/>
              <a:t> </a:t>
            </a:r>
            <a:r>
              <a:rPr spc="-4" dirty="0"/>
              <a:t>Matrix</a:t>
            </a:r>
          </a:p>
        </p:txBody>
      </p:sp>
      <p:sp>
        <p:nvSpPr>
          <p:cNvPr id="3" name="object 3"/>
          <p:cNvSpPr/>
          <p:nvPr/>
        </p:nvSpPr>
        <p:spPr>
          <a:xfrm>
            <a:off x="1104900" y="1479177"/>
            <a:ext cx="10261600" cy="4654923"/>
          </a:xfrm>
          <a:prstGeom prst="rect">
            <a:avLst/>
          </a:prstGeom>
          <a:blipFill>
            <a:blip r:embed="rId2" cstate="print"/>
            <a:stretch>
              <a:fillRect/>
            </a:stretch>
          </a:blipFill>
        </p:spPr>
        <p:txBody>
          <a:bodyPr wrap="square" lIns="0" tIns="0" rIns="0" bIns="0" rtlCol="0"/>
          <a:lstStyle/>
          <a:p>
            <a:endParaRPr sz="1588"/>
          </a:p>
        </p:txBody>
      </p:sp>
    </p:spTree>
    <p:extLst>
      <p:ext uri="{BB962C8B-B14F-4D97-AF65-F5344CB8AC3E}">
        <p14:creationId xmlns:p14="http://schemas.microsoft.com/office/powerpoint/2010/main" val="384084573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335" y="665962"/>
            <a:ext cx="9278471" cy="626303"/>
          </a:xfrm>
          <a:prstGeom prst="rect">
            <a:avLst/>
          </a:prstGeom>
        </p:spPr>
        <p:txBody>
          <a:bodyPr vert="horz" wrap="square" lIns="0" tIns="10646" rIns="0" bIns="0" rtlCol="0" anchor="ctr">
            <a:spAutoFit/>
          </a:bodyPr>
          <a:lstStyle/>
          <a:p>
            <a:pPr marL="827038" marR="4483" indent="-294730">
              <a:lnSpc>
                <a:spcPct val="100000"/>
              </a:lnSpc>
              <a:spcBef>
                <a:spcPts val="84"/>
              </a:spcBef>
            </a:pPr>
            <a:r>
              <a:rPr spc="-31" dirty="0"/>
              <a:t>Verifying </a:t>
            </a:r>
            <a:r>
              <a:rPr spc="-4" dirty="0"/>
              <a:t>&amp; </a:t>
            </a:r>
            <a:r>
              <a:rPr spc="-35" dirty="0"/>
              <a:t>Validating  </a:t>
            </a:r>
            <a:r>
              <a:rPr spc="-4" dirty="0"/>
              <a:t>Behavioral</a:t>
            </a:r>
            <a:r>
              <a:rPr spc="13" dirty="0"/>
              <a:t> </a:t>
            </a:r>
            <a:r>
              <a:rPr spc="-4" dirty="0"/>
              <a:t>Models</a:t>
            </a:r>
          </a:p>
        </p:txBody>
      </p:sp>
      <p:sp>
        <p:nvSpPr>
          <p:cNvPr id="3" name="object 3"/>
          <p:cNvSpPr txBox="1"/>
          <p:nvPr/>
        </p:nvSpPr>
        <p:spPr>
          <a:xfrm>
            <a:off x="647700" y="1732276"/>
            <a:ext cx="11049000" cy="2823314"/>
          </a:xfrm>
          <a:prstGeom prst="rect">
            <a:avLst/>
          </a:prstGeom>
        </p:spPr>
        <p:txBody>
          <a:bodyPr vert="horz" wrap="square" lIns="0" tIns="48745" rIns="0" bIns="0" rtlCol="0">
            <a:spAutoFit/>
          </a:bodyPr>
          <a:lstStyle/>
          <a:p>
            <a:pPr marL="318824" indent="-308178">
              <a:spcBef>
                <a:spcPts val="383"/>
              </a:spcBef>
              <a:buClr>
                <a:srgbClr val="6EB7D7"/>
              </a:buClr>
              <a:buSzPct val="109090"/>
              <a:buChar char="●"/>
              <a:tabLst>
                <a:tab pos="318824" algn="l"/>
                <a:tab pos="319385" algn="l"/>
              </a:tabLst>
            </a:pPr>
            <a:r>
              <a:rPr sz="1941" spc="-4" dirty="0">
                <a:solidFill>
                  <a:srgbClr val="585858"/>
                </a:solidFill>
                <a:latin typeface="Arial"/>
                <a:cs typeface="Arial"/>
              </a:rPr>
              <a:t>Actors must be consistent between</a:t>
            </a:r>
            <a:r>
              <a:rPr sz="1941" spc="31" dirty="0">
                <a:solidFill>
                  <a:srgbClr val="585858"/>
                </a:solidFill>
                <a:latin typeface="Arial"/>
                <a:cs typeface="Arial"/>
              </a:rPr>
              <a:t> </a:t>
            </a:r>
            <a:r>
              <a:rPr sz="1941" spc="-4" dirty="0">
                <a:solidFill>
                  <a:srgbClr val="585858"/>
                </a:solidFill>
                <a:latin typeface="Arial"/>
                <a:cs typeface="Arial"/>
              </a:rPr>
              <a:t>models</a:t>
            </a:r>
            <a:endParaRPr sz="1941" dirty="0">
              <a:latin typeface="Arial"/>
              <a:cs typeface="Arial"/>
            </a:endParaRPr>
          </a:p>
          <a:p>
            <a:pPr marL="318824" marR="44826"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Messages on sequence diagrams must match associations  on communication</a:t>
            </a:r>
            <a:r>
              <a:rPr sz="1941" spc="22" dirty="0">
                <a:solidFill>
                  <a:srgbClr val="585858"/>
                </a:solidFill>
                <a:latin typeface="Arial"/>
                <a:cs typeface="Arial"/>
              </a:rPr>
              <a:t> </a:t>
            </a:r>
            <a:r>
              <a:rPr sz="1941" spc="-4" dirty="0">
                <a:solidFill>
                  <a:srgbClr val="585858"/>
                </a:solidFill>
                <a:latin typeface="Arial"/>
                <a:cs typeface="Arial"/>
              </a:rPr>
              <a:t>diagrams</a:t>
            </a:r>
            <a:endParaRPr sz="1941" dirty="0">
              <a:latin typeface="Arial"/>
              <a:cs typeface="Arial"/>
            </a:endParaRPr>
          </a:p>
          <a:p>
            <a:pPr marL="318824" marR="31938" indent="-308178">
              <a:spcBef>
                <a:spcPts val="529"/>
              </a:spcBef>
              <a:buClr>
                <a:srgbClr val="6EB7D7"/>
              </a:buClr>
              <a:buSzPct val="109090"/>
              <a:buChar char="●"/>
              <a:tabLst>
                <a:tab pos="318824" algn="l"/>
                <a:tab pos="319385" algn="l"/>
              </a:tabLst>
            </a:pPr>
            <a:r>
              <a:rPr sz="1941" spc="-9" dirty="0">
                <a:solidFill>
                  <a:srgbClr val="585858"/>
                </a:solidFill>
                <a:latin typeface="Arial"/>
                <a:cs typeface="Arial"/>
              </a:rPr>
              <a:t>Every </a:t>
            </a:r>
            <a:r>
              <a:rPr sz="1941" spc="-4" dirty="0">
                <a:solidFill>
                  <a:srgbClr val="585858"/>
                </a:solidFill>
                <a:latin typeface="Arial"/>
                <a:cs typeface="Arial"/>
              </a:rPr>
              <a:t>message on a sequence diagram must appear on an  association in a communication</a:t>
            </a:r>
            <a:r>
              <a:rPr sz="1941" spc="18" dirty="0">
                <a:solidFill>
                  <a:srgbClr val="585858"/>
                </a:solidFill>
                <a:latin typeface="Arial"/>
                <a:cs typeface="Arial"/>
              </a:rPr>
              <a:t> </a:t>
            </a:r>
            <a:r>
              <a:rPr sz="1941" spc="-4" dirty="0">
                <a:solidFill>
                  <a:srgbClr val="585858"/>
                </a:solidFill>
                <a:latin typeface="Arial"/>
                <a:cs typeface="Arial"/>
              </a:rPr>
              <a:t>diagram</a:t>
            </a:r>
            <a:endParaRPr sz="1941" dirty="0">
              <a:latin typeface="Arial"/>
              <a:cs typeface="Arial"/>
            </a:endParaRPr>
          </a:p>
          <a:p>
            <a:pPr marL="318824" marR="4483"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Guard conditions on a sequence diagram must appear on a  communication</a:t>
            </a:r>
            <a:r>
              <a:rPr sz="1941" spc="9" dirty="0">
                <a:solidFill>
                  <a:srgbClr val="585858"/>
                </a:solidFill>
                <a:latin typeface="Arial"/>
                <a:cs typeface="Arial"/>
              </a:rPr>
              <a:t> </a:t>
            </a:r>
            <a:r>
              <a:rPr sz="1941" spc="-4" dirty="0">
                <a:solidFill>
                  <a:srgbClr val="585858"/>
                </a:solidFill>
                <a:latin typeface="Arial"/>
                <a:cs typeface="Arial"/>
              </a:rPr>
              <a:t>diagram</a:t>
            </a:r>
            <a:endParaRPr sz="1941" dirty="0">
              <a:latin typeface="Arial"/>
              <a:cs typeface="Arial"/>
            </a:endParaRPr>
          </a:p>
          <a:p>
            <a:pPr marL="318824" marR="267275"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Sequence of messages must correspond to the top down  ordering of messages being</a:t>
            </a:r>
            <a:r>
              <a:rPr sz="1941" spc="35" dirty="0">
                <a:solidFill>
                  <a:srgbClr val="585858"/>
                </a:solidFill>
                <a:latin typeface="Arial"/>
                <a:cs typeface="Arial"/>
              </a:rPr>
              <a:t> </a:t>
            </a:r>
            <a:r>
              <a:rPr sz="1941" spc="-4" dirty="0">
                <a:solidFill>
                  <a:srgbClr val="585858"/>
                </a:solidFill>
                <a:latin typeface="Arial"/>
                <a:cs typeface="Arial"/>
              </a:rPr>
              <a:t>sent</a:t>
            </a:r>
            <a:endParaRPr sz="1941" dirty="0">
              <a:latin typeface="Arial"/>
              <a:cs typeface="Arial"/>
            </a:endParaRPr>
          </a:p>
          <a:p>
            <a:pPr marL="318824" marR="213483"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State transitions must be associated with a message on a  sequence diagram</a:t>
            </a:r>
            <a:endParaRPr sz="1941" dirty="0">
              <a:latin typeface="Arial"/>
              <a:cs typeface="Arial"/>
            </a:endParaRPr>
          </a:p>
          <a:p>
            <a:pPr marL="318824" indent="-308178">
              <a:spcBef>
                <a:spcPts val="529"/>
              </a:spcBef>
              <a:buClr>
                <a:srgbClr val="6EB7D7"/>
              </a:buClr>
              <a:buSzPct val="109090"/>
              <a:buChar char="●"/>
              <a:tabLst>
                <a:tab pos="318824" algn="l"/>
                <a:tab pos="319385" algn="l"/>
              </a:tabLst>
            </a:pPr>
            <a:r>
              <a:rPr sz="1941" spc="-4" dirty="0">
                <a:solidFill>
                  <a:srgbClr val="585858"/>
                </a:solidFill>
                <a:latin typeface="Arial"/>
                <a:cs typeface="Arial"/>
              </a:rPr>
              <a:t>Entries in a </a:t>
            </a:r>
            <a:r>
              <a:rPr sz="1941" spc="-9" dirty="0">
                <a:solidFill>
                  <a:srgbClr val="585858"/>
                </a:solidFill>
                <a:latin typeface="Arial"/>
                <a:cs typeface="Arial"/>
              </a:rPr>
              <a:t>CRUDE </a:t>
            </a:r>
            <a:r>
              <a:rPr sz="1941" spc="-4" dirty="0">
                <a:solidFill>
                  <a:srgbClr val="585858"/>
                </a:solidFill>
                <a:latin typeface="Arial"/>
                <a:cs typeface="Arial"/>
              </a:rPr>
              <a:t>matrix imply messages being</a:t>
            </a:r>
            <a:r>
              <a:rPr sz="1941" spc="79" dirty="0">
                <a:solidFill>
                  <a:srgbClr val="585858"/>
                </a:solidFill>
                <a:latin typeface="Arial"/>
                <a:cs typeface="Arial"/>
              </a:rPr>
              <a:t> </a:t>
            </a:r>
            <a:r>
              <a:rPr sz="1941" spc="-4" dirty="0">
                <a:solidFill>
                  <a:srgbClr val="585858"/>
                </a:solidFill>
                <a:latin typeface="Arial"/>
                <a:cs typeface="Arial"/>
              </a:rPr>
              <a:t>sent</a:t>
            </a:r>
            <a:endParaRPr sz="1941" dirty="0">
              <a:latin typeface="Arial"/>
              <a:cs typeface="Arial"/>
            </a:endParaRPr>
          </a:p>
        </p:txBody>
      </p:sp>
    </p:spTree>
    <p:extLst>
      <p:ext uri="{BB962C8B-B14F-4D97-AF65-F5344CB8AC3E}">
        <p14:creationId xmlns:p14="http://schemas.microsoft.com/office/powerpoint/2010/main" val="23068019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07034" y="387589"/>
            <a:ext cx="2226049" cy="626303"/>
          </a:xfrm>
          <a:prstGeom prst="rect">
            <a:avLst/>
          </a:prstGeom>
        </p:spPr>
        <p:txBody>
          <a:bodyPr vert="horz" wrap="square" lIns="0" tIns="10646" rIns="0" bIns="0" rtlCol="0" anchor="ctr">
            <a:spAutoFit/>
          </a:bodyPr>
          <a:lstStyle/>
          <a:p>
            <a:pPr marL="11206">
              <a:lnSpc>
                <a:spcPct val="100000"/>
              </a:lnSpc>
              <a:spcBef>
                <a:spcPts val="84"/>
              </a:spcBef>
            </a:pPr>
            <a:r>
              <a:rPr spc="-13" dirty="0"/>
              <a:t>S</a:t>
            </a:r>
            <a:r>
              <a:rPr spc="-4" dirty="0"/>
              <a:t>u</a:t>
            </a:r>
            <a:r>
              <a:rPr spc="-9" dirty="0"/>
              <a:t>mm</a:t>
            </a:r>
            <a:r>
              <a:rPr spc="-4" dirty="0"/>
              <a:t>a</a:t>
            </a:r>
            <a:r>
              <a:rPr dirty="0"/>
              <a:t>r</a:t>
            </a:r>
            <a:r>
              <a:rPr spc="-4" dirty="0"/>
              <a:t>y</a:t>
            </a:r>
          </a:p>
        </p:txBody>
      </p:sp>
      <p:sp>
        <p:nvSpPr>
          <p:cNvPr id="3" name="object 3"/>
          <p:cNvSpPr txBox="1"/>
          <p:nvPr/>
        </p:nvSpPr>
        <p:spPr>
          <a:xfrm>
            <a:off x="1270000" y="1636058"/>
            <a:ext cx="9550399" cy="3600760"/>
          </a:xfrm>
          <a:prstGeom prst="rect">
            <a:avLst/>
          </a:prstGeom>
        </p:spPr>
        <p:txBody>
          <a:bodyPr vert="horz" wrap="square" lIns="0" tIns="11206" rIns="0" bIns="0" rtlCol="0">
            <a:spAutoFit/>
          </a:bodyPr>
          <a:lstStyle/>
          <a:p>
            <a:pPr marL="318824" marR="373736" indent="-308178">
              <a:spcBef>
                <a:spcPts val="88"/>
              </a:spcBef>
              <a:buClr>
                <a:srgbClr val="6EB7D7"/>
              </a:buClr>
              <a:buSzPct val="108333"/>
              <a:buChar char="●"/>
              <a:tabLst>
                <a:tab pos="318824" algn="l"/>
                <a:tab pos="319385" algn="l"/>
              </a:tabLst>
            </a:pPr>
            <a:r>
              <a:rPr sz="2118" spc="-4" dirty="0">
                <a:solidFill>
                  <a:srgbClr val="585858"/>
                </a:solidFill>
                <a:latin typeface="Arial"/>
                <a:cs typeface="Arial"/>
              </a:rPr>
              <a:t>Behavioral Models—provide a detailed view of how  object collaborations support</a:t>
            </a:r>
            <a:r>
              <a:rPr sz="2118" spc="57" dirty="0">
                <a:solidFill>
                  <a:srgbClr val="585858"/>
                </a:solidFill>
                <a:latin typeface="Arial"/>
                <a:cs typeface="Arial"/>
              </a:rPr>
              <a:t> </a:t>
            </a:r>
            <a:r>
              <a:rPr sz="2118" spc="-4" dirty="0">
                <a:solidFill>
                  <a:srgbClr val="585858"/>
                </a:solidFill>
                <a:latin typeface="Arial"/>
                <a:cs typeface="Arial"/>
              </a:rPr>
              <a:t>use-cases</a:t>
            </a:r>
            <a:endParaRPr sz="2118" dirty="0">
              <a:latin typeface="Arial"/>
              <a:cs typeface="Arial"/>
            </a:endParaRPr>
          </a:p>
          <a:p>
            <a:pPr marL="318824"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Interaction Diagrams</a:t>
            </a:r>
            <a:endParaRPr sz="2118" dirty="0">
              <a:latin typeface="Arial"/>
              <a:cs typeface="Arial"/>
            </a:endParaRPr>
          </a:p>
          <a:p>
            <a:pPr marL="616356" lvl="1" indent="-297532">
              <a:spcBef>
                <a:spcPts val="525"/>
              </a:spcBef>
              <a:buClr>
                <a:srgbClr val="205C76"/>
              </a:buClr>
              <a:buSzPct val="109090"/>
              <a:buChar char="●"/>
              <a:tabLst>
                <a:tab pos="615796" algn="l"/>
                <a:tab pos="616356" algn="l"/>
              </a:tabLst>
            </a:pPr>
            <a:r>
              <a:rPr sz="1941" spc="-4" dirty="0">
                <a:solidFill>
                  <a:srgbClr val="585858"/>
                </a:solidFill>
                <a:latin typeface="Arial"/>
                <a:cs typeface="Arial"/>
              </a:rPr>
              <a:t>Sequence diagrams</a:t>
            </a:r>
            <a:endParaRPr sz="1941" dirty="0">
              <a:latin typeface="Arial"/>
              <a:cs typeface="Arial"/>
            </a:endParaRPr>
          </a:p>
          <a:p>
            <a:pPr marL="616356" lvl="1" indent="-297532">
              <a:spcBef>
                <a:spcPts val="529"/>
              </a:spcBef>
              <a:buClr>
                <a:srgbClr val="205C76"/>
              </a:buClr>
              <a:buSzPct val="109090"/>
              <a:buChar char="●"/>
              <a:tabLst>
                <a:tab pos="615796" algn="l"/>
                <a:tab pos="616356" algn="l"/>
              </a:tabLst>
            </a:pPr>
            <a:r>
              <a:rPr sz="1941" spc="-4" dirty="0">
                <a:solidFill>
                  <a:srgbClr val="585858"/>
                </a:solidFill>
                <a:latin typeface="Arial"/>
                <a:cs typeface="Arial"/>
              </a:rPr>
              <a:t>Communication</a:t>
            </a:r>
            <a:r>
              <a:rPr sz="1941" spc="18" dirty="0">
                <a:solidFill>
                  <a:srgbClr val="585858"/>
                </a:solidFill>
                <a:latin typeface="Arial"/>
                <a:cs typeface="Arial"/>
              </a:rPr>
              <a:t> </a:t>
            </a:r>
            <a:r>
              <a:rPr sz="1941" spc="-4" dirty="0">
                <a:solidFill>
                  <a:srgbClr val="585858"/>
                </a:solidFill>
                <a:latin typeface="Arial"/>
                <a:cs typeface="Arial"/>
              </a:rPr>
              <a:t>diagrams</a:t>
            </a:r>
            <a:endParaRPr sz="1941" dirty="0">
              <a:latin typeface="Arial"/>
              <a:cs typeface="Arial"/>
            </a:endParaRPr>
          </a:p>
          <a:p>
            <a:pPr marL="318824" marR="602348" indent="-308178">
              <a:spcBef>
                <a:spcPts val="534"/>
              </a:spcBef>
              <a:buClr>
                <a:srgbClr val="6EB7D7"/>
              </a:buClr>
              <a:buSzPct val="108333"/>
              <a:buChar char="●"/>
              <a:tabLst>
                <a:tab pos="318824" algn="l"/>
                <a:tab pos="319385" algn="l"/>
              </a:tabLst>
            </a:pPr>
            <a:r>
              <a:rPr sz="2118" spc="-4" dirty="0">
                <a:solidFill>
                  <a:srgbClr val="585858"/>
                </a:solidFill>
                <a:latin typeface="Arial"/>
                <a:cs typeface="Arial"/>
              </a:rPr>
              <a:t>Behavioral State Machines—depicts the states of  complex objects during its</a:t>
            </a:r>
            <a:r>
              <a:rPr sz="2118" spc="26" dirty="0">
                <a:solidFill>
                  <a:srgbClr val="585858"/>
                </a:solidFill>
                <a:latin typeface="Arial"/>
                <a:cs typeface="Arial"/>
              </a:rPr>
              <a:t> </a:t>
            </a:r>
            <a:r>
              <a:rPr sz="2118" spc="-4" dirty="0">
                <a:solidFill>
                  <a:srgbClr val="585858"/>
                </a:solidFill>
                <a:latin typeface="Arial"/>
                <a:cs typeface="Arial"/>
              </a:rPr>
              <a:t>lifetime</a:t>
            </a:r>
            <a:endParaRPr sz="2118" dirty="0">
              <a:latin typeface="Arial"/>
              <a:cs typeface="Arial"/>
            </a:endParaRPr>
          </a:p>
          <a:p>
            <a:pPr marL="318824" marR="1215343" indent="-308178">
              <a:spcBef>
                <a:spcPts val="529"/>
              </a:spcBef>
              <a:buClr>
                <a:srgbClr val="6EB7D7"/>
              </a:buClr>
              <a:buSzPct val="108333"/>
              <a:buChar char="●"/>
              <a:tabLst>
                <a:tab pos="318824" algn="l"/>
                <a:tab pos="319385" algn="l"/>
              </a:tabLst>
            </a:pPr>
            <a:r>
              <a:rPr sz="2118" spc="-4" dirty="0">
                <a:solidFill>
                  <a:srgbClr val="585858"/>
                </a:solidFill>
                <a:latin typeface="Arial"/>
                <a:cs typeface="Arial"/>
              </a:rPr>
              <a:t>CRUDE Analysis—helps </a:t>
            </a:r>
            <a:r>
              <a:rPr sz="2118" dirty="0">
                <a:solidFill>
                  <a:srgbClr val="585858"/>
                </a:solidFill>
                <a:latin typeface="Arial"/>
                <a:cs typeface="Arial"/>
              </a:rPr>
              <a:t>to </a:t>
            </a:r>
            <a:r>
              <a:rPr sz="2118" spc="-4" dirty="0">
                <a:solidFill>
                  <a:srgbClr val="585858"/>
                </a:solidFill>
                <a:latin typeface="Arial"/>
                <a:cs typeface="Arial"/>
              </a:rPr>
              <a:t>identify</a:t>
            </a:r>
            <a:r>
              <a:rPr sz="2118" spc="-84" dirty="0">
                <a:solidFill>
                  <a:srgbClr val="585858"/>
                </a:solidFill>
                <a:latin typeface="Arial"/>
                <a:cs typeface="Arial"/>
              </a:rPr>
              <a:t> </a:t>
            </a:r>
            <a:r>
              <a:rPr sz="2118" spc="-4" dirty="0">
                <a:solidFill>
                  <a:srgbClr val="585858"/>
                </a:solidFill>
                <a:latin typeface="Arial"/>
                <a:cs typeface="Arial"/>
              </a:rPr>
              <a:t>potential  collaborations</a:t>
            </a:r>
            <a:endParaRPr sz="2118" dirty="0">
              <a:latin typeface="Arial"/>
              <a:cs typeface="Arial"/>
            </a:endParaRPr>
          </a:p>
          <a:p>
            <a:pPr marL="318824" marR="4483" indent="-308178">
              <a:spcBef>
                <a:spcPts val="529"/>
              </a:spcBef>
              <a:buClr>
                <a:srgbClr val="6EB7D7"/>
              </a:buClr>
              <a:buSzPct val="108333"/>
              <a:buChar char="●"/>
              <a:tabLst>
                <a:tab pos="318824" algn="l"/>
                <a:tab pos="319385" algn="l"/>
              </a:tabLst>
            </a:pPr>
            <a:r>
              <a:rPr sz="2118" spc="-18" dirty="0">
                <a:solidFill>
                  <a:srgbClr val="585858"/>
                </a:solidFill>
                <a:latin typeface="Arial"/>
                <a:cs typeface="Arial"/>
              </a:rPr>
              <a:t>Verifying </a:t>
            </a:r>
            <a:r>
              <a:rPr sz="2118" dirty="0">
                <a:solidFill>
                  <a:srgbClr val="585858"/>
                </a:solidFill>
                <a:latin typeface="Arial"/>
                <a:cs typeface="Arial"/>
              </a:rPr>
              <a:t>&amp; </a:t>
            </a:r>
            <a:r>
              <a:rPr sz="2118" spc="-22" dirty="0">
                <a:solidFill>
                  <a:srgbClr val="585858"/>
                </a:solidFill>
                <a:latin typeface="Arial"/>
                <a:cs typeface="Arial"/>
              </a:rPr>
              <a:t>Validating </a:t>
            </a:r>
            <a:r>
              <a:rPr sz="2118" spc="-4" dirty="0">
                <a:solidFill>
                  <a:srgbClr val="585858"/>
                </a:solidFill>
                <a:latin typeface="Arial"/>
                <a:cs typeface="Arial"/>
              </a:rPr>
              <a:t>behavioral models—ensures the  completeness and consistency of the</a:t>
            </a:r>
            <a:r>
              <a:rPr sz="2118" spc="31" dirty="0">
                <a:solidFill>
                  <a:srgbClr val="585858"/>
                </a:solidFill>
                <a:latin typeface="Arial"/>
                <a:cs typeface="Arial"/>
              </a:rPr>
              <a:t> </a:t>
            </a:r>
            <a:r>
              <a:rPr sz="2118" spc="-4" dirty="0">
                <a:solidFill>
                  <a:srgbClr val="585858"/>
                </a:solidFill>
                <a:latin typeface="Arial"/>
                <a:cs typeface="Arial"/>
              </a:rPr>
              <a:t>models</a:t>
            </a:r>
            <a:endParaRPr sz="2118" dirty="0">
              <a:latin typeface="Arial"/>
              <a:cs typeface="Arial"/>
            </a:endParaRPr>
          </a:p>
        </p:txBody>
      </p:sp>
    </p:spTree>
    <p:extLst>
      <p:ext uri="{BB962C8B-B14F-4D97-AF65-F5344CB8AC3E}">
        <p14:creationId xmlns:p14="http://schemas.microsoft.com/office/powerpoint/2010/main" val="14603305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r>
              <a:rPr lang="en-US" altLang="en-US" smtClean="0">
                <a:latin typeface="Arial" panose="020B0604020202020204" pitchFamily="34" charset="0"/>
                <a:ea typeface="ＭＳ Ｐゴシック" panose="020B0600070205080204" pitchFamily="34" charset="-128"/>
                <a:cs typeface="Arial" panose="020B0604020202020204" pitchFamily="34" charset="0"/>
              </a:rPr>
              <a:t>Key points</a:t>
            </a:r>
          </a:p>
        </p:txBody>
      </p:sp>
      <p:sp>
        <p:nvSpPr>
          <p:cNvPr id="50179" name="Content Placeholder 4"/>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lnSpcReduction="10000"/>
          </a:bodyPr>
          <a:lstStyle/>
          <a:p>
            <a:pPr marL="0" indent="0" eaLnBrk="1" hangingPunct="1">
              <a:buNone/>
            </a:pPr>
            <a:r>
              <a:rPr lang="en-US" altLang="en-US" dirty="0">
                <a:ea typeface="ＭＳ Ｐゴシック" panose="020B0600070205080204" pitchFamily="34" charset="-128"/>
              </a:rPr>
              <a:t>Behavioral models are used to describe the dynamic behavior of an executing system. This behavior can be modeled from the perspective of the data processed by the system, or by the events that stimulate responses from a system</a:t>
            </a:r>
            <a:r>
              <a:rPr lang="en-US" altLang="en-US" dirty="0" smtClean="0">
                <a:ea typeface="ＭＳ Ｐゴシック" panose="020B0600070205080204" pitchFamily="34" charset="-128"/>
              </a:rPr>
              <a:t>.</a:t>
            </a:r>
          </a:p>
          <a:p>
            <a:pPr marL="0" indent="0" eaLnBrk="1" hangingPunct="1">
              <a:buNone/>
            </a:pPr>
            <a:endParaRPr lang="en-GB" altLang="en-US" dirty="0">
              <a:ea typeface="ＭＳ Ｐゴシック" panose="020B0600070205080204" pitchFamily="34" charset="-128"/>
            </a:endParaRPr>
          </a:p>
          <a:p>
            <a:pPr marL="0" indent="0" eaLnBrk="1" hangingPunct="1">
              <a:buNone/>
            </a:pPr>
            <a:r>
              <a:rPr lang="en-US" altLang="en-US" dirty="0">
                <a:ea typeface="ＭＳ Ｐゴシック" panose="020B0600070205080204" pitchFamily="34" charset="-128"/>
              </a:rPr>
              <a:t>Activity diagrams may be used to model the processing of data, where each activity represents one process step</a:t>
            </a:r>
            <a:r>
              <a:rPr lang="en-US" altLang="en-US" dirty="0" smtClean="0">
                <a:ea typeface="ＭＳ Ｐゴシック" panose="020B0600070205080204" pitchFamily="34" charset="-128"/>
              </a:rPr>
              <a:t>.</a:t>
            </a:r>
          </a:p>
          <a:p>
            <a:pPr marL="0" indent="0" eaLnBrk="1" hangingPunct="1">
              <a:buNone/>
            </a:pPr>
            <a:endParaRPr lang="en-GB" altLang="en-US" dirty="0">
              <a:ea typeface="ＭＳ Ｐゴシック" panose="020B0600070205080204" pitchFamily="34" charset="-128"/>
            </a:endParaRPr>
          </a:p>
          <a:p>
            <a:pPr marL="0" indent="0" eaLnBrk="1" hangingPunct="1">
              <a:buNone/>
            </a:pPr>
            <a:r>
              <a:rPr lang="en-US" altLang="en-US" dirty="0">
                <a:ea typeface="ＭＳ Ｐゴシック" panose="020B0600070205080204" pitchFamily="34" charset="-128"/>
              </a:rPr>
              <a:t>State diagrams are used to model a system’s behavior in response to internal or external events. </a:t>
            </a:r>
            <a:endParaRPr lang="en-US" altLang="en-US" dirty="0" smtClean="0">
              <a:ea typeface="ＭＳ Ｐゴシック" panose="020B0600070205080204" pitchFamily="34" charset="-128"/>
            </a:endParaRPr>
          </a:p>
          <a:p>
            <a:pPr marL="0" indent="0" eaLnBrk="1" hangingPunct="1">
              <a:buNone/>
            </a:pPr>
            <a:endParaRPr lang="en-GB" altLang="en-US" dirty="0">
              <a:ea typeface="ＭＳ Ｐゴシック" panose="020B0600070205080204" pitchFamily="34" charset="-128"/>
            </a:endParaRPr>
          </a:p>
          <a:p>
            <a:pPr marL="0" indent="0" eaLnBrk="1" hangingPunct="1">
              <a:buNone/>
            </a:pPr>
            <a:r>
              <a:rPr lang="en-US" altLang="en-US" dirty="0">
                <a:ea typeface="ＭＳ Ｐゴシック" panose="020B0600070205080204" pitchFamily="34" charset="-128"/>
              </a:rPr>
              <a:t>Model-driven engineering is an approach to software development in which a system is represented as a set of models that can be automatically transformed to executable code. </a:t>
            </a:r>
          </a:p>
        </p:txBody>
      </p:sp>
    </p:spTree>
    <p:extLst>
      <p:ext uri="{BB962C8B-B14F-4D97-AF65-F5344CB8AC3E}">
        <p14:creationId xmlns:p14="http://schemas.microsoft.com/office/powerpoint/2010/main" val="180461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TotalTime>
  <Words>3321</Words>
  <Application>Microsoft Office PowerPoint</Application>
  <PresentationFormat>Widescreen</PresentationFormat>
  <Paragraphs>416</Paragraphs>
  <Slides>70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ＭＳ Ｐゴシック</vt:lpstr>
      <vt:lpstr>Arial</vt:lpstr>
      <vt:lpstr>Calibri</vt:lpstr>
      <vt:lpstr>Times New Roman</vt:lpstr>
      <vt:lpstr>Wingdings</vt:lpstr>
      <vt:lpstr>Office Theme</vt:lpstr>
      <vt:lpstr>Software Engineering</vt:lpstr>
      <vt:lpstr>Topics covered</vt:lpstr>
      <vt:lpstr>Existing and planned system models</vt:lpstr>
      <vt:lpstr>System perspectives</vt:lpstr>
      <vt:lpstr>Use of graphical models</vt:lpstr>
      <vt:lpstr>Context models</vt:lpstr>
      <vt:lpstr>The context of the MHC-PMS </vt:lpstr>
      <vt:lpstr>UML Activity Diagrams - behavior</vt:lpstr>
      <vt:lpstr>Process model of involuntary detention </vt:lpstr>
      <vt:lpstr>Use case modeling - Interaction</vt:lpstr>
      <vt:lpstr>Transfer-data use case </vt:lpstr>
      <vt:lpstr>Tabular description of the ‘Transfer data’ use-case </vt:lpstr>
      <vt:lpstr>Use cases in the MHC-PMS involving the role ‘Medical Receptionist’ </vt:lpstr>
      <vt:lpstr>Sequence diagrams - Interaction</vt:lpstr>
      <vt:lpstr>Sequence diagram for View patient information </vt:lpstr>
      <vt:lpstr>Sequence diagram for Transfer Data </vt:lpstr>
      <vt:lpstr>Class diagrams - Structural</vt:lpstr>
      <vt:lpstr>UML classes and association </vt:lpstr>
      <vt:lpstr>Classes and associations in the MHC-PMS </vt:lpstr>
      <vt:lpstr>The Consultation class </vt:lpstr>
      <vt:lpstr>Key points</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An activity model of the insulin pump’s operation </vt:lpstr>
      <vt:lpstr>Order processing </vt:lpstr>
      <vt:lpstr>Event-driven modeling</vt:lpstr>
      <vt:lpstr>State machine models</vt:lpstr>
      <vt:lpstr>State diagram of a microwave oven </vt:lpstr>
      <vt:lpstr>States and stimuli for the microwave oven (a) </vt:lpstr>
      <vt:lpstr>States and stimuli for the microwave oven (b) </vt:lpstr>
      <vt:lpstr>Microwave oven operation – use superstate</vt:lpstr>
      <vt:lpstr>Usage of model-driven engineering</vt:lpstr>
      <vt:lpstr>Model driven architecture (used by MDE)</vt:lpstr>
      <vt:lpstr>Types of model</vt:lpstr>
      <vt:lpstr>MDA transformations</vt:lpstr>
      <vt:lpstr>Multiple platform-specific models </vt:lpstr>
      <vt:lpstr>Agile methods and MDA</vt:lpstr>
      <vt:lpstr>Executable UML</vt:lpstr>
      <vt:lpstr>Features of executable UML</vt:lpstr>
      <vt:lpstr>Learning Objectives</vt:lpstr>
      <vt:lpstr>Introduction</vt:lpstr>
      <vt:lpstr>Behavioral Models</vt:lpstr>
      <vt:lpstr>Interaction Diagrams</vt:lpstr>
      <vt:lpstr>Sequence Diagrams</vt:lpstr>
      <vt:lpstr>Sequence Diagram Syntax</vt:lpstr>
      <vt:lpstr>More Sequence Diagram  Syntax</vt:lpstr>
      <vt:lpstr>Sample Sequence Diagram</vt:lpstr>
      <vt:lpstr>Guidelines for Creating  Use-Case Diagrams</vt:lpstr>
      <vt:lpstr>Building Sequence Diagrams</vt:lpstr>
      <vt:lpstr>Communication Diagrams</vt:lpstr>
      <vt:lpstr>Communication Diagram Syntax</vt:lpstr>
      <vt:lpstr>Sample Communication  Diagram</vt:lpstr>
      <vt:lpstr>Guidelines for Creating  Communication Diagrams</vt:lpstr>
      <vt:lpstr>Building Communication  Diagrams</vt:lpstr>
      <vt:lpstr>Behavioral State Machines</vt:lpstr>
      <vt:lpstr>Components of  State Machines</vt:lpstr>
      <vt:lpstr>State Machine Syntax</vt:lpstr>
      <vt:lpstr>Sample State Machine</vt:lpstr>
      <vt:lpstr>Guidelines for Creating  Behavioral State Machines</vt:lpstr>
      <vt:lpstr>Building a  Behavioral State Machine</vt:lpstr>
      <vt:lpstr>CRUDE Analysis</vt:lpstr>
      <vt:lpstr>Sample CRUDE Matrix</vt:lpstr>
      <vt:lpstr>Verifying &amp; Validating  Behavioral Models</vt:lpstr>
      <vt:lpstr>Summary</vt:lpstr>
      <vt:lpstr>Key points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Noor Nabi</dc:creator>
  <cp:lastModifiedBy>PC</cp:lastModifiedBy>
  <cp:revision>29</cp:revision>
  <dcterms:created xsi:type="dcterms:W3CDTF">2020-10-14T04:24:51Z</dcterms:created>
  <dcterms:modified xsi:type="dcterms:W3CDTF">2021-12-21T01:00:10Z</dcterms:modified>
</cp:coreProperties>
</file>