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60" r:id="rId3"/>
    <p:sldId id="261" r:id="rId4"/>
    <p:sldId id="259" r:id="rId5"/>
    <p:sldId id="258" r:id="rId6"/>
    <p:sldId id="263"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EE3E8B-84FC-408B-B7FF-55EFE3F52FEB}" type="datetimeFigureOut">
              <a:rPr lang="en-US" smtClean="0"/>
              <a:t>10/7/2023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C14E63-51F9-422C-ABEF-6E0D83DD668C}" type="slidenum">
              <a:rPr lang="en-US" smtClean="0"/>
              <a:t>‹#›</a:t>
            </a:fld>
            <a:endParaRPr lang="en-US"/>
          </a:p>
        </p:txBody>
      </p:sp>
    </p:spTree>
    <p:extLst>
      <p:ext uri="{BB962C8B-B14F-4D97-AF65-F5344CB8AC3E}">
        <p14:creationId xmlns:p14="http://schemas.microsoft.com/office/powerpoint/2010/main" val="3786647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B9D8E5-26D1-489C-B7DB-127D38D4A72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52311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CEFD187-1019-4F8D-BC06-500E8E939104}" type="datetimeFigureOut">
              <a:rPr lang="en-US" smtClean="0"/>
              <a:t>10/7/2023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F3F01E-F1F0-4E2B-B12C-14D802A46A22}" type="slidenum">
              <a:rPr lang="en-US" smtClean="0"/>
              <a:t>‹#›</a:t>
            </a:fld>
            <a:endParaRPr lang="en-US"/>
          </a:p>
        </p:txBody>
      </p:sp>
    </p:spTree>
    <p:extLst>
      <p:ext uri="{BB962C8B-B14F-4D97-AF65-F5344CB8AC3E}">
        <p14:creationId xmlns:p14="http://schemas.microsoft.com/office/powerpoint/2010/main" val="36067723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CEFD187-1019-4F8D-BC06-500E8E939104}" type="datetimeFigureOut">
              <a:rPr lang="en-US" smtClean="0"/>
              <a:t>10/7/2023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F3F01E-F1F0-4E2B-B12C-14D802A46A22}" type="slidenum">
              <a:rPr lang="en-US" smtClean="0"/>
              <a:t>‹#›</a:t>
            </a:fld>
            <a:endParaRPr lang="en-US"/>
          </a:p>
        </p:txBody>
      </p:sp>
    </p:spTree>
    <p:extLst>
      <p:ext uri="{BB962C8B-B14F-4D97-AF65-F5344CB8AC3E}">
        <p14:creationId xmlns:p14="http://schemas.microsoft.com/office/powerpoint/2010/main" val="437563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CEFD187-1019-4F8D-BC06-500E8E939104}" type="datetimeFigureOut">
              <a:rPr lang="en-US" smtClean="0"/>
              <a:t>10/7/2023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F3F01E-F1F0-4E2B-B12C-14D802A46A22}" type="slidenum">
              <a:rPr lang="en-US" smtClean="0"/>
              <a:t>‹#›</a:t>
            </a:fld>
            <a:endParaRPr lang="en-US"/>
          </a:p>
        </p:txBody>
      </p:sp>
    </p:spTree>
    <p:extLst>
      <p:ext uri="{BB962C8B-B14F-4D97-AF65-F5344CB8AC3E}">
        <p14:creationId xmlns:p14="http://schemas.microsoft.com/office/powerpoint/2010/main" val="2090222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CEFD187-1019-4F8D-BC06-500E8E939104}" type="datetimeFigureOut">
              <a:rPr lang="en-US" smtClean="0"/>
              <a:t>10/7/2023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F3F01E-F1F0-4E2B-B12C-14D802A46A22}" type="slidenum">
              <a:rPr lang="en-US" smtClean="0"/>
              <a:t>‹#›</a:t>
            </a:fld>
            <a:endParaRPr lang="en-US"/>
          </a:p>
        </p:txBody>
      </p:sp>
    </p:spTree>
    <p:extLst>
      <p:ext uri="{BB962C8B-B14F-4D97-AF65-F5344CB8AC3E}">
        <p14:creationId xmlns:p14="http://schemas.microsoft.com/office/powerpoint/2010/main" val="3328961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CEFD187-1019-4F8D-BC06-500E8E939104}" type="datetimeFigureOut">
              <a:rPr lang="en-US" smtClean="0"/>
              <a:t>10/7/2023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5F3F01E-F1F0-4E2B-B12C-14D802A46A22}" type="slidenum">
              <a:rPr lang="en-US" smtClean="0"/>
              <a:t>‹#›</a:t>
            </a:fld>
            <a:endParaRPr lang="en-US"/>
          </a:p>
        </p:txBody>
      </p:sp>
    </p:spTree>
    <p:extLst>
      <p:ext uri="{BB962C8B-B14F-4D97-AF65-F5344CB8AC3E}">
        <p14:creationId xmlns:p14="http://schemas.microsoft.com/office/powerpoint/2010/main" val="1813725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CEFD187-1019-4F8D-BC06-500E8E939104}" type="datetimeFigureOut">
              <a:rPr lang="en-US" smtClean="0"/>
              <a:t>10/7/2023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F3F01E-F1F0-4E2B-B12C-14D802A46A22}" type="slidenum">
              <a:rPr lang="en-US" smtClean="0"/>
              <a:t>‹#›</a:t>
            </a:fld>
            <a:endParaRPr lang="en-US"/>
          </a:p>
        </p:txBody>
      </p:sp>
    </p:spTree>
    <p:extLst>
      <p:ext uri="{BB962C8B-B14F-4D97-AF65-F5344CB8AC3E}">
        <p14:creationId xmlns:p14="http://schemas.microsoft.com/office/powerpoint/2010/main" val="4208690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EFD187-1019-4F8D-BC06-500E8E939104}" type="datetimeFigureOut">
              <a:rPr lang="en-US" smtClean="0"/>
              <a:t>10/7/2023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5F3F01E-F1F0-4E2B-B12C-14D802A46A22}" type="slidenum">
              <a:rPr lang="en-US" smtClean="0"/>
              <a:t>‹#›</a:t>
            </a:fld>
            <a:endParaRPr lang="en-US"/>
          </a:p>
        </p:txBody>
      </p:sp>
    </p:spTree>
    <p:extLst>
      <p:ext uri="{BB962C8B-B14F-4D97-AF65-F5344CB8AC3E}">
        <p14:creationId xmlns:p14="http://schemas.microsoft.com/office/powerpoint/2010/main" val="3649391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CEFD187-1019-4F8D-BC06-500E8E939104}" type="datetimeFigureOut">
              <a:rPr lang="en-US" smtClean="0"/>
              <a:t>10/7/2023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F3F01E-F1F0-4E2B-B12C-14D802A46A22}" type="slidenum">
              <a:rPr lang="en-US" smtClean="0"/>
              <a:t>‹#›</a:t>
            </a:fld>
            <a:endParaRPr lang="en-US"/>
          </a:p>
        </p:txBody>
      </p:sp>
    </p:spTree>
    <p:extLst>
      <p:ext uri="{BB962C8B-B14F-4D97-AF65-F5344CB8AC3E}">
        <p14:creationId xmlns:p14="http://schemas.microsoft.com/office/powerpoint/2010/main" val="1556975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CEFD187-1019-4F8D-BC06-500E8E939104}" type="datetimeFigureOut">
              <a:rPr lang="en-US" smtClean="0"/>
              <a:t>10/7/2023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F3F01E-F1F0-4E2B-B12C-14D802A46A22}" type="slidenum">
              <a:rPr lang="en-US" smtClean="0"/>
              <a:t>‹#›</a:t>
            </a:fld>
            <a:endParaRPr lang="en-US"/>
          </a:p>
        </p:txBody>
      </p:sp>
    </p:spTree>
    <p:extLst>
      <p:ext uri="{BB962C8B-B14F-4D97-AF65-F5344CB8AC3E}">
        <p14:creationId xmlns:p14="http://schemas.microsoft.com/office/powerpoint/2010/main" val="2862764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CEFD187-1019-4F8D-BC06-500E8E939104}" type="datetimeFigureOut">
              <a:rPr lang="en-US" smtClean="0"/>
              <a:t>10/7/2023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F3F01E-F1F0-4E2B-B12C-14D802A46A22}" type="slidenum">
              <a:rPr lang="en-US" smtClean="0"/>
              <a:t>‹#›</a:t>
            </a:fld>
            <a:endParaRPr lang="en-US"/>
          </a:p>
        </p:txBody>
      </p:sp>
    </p:spTree>
    <p:extLst>
      <p:ext uri="{BB962C8B-B14F-4D97-AF65-F5344CB8AC3E}">
        <p14:creationId xmlns:p14="http://schemas.microsoft.com/office/powerpoint/2010/main" val="1907390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CEFD187-1019-4F8D-BC06-500E8E939104}" type="datetimeFigureOut">
              <a:rPr lang="en-US" smtClean="0"/>
              <a:t>10/7/2023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F3F01E-F1F0-4E2B-B12C-14D802A46A22}" type="slidenum">
              <a:rPr lang="en-US" smtClean="0"/>
              <a:t>‹#›</a:t>
            </a:fld>
            <a:endParaRPr lang="en-US"/>
          </a:p>
        </p:txBody>
      </p:sp>
    </p:spTree>
    <p:extLst>
      <p:ext uri="{BB962C8B-B14F-4D97-AF65-F5344CB8AC3E}">
        <p14:creationId xmlns:p14="http://schemas.microsoft.com/office/powerpoint/2010/main" val="36748456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0" name="Slide Number Placeholder 19"/>
          <p:cNvSpPr>
            <a:spLocks noGrp="1"/>
          </p:cNvSpPr>
          <p:nvPr>
            <p:ph type="sldNum" sz="quarter" idx="12"/>
          </p:nvPr>
        </p:nvSpPr>
        <p:spPr/>
        <p:txBody>
          <a:bodyPr/>
          <a:lstStyle>
            <a:lvl1pPr>
              <a:defRPr>
                <a:solidFill>
                  <a:srgbClr val="298C91"/>
                </a:solidFill>
              </a:defRPr>
            </a:lvl1pPr>
          </a:lstStyle>
          <a:p>
            <a:fld id="{6105AA26-CC70-4E01-AC2D-AF066151D5E6}" type="slidenum">
              <a:rPr lang="en-US" smtClean="0"/>
              <a:pPr/>
              <a:t>‹#›</a:t>
            </a:fld>
            <a:endParaRPr lang="en-US" dirty="0"/>
          </a:p>
        </p:txBody>
      </p:sp>
      <p:sp>
        <p:nvSpPr>
          <p:cNvPr id="19" name="Footer Placeholder 18"/>
          <p:cNvSpPr>
            <a:spLocks noGrp="1"/>
          </p:cNvSpPr>
          <p:nvPr>
            <p:ph type="ftr" sz="quarter" idx="11"/>
          </p:nvPr>
        </p:nvSpPr>
        <p:spPr>
          <a:xfrm>
            <a:off x="7620000" y="6400801"/>
            <a:ext cx="3352800" cy="365125"/>
          </a:xfrm>
        </p:spPr>
        <p:txBody>
          <a:bodyPr/>
          <a:lstStyle>
            <a:lvl1pPr>
              <a:defRPr>
                <a:solidFill>
                  <a:srgbClr val="298C91"/>
                </a:solidFill>
              </a:defRPr>
            </a:lvl1pPr>
          </a:lstStyle>
          <a:p>
            <a:r>
              <a:rPr lang="en-US" dirty="0" smtClean="0"/>
              <a:t>Software Development</a:t>
            </a:r>
          </a:p>
        </p:txBody>
      </p:sp>
      <p:sp>
        <p:nvSpPr>
          <p:cNvPr id="3" name="Content Placeholder 2"/>
          <p:cNvSpPr>
            <a:spLocks noGrp="1"/>
          </p:cNvSpPr>
          <p:nvPr>
            <p:ph idx="1"/>
          </p:nvPr>
        </p:nvSpPr>
        <p:spPr/>
        <p:txBody>
          <a:bodyPr/>
          <a:lstStyle>
            <a:lvl1pPr marL="342900" indent="-342900">
              <a:buClr>
                <a:srgbClr val="0070C0"/>
              </a:buClr>
              <a:buSzPct val="150000"/>
              <a:buFont typeface="Arial" panose="020B0604020202020204" pitchFamily="34" charset="0"/>
              <a:buChar char="•"/>
              <a:defRPr sz="2400">
                <a:latin typeface="Arial" panose="020B0604020202020204" pitchFamily="34" charset="0"/>
                <a:cs typeface="Arial" panose="020B0604020202020204" pitchFamily="34" charset="0"/>
              </a:defRPr>
            </a:lvl1pPr>
            <a:lvl2pPr marL="742950" indent="-285750">
              <a:buClr>
                <a:srgbClr val="0070C0"/>
              </a:buClr>
              <a:buSzPct val="150000"/>
              <a:buFont typeface="Arial" panose="020B0604020202020204" pitchFamily="34" charset="0"/>
              <a:buChar char="-"/>
              <a:defRPr sz="2200">
                <a:latin typeface="Arial" panose="020B0604020202020204" pitchFamily="34" charset="0"/>
                <a:cs typeface="Arial" panose="020B0604020202020204" pitchFamily="34" charset="0"/>
              </a:defRPr>
            </a:lvl2pPr>
            <a:lvl3pPr marL="1143000" indent="-228600">
              <a:buClr>
                <a:srgbClr val="0070C0"/>
              </a:buClr>
              <a:buSzPct val="150000"/>
              <a:buFont typeface="Arial" panose="020B0604020202020204" pitchFamily="34" charset="0"/>
              <a:buChar char="-"/>
              <a:defRPr sz="2000">
                <a:latin typeface="Arial" panose="020B0604020202020204" pitchFamily="34" charset="0"/>
                <a:cs typeface="Arial" panose="020B0604020202020204" pitchFamily="34" charset="0"/>
              </a:defRPr>
            </a:lvl3pPr>
            <a:lvl4pPr marL="1600200" indent="-228600">
              <a:buClr>
                <a:srgbClr val="0070C0"/>
              </a:buClr>
              <a:buSzPct val="150000"/>
              <a:buFont typeface="Arial" panose="020B0604020202020204" pitchFamily="34" charset="0"/>
              <a:buChar char="-"/>
              <a:defRPr sz="1800">
                <a:latin typeface="Arial" panose="020B0604020202020204" pitchFamily="34" charset="0"/>
                <a:cs typeface="Arial" panose="020B0604020202020204" pitchFamily="34" charset="0"/>
              </a:defRPr>
            </a:lvl4pPr>
            <a:lvl5pPr marL="2057400" indent="-228600">
              <a:buClr>
                <a:srgbClr val="0070C0"/>
              </a:buClr>
              <a:buSzPct val="150000"/>
              <a:buFont typeface="Arial" panose="020B0604020202020204" pitchFamily="34" charset="0"/>
              <a:buChar char="-"/>
              <a:defRPr sz="1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7" name="Title 16"/>
          <p:cNvSpPr>
            <a:spLocks noGrp="1"/>
          </p:cNvSpPr>
          <p:nvPr>
            <p:ph type="title"/>
          </p:nvPr>
        </p:nvSpPr>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val="300806375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EFD187-1019-4F8D-BC06-500E8E939104}" type="datetimeFigureOut">
              <a:rPr lang="en-US" smtClean="0"/>
              <a:t>10/7/2023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F3F01E-F1F0-4E2B-B12C-14D802A46A22}" type="slidenum">
              <a:rPr lang="en-US" smtClean="0"/>
              <a:t>‹#›</a:t>
            </a:fld>
            <a:endParaRPr lang="en-US"/>
          </a:p>
        </p:txBody>
      </p:sp>
    </p:spTree>
    <p:extLst>
      <p:ext uri="{BB962C8B-B14F-4D97-AF65-F5344CB8AC3E}">
        <p14:creationId xmlns:p14="http://schemas.microsoft.com/office/powerpoint/2010/main" val="6806584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xkcd.com/674/"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Agile Introduction </a:t>
            </a:r>
            <a:endParaRPr lang="en-US" dirty="0"/>
          </a:p>
        </p:txBody>
      </p:sp>
      <p:sp>
        <p:nvSpPr>
          <p:cNvPr id="3" name="Subtitle 2"/>
          <p:cNvSpPr>
            <a:spLocks noGrp="1"/>
          </p:cNvSpPr>
          <p:nvPr>
            <p:ph type="subTitle" idx="1"/>
          </p:nvPr>
        </p:nvSpPr>
        <p:spPr/>
        <p:txBody>
          <a:bodyPr/>
          <a:lstStyle/>
          <a:p>
            <a:r>
              <a:rPr lang="en-US" dirty="0" smtClean="0"/>
              <a:t>Manifesto &amp; Principles </a:t>
            </a:r>
            <a:endParaRPr lang="en-US" dirty="0"/>
          </a:p>
        </p:txBody>
      </p:sp>
    </p:spTree>
    <p:extLst>
      <p:ext uri="{BB962C8B-B14F-4D97-AF65-F5344CB8AC3E}">
        <p14:creationId xmlns:p14="http://schemas.microsoft.com/office/powerpoint/2010/main" val="3213935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a:t>
            </a:r>
            <a:endParaRPr lang="en-US" dirty="0"/>
          </a:p>
        </p:txBody>
      </p:sp>
      <p:sp>
        <p:nvSpPr>
          <p:cNvPr id="3" name="Content Placeholder 2"/>
          <p:cNvSpPr>
            <a:spLocks noGrp="1"/>
          </p:cNvSpPr>
          <p:nvPr>
            <p:ph idx="1"/>
          </p:nvPr>
        </p:nvSpPr>
        <p:spPr/>
        <p:txBody>
          <a:bodyPr>
            <a:normAutofit fontScale="85000" lnSpcReduction="20000"/>
          </a:bodyPr>
          <a:lstStyle/>
          <a:p>
            <a:r>
              <a:rPr lang="en-US" b="1" dirty="0"/>
              <a:t>Agile</a:t>
            </a:r>
            <a:r>
              <a:rPr lang="en-US" dirty="0"/>
              <a:t> is an iterative approach to project management and software development that helps teams deliver value to their customers faster and with fewer headaches. ... Requirements, plans, and results are evaluated continuously so teams have a natural mechanism for responding to change quickly</a:t>
            </a:r>
            <a:r>
              <a:rPr lang="en-US" dirty="0" smtClean="0"/>
              <a:t>.</a:t>
            </a:r>
          </a:p>
          <a:p>
            <a:endParaRPr lang="en-US" dirty="0" smtClean="0"/>
          </a:p>
          <a:p>
            <a:r>
              <a:rPr lang="en-US" dirty="0" smtClean="0"/>
              <a:t>In </a:t>
            </a:r>
            <a:r>
              <a:rPr lang="en-US" dirty="0"/>
              <a:t>software development, agile practices approach discovering requirements and developing solutions </a:t>
            </a:r>
            <a:r>
              <a:rPr lang="en-US" dirty="0" smtClean="0"/>
              <a:t>through </a:t>
            </a:r>
            <a:r>
              <a:rPr lang="en-US" dirty="0"/>
              <a:t>the collaborative effort of self-organizing and cross-functional teams and their customer/end user</a:t>
            </a:r>
            <a:r>
              <a:rPr lang="en-US" dirty="0" smtClean="0"/>
              <a:t>.</a:t>
            </a:r>
          </a:p>
          <a:p>
            <a:endParaRPr lang="en-US" dirty="0"/>
          </a:p>
          <a:p>
            <a:r>
              <a:rPr lang="en-US" b="1" dirty="0"/>
              <a:t>Agile software development</a:t>
            </a:r>
            <a:r>
              <a:rPr lang="en-US" dirty="0"/>
              <a:t> refers to a group of </a:t>
            </a:r>
            <a:r>
              <a:rPr lang="en-US" b="1" dirty="0"/>
              <a:t>software development</a:t>
            </a:r>
            <a:r>
              <a:rPr lang="en-US" dirty="0"/>
              <a:t> methodologies based on iterative </a:t>
            </a:r>
            <a:r>
              <a:rPr lang="en-US" b="1" dirty="0"/>
              <a:t>development</a:t>
            </a:r>
            <a:r>
              <a:rPr lang="en-US" dirty="0"/>
              <a:t>, where requirements and solutions evolve through collaboration between self-organizing cross-functional teams. ... Read more about the </a:t>
            </a:r>
            <a:r>
              <a:rPr lang="en-US" b="1" dirty="0"/>
              <a:t>Agile</a:t>
            </a:r>
            <a:r>
              <a:rPr lang="en-US" dirty="0"/>
              <a:t> Manifesto.</a:t>
            </a:r>
          </a:p>
        </p:txBody>
      </p:sp>
    </p:spTree>
    <p:extLst>
      <p:ext uri="{BB962C8B-B14F-4D97-AF65-F5344CB8AC3E}">
        <p14:creationId xmlns:p14="http://schemas.microsoft.com/office/powerpoint/2010/main" val="25516778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700" y="72192"/>
            <a:ext cx="10515600" cy="828675"/>
          </a:xfrm>
        </p:spPr>
        <p:txBody>
          <a:bodyPr>
            <a:noAutofit/>
          </a:bodyPr>
          <a:lstStyle/>
          <a:p>
            <a:r>
              <a:rPr lang="en-NZ" altLang="en-US" sz="2800" dirty="0" smtClean="0"/>
              <a:t>Software </a:t>
            </a:r>
            <a:r>
              <a:rPr lang="en-NZ" altLang="en-US" sz="2800" dirty="0"/>
              <a:t>Development Processes  </a:t>
            </a:r>
            <a:r>
              <a:rPr lang="en-US" sz="2800" dirty="0" smtClean="0"/>
              <a:t>Plan-driven and agile processes</a:t>
            </a:r>
            <a:endParaRPr lang="en-US" sz="2800" dirty="0"/>
          </a:p>
        </p:txBody>
      </p:sp>
      <p:sp>
        <p:nvSpPr>
          <p:cNvPr id="3" name="Content Placeholder 2"/>
          <p:cNvSpPr>
            <a:spLocks noGrp="1"/>
          </p:cNvSpPr>
          <p:nvPr>
            <p:ph idx="1"/>
          </p:nvPr>
        </p:nvSpPr>
        <p:spPr>
          <a:xfrm>
            <a:off x="139700" y="918466"/>
            <a:ext cx="11671300" cy="3577952"/>
          </a:xfrm>
        </p:spPr>
        <p:txBody>
          <a:bodyPr>
            <a:normAutofit lnSpcReduction="10000"/>
          </a:bodyPr>
          <a:lstStyle/>
          <a:p>
            <a:pPr lvl="1"/>
            <a:r>
              <a:rPr lang="en-GB" b="1" dirty="0" smtClean="0"/>
              <a:t>Plan-driven processes</a:t>
            </a:r>
            <a:r>
              <a:rPr lang="en-GB" dirty="0" smtClean="0"/>
              <a:t> are processes where all of the process activities are </a:t>
            </a:r>
            <a:r>
              <a:rPr lang="en-GB" u="sng" dirty="0" smtClean="0"/>
              <a:t>planned</a:t>
            </a:r>
            <a:r>
              <a:rPr lang="en-GB" dirty="0" smtClean="0"/>
              <a:t> in advance and progress is measured against this plan. </a:t>
            </a:r>
          </a:p>
          <a:p>
            <a:pPr marL="457200" lvl="1" indent="0">
              <a:buNone/>
            </a:pPr>
            <a:endParaRPr lang="en-GB" dirty="0" smtClean="0"/>
          </a:p>
          <a:p>
            <a:pPr lvl="1"/>
            <a:r>
              <a:rPr lang="en-GB" dirty="0" smtClean="0"/>
              <a:t>In </a:t>
            </a:r>
            <a:r>
              <a:rPr lang="en-GB" b="1" dirty="0" smtClean="0"/>
              <a:t>agile processes</a:t>
            </a:r>
            <a:r>
              <a:rPr lang="en-GB" dirty="0" smtClean="0"/>
              <a:t>, planning is </a:t>
            </a:r>
            <a:r>
              <a:rPr lang="en-GB" u="sng" dirty="0" smtClean="0"/>
              <a:t>incremental</a:t>
            </a:r>
            <a:r>
              <a:rPr lang="en-GB" dirty="0" smtClean="0"/>
              <a:t> and it is easier to change </a:t>
            </a:r>
          </a:p>
          <a:p>
            <a:pPr marL="457200" lvl="1" indent="0">
              <a:buNone/>
            </a:pPr>
            <a:r>
              <a:rPr lang="en-GB" dirty="0" smtClean="0"/>
              <a:t>the process to reflect changing customer requirements. </a:t>
            </a:r>
          </a:p>
          <a:p>
            <a:pPr lvl="1"/>
            <a:endParaRPr lang="en-GB" dirty="0" smtClean="0"/>
          </a:p>
          <a:p>
            <a:r>
              <a:rPr lang="en-GB" dirty="0" smtClean="0"/>
              <a:t>In practice, most practical processes include elements of </a:t>
            </a:r>
            <a:r>
              <a:rPr lang="en-GB" b="1" dirty="0" smtClean="0"/>
              <a:t>both plan-driven and agile approaches.</a:t>
            </a:r>
            <a:r>
              <a:rPr lang="en-GB" dirty="0" smtClean="0"/>
              <a:t> </a:t>
            </a:r>
          </a:p>
          <a:p>
            <a:r>
              <a:rPr lang="en-GB" dirty="0" smtClean="0"/>
              <a:t>There are no right or wrong software processes.</a:t>
            </a:r>
            <a:endParaRPr lang="en-US" dirty="0"/>
          </a:p>
        </p:txBody>
      </p:sp>
      <p:pic>
        <p:nvPicPr>
          <p:cNvPr id="2052" name="Picture 4" descr="Image result for Plan-driven and agil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21349" y="1512651"/>
            <a:ext cx="1943914" cy="111399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www.cs.ccsu.edu/~stan/classes/CS410/Notes16/images/03-plan_vs_agile.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6594020" y="4551777"/>
            <a:ext cx="5216980" cy="165618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http://www.cs.ccsu.edu/~stan/classes/CS410/Notes16/images/03-plan_vs_agile.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1038" r="-6069"/>
          <a:stretch/>
        </p:blipFill>
        <p:spPr bwMode="auto">
          <a:xfrm>
            <a:off x="716980" y="4034415"/>
            <a:ext cx="4680520" cy="2173546"/>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fld id="{989A6582-9796-409F-A1EA-A094F915F976}" type="slidenum">
              <a:rPr lang="en-NZ" smtClean="0"/>
              <a:pPr/>
              <a:t>3</a:t>
            </a:fld>
            <a:endParaRPr lang="en-NZ" dirty="0"/>
          </a:p>
        </p:txBody>
      </p:sp>
    </p:spTree>
    <p:extLst>
      <p:ext uri="{BB962C8B-B14F-4D97-AF65-F5344CB8AC3E}">
        <p14:creationId xmlns:p14="http://schemas.microsoft.com/office/powerpoint/2010/main" val="34747399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descr="Agile Manifesto: Understanding Its Values and Princip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526" y="653142"/>
            <a:ext cx="10384971" cy="5564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1532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ill Agile Manifesto Principles Have Relevance in the Fu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3343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agile – “doing what come naturally”</a:t>
            </a:r>
            <a:endParaRPr lang="en-US" dirty="0"/>
          </a:p>
        </p:txBody>
      </p:sp>
      <p:sp>
        <p:nvSpPr>
          <p:cNvPr id="5" name="Content Placeholder 4"/>
          <p:cNvSpPr>
            <a:spLocks noGrp="1"/>
          </p:cNvSpPr>
          <p:nvPr>
            <p:ph idx="1"/>
          </p:nvPr>
        </p:nvSpPr>
        <p:spPr/>
        <p:txBody>
          <a:bodyPr/>
          <a:lstStyle/>
          <a:p>
            <a:r>
              <a:rPr lang="en-US" dirty="0" smtClean="0"/>
              <a:t>Not always the best idea, but let’s give it a try</a:t>
            </a:r>
            <a:endParaRPr lang="en-US" dirty="0"/>
          </a:p>
        </p:txBody>
      </p:sp>
      <p:pic>
        <p:nvPicPr>
          <p:cNvPr id="4" name="Picture 3">
            <a:hlinkClick r:id="rId2"/>
          </p:cNvPr>
          <p:cNvPicPr>
            <a:picLocks noChangeAspect="1"/>
          </p:cNvPicPr>
          <p:nvPr/>
        </p:nvPicPr>
        <p:blipFill>
          <a:blip r:embed="rId3"/>
          <a:stretch>
            <a:fillRect/>
          </a:stretch>
        </p:blipFill>
        <p:spPr>
          <a:xfrm>
            <a:off x="1955800" y="3121501"/>
            <a:ext cx="8255000" cy="2717800"/>
          </a:xfrm>
          <a:prstGeom prst="rect">
            <a:avLst/>
          </a:prstGeom>
        </p:spPr>
      </p:pic>
    </p:spTree>
    <p:extLst>
      <p:ext uri="{BB962C8B-B14F-4D97-AF65-F5344CB8AC3E}">
        <p14:creationId xmlns:p14="http://schemas.microsoft.com/office/powerpoint/2010/main" val="36185420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6105AA26-CC70-4E01-AC2D-AF066151D5E6}" type="slidenum">
              <a:rPr lang="en-US">
                <a:latin typeface="Arial" panose="020B0604020202020204" pitchFamily="34" charset="0"/>
                <a:cs typeface="Arial" panose="020B0604020202020204" pitchFamily="34" charset="0"/>
              </a:rPr>
              <a:pPr>
                <a:defRPr/>
              </a:pPr>
              <a:t>7</a:t>
            </a:fld>
            <a:endParaRPr lang="en-US" dirty="0">
              <a:latin typeface="Arial" panose="020B0604020202020204" pitchFamily="34" charset="0"/>
              <a:cs typeface="Arial" panose="020B0604020202020204" pitchFamily="34" charset="0"/>
            </a:endParaRPr>
          </a:p>
        </p:txBody>
      </p:sp>
      <p:sp>
        <p:nvSpPr>
          <p:cNvPr id="3" name="Footer Placeholder 2"/>
          <p:cNvSpPr>
            <a:spLocks noGrp="1"/>
          </p:cNvSpPr>
          <p:nvPr>
            <p:ph type="ftr" sz="quarter" idx="11"/>
          </p:nvPr>
        </p:nvSpPr>
        <p:spPr/>
        <p:txBody>
          <a:bodyPr/>
          <a:lstStyle/>
          <a:p>
            <a:pPr algn="r">
              <a:defRPr/>
            </a:pPr>
            <a:r>
              <a:rPr lang="en-US" dirty="0">
                <a:latin typeface="Arial" panose="020B0604020202020204" pitchFamily="34" charset="0"/>
                <a:cs typeface="Arial" panose="020B0604020202020204" pitchFamily="34" charset="0"/>
              </a:rPr>
              <a:t>Software Development</a:t>
            </a:r>
          </a:p>
        </p:txBody>
      </p:sp>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19100" y="736600"/>
            <a:ext cx="5320640" cy="5854699"/>
          </a:xfrm>
        </p:spPr>
      </p:pic>
      <p:sp>
        <p:nvSpPr>
          <p:cNvPr id="5" name="Title 4"/>
          <p:cNvSpPr>
            <a:spLocks noGrp="1"/>
          </p:cNvSpPr>
          <p:nvPr>
            <p:ph type="title"/>
          </p:nvPr>
        </p:nvSpPr>
        <p:spPr>
          <a:xfrm>
            <a:off x="114300" y="200025"/>
            <a:ext cx="10515600" cy="409575"/>
          </a:xfrm>
        </p:spPr>
        <p:txBody>
          <a:bodyPr>
            <a:normAutofit fontScale="90000"/>
          </a:bodyPr>
          <a:lstStyle/>
          <a:p>
            <a:r>
              <a:rPr lang="en-US" dirty="0" smtClean="0"/>
              <a:t>Agile Manifesto</a:t>
            </a:r>
            <a:endParaRPr lang="en-US" dirty="0"/>
          </a:p>
        </p:txBody>
      </p:sp>
      <p:sp>
        <p:nvSpPr>
          <p:cNvPr id="4" name="Rectangle 3"/>
          <p:cNvSpPr/>
          <p:nvPr/>
        </p:nvSpPr>
        <p:spPr>
          <a:xfrm>
            <a:off x="5877956" y="877961"/>
            <a:ext cx="5882244" cy="5693866"/>
          </a:xfrm>
          <a:prstGeom prst="rect">
            <a:avLst/>
          </a:prstGeom>
          <a:ln w="28575">
            <a:solidFill>
              <a:schemeClr val="tx1"/>
            </a:solidFill>
          </a:ln>
        </p:spPr>
        <p:txBody>
          <a:bodyPr wrap="square">
            <a:spAutoFit/>
          </a:bodyPr>
          <a:lstStyle/>
          <a:p>
            <a:pPr marL="0" lvl="3" algn="ctr">
              <a:defRPr/>
            </a:pPr>
            <a:r>
              <a:rPr lang="en-US" sz="1400" b="1" i="1" dirty="0">
                <a:solidFill>
                  <a:prstClr val="black"/>
                </a:solidFill>
                <a:latin typeface="Calibri"/>
              </a:rPr>
              <a:t>The Agile Manifesto is based on 12 principles</a:t>
            </a:r>
          </a:p>
          <a:p>
            <a:pPr marL="0" lvl="3" algn="ctr">
              <a:defRPr/>
            </a:pPr>
            <a:endParaRPr lang="en-US" sz="1400" b="1" i="1" dirty="0">
              <a:solidFill>
                <a:prstClr val="black"/>
              </a:solidFill>
              <a:latin typeface="Calibri"/>
            </a:endParaRPr>
          </a:p>
          <a:p>
            <a:pPr marL="171450" indent="-171450">
              <a:lnSpc>
                <a:spcPct val="200000"/>
              </a:lnSpc>
              <a:buFont typeface="Arial" panose="020B0604020202020204" pitchFamily="34" charset="0"/>
              <a:buChar char="•"/>
              <a:defRPr/>
            </a:pPr>
            <a:r>
              <a:rPr lang="en-US" sz="1400" dirty="0">
                <a:solidFill>
                  <a:prstClr val="black"/>
                </a:solidFill>
                <a:latin typeface="Calibri"/>
              </a:rPr>
              <a:t>Customer satisfaction by rapid delivery of useful software</a:t>
            </a:r>
          </a:p>
          <a:p>
            <a:pPr marL="171450" indent="-171450">
              <a:lnSpc>
                <a:spcPct val="200000"/>
              </a:lnSpc>
              <a:buFont typeface="Arial" panose="020B0604020202020204" pitchFamily="34" charset="0"/>
              <a:buChar char="•"/>
              <a:defRPr/>
            </a:pPr>
            <a:r>
              <a:rPr lang="en-US" sz="1400" dirty="0">
                <a:solidFill>
                  <a:prstClr val="black"/>
                </a:solidFill>
                <a:latin typeface="Calibri"/>
              </a:rPr>
              <a:t>Welcome changing requirements, even late in development</a:t>
            </a:r>
          </a:p>
          <a:p>
            <a:pPr marL="171450" indent="-171450">
              <a:lnSpc>
                <a:spcPct val="200000"/>
              </a:lnSpc>
              <a:buFont typeface="Arial" panose="020B0604020202020204" pitchFamily="34" charset="0"/>
              <a:buChar char="•"/>
              <a:defRPr/>
            </a:pPr>
            <a:r>
              <a:rPr lang="en-US" sz="1400" dirty="0">
                <a:solidFill>
                  <a:prstClr val="black"/>
                </a:solidFill>
                <a:latin typeface="Calibri"/>
              </a:rPr>
              <a:t>Working software is delivered frequently (weeks rather than months)</a:t>
            </a:r>
          </a:p>
          <a:p>
            <a:pPr marL="171450" indent="-171450">
              <a:lnSpc>
                <a:spcPct val="200000"/>
              </a:lnSpc>
              <a:buFont typeface="Arial" panose="020B0604020202020204" pitchFamily="34" charset="0"/>
              <a:buChar char="•"/>
              <a:defRPr/>
            </a:pPr>
            <a:r>
              <a:rPr lang="en-US" sz="1400" dirty="0">
                <a:solidFill>
                  <a:prstClr val="black"/>
                </a:solidFill>
                <a:latin typeface="Calibri"/>
              </a:rPr>
              <a:t>Close, daily cooperation between business people and developers</a:t>
            </a:r>
          </a:p>
          <a:p>
            <a:pPr marL="171450" indent="-171450">
              <a:lnSpc>
                <a:spcPct val="200000"/>
              </a:lnSpc>
              <a:buFont typeface="Arial" panose="020B0604020202020204" pitchFamily="34" charset="0"/>
              <a:buChar char="•"/>
              <a:defRPr/>
            </a:pPr>
            <a:r>
              <a:rPr lang="en-US" sz="1400" dirty="0">
                <a:solidFill>
                  <a:prstClr val="black"/>
                </a:solidFill>
                <a:latin typeface="Calibri"/>
              </a:rPr>
              <a:t>Projects are built around motivated individuals, who should be trusted</a:t>
            </a:r>
          </a:p>
          <a:p>
            <a:pPr marL="171450" indent="-171450">
              <a:lnSpc>
                <a:spcPct val="200000"/>
              </a:lnSpc>
              <a:buFont typeface="Arial" panose="020B0604020202020204" pitchFamily="34" charset="0"/>
              <a:buChar char="•"/>
              <a:defRPr/>
            </a:pPr>
            <a:r>
              <a:rPr lang="en-US" sz="1400" dirty="0">
                <a:solidFill>
                  <a:prstClr val="black"/>
                </a:solidFill>
                <a:latin typeface="Calibri"/>
              </a:rPr>
              <a:t>Face-to-face conversation is the best form of communication (co-location)</a:t>
            </a:r>
          </a:p>
          <a:p>
            <a:pPr marL="171450" indent="-171450">
              <a:lnSpc>
                <a:spcPct val="200000"/>
              </a:lnSpc>
              <a:buFont typeface="Arial" panose="020B0604020202020204" pitchFamily="34" charset="0"/>
              <a:buChar char="•"/>
              <a:defRPr/>
            </a:pPr>
            <a:r>
              <a:rPr lang="en-US" sz="1400" dirty="0">
                <a:solidFill>
                  <a:prstClr val="black"/>
                </a:solidFill>
                <a:latin typeface="Calibri"/>
              </a:rPr>
              <a:t>Working software is the principal measure of progress</a:t>
            </a:r>
          </a:p>
          <a:p>
            <a:pPr marL="171450" indent="-171450">
              <a:lnSpc>
                <a:spcPct val="200000"/>
              </a:lnSpc>
              <a:buFont typeface="Arial" panose="020B0604020202020204" pitchFamily="34" charset="0"/>
              <a:buChar char="•"/>
              <a:defRPr/>
            </a:pPr>
            <a:r>
              <a:rPr lang="en-US" sz="1400" dirty="0">
                <a:solidFill>
                  <a:prstClr val="black"/>
                </a:solidFill>
                <a:latin typeface="Calibri"/>
              </a:rPr>
              <a:t>Sustainable development, able to maintain a constant pace</a:t>
            </a:r>
          </a:p>
          <a:p>
            <a:pPr marL="171450" indent="-171450">
              <a:lnSpc>
                <a:spcPct val="200000"/>
              </a:lnSpc>
              <a:buFont typeface="Arial" panose="020B0604020202020204" pitchFamily="34" charset="0"/>
              <a:buChar char="•"/>
              <a:defRPr/>
            </a:pPr>
            <a:r>
              <a:rPr lang="en-US" sz="1400" dirty="0">
                <a:solidFill>
                  <a:prstClr val="black"/>
                </a:solidFill>
                <a:latin typeface="Calibri"/>
              </a:rPr>
              <a:t>Continuous attention to technical excellence and good design</a:t>
            </a:r>
          </a:p>
          <a:p>
            <a:pPr marL="171450" indent="-171450">
              <a:lnSpc>
                <a:spcPct val="200000"/>
              </a:lnSpc>
              <a:buFont typeface="Arial" panose="020B0604020202020204" pitchFamily="34" charset="0"/>
              <a:buChar char="•"/>
              <a:defRPr/>
            </a:pPr>
            <a:r>
              <a:rPr lang="en-US" sz="1400" dirty="0">
                <a:solidFill>
                  <a:prstClr val="black"/>
                </a:solidFill>
                <a:latin typeface="Calibri"/>
              </a:rPr>
              <a:t>Simplicity—the art of maximizing the amount of work not done—is essential</a:t>
            </a:r>
          </a:p>
          <a:p>
            <a:pPr marL="171450" indent="-171450">
              <a:lnSpc>
                <a:spcPct val="200000"/>
              </a:lnSpc>
              <a:buFont typeface="Arial" panose="020B0604020202020204" pitchFamily="34" charset="0"/>
              <a:buChar char="•"/>
              <a:defRPr/>
            </a:pPr>
            <a:r>
              <a:rPr lang="en-US" sz="1400" dirty="0">
                <a:solidFill>
                  <a:prstClr val="black"/>
                </a:solidFill>
                <a:latin typeface="Calibri"/>
              </a:rPr>
              <a:t>Self-organizing teams</a:t>
            </a:r>
          </a:p>
          <a:p>
            <a:pPr marL="171450" indent="-171450">
              <a:lnSpc>
                <a:spcPct val="200000"/>
              </a:lnSpc>
              <a:buFont typeface="Arial" panose="020B0604020202020204" pitchFamily="34" charset="0"/>
              <a:buChar char="•"/>
              <a:defRPr/>
            </a:pPr>
            <a:r>
              <a:rPr lang="en-US" sz="1400" dirty="0">
                <a:solidFill>
                  <a:prstClr val="black"/>
                </a:solidFill>
                <a:latin typeface="Calibri"/>
              </a:rPr>
              <a:t>Regular adaptation to changing circumstance</a:t>
            </a:r>
          </a:p>
        </p:txBody>
      </p:sp>
    </p:spTree>
    <p:extLst>
      <p:ext uri="{BB962C8B-B14F-4D97-AF65-F5344CB8AC3E}">
        <p14:creationId xmlns:p14="http://schemas.microsoft.com/office/powerpoint/2010/main" val="75618640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217</Words>
  <Application>Microsoft Office PowerPoint</Application>
  <PresentationFormat>Widescreen</PresentationFormat>
  <Paragraphs>37</Paragraphs>
  <Slides>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Agile Introduction </vt:lpstr>
      <vt:lpstr>Agile </vt:lpstr>
      <vt:lpstr>Software Development Processes  Plan-driven and agile processes</vt:lpstr>
      <vt:lpstr>PowerPoint Presentation</vt:lpstr>
      <vt:lpstr>PowerPoint Presentation</vt:lpstr>
      <vt:lpstr>agile – “doing what come naturally”</vt:lpstr>
      <vt:lpstr>Agile Manifesto</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Agile Introduction </dc:title>
  <dc:creator>IFTIKHAR AHMED</dc:creator>
  <cp:lastModifiedBy>IFTIKHAR AHMED</cp:lastModifiedBy>
  <cp:revision>1</cp:revision>
  <dcterms:created xsi:type="dcterms:W3CDTF">2023-10-07T13:30:43Z</dcterms:created>
  <dcterms:modified xsi:type="dcterms:W3CDTF">2023-10-07T13:37:12Z</dcterms:modified>
</cp:coreProperties>
</file>