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55" r:id="rId31"/>
    <p:sldId id="35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E69CE-9FEE-4D9D-911D-A8DD2C3857E3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7E47C-6883-4CE3-905E-76CD4CC99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226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856C4-2A6B-4814-A5EA-22F9E0058358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FE078-FDDE-451A-9F09-05820A287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415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EFE078-FDDE-451A-9F09-05820A287C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90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EFE078-FDDE-451A-9F09-05820A287C7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68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7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59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15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8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093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7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99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1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2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19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FCC68-35E8-4DCC-8B0B-B2CE725AC125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2076" y="2"/>
            <a:ext cx="568325" cy="5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3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82800"/>
            <a:ext cx="9144000" cy="741363"/>
          </a:xfrm>
        </p:spPr>
        <p:txBody>
          <a:bodyPr>
            <a:normAutofit/>
          </a:bodyPr>
          <a:lstStyle/>
          <a:p>
            <a:r>
              <a:rPr lang="en-US" sz="4400" u="sng" dirty="0"/>
              <a:t>SOFTWARE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92551" y="3001961"/>
            <a:ext cx="4406900" cy="1655763"/>
          </a:xfrm>
        </p:spPr>
        <p:txBody>
          <a:bodyPr>
            <a:normAutofit/>
          </a:bodyPr>
          <a:lstStyle/>
          <a:p>
            <a:r>
              <a:rPr lang="en-US" sz="3200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Socio-technical </a:t>
            </a:r>
            <a:r>
              <a:rPr lang="en-US" sz="3200" spc="-2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65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777" y="761807"/>
            <a:ext cx="3154723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lang="en-US" spc="-255" dirty="0"/>
              <a:t>SYS</a:t>
            </a:r>
            <a:r>
              <a:rPr lang="en-US" spc="-183" dirty="0"/>
              <a:t>T</a:t>
            </a:r>
            <a:r>
              <a:rPr lang="en-US" spc="-200" dirty="0"/>
              <a:t>E</a:t>
            </a:r>
            <a:r>
              <a:rPr lang="en-US" spc="-381" dirty="0"/>
              <a:t>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4778" y="1771170"/>
            <a:ext cx="11143023" cy="2507159"/>
          </a:xfrm>
          <a:prstGeom prst="rect">
            <a:avLst/>
          </a:prstGeom>
        </p:spPr>
        <p:txBody>
          <a:bodyPr vert="horz" wrap="square" lIns="0" tIns="137539" rIns="0" bIns="0" rtlCol="0">
            <a:spAutoFit/>
          </a:bodyPr>
          <a:lstStyle/>
          <a:p>
            <a:pPr marL="92786" marR="4611">
              <a:lnSpc>
                <a:spcPct val="100899"/>
              </a:lnSpc>
              <a:spcBef>
                <a:spcPts val="59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</a:t>
            </a:r>
            <a:r>
              <a:rPr spc="-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isolated activity  </a:t>
            </a:r>
            <a:r>
              <a:rPr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spc="-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broader </a:t>
            </a:r>
            <a:r>
              <a:rPr spc="-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 </a:t>
            </a:r>
            <a:r>
              <a:rPr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process.</a:t>
            </a:r>
            <a:endParaRPr lang="en-US" spc="-4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86" marR="4611">
              <a:lnSpc>
                <a:spcPct val="100899"/>
              </a:lnSpc>
              <a:spcBef>
                <a:spcPts val="59"/>
              </a:spcBef>
            </a:pPr>
            <a:endParaRPr lang="en-US" spc="-4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86" marR="4611">
              <a:lnSpc>
                <a:spcPct val="100899"/>
              </a:lnSpc>
              <a:spcBef>
                <a:spcPts val="59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86" marR="1045429">
              <a:lnSpc>
                <a:spcPct val="100800"/>
              </a:lnSpc>
              <a:spcBef>
                <a:spcPts val="1289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spc="-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isolated </a:t>
            </a:r>
            <a:r>
              <a:rPr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 </a:t>
            </a:r>
            <a:r>
              <a:rPr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</a:t>
            </a:r>
            <a:r>
              <a:rPr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08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389" y="487136"/>
            <a:ext cx="7138083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51" dirty="0"/>
              <a:t>System/Complex </a:t>
            </a:r>
            <a:r>
              <a:rPr spc="-272" dirty="0"/>
              <a:t>System</a:t>
            </a:r>
            <a:r>
              <a:rPr spc="-255" dirty="0"/>
              <a:t> </a:t>
            </a:r>
            <a:r>
              <a:rPr spc="-245" dirty="0"/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2389" y="1572115"/>
            <a:ext cx="11220011" cy="2059104"/>
          </a:xfrm>
          <a:prstGeom prst="rect">
            <a:avLst/>
          </a:prstGeom>
        </p:spPr>
        <p:txBody>
          <a:bodyPr vert="horz" wrap="square" lIns="0" tIns="1729" rIns="0" bIns="0" rtlCol="0">
            <a:spAutoFit/>
          </a:bodyPr>
          <a:lstStyle/>
          <a:p>
            <a:pPr marL="34579" marR="119873">
              <a:lnSpc>
                <a:spcPct val="102200"/>
              </a:lnSpc>
              <a:spcBef>
                <a:spcPts val="15"/>
              </a:spcBef>
            </a:pPr>
            <a:r>
              <a:rPr sz="2904" i="1" spc="-227" dirty="0">
                <a:latin typeface="Times New Roman"/>
                <a:cs typeface="Times New Roman"/>
              </a:rPr>
              <a:t>“A </a:t>
            </a:r>
            <a:r>
              <a:rPr sz="2904" i="1" spc="55" dirty="0">
                <a:latin typeface="Times New Roman"/>
                <a:cs typeface="Times New Roman"/>
              </a:rPr>
              <a:t>system </a:t>
            </a:r>
            <a:r>
              <a:rPr sz="2904" i="1" spc="-19" dirty="0">
                <a:latin typeface="Times New Roman"/>
                <a:cs typeface="Times New Roman"/>
              </a:rPr>
              <a:t>is </a:t>
            </a:r>
            <a:r>
              <a:rPr sz="2904" i="1" spc="73" dirty="0">
                <a:latin typeface="Times New Roman"/>
                <a:cs typeface="Times New Roman"/>
              </a:rPr>
              <a:t>a </a:t>
            </a:r>
            <a:r>
              <a:rPr sz="2904" i="1" spc="32" dirty="0">
                <a:latin typeface="Times New Roman"/>
                <a:cs typeface="Times New Roman"/>
              </a:rPr>
              <a:t>purposeful </a:t>
            </a:r>
            <a:r>
              <a:rPr sz="2904" i="1" spc="-5" dirty="0">
                <a:latin typeface="Times New Roman"/>
                <a:cs typeface="Times New Roman"/>
              </a:rPr>
              <a:t>collection </a:t>
            </a:r>
            <a:r>
              <a:rPr sz="2904" i="1" spc="23" dirty="0">
                <a:latin typeface="Times New Roman"/>
                <a:cs typeface="Times New Roman"/>
              </a:rPr>
              <a:t>of </a:t>
            </a:r>
            <a:r>
              <a:rPr sz="2904" i="1" spc="41" dirty="0">
                <a:latin typeface="Times New Roman"/>
                <a:cs typeface="Times New Roman"/>
              </a:rPr>
              <a:t>interrelated  </a:t>
            </a:r>
            <a:r>
              <a:rPr sz="2904" i="1" spc="51" dirty="0">
                <a:latin typeface="Times New Roman"/>
                <a:cs typeface="Times New Roman"/>
              </a:rPr>
              <a:t>components </a:t>
            </a:r>
            <a:r>
              <a:rPr sz="2904" i="1" spc="132" dirty="0">
                <a:latin typeface="Times New Roman"/>
                <a:cs typeface="Times New Roman"/>
              </a:rPr>
              <a:t>that </a:t>
            </a:r>
            <a:r>
              <a:rPr sz="2904" i="1" spc="87" dirty="0">
                <a:latin typeface="Times New Roman"/>
                <a:cs typeface="Times New Roman"/>
              </a:rPr>
              <a:t>work </a:t>
            </a:r>
            <a:r>
              <a:rPr sz="2904" i="1" spc="36" dirty="0">
                <a:latin typeface="Times New Roman"/>
                <a:cs typeface="Times New Roman"/>
              </a:rPr>
              <a:t>together </a:t>
            </a:r>
            <a:r>
              <a:rPr sz="2904" i="1" spc="77" dirty="0">
                <a:latin typeface="Times New Roman"/>
                <a:cs typeface="Times New Roman"/>
              </a:rPr>
              <a:t>to </a:t>
            </a:r>
            <a:r>
              <a:rPr sz="2904" i="1" dirty="0">
                <a:latin typeface="Times New Roman"/>
                <a:cs typeface="Times New Roman"/>
              </a:rPr>
              <a:t>achieve </a:t>
            </a:r>
            <a:r>
              <a:rPr sz="2904" i="1" spc="36" dirty="0">
                <a:latin typeface="Times New Roman"/>
                <a:cs typeface="Times New Roman"/>
              </a:rPr>
              <a:t>some  </a:t>
            </a:r>
            <a:r>
              <a:rPr sz="2904" i="1" spc="-51" dirty="0">
                <a:latin typeface="Times New Roman"/>
                <a:cs typeface="Times New Roman"/>
              </a:rPr>
              <a:t>objective”</a:t>
            </a:r>
            <a:endParaRPr sz="2904" dirty="0">
              <a:latin typeface="Times New Roman"/>
              <a:cs typeface="Times New Roman"/>
            </a:endParaRPr>
          </a:p>
          <a:p>
            <a:pPr marL="34579">
              <a:spcBef>
                <a:spcPts val="1316"/>
              </a:spcBef>
            </a:pPr>
            <a:r>
              <a:rPr sz="2904" spc="-41" dirty="0">
                <a:latin typeface="Georgia"/>
                <a:cs typeface="Georgia"/>
              </a:rPr>
              <a:t>System </a:t>
            </a:r>
            <a:r>
              <a:rPr sz="2904" spc="-32" dirty="0">
                <a:latin typeface="Georgia"/>
                <a:cs typeface="Georgia"/>
              </a:rPr>
              <a:t>that </a:t>
            </a:r>
            <a:r>
              <a:rPr sz="2904" spc="-36" dirty="0">
                <a:latin typeface="Georgia"/>
                <a:cs typeface="Georgia"/>
              </a:rPr>
              <a:t>includes </a:t>
            </a:r>
            <a:r>
              <a:rPr sz="2904" spc="9" dirty="0">
                <a:latin typeface="Georgia"/>
                <a:cs typeface="Georgia"/>
              </a:rPr>
              <a:t>s/w </a:t>
            </a:r>
            <a:r>
              <a:rPr sz="2904" spc="-9" dirty="0">
                <a:latin typeface="Georgia"/>
                <a:cs typeface="Georgia"/>
              </a:rPr>
              <a:t>fall </a:t>
            </a:r>
            <a:r>
              <a:rPr sz="2904" spc="-36" dirty="0">
                <a:latin typeface="Georgia"/>
                <a:cs typeface="Georgia"/>
              </a:rPr>
              <a:t>into </a:t>
            </a:r>
            <a:r>
              <a:rPr sz="2904" spc="19" dirty="0">
                <a:latin typeface="Georgia"/>
                <a:cs typeface="Georgia"/>
              </a:rPr>
              <a:t>two</a:t>
            </a:r>
            <a:r>
              <a:rPr sz="2904" spc="191" dirty="0">
                <a:latin typeface="Georgia"/>
                <a:cs typeface="Georgia"/>
              </a:rPr>
              <a:t> </a:t>
            </a:r>
            <a:r>
              <a:rPr sz="2904" spc="-23" dirty="0">
                <a:latin typeface="Georgia"/>
                <a:cs typeface="Georgia"/>
              </a:rPr>
              <a:t>categories</a:t>
            </a:r>
            <a:endParaRPr sz="2904" dirty="0">
              <a:latin typeface="Georgia"/>
              <a:cs typeface="Georgia"/>
            </a:endParaRPr>
          </a:p>
          <a:p>
            <a:pPr marL="132551">
              <a:spcBef>
                <a:spcPts val="1071"/>
              </a:spcBef>
            </a:pPr>
            <a:r>
              <a:rPr sz="2859" baseline="10582" dirty="0">
                <a:latin typeface="OpenSymbol"/>
                <a:cs typeface="OpenSymbol"/>
              </a:rPr>
              <a:t>– </a:t>
            </a:r>
            <a:r>
              <a:rPr sz="2541" b="1" spc="-159" dirty="0">
                <a:latin typeface="Georgia"/>
                <a:cs typeface="Georgia"/>
              </a:rPr>
              <a:t>Technical </a:t>
            </a:r>
            <a:r>
              <a:rPr sz="2541" b="1" spc="-172" dirty="0">
                <a:latin typeface="Georgia"/>
                <a:cs typeface="Georgia"/>
              </a:rPr>
              <a:t>computer-based</a:t>
            </a:r>
            <a:r>
              <a:rPr sz="2541" b="1" spc="145" dirty="0">
                <a:latin typeface="Georgia"/>
                <a:cs typeface="Georgia"/>
              </a:rPr>
              <a:t> </a:t>
            </a:r>
            <a:r>
              <a:rPr sz="2541" b="1" spc="-172" dirty="0">
                <a:latin typeface="Georgia"/>
                <a:cs typeface="Georgia"/>
              </a:rPr>
              <a:t>systems</a:t>
            </a:r>
            <a:endParaRPr sz="2541" dirty="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1384" y="4260029"/>
            <a:ext cx="122176" cy="161774"/>
          </a:xfrm>
          <a:prstGeom prst="rect">
            <a:avLst/>
          </a:prstGeom>
        </p:spPr>
        <p:txBody>
          <a:bodyPr vert="horz" wrap="square" lIns="0" tIns="14984" rIns="0" bIns="0" rtlCol="0">
            <a:spAutoFit/>
          </a:bodyPr>
          <a:lstStyle/>
          <a:p>
            <a:pPr marL="11526">
              <a:spcBef>
                <a:spcPts val="119"/>
              </a:spcBef>
            </a:pPr>
            <a:r>
              <a:rPr sz="953" spc="19" dirty="0">
                <a:latin typeface="OpenSymbol"/>
                <a:cs typeface="OpenSymbol"/>
              </a:rPr>
              <a:t>●</a:t>
            </a:r>
            <a:endParaRPr sz="953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388" y="3980246"/>
            <a:ext cx="7766253" cy="1205921"/>
          </a:xfrm>
          <a:prstGeom prst="rect">
            <a:avLst/>
          </a:prstGeom>
        </p:spPr>
        <p:txBody>
          <a:bodyPr vert="horz" wrap="square" lIns="0" tIns="9221" rIns="0" bIns="0" rtlCol="0">
            <a:spAutoFit/>
          </a:bodyPr>
          <a:lstStyle/>
          <a:p>
            <a:pPr marL="719813" marR="27663">
              <a:lnSpc>
                <a:spcPct val="100699"/>
              </a:lnSpc>
              <a:spcBef>
                <a:spcPts val="73"/>
              </a:spcBef>
            </a:pPr>
            <a:r>
              <a:rPr sz="2179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179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179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sz="2179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2179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179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sz="2179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 </a:t>
            </a:r>
            <a:r>
              <a:rPr sz="2179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sz="2179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179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procedures </a:t>
            </a:r>
            <a:r>
              <a:rPr sz="2179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179" spc="3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79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processes.</a:t>
            </a:r>
            <a:endParaRPr sz="217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79">
              <a:spcBef>
                <a:spcPts val="1035"/>
              </a:spcBef>
            </a:pPr>
            <a:r>
              <a:rPr sz="2859" baseline="10582" dirty="0">
                <a:latin typeface="OpenSymbol"/>
                <a:cs typeface="OpenSymbol"/>
              </a:rPr>
              <a:t>– </a:t>
            </a:r>
            <a:r>
              <a:rPr sz="2541" b="1" spc="-155" dirty="0">
                <a:latin typeface="Georgia"/>
                <a:cs typeface="Georgia"/>
              </a:rPr>
              <a:t>Socio-technical</a:t>
            </a:r>
            <a:r>
              <a:rPr sz="2541" b="1" spc="-100" dirty="0">
                <a:latin typeface="Georgia"/>
                <a:cs typeface="Georgia"/>
              </a:rPr>
              <a:t> </a:t>
            </a:r>
            <a:r>
              <a:rPr sz="2541" b="1" spc="-172" dirty="0">
                <a:latin typeface="Georgia"/>
                <a:cs typeface="Georgia"/>
              </a:rPr>
              <a:t>systems</a:t>
            </a:r>
            <a:endParaRPr sz="2541" dirty="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1386" y="5534810"/>
            <a:ext cx="106039" cy="137380"/>
          </a:xfrm>
          <a:prstGeom prst="rect">
            <a:avLst/>
          </a:prstGeom>
        </p:spPr>
        <p:txBody>
          <a:bodyPr vert="horz" wrap="square" lIns="0" tIns="11527" rIns="0" bIns="0" rtlCol="0">
            <a:spAutoFit/>
          </a:bodyPr>
          <a:lstStyle/>
          <a:p>
            <a:pPr marL="11526">
              <a:spcBef>
                <a:spcPts val="91"/>
              </a:spcBef>
            </a:pPr>
            <a:r>
              <a:rPr sz="817" dirty="0">
                <a:latin typeface="OpenSymbol"/>
                <a:cs typeface="OpenSymbol"/>
              </a:rPr>
              <a:t>●</a:t>
            </a:r>
            <a:endParaRPr sz="817">
              <a:latin typeface="OpenSymbol"/>
              <a:cs typeface="Open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4057" y="5372142"/>
            <a:ext cx="6994584" cy="855115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11526" marR="4611">
              <a:lnSpc>
                <a:spcPct val="101000"/>
              </a:lnSpc>
              <a:spcBef>
                <a:spcPts val="68"/>
              </a:spcBef>
            </a:pPr>
            <a:r>
              <a:rPr sz="1815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1815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include technical </a:t>
            </a:r>
            <a:r>
              <a:rPr sz="1815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1815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sz="1815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operational </a:t>
            </a:r>
            <a:r>
              <a:rPr sz="1815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 </a:t>
            </a:r>
            <a:r>
              <a:rPr sz="1815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815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sz="1815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</a:t>
            </a:r>
            <a:r>
              <a:rPr sz="1815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and </a:t>
            </a:r>
            <a:r>
              <a:rPr sz="181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 </a:t>
            </a:r>
            <a:r>
              <a:rPr sz="1815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181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815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</a:t>
            </a:r>
            <a:r>
              <a:rPr sz="181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 </a:t>
            </a:r>
            <a:r>
              <a:rPr sz="1815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  </a:t>
            </a:r>
            <a:r>
              <a:rPr sz="1815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sz="1815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5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sz="1815" spc="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815" spc="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5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governed</a:t>
            </a:r>
            <a:r>
              <a:rPr sz="1815" spc="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5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815" spc="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5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organisational</a:t>
            </a:r>
            <a:r>
              <a:rPr sz="1815" spc="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</a:t>
            </a:r>
            <a:r>
              <a:rPr sz="1815" spc="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5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15" spc="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5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sz="1815" spc="-19" dirty="0">
                <a:latin typeface="Georgia"/>
                <a:cs typeface="Georgia"/>
              </a:rPr>
              <a:t>.</a:t>
            </a:r>
            <a:endParaRPr sz="1815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72379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89" y="511571"/>
            <a:ext cx="9543571" cy="565636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2193442" marR="4611" indent="-2181916">
              <a:lnSpc>
                <a:spcPct val="100000"/>
              </a:lnSpc>
              <a:spcBef>
                <a:spcPts val="91"/>
              </a:spcBef>
            </a:pPr>
            <a:r>
              <a:rPr spc="-245" dirty="0"/>
              <a:t>Technical </a:t>
            </a:r>
            <a:r>
              <a:rPr spc="-272" dirty="0"/>
              <a:t>Computer-based  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037" y="1691145"/>
            <a:ext cx="10900563" cy="1360618"/>
          </a:xfrm>
          <a:prstGeom prst="rect">
            <a:avLst/>
          </a:prstGeom>
        </p:spPr>
        <p:txBody>
          <a:bodyPr vert="horz" wrap="square" lIns="0" tIns="6339" rIns="0" bIns="0" rtlCol="0">
            <a:spAutoFit/>
          </a:bodyPr>
          <a:lstStyle/>
          <a:p>
            <a:pPr marL="11526" marR="4611">
              <a:lnSpc>
                <a:spcPct val="101099"/>
              </a:lnSpc>
              <a:spcBef>
                <a:spcPts val="51"/>
              </a:spcBef>
            </a:pPr>
            <a:r>
              <a:rPr sz="2904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904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904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sz="2904" i="1" spc="183" dirty="0">
                <a:uFill>
                  <a:solidFill>
                    <a:srgbClr val="1833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sz="2904" i="1" spc="1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904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904" i="1" spc="145" dirty="0">
                <a:uFill>
                  <a:solidFill>
                    <a:srgbClr val="99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z="2904" i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904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 </a:t>
            </a:r>
            <a:r>
              <a:rPr sz="2904" i="1" spc="136" dirty="0">
                <a:uFill>
                  <a:solidFill>
                    <a:srgbClr val="000099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904" i="1" spc="141" dirty="0">
                <a:uFill>
                  <a:solidFill>
                    <a:srgbClr val="000099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904" i="1" spc="155" dirty="0">
                <a:uFill>
                  <a:solidFill>
                    <a:srgbClr val="000099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r>
              <a:rPr sz="2904" i="1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904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904" i="1" spc="155" dirty="0">
                <a:uFill>
                  <a:solidFill>
                    <a:srgbClr val="CC33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</a:t>
            </a:r>
            <a:r>
              <a:rPr sz="2904" i="1" spc="77" dirty="0">
                <a:uFill>
                  <a:solidFill>
                    <a:srgbClr val="CC33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</a:t>
            </a:r>
            <a:r>
              <a:rPr sz="2904" i="1" spc="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904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normally </a:t>
            </a:r>
            <a:r>
              <a:rPr sz="2904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considered </a:t>
            </a:r>
            <a:r>
              <a:rPr sz="2904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904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904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sz="2904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904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904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endParaRPr sz="29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69943" y="3519594"/>
            <a:ext cx="953204" cy="1841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  <p:sp>
        <p:nvSpPr>
          <p:cNvPr id="6" name="object 6"/>
          <p:cNvSpPr/>
          <p:nvPr/>
        </p:nvSpPr>
        <p:spPr>
          <a:xfrm>
            <a:off x="5240377" y="4117106"/>
            <a:ext cx="1681881" cy="1181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  <p:sp>
        <p:nvSpPr>
          <p:cNvPr id="7" name="object 7"/>
          <p:cNvSpPr/>
          <p:nvPr/>
        </p:nvSpPr>
        <p:spPr>
          <a:xfrm>
            <a:off x="1804068" y="3460811"/>
            <a:ext cx="2481213" cy="19594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</p:spTree>
    <p:extLst>
      <p:ext uri="{BB962C8B-B14F-4D97-AF65-F5344CB8AC3E}">
        <p14:creationId xmlns:p14="http://schemas.microsoft.com/office/powerpoint/2010/main" val="2560337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226" y="591746"/>
            <a:ext cx="5405141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31" dirty="0"/>
              <a:t>Socio-technical</a:t>
            </a:r>
            <a:r>
              <a:rPr spc="100" dirty="0"/>
              <a:t> </a:t>
            </a:r>
            <a:r>
              <a:rPr spc="-272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8657" y="1479191"/>
            <a:ext cx="11470075" cy="1479828"/>
          </a:xfrm>
          <a:prstGeom prst="rect">
            <a:avLst/>
          </a:prstGeom>
        </p:spPr>
        <p:txBody>
          <a:bodyPr vert="horz" wrap="square" lIns="0" tIns="7492" rIns="0" bIns="0" rtlCol="0">
            <a:spAutoFit/>
          </a:bodyPr>
          <a:lstStyle/>
          <a:p>
            <a:pPr marL="11526" marR="4611" algn="just">
              <a:lnSpc>
                <a:spcPct val="100899"/>
              </a:lnSpc>
              <a:spcBef>
                <a:spcPts val="59"/>
              </a:spcBef>
            </a:pPr>
            <a:r>
              <a:rPr sz="28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8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technical </a:t>
            </a:r>
            <a:r>
              <a:rPr sz="2800" spc="-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8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sz="28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 operational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</a:t>
            </a:r>
            <a:r>
              <a:rPr sz="28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</a:t>
            </a:r>
            <a:r>
              <a:rPr sz="28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and  interact </a:t>
            </a:r>
            <a:r>
              <a:rPr sz="28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8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sz="2800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26" marR="1010273" algn="just">
              <a:lnSpc>
                <a:spcPct val="100800"/>
              </a:lnSpc>
              <a:spcBef>
                <a:spcPts val="1289"/>
              </a:spcBef>
            </a:pPr>
            <a:r>
              <a:rPr sz="28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Socio-technical </a:t>
            </a:r>
            <a:r>
              <a:rPr sz="2800" spc="-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8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governed </a:t>
            </a:r>
            <a:r>
              <a:rPr sz="28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 </a:t>
            </a:r>
            <a:r>
              <a:rPr sz="28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</a:t>
            </a:r>
            <a:r>
              <a:rPr sz="28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and</a:t>
            </a:r>
            <a:r>
              <a:rPr sz="2800" spc="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27507" y="3798421"/>
            <a:ext cx="2117912" cy="7085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  <p:sp>
        <p:nvSpPr>
          <p:cNvPr id="7" name="object 7"/>
          <p:cNvSpPr/>
          <p:nvPr/>
        </p:nvSpPr>
        <p:spPr>
          <a:xfrm>
            <a:off x="1523617" y="3220786"/>
            <a:ext cx="2222223" cy="21138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  <p:sp>
        <p:nvSpPr>
          <p:cNvPr id="8" name="object 8"/>
          <p:cNvSpPr/>
          <p:nvPr/>
        </p:nvSpPr>
        <p:spPr>
          <a:xfrm>
            <a:off x="4941954" y="3473082"/>
            <a:ext cx="2090825" cy="2253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</p:spTree>
    <p:extLst>
      <p:ext uri="{BB962C8B-B14F-4D97-AF65-F5344CB8AC3E}">
        <p14:creationId xmlns:p14="http://schemas.microsoft.com/office/powerpoint/2010/main" val="369469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7601" y="1549401"/>
            <a:ext cx="9944100" cy="4635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2920" y="685607"/>
            <a:ext cx="6653413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31" dirty="0"/>
              <a:t>Sociotechnical </a:t>
            </a:r>
            <a:r>
              <a:rPr spc="-272" dirty="0"/>
              <a:t>System</a:t>
            </a:r>
            <a:r>
              <a:rPr spc="-323" dirty="0"/>
              <a:t> </a:t>
            </a:r>
            <a:r>
              <a:rPr spc="-251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61487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9237" y="660712"/>
            <a:ext cx="5657563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304" dirty="0"/>
              <a:t>Layers </a:t>
            </a:r>
            <a:r>
              <a:rPr spc="-268" dirty="0"/>
              <a:t>in </a:t>
            </a:r>
            <a:r>
              <a:rPr spc="-231" dirty="0"/>
              <a:t>the </a:t>
            </a:r>
            <a:r>
              <a:rPr spc="-327" dirty="0"/>
              <a:t>STS</a:t>
            </a:r>
            <a:r>
              <a:rPr spc="-123" dirty="0"/>
              <a:t> </a:t>
            </a:r>
            <a:r>
              <a:rPr spc="-241" dirty="0"/>
              <a:t>stacks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3441" y="1681651"/>
            <a:ext cx="126211" cy="167726"/>
          </a:xfrm>
          <a:prstGeom prst="rect">
            <a:avLst/>
          </a:prstGeom>
        </p:spPr>
        <p:txBody>
          <a:bodyPr vert="horz" wrap="square" lIns="0" tIns="13831" rIns="0" bIns="0" rtlCol="0">
            <a:spAutoFit/>
          </a:bodyPr>
          <a:lstStyle/>
          <a:p>
            <a:pPr marL="11526">
              <a:spcBef>
                <a:spcPts val="109"/>
              </a:spcBef>
            </a:pPr>
            <a:r>
              <a:rPr sz="999" spc="15" dirty="0">
                <a:latin typeface="OpenSymbol"/>
                <a:cs typeface="OpenSymbol"/>
              </a:rPr>
              <a:t>●</a:t>
            </a:r>
            <a:endParaRPr sz="999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3213" y="1461424"/>
            <a:ext cx="9329187" cy="3952448"/>
          </a:xfrm>
          <a:prstGeom prst="rect">
            <a:avLst/>
          </a:prstGeom>
        </p:spPr>
        <p:txBody>
          <a:bodyPr vert="horz" wrap="square" lIns="0" tIns="139465" rIns="0" bIns="0" rtlCol="0">
            <a:spAutoFit/>
          </a:bodyPr>
          <a:lstStyle/>
          <a:p>
            <a:pPr marL="34579">
              <a:spcBef>
                <a:spcPts val="1099"/>
              </a:spcBef>
            </a:pPr>
            <a:r>
              <a:rPr sz="2269" b="1" spc="-159" dirty="0">
                <a:latin typeface="Georgia"/>
                <a:cs typeface="Georgia"/>
              </a:rPr>
              <a:t>Equipment</a:t>
            </a:r>
            <a:endParaRPr sz="2269" dirty="0">
              <a:latin typeface="Georgia"/>
              <a:cs typeface="Georgia"/>
            </a:endParaRPr>
          </a:p>
          <a:p>
            <a:pPr marL="343482" marR="27663" indent="-231677">
              <a:lnSpc>
                <a:spcPct val="101099"/>
              </a:lnSpc>
              <a:spcBef>
                <a:spcPts val="844"/>
              </a:spcBef>
              <a:buSzPct val="75000"/>
              <a:buFont typeface="OpenSymbol"/>
              <a:buChar char="–"/>
              <a:tabLst>
                <a:tab pos="343482" algn="l"/>
              </a:tabLst>
            </a:pPr>
            <a:r>
              <a:rPr sz="1997" spc="-19" dirty="0">
                <a:latin typeface="Georgia"/>
                <a:cs typeface="Georgia"/>
              </a:rPr>
              <a:t>Hardware </a:t>
            </a:r>
            <a:r>
              <a:rPr sz="1997" spc="-9" dirty="0">
                <a:latin typeface="Georgia"/>
                <a:cs typeface="Georgia"/>
              </a:rPr>
              <a:t>devices </a:t>
            </a:r>
            <a:r>
              <a:rPr sz="1997" spc="19" dirty="0">
                <a:latin typeface="Georgia"/>
                <a:cs typeface="Georgia"/>
              </a:rPr>
              <a:t>, </a:t>
            </a:r>
            <a:r>
              <a:rPr sz="1997" spc="-27" dirty="0">
                <a:latin typeface="Georgia"/>
                <a:cs typeface="Georgia"/>
              </a:rPr>
              <a:t>some </a:t>
            </a:r>
            <a:r>
              <a:rPr sz="1997" dirty="0">
                <a:latin typeface="Georgia"/>
                <a:cs typeface="Georgia"/>
              </a:rPr>
              <a:t>of </a:t>
            </a:r>
            <a:r>
              <a:rPr sz="1997" spc="-5" dirty="0">
                <a:latin typeface="Georgia"/>
                <a:cs typeface="Georgia"/>
              </a:rPr>
              <a:t>which </a:t>
            </a:r>
            <a:r>
              <a:rPr sz="1997" spc="-15" dirty="0">
                <a:latin typeface="Georgia"/>
                <a:cs typeface="Georgia"/>
              </a:rPr>
              <a:t>may </a:t>
            </a:r>
            <a:r>
              <a:rPr sz="1997" spc="-9" dirty="0">
                <a:latin typeface="Georgia"/>
                <a:cs typeface="Georgia"/>
              </a:rPr>
              <a:t>be </a:t>
            </a:r>
            <a:r>
              <a:rPr sz="1997" spc="-27" dirty="0">
                <a:latin typeface="Georgia"/>
                <a:cs typeface="Georgia"/>
              </a:rPr>
              <a:t>computers.Most </a:t>
            </a:r>
            <a:r>
              <a:rPr sz="1997" spc="-15" dirty="0">
                <a:latin typeface="Georgia"/>
                <a:cs typeface="Georgia"/>
              </a:rPr>
              <a:t>devices  </a:t>
            </a:r>
            <a:r>
              <a:rPr sz="1997" spc="9" dirty="0">
                <a:latin typeface="Georgia"/>
                <a:cs typeface="Georgia"/>
              </a:rPr>
              <a:t>will </a:t>
            </a:r>
            <a:r>
              <a:rPr sz="1997" spc="-15" dirty="0">
                <a:latin typeface="Georgia"/>
                <a:cs typeface="Georgia"/>
              </a:rPr>
              <a:t>include an </a:t>
            </a:r>
            <a:r>
              <a:rPr sz="1997" spc="-9" dirty="0">
                <a:latin typeface="Georgia"/>
                <a:cs typeface="Georgia"/>
              </a:rPr>
              <a:t>embedded </a:t>
            </a:r>
            <a:r>
              <a:rPr sz="1997" spc="-32" dirty="0">
                <a:latin typeface="Georgia"/>
                <a:cs typeface="Georgia"/>
              </a:rPr>
              <a:t>system </a:t>
            </a:r>
            <a:r>
              <a:rPr sz="1997" dirty="0">
                <a:latin typeface="Georgia"/>
                <a:cs typeface="Georgia"/>
              </a:rPr>
              <a:t>of </a:t>
            </a:r>
            <a:r>
              <a:rPr sz="1997" spc="-27" dirty="0">
                <a:latin typeface="Georgia"/>
                <a:cs typeface="Georgia"/>
              </a:rPr>
              <a:t>some</a:t>
            </a:r>
            <a:r>
              <a:rPr sz="1997" spc="109" dirty="0">
                <a:latin typeface="Georgia"/>
                <a:cs typeface="Georgia"/>
              </a:rPr>
              <a:t> </a:t>
            </a:r>
            <a:r>
              <a:rPr sz="1997" spc="-19" dirty="0">
                <a:latin typeface="Georgia"/>
                <a:cs typeface="Georgia"/>
              </a:rPr>
              <a:t>kind.</a:t>
            </a:r>
            <a:endParaRPr sz="1997" dirty="0">
              <a:latin typeface="Georgia"/>
              <a:cs typeface="Georgia"/>
            </a:endParaRPr>
          </a:p>
          <a:p>
            <a:pPr marL="34579">
              <a:spcBef>
                <a:spcPts val="1063"/>
              </a:spcBef>
            </a:pPr>
            <a:r>
              <a:rPr sz="2269" b="1" spc="-123" dirty="0">
                <a:latin typeface="Georgia"/>
                <a:cs typeface="Georgia"/>
              </a:rPr>
              <a:t>Operating</a:t>
            </a:r>
            <a:r>
              <a:rPr sz="2269" b="1" spc="95" dirty="0">
                <a:latin typeface="Georgia"/>
                <a:cs typeface="Georgia"/>
              </a:rPr>
              <a:t> </a:t>
            </a:r>
            <a:r>
              <a:rPr sz="2269" b="1" spc="-141" dirty="0">
                <a:latin typeface="Georgia"/>
                <a:cs typeface="Georgia"/>
              </a:rPr>
              <a:t>System</a:t>
            </a:r>
            <a:endParaRPr sz="2269" dirty="0">
              <a:latin typeface="Georgia"/>
              <a:cs typeface="Georgia"/>
            </a:endParaRPr>
          </a:p>
          <a:p>
            <a:pPr marL="343482" indent="-231677">
              <a:spcBef>
                <a:spcPts val="871"/>
              </a:spcBef>
              <a:buSzPct val="75000"/>
              <a:buFont typeface="OpenSymbol"/>
              <a:buChar char="–"/>
              <a:tabLst>
                <a:tab pos="343482" algn="l"/>
              </a:tabLst>
            </a:pPr>
            <a:r>
              <a:rPr sz="1997" spc="-27" dirty="0">
                <a:latin typeface="Georgia"/>
                <a:cs typeface="Georgia"/>
              </a:rPr>
              <a:t>Provides</a:t>
            </a:r>
            <a:r>
              <a:rPr sz="1997" spc="68" dirty="0">
                <a:latin typeface="Georgia"/>
                <a:cs typeface="Georgia"/>
              </a:rPr>
              <a:t> </a:t>
            </a:r>
            <a:r>
              <a:rPr sz="1997" spc="9" dirty="0">
                <a:latin typeface="Georgia"/>
                <a:cs typeface="Georgia"/>
              </a:rPr>
              <a:t>a</a:t>
            </a:r>
            <a:r>
              <a:rPr sz="1997" spc="77" dirty="0">
                <a:latin typeface="Georgia"/>
                <a:cs typeface="Georgia"/>
              </a:rPr>
              <a:t> </a:t>
            </a:r>
            <a:r>
              <a:rPr sz="1997" spc="-23" dirty="0">
                <a:latin typeface="Georgia"/>
                <a:cs typeface="Georgia"/>
              </a:rPr>
              <a:t>set</a:t>
            </a:r>
            <a:r>
              <a:rPr sz="1997" spc="77" dirty="0">
                <a:latin typeface="Georgia"/>
                <a:cs typeface="Georgia"/>
              </a:rPr>
              <a:t> </a:t>
            </a:r>
            <a:r>
              <a:rPr sz="1997" spc="-5" dirty="0">
                <a:latin typeface="Georgia"/>
                <a:cs typeface="Georgia"/>
              </a:rPr>
              <a:t>of</a:t>
            </a:r>
            <a:r>
              <a:rPr sz="1997" spc="73" dirty="0">
                <a:latin typeface="Georgia"/>
                <a:cs typeface="Georgia"/>
              </a:rPr>
              <a:t> </a:t>
            </a:r>
            <a:r>
              <a:rPr sz="1997" spc="-27" dirty="0">
                <a:latin typeface="Georgia"/>
                <a:cs typeface="Georgia"/>
              </a:rPr>
              <a:t>common</a:t>
            </a:r>
            <a:r>
              <a:rPr sz="1997" spc="73" dirty="0">
                <a:latin typeface="Georgia"/>
                <a:cs typeface="Georgia"/>
              </a:rPr>
              <a:t> </a:t>
            </a:r>
            <a:r>
              <a:rPr sz="1997" spc="-15" dirty="0">
                <a:latin typeface="Georgia"/>
                <a:cs typeface="Georgia"/>
              </a:rPr>
              <a:t>facilities</a:t>
            </a:r>
            <a:r>
              <a:rPr sz="1997" spc="73" dirty="0">
                <a:latin typeface="Georgia"/>
                <a:cs typeface="Georgia"/>
              </a:rPr>
              <a:t> </a:t>
            </a:r>
            <a:r>
              <a:rPr sz="1997" spc="-19" dirty="0">
                <a:latin typeface="Georgia"/>
                <a:cs typeface="Georgia"/>
              </a:rPr>
              <a:t>for</a:t>
            </a:r>
            <a:r>
              <a:rPr sz="1997" spc="68" dirty="0">
                <a:latin typeface="Georgia"/>
                <a:cs typeface="Georgia"/>
              </a:rPr>
              <a:t> </a:t>
            </a:r>
            <a:r>
              <a:rPr sz="1997" spc="-15" dirty="0">
                <a:latin typeface="Georgia"/>
                <a:cs typeface="Georgia"/>
              </a:rPr>
              <a:t>higher</a:t>
            </a:r>
            <a:r>
              <a:rPr sz="1997" spc="73" dirty="0">
                <a:latin typeface="Georgia"/>
                <a:cs typeface="Georgia"/>
              </a:rPr>
              <a:t> </a:t>
            </a:r>
            <a:r>
              <a:rPr sz="1997" spc="-9" dirty="0">
                <a:latin typeface="Georgia"/>
                <a:cs typeface="Georgia"/>
              </a:rPr>
              <a:t>levels</a:t>
            </a:r>
            <a:r>
              <a:rPr sz="1997" spc="73" dirty="0">
                <a:latin typeface="Georgia"/>
                <a:cs typeface="Georgia"/>
              </a:rPr>
              <a:t> </a:t>
            </a:r>
            <a:r>
              <a:rPr sz="1997" spc="-36" dirty="0">
                <a:latin typeface="Georgia"/>
                <a:cs typeface="Georgia"/>
              </a:rPr>
              <a:t>in</a:t>
            </a:r>
            <a:r>
              <a:rPr sz="1997" spc="73" dirty="0">
                <a:latin typeface="Georgia"/>
                <a:cs typeface="Georgia"/>
              </a:rPr>
              <a:t> </a:t>
            </a:r>
            <a:r>
              <a:rPr sz="1997" spc="-9" dirty="0">
                <a:latin typeface="Georgia"/>
                <a:cs typeface="Georgia"/>
              </a:rPr>
              <a:t>the</a:t>
            </a:r>
            <a:r>
              <a:rPr sz="1997" spc="68" dirty="0">
                <a:latin typeface="Georgia"/>
                <a:cs typeface="Georgia"/>
              </a:rPr>
              <a:t> </a:t>
            </a:r>
            <a:r>
              <a:rPr sz="1997" spc="-23" dirty="0">
                <a:latin typeface="Georgia"/>
                <a:cs typeface="Georgia"/>
              </a:rPr>
              <a:t>system.</a:t>
            </a:r>
            <a:endParaRPr sz="1997" dirty="0">
              <a:latin typeface="Georgia"/>
              <a:cs typeface="Georgia"/>
            </a:endParaRPr>
          </a:p>
          <a:p>
            <a:pPr marL="34579">
              <a:spcBef>
                <a:spcPts val="1053"/>
              </a:spcBef>
            </a:pPr>
            <a:r>
              <a:rPr sz="2269" b="1" spc="-145" dirty="0">
                <a:latin typeface="Georgia"/>
                <a:cs typeface="Georgia"/>
              </a:rPr>
              <a:t>Communications </a:t>
            </a:r>
            <a:r>
              <a:rPr sz="2269" b="1" spc="-141" dirty="0">
                <a:latin typeface="Georgia"/>
                <a:cs typeface="Georgia"/>
              </a:rPr>
              <a:t>and </a:t>
            </a:r>
            <a:r>
              <a:rPr sz="2269" b="1" spc="-109" dirty="0">
                <a:latin typeface="Georgia"/>
                <a:cs typeface="Georgia"/>
              </a:rPr>
              <a:t>data</a:t>
            </a:r>
            <a:r>
              <a:rPr sz="2269" b="1" spc="-300" dirty="0">
                <a:latin typeface="Georgia"/>
                <a:cs typeface="Georgia"/>
              </a:rPr>
              <a:t> </a:t>
            </a:r>
            <a:r>
              <a:rPr sz="2269" b="1" spc="-136" dirty="0">
                <a:latin typeface="Georgia"/>
                <a:cs typeface="Georgia"/>
              </a:rPr>
              <a:t>management</a:t>
            </a:r>
            <a:endParaRPr sz="2269" dirty="0">
              <a:latin typeface="Georgia"/>
              <a:cs typeface="Georgia"/>
            </a:endParaRPr>
          </a:p>
          <a:p>
            <a:pPr marL="343482" indent="-231677">
              <a:spcBef>
                <a:spcPts val="871"/>
              </a:spcBef>
              <a:buSzPct val="75000"/>
              <a:buFont typeface="OpenSymbol"/>
              <a:buChar char="–"/>
              <a:tabLst>
                <a:tab pos="343482" algn="l"/>
              </a:tabLst>
            </a:pPr>
            <a:r>
              <a:rPr sz="1997" spc="-9" dirty="0">
                <a:latin typeface="Georgia"/>
                <a:cs typeface="Georgia"/>
              </a:rPr>
              <a:t>Middleware</a:t>
            </a:r>
            <a:r>
              <a:rPr sz="1997" spc="77" dirty="0">
                <a:latin typeface="Georgia"/>
                <a:cs typeface="Georgia"/>
              </a:rPr>
              <a:t> </a:t>
            </a:r>
            <a:r>
              <a:rPr sz="1997" spc="-15" dirty="0">
                <a:latin typeface="Georgia"/>
                <a:cs typeface="Georgia"/>
              </a:rPr>
              <a:t>that</a:t>
            </a:r>
            <a:r>
              <a:rPr sz="1997" spc="87" dirty="0">
                <a:latin typeface="Georgia"/>
                <a:cs typeface="Georgia"/>
              </a:rPr>
              <a:t> </a:t>
            </a:r>
            <a:r>
              <a:rPr sz="1997" spc="-23" dirty="0">
                <a:latin typeface="Georgia"/>
                <a:cs typeface="Georgia"/>
              </a:rPr>
              <a:t>provides</a:t>
            </a:r>
            <a:r>
              <a:rPr sz="1997" spc="83" dirty="0">
                <a:latin typeface="Georgia"/>
                <a:cs typeface="Georgia"/>
              </a:rPr>
              <a:t> </a:t>
            </a:r>
            <a:r>
              <a:rPr sz="1997" spc="-19" dirty="0">
                <a:latin typeface="Georgia"/>
                <a:cs typeface="Georgia"/>
              </a:rPr>
              <a:t>access</a:t>
            </a:r>
            <a:r>
              <a:rPr sz="1997" spc="77" dirty="0">
                <a:latin typeface="Georgia"/>
                <a:cs typeface="Georgia"/>
              </a:rPr>
              <a:t> </a:t>
            </a:r>
            <a:r>
              <a:rPr sz="1997" spc="-9" dirty="0">
                <a:latin typeface="Georgia"/>
                <a:cs typeface="Georgia"/>
              </a:rPr>
              <a:t>to</a:t>
            </a:r>
            <a:r>
              <a:rPr sz="1997" spc="87" dirty="0">
                <a:latin typeface="Georgia"/>
                <a:cs typeface="Georgia"/>
              </a:rPr>
              <a:t> </a:t>
            </a:r>
            <a:r>
              <a:rPr sz="1997" spc="-19" dirty="0">
                <a:latin typeface="Georgia"/>
                <a:cs typeface="Georgia"/>
              </a:rPr>
              <a:t>remote</a:t>
            </a:r>
            <a:r>
              <a:rPr sz="1997" spc="83" dirty="0">
                <a:latin typeface="Georgia"/>
                <a:cs typeface="Georgia"/>
              </a:rPr>
              <a:t> </a:t>
            </a:r>
            <a:r>
              <a:rPr sz="1997" spc="-36" dirty="0">
                <a:latin typeface="Georgia"/>
                <a:cs typeface="Georgia"/>
              </a:rPr>
              <a:t>systems</a:t>
            </a:r>
            <a:r>
              <a:rPr sz="1997" spc="83" dirty="0">
                <a:latin typeface="Georgia"/>
                <a:cs typeface="Georgia"/>
              </a:rPr>
              <a:t> </a:t>
            </a:r>
            <a:r>
              <a:rPr sz="1997" spc="-15" dirty="0">
                <a:latin typeface="Georgia"/>
                <a:cs typeface="Georgia"/>
              </a:rPr>
              <a:t>and</a:t>
            </a:r>
            <a:r>
              <a:rPr sz="1997" spc="83" dirty="0">
                <a:latin typeface="Georgia"/>
                <a:cs typeface="Georgia"/>
              </a:rPr>
              <a:t> </a:t>
            </a:r>
            <a:r>
              <a:rPr sz="1997" spc="-15" dirty="0">
                <a:latin typeface="Georgia"/>
                <a:cs typeface="Georgia"/>
              </a:rPr>
              <a:t>databases.</a:t>
            </a:r>
            <a:endParaRPr sz="1997" dirty="0">
              <a:latin typeface="Georgia"/>
              <a:cs typeface="Georgia"/>
            </a:endParaRPr>
          </a:p>
          <a:p>
            <a:pPr marL="34579">
              <a:spcBef>
                <a:spcPts val="1063"/>
              </a:spcBef>
            </a:pPr>
            <a:r>
              <a:rPr sz="2269" b="1" spc="-127" dirty="0">
                <a:latin typeface="Georgia"/>
                <a:cs typeface="Georgia"/>
              </a:rPr>
              <a:t>Application</a:t>
            </a:r>
            <a:r>
              <a:rPr sz="2269" b="1" spc="95" dirty="0">
                <a:latin typeface="Georgia"/>
                <a:cs typeface="Georgia"/>
              </a:rPr>
              <a:t> </a:t>
            </a:r>
            <a:r>
              <a:rPr sz="2269" b="1" spc="-132" dirty="0">
                <a:latin typeface="Georgia"/>
                <a:cs typeface="Georgia"/>
              </a:rPr>
              <a:t>systems</a:t>
            </a:r>
            <a:endParaRPr sz="2269" dirty="0">
              <a:latin typeface="Georgia"/>
              <a:cs typeface="Georgia"/>
            </a:endParaRPr>
          </a:p>
          <a:p>
            <a:pPr marL="343482" indent="-231677">
              <a:spcBef>
                <a:spcPts val="861"/>
              </a:spcBef>
              <a:buSzPct val="75000"/>
              <a:buFont typeface="OpenSymbol"/>
              <a:buChar char="–"/>
              <a:tabLst>
                <a:tab pos="343482" algn="l"/>
              </a:tabLst>
            </a:pPr>
            <a:r>
              <a:rPr sz="1997" spc="-15" dirty="0">
                <a:latin typeface="Georgia"/>
                <a:cs typeface="Georgia"/>
              </a:rPr>
              <a:t>Specific functionality </a:t>
            </a:r>
            <a:r>
              <a:rPr sz="1997" spc="-9" dirty="0">
                <a:latin typeface="Georgia"/>
                <a:cs typeface="Georgia"/>
              </a:rPr>
              <a:t>to </a:t>
            </a:r>
            <a:r>
              <a:rPr sz="1997" spc="-15" dirty="0">
                <a:latin typeface="Georgia"/>
                <a:cs typeface="Georgia"/>
              </a:rPr>
              <a:t>meet </a:t>
            </a:r>
            <a:r>
              <a:rPr sz="1997" spc="-27" dirty="0">
                <a:latin typeface="Georgia"/>
                <a:cs typeface="Georgia"/>
              </a:rPr>
              <a:t>some </a:t>
            </a:r>
            <a:r>
              <a:rPr sz="1997" spc="-5" dirty="0">
                <a:latin typeface="Georgia"/>
                <a:cs typeface="Georgia"/>
              </a:rPr>
              <a:t>organization</a:t>
            </a:r>
            <a:r>
              <a:rPr sz="1997" spc="55" dirty="0">
                <a:latin typeface="Georgia"/>
                <a:cs typeface="Georgia"/>
              </a:rPr>
              <a:t> </a:t>
            </a:r>
            <a:r>
              <a:rPr sz="1997" spc="-27" dirty="0">
                <a:latin typeface="Georgia"/>
                <a:cs typeface="Georgia"/>
              </a:rPr>
              <a:t>requirements</a:t>
            </a:r>
            <a:endParaRPr sz="1997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3441" y="2884971"/>
            <a:ext cx="126211" cy="167726"/>
          </a:xfrm>
          <a:prstGeom prst="rect">
            <a:avLst/>
          </a:prstGeom>
        </p:spPr>
        <p:txBody>
          <a:bodyPr vert="horz" wrap="square" lIns="0" tIns="13831" rIns="0" bIns="0" rtlCol="0">
            <a:spAutoFit/>
          </a:bodyPr>
          <a:lstStyle/>
          <a:p>
            <a:pPr marL="11526">
              <a:spcBef>
                <a:spcPts val="109"/>
              </a:spcBef>
            </a:pPr>
            <a:r>
              <a:rPr sz="999" spc="15" dirty="0">
                <a:latin typeface="OpenSymbol"/>
                <a:cs typeface="OpenSymbol"/>
              </a:rPr>
              <a:t>●</a:t>
            </a:r>
            <a:endParaRPr sz="999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43441" y="3779392"/>
            <a:ext cx="126211" cy="167726"/>
          </a:xfrm>
          <a:prstGeom prst="rect">
            <a:avLst/>
          </a:prstGeom>
        </p:spPr>
        <p:txBody>
          <a:bodyPr vert="horz" wrap="square" lIns="0" tIns="13831" rIns="0" bIns="0" rtlCol="0">
            <a:spAutoFit/>
          </a:bodyPr>
          <a:lstStyle/>
          <a:p>
            <a:pPr marL="11526">
              <a:spcBef>
                <a:spcPts val="109"/>
              </a:spcBef>
            </a:pPr>
            <a:r>
              <a:rPr sz="999" spc="15" dirty="0">
                <a:latin typeface="OpenSymbol"/>
                <a:cs typeface="OpenSymbol"/>
              </a:rPr>
              <a:t>●</a:t>
            </a:r>
            <a:endParaRPr sz="999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3441" y="4674967"/>
            <a:ext cx="126211" cy="167726"/>
          </a:xfrm>
          <a:prstGeom prst="rect">
            <a:avLst/>
          </a:prstGeom>
        </p:spPr>
        <p:txBody>
          <a:bodyPr vert="horz" wrap="square" lIns="0" tIns="13831" rIns="0" bIns="0" rtlCol="0">
            <a:spAutoFit/>
          </a:bodyPr>
          <a:lstStyle/>
          <a:p>
            <a:pPr marL="11526">
              <a:spcBef>
                <a:spcPts val="109"/>
              </a:spcBef>
            </a:pPr>
            <a:r>
              <a:rPr sz="999" spc="15" dirty="0">
                <a:latin typeface="OpenSymbol"/>
                <a:cs typeface="OpenSymbol"/>
              </a:rPr>
              <a:t>●</a:t>
            </a:r>
            <a:endParaRPr sz="999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67806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3813" y="515982"/>
            <a:ext cx="5657563" cy="565636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304" dirty="0"/>
              <a:t>Layers </a:t>
            </a:r>
            <a:r>
              <a:rPr spc="-268" dirty="0"/>
              <a:t>in </a:t>
            </a:r>
            <a:r>
              <a:rPr spc="-231" dirty="0"/>
              <a:t>the </a:t>
            </a:r>
            <a:r>
              <a:rPr spc="-327" dirty="0"/>
              <a:t>STS</a:t>
            </a:r>
            <a:r>
              <a:rPr spc="-123" dirty="0"/>
              <a:t> </a:t>
            </a:r>
            <a:r>
              <a:rPr spc="-241" dirty="0"/>
              <a:t>stacks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3813" y="1692025"/>
            <a:ext cx="140619" cy="189794"/>
          </a:xfrm>
          <a:prstGeom prst="rect">
            <a:avLst/>
          </a:prstGeom>
        </p:spPr>
        <p:txBody>
          <a:bodyPr vert="horz" wrap="square" lIns="0" tIns="14984" rIns="0" bIns="0" rtlCol="0">
            <a:spAutoFit/>
          </a:bodyPr>
          <a:lstStyle/>
          <a:p>
            <a:pPr marL="11526">
              <a:spcBef>
                <a:spcPts val="119"/>
              </a:spcBef>
            </a:pPr>
            <a:r>
              <a:rPr sz="1135" spc="19" dirty="0">
                <a:latin typeface="OpenSymbol"/>
                <a:cs typeface="OpenSymbol"/>
              </a:rPr>
              <a:t>●</a:t>
            </a:r>
            <a:endParaRPr sz="1135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95863" y="1444840"/>
            <a:ext cx="7710351" cy="4132555"/>
          </a:xfrm>
          <a:prstGeom prst="rect">
            <a:avLst/>
          </a:prstGeom>
        </p:spPr>
        <p:txBody>
          <a:bodyPr vert="horz" wrap="square" lIns="0" tIns="153873" rIns="0" bIns="0" rtlCol="0">
            <a:spAutoFit/>
          </a:bodyPr>
          <a:lstStyle/>
          <a:p>
            <a:pPr marL="34579">
              <a:spcBef>
                <a:spcPts val="1212"/>
              </a:spcBef>
            </a:pPr>
            <a:r>
              <a:rPr sz="2587" b="1" spc="-177" dirty="0">
                <a:latin typeface="Georgia"/>
                <a:cs typeface="Georgia"/>
              </a:rPr>
              <a:t>Business</a:t>
            </a:r>
            <a:r>
              <a:rPr sz="2587" b="1" spc="95" dirty="0">
                <a:latin typeface="Georgia"/>
                <a:cs typeface="Georgia"/>
              </a:rPr>
              <a:t> </a:t>
            </a:r>
            <a:r>
              <a:rPr sz="2587" b="1" spc="-151" dirty="0">
                <a:latin typeface="Georgia"/>
                <a:cs typeface="Georgia"/>
              </a:rPr>
              <a:t>processes</a:t>
            </a:r>
            <a:endParaRPr sz="2587">
              <a:latin typeface="Georgia"/>
              <a:cs typeface="Georgia"/>
            </a:endParaRPr>
          </a:p>
          <a:p>
            <a:pPr marL="387281" marR="27663" indent="-263951">
              <a:lnSpc>
                <a:spcPct val="101000"/>
              </a:lnSpc>
              <a:spcBef>
                <a:spcPts val="953"/>
              </a:spcBef>
              <a:buSzPct val="74000"/>
              <a:buFont typeface="OpenSymbol"/>
              <a:buChar char="–"/>
              <a:tabLst>
                <a:tab pos="387281" algn="l"/>
              </a:tabLst>
            </a:pPr>
            <a:r>
              <a:rPr sz="2269" spc="-64" dirty="0">
                <a:latin typeface="Georgia"/>
                <a:cs typeface="Georgia"/>
              </a:rPr>
              <a:t>A </a:t>
            </a:r>
            <a:r>
              <a:rPr sz="2269" spc="-23" dirty="0">
                <a:latin typeface="Georgia"/>
                <a:cs typeface="Georgia"/>
              </a:rPr>
              <a:t>set </a:t>
            </a:r>
            <a:r>
              <a:rPr sz="2269" dirty="0">
                <a:latin typeface="Georgia"/>
                <a:cs typeface="Georgia"/>
              </a:rPr>
              <a:t>of </a:t>
            </a:r>
            <a:r>
              <a:rPr sz="2269" spc="-32" dirty="0">
                <a:latin typeface="Georgia"/>
                <a:cs typeface="Georgia"/>
              </a:rPr>
              <a:t>processes </a:t>
            </a:r>
            <a:r>
              <a:rPr sz="2269" spc="-15" dirty="0">
                <a:latin typeface="Georgia"/>
                <a:cs typeface="Georgia"/>
              </a:rPr>
              <a:t>involving </a:t>
            </a:r>
            <a:r>
              <a:rPr sz="2269" spc="-5" dirty="0">
                <a:latin typeface="Georgia"/>
                <a:cs typeface="Georgia"/>
              </a:rPr>
              <a:t>people </a:t>
            </a:r>
            <a:r>
              <a:rPr sz="2269" spc="-19" dirty="0">
                <a:latin typeface="Georgia"/>
                <a:cs typeface="Georgia"/>
              </a:rPr>
              <a:t>and </a:t>
            </a:r>
            <a:r>
              <a:rPr sz="2269" spc="-27" dirty="0">
                <a:latin typeface="Georgia"/>
                <a:cs typeface="Georgia"/>
              </a:rPr>
              <a:t>computer </a:t>
            </a:r>
            <a:r>
              <a:rPr sz="2269" spc="-41" dirty="0">
                <a:latin typeface="Georgia"/>
                <a:cs typeface="Georgia"/>
              </a:rPr>
              <a:t>systems  </a:t>
            </a:r>
            <a:r>
              <a:rPr sz="2269" spc="-19" dirty="0">
                <a:latin typeface="Georgia"/>
                <a:cs typeface="Georgia"/>
              </a:rPr>
              <a:t>that </a:t>
            </a:r>
            <a:r>
              <a:rPr sz="2269" spc="-32" dirty="0">
                <a:latin typeface="Georgia"/>
                <a:cs typeface="Georgia"/>
              </a:rPr>
              <a:t>support </a:t>
            </a:r>
            <a:r>
              <a:rPr sz="2269" spc="-19" dirty="0">
                <a:latin typeface="Georgia"/>
                <a:cs typeface="Georgia"/>
              </a:rPr>
              <a:t>the activities </a:t>
            </a:r>
            <a:r>
              <a:rPr sz="2269" spc="-5" dirty="0">
                <a:latin typeface="Georgia"/>
                <a:cs typeface="Georgia"/>
              </a:rPr>
              <a:t>of </a:t>
            </a:r>
            <a:r>
              <a:rPr sz="2269" spc="-15" dirty="0">
                <a:latin typeface="Georgia"/>
                <a:cs typeface="Georgia"/>
              </a:rPr>
              <a:t>the</a:t>
            </a:r>
            <a:r>
              <a:rPr sz="2269" spc="27" dirty="0">
                <a:latin typeface="Georgia"/>
                <a:cs typeface="Georgia"/>
              </a:rPr>
              <a:t> </a:t>
            </a:r>
            <a:r>
              <a:rPr sz="2269" spc="-41" dirty="0">
                <a:latin typeface="Georgia"/>
                <a:cs typeface="Georgia"/>
              </a:rPr>
              <a:t>business</a:t>
            </a:r>
            <a:endParaRPr sz="2269">
              <a:latin typeface="Georgia"/>
              <a:cs typeface="Georgia"/>
            </a:endParaRPr>
          </a:p>
          <a:p>
            <a:pPr marL="34579">
              <a:spcBef>
                <a:spcPts val="1199"/>
              </a:spcBef>
            </a:pPr>
            <a:r>
              <a:rPr sz="2587" b="1" spc="-136" dirty="0">
                <a:latin typeface="Georgia"/>
                <a:cs typeface="Georgia"/>
              </a:rPr>
              <a:t>Organizations</a:t>
            </a:r>
            <a:endParaRPr sz="2587">
              <a:latin typeface="Georgia"/>
              <a:cs typeface="Georgia"/>
            </a:endParaRPr>
          </a:p>
          <a:p>
            <a:pPr marL="387281" marR="446642" indent="-263951">
              <a:lnSpc>
                <a:spcPct val="101299"/>
              </a:lnSpc>
              <a:spcBef>
                <a:spcPts val="935"/>
              </a:spcBef>
              <a:buSzPct val="74000"/>
              <a:buFont typeface="OpenSymbol"/>
              <a:buChar char="–"/>
              <a:tabLst>
                <a:tab pos="387281" algn="l"/>
              </a:tabLst>
            </a:pPr>
            <a:r>
              <a:rPr sz="2269" spc="-41" dirty="0">
                <a:latin typeface="Georgia"/>
                <a:cs typeface="Georgia"/>
              </a:rPr>
              <a:t>Higher </a:t>
            </a:r>
            <a:r>
              <a:rPr sz="2269" spc="5" dirty="0">
                <a:latin typeface="Georgia"/>
                <a:cs typeface="Georgia"/>
              </a:rPr>
              <a:t>level </a:t>
            </a:r>
            <a:r>
              <a:rPr sz="2269" spc="-19" dirty="0">
                <a:latin typeface="Georgia"/>
                <a:cs typeface="Georgia"/>
              </a:rPr>
              <a:t>strategic </a:t>
            </a:r>
            <a:r>
              <a:rPr sz="2269" spc="-41" dirty="0">
                <a:latin typeface="Georgia"/>
                <a:cs typeface="Georgia"/>
              </a:rPr>
              <a:t>business </a:t>
            </a:r>
            <a:r>
              <a:rPr sz="2269" spc="-19" dirty="0">
                <a:latin typeface="Georgia"/>
                <a:cs typeface="Georgia"/>
              </a:rPr>
              <a:t>activities that </a:t>
            </a:r>
            <a:r>
              <a:rPr sz="2269" spc="-5" dirty="0">
                <a:latin typeface="Georgia"/>
                <a:cs typeface="Georgia"/>
              </a:rPr>
              <a:t>affect </a:t>
            </a:r>
            <a:r>
              <a:rPr sz="2269" spc="-15" dirty="0">
                <a:latin typeface="Georgia"/>
                <a:cs typeface="Georgia"/>
              </a:rPr>
              <a:t>the  </a:t>
            </a:r>
            <a:r>
              <a:rPr sz="2269" spc="-19" dirty="0">
                <a:latin typeface="Georgia"/>
                <a:cs typeface="Georgia"/>
              </a:rPr>
              <a:t>operation </a:t>
            </a:r>
            <a:r>
              <a:rPr sz="2269" spc="-5" dirty="0">
                <a:latin typeface="Georgia"/>
                <a:cs typeface="Georgia"/>
              </a:rPr>
              <a:t>of </a:t>
            </a:r>
            <a:r>
              <a:rPr sz="2269" spc="-15" dirty="0">
                <a:latin typeface="Georgia"/>
                <a:cs typeface="Georgia"/>
              </a:rPr>
              <a:t>the</a:t>
            </a:r>
            <a:r>
              <a:rPr sz="2269" spc="263" dirty="0">
                <a:latin typeface="Georgia"/>
                <a:cs typeface="Georgia"/>
              </a:rPr>
              <a:t> </a:t>
            </a:r>
            <a:r>
              <a:rPr sz="2269" spc="-27" dirty="0">
                <a:latin typeface="Georgia"/>
                <a:cs typeface="Georgia"/>
              </a:rPr>
              <a:t>system.</a:t>
            </a:r>
            <a:endParaRPr sz="2269">
              <a:latin typeface="Georgia"/>
              <a:cs typeface="Georgia"/>
            </a:endParaRPr>
          </a:p>
          <a:p>
            <a:pPr marL="34579">
              <a:spcBef>
                <a:spcPts val="1199"/>
              </a:spcBef>
            </a:pPr>
            <a:r>
              <a:rPr sz="2587" b="1" spc="-127" dirty="0">
                <a:latin typeface="Georgia"/>
                <a:cs typeface="Georgia"/>
              </a:rPr>
              <a:t>Society</a:t>
            </a:r>
            <a:endParaRPr sz="2587">
              <a:latin typeface="Georgia"/>
              <a:cs typeface="Georgia"/>
            </a:endParaRPr>
          </a:p>
          <a:p>
            <a:pPr marL="387281" marR="144655" indent="-263951">
              <a:lnSpc>
                <a:spcPct val="101299"/>
              </a:lnSpc>
              <a:spcBef>
                <a:spcPts val="935"/>
              </a:spcBef>
              <a:buSzPct val="74000"/>
              <a:buFont typeface="OpenSymbol"/>
              <a:buChar char="–"/>
              <a:tabLst>
                <a:tab pos="387281" algn="l"/>
              </a:tabLst>
            </a:pPr>
            <a:r>
              <a:rPr sz="2269" spc="-36" dirty="0">
                <a:latin typeface="Georgia"/>
                <a:cs typeface="Georgia"/>
              </a:rPr>
              <a:t>Laws </a:t>
            </a:r>
            <a:r>
              <a:rPr sz="2269" spc="23" dirty="0">
                <a:latin typeface="Georgia"/>
                <a:cs typeface="Georgia"/>
              </a:rPr>
              <a:t>, </a:t>
            </a:r>
            <a:r>
              <a:rPr sz="2269" spc="-15" dirty="0">
                <a:latin typeface="Georgia"/>
                <a:cs typeface="Georgia"/>
              </a:rPr>
              <a:t>regulation </a:t>
            </a:r>
            <a:r>
              <a:rPr sz="2269" spc="-19" dirty="0">
                <a:latin typeface="Georgia"/>
                <a:cs typeface="Georgia"/>
              </a:rPr>
              <a:t>and </a:t>
            </a:r>
            <a:r>
              <a:rPr sz="2269" spc="-15" dirty="0">
                <a:latin typeface="Georgia"/>
                <a:cs typeface="Georgia"/>
              </a:rPr>
              <a:t>culture </a:t>
            </a:r>
            <a:r>
              <a:rPr sz="2269" spc="-19" dirty="0">
                <a:latin typeface="Georgia"/>
                <a:cs typeface="Georgia"/>
              </a:rPr>
              <a:t>that </a:t>
            </a:r>
            <a:r>
              <a:rPr sz="2269" spc="-5" dirty="0">
                <a:latin typeface="Georgia"/>
                <a:cs typeface="Georgia"/>
              </a:rPr>
              <a:t>affect </a:t>
            </a:r>
            <a:r>
              <a:rPr sz="2269" spc="-15" dirty="0">
                <a:latin typeface="Georgia"/>
                <a:cs typeface="Georgia"/>
              </a:rPr>
              <a:t>the </a:t>
            </a:r>
            <a:r>
              <a:rPr sz="2269" spc="-19" dirty="0">
                <a:latin typeface="Georgia"/>
                <a:cs typeface="Georgia"/>
              </a:rPr>
              <a:t>operation </a:t>
            </a:r>
            <a:r>
              <a:rPr sz="2269" spc="-5" dirty="0">
                <a:latin typeface="Georgia"/>
                <a:cs typeface="Georgia"/>
              </a:rPr>
              <a:t>of  </a:t>
            </a:r>
            <a:r>
              <a:rPr sz="2269" spc="-15" dirty="0">
                <a:latin typeface="Georgia"/>
                <a:cs typeface="Georgia"/>
              </a:rPr>
              <a:t>the</a:t>
            </a:r>
            <a:r>
              <a:rPr sz="2269" spc="77" dirty="0">
                <a:latin typeface="Georgia"/>
                <a:cs typeface="Georgia"/>
              </a:rPr>
              <a:t> </a:t>
            </a:r>
            <a:r>
              <a:rPr sz="2269" spc="-27" dirty="0">
                <a:latin typeface="Georgia"/>
                <a:cs typeface="Georgia"/>
              </a:rPr>
              <a:t>system.</a:t>
            </a:r>
            <a:endParaRPr sz="2269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3813" y="3057862"/>
            <a:ext cx="140619" cy="189794"/>
          </a:xfrm>
          <a:prstGeom prst="rect">
            <a:avLst/>
          </a:prstGeom>
        </p:spPr>
        <p:txBody>
          <a:bodyPr vert="horz" wrap="square" lIns="0" tIns="14984" rIns="0" bIns="0" rtlCol="0">
            <a:spAutoFit/>
          </a:bodyPr>
          <a:lstStyle/>
          <a:p>
            <a:pPr marL="11526">
              <a:spcBef>
                <a:spcPts val="119"/>
              </a:spcBef>
            </a:pPr>
            <a:r>
              <a:rPr sz="1135" spc="19" dirty="0">
                <a:latin typeface="OpenSymbol"/>
                <a:cs typeface="OpenSymbol"/>
              </a:rPr>
              <a:t>●</a:t>
            </a:r>
            <a:endParaRPr sz="1135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3813" y="4423699"/>
            <a:ext cx="140619" cy="189794"/>
          </a:xfrm>
          <a:prstGeom prst="rect">
            <a:avLst/>
          </a:prstGeom>
        </p:spPr>
        <p:txBody>
          <a:bodyPr vert="horz" wrap="square" lIns="0" tIns="14984" rIns="0" bIns="0" rtlCol="0">
            <a:spAutoFit/>
          </a:bodyPr>
          <a:lstStyle/>
          <a:p>
            <a:pPr marL="11526">
              <a:spcBef>
                <a:spcPts val="119"/>
              </a:spcBef>
            </a:pPr>
            <a:r>
              <a:rPr sz="1135" spc="19" dirty="0">
                <a:latin typeface="OpenSymbol"/>
                <a:cs typeface="OpenSymbol"/>
              </a:rPr>
              <a:t>●</a:t>
            </a:r>
            <a:endParaRPr sz="1135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634215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1210" y="545907"/>
            <a:ext cx="5380937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59" dirty="0"/>
              <a:t>Holistic </a:t>
            </a:r>
            <a:r>
              <a:rPr spc="-272" dirty="0"/>
              <a:t>System</a:t>
            </a:r>
            <a:r>
              <a:rPr spc="-255" dirty="0"/>
              <a:t> </a:t>
            </a:r>
            <a:r>
              <a:rPr spc="-263" dirty="0"/>
              <a:t>Design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08001" y="1656871"/>
            <a:ext cx="11316448" cy="1959765"/>
          </a:xfrm>
          <a:prstGeom prst="rect">
            <a:avLst/>
          </a:prstGeom>
        </p:spPr>
        <p:txBody>
          <a:bodyPr vert="horz" wrap="square" lIns="0" tIns="137539" rIns="0" bIns="0" rtlCol="0">
            <a:spAutoFit/>
          </a:bodyPr>
          <a:lstStyle/>
          <a:p>
            <a:pPr marL="92786" marR="318700">
              <a:lnSpc>
                <a:spcPct val="100899"/>
              </a:lnSpc>
              <a:spcBef>
                <a:spcPts val="59"/>
              </a:spcBef>
            </a:pPr>
            <a:r>
              <a:rPr sz="2904" spc="-32" dirty="0"/>
              <a:t>There </a:t>
            </a:r>
            <a:r>
              <a:rPr sz="2904" spc="-23" dirty="0"/>
              <a:t>are </a:t>
            </a:r>
            <a:r>
              <a:rPr sz="2904" spc="-41" dirty="0"/>
              <a:t>interactions </a:t>
            </a:r>
            <a:r>
              <a:rPr sz="2904" spc="-32" dirty="0"/>
              <a:t>and </a:t>
            </a:r>
            <a:r>
              <a:rPr sz="2904" spc="-27" dirty="0"/>
              <a:t>dependencies  </a:t>
            </a:r>
            <a:r>
              <a:rPr sz="2904" dirty="0"/>
              <a:t>between </a:t>
            </a:r>
            <a:r>
              <a:rPr sz="2904" spc="-23" dirty="0"/>
              <a:t>the </a:t>
            </a:r>
            <a:r>
              <a:rPr sz="2904" spc="-27" dirty="0"/>
              <a:t>layers </a:t>
            </a:r>
            <a:r>
              <a:rPr sz="2904" spc="-55" dirty="0"/>
              <a:t>in </a:t>
            </a:r>
            <a:r>
              <a:rPr sz="2904" spc="5" dirty="0"/>
              <a:t>a </a:t>
            </a:r>
            <a:r>
              <a:rPr sz="2904" spc="-51" dirty="0"/>
              <a:t>system </a:t>
            </a:r>
            <a:r>
              <a:rPr sz="2904" spc="-32" dirty="0"/>
              <a:t>and </a:t>
            </a:r>
            <a:r>
              <a:rPr sz="2904" spc="-27" dirty="0"/>
              <a:t>changes  </a:t>
            </a:r>
            <a:r>
              <a:rPr sz="2904" spc="-19" dirty="0"/>
              <a:t>atone </a:t>
            </a:r>
            <a:r>
              <a:rPr sz="2904" dirty="0"/>
              <a:t>level </a:t>
            </a:r>
            <a:r>
              <a:rPr sz="2904" spc="-41" dirty="0"/>
              <a:t>ripple </a:t>
            </a:r>
            <a:r>
              <a:rPr sz="2904" spc="-32" dirty="0"/>
              <a:t>through </a:t>
            </a:r>
            <a:r>
              <a:rPr sz="2904" spc="-23" dirty="0"/>
              <a:t>the </a:t>
            </a:r>
            <a:r>
              <a:rPr sz="2904" spc="-32" dirty="0"/>
              <a:t>other</a:t>
            </a:r>
            <a:r>
              <a:rPr sz="2904" spc="59" dirty="0"/>
              <a:t> </a:t>
            </a:r>
            <a:r>
              <a:rPr sz="2904" spc="-9" dirty="0"/>
              <a:t>levels.</a:t>
            </a:r>
            <a:endParaRPr sz="2904" dirty="0"/>
          </a:p>
          <a:p>
            <a:pPr marL="484679" marR="27663" indent="-293919">
              <a:lnSpc>
                <a:spcPct val="100899"/>
              </a:lnSpc>
              <a:spcBef>
                <a:spcPts val="1035"/>
              </a:spcBef>
            </a:pPr>
            <a:r>
              <a:rPr sz="2859" baseline="10582" dirty="0">
                <a:latin typeface="OpenSymbol"/>
                <a:cs typeface="OpenSymbol"/>
              </a:rPr>
              <a:t>– </a:t>
            </a:r>
            <a:r>
              <a:rPr sz="2541" spc="-19" dirty="0"/>
              <a:t>Change </a:t>
            </a:r>
            <a:r>
              <a:rPr sz="2541" spc="-64" dirty="0"/>
              <a:t>is </a:t>
            </a:r>
            <a:r>
              <a:rPr sz="2541" spc="-19" dirty="0"/>
              <a:t>regulation </a:t>
            </a:r>
            <a:r>
              <a:rPr sz="2541" spc="-23" dirty="0"/>
              <a:t>leads to </a:t>
            </a:r>
            <a:r>
              <a:rPr sz="2541" spc="-27" dirty="0"/>
              <a:t>changes </a:t>
            </a:r>
            <a:r>
              <a:rPr sz="2541" spc="-51" dirty="0"/>
              <a:t>in </a:t>
            </a:r>
            <a:r>
              <a:rPr sz="2541" spc="-55" dirty="0"/>
              <a:t>business  </a:t>
            </a:r>
            <a:r>
              <a:rPr sz="2541" spc="-45" dirty="0"/>
              <a:t>processes </a:t>
            </a:r>
            <a:r>
              <a:rPr sz="2541" spc="-32" dirty="0"/>
              <a:t>and application</a:t>
            </a:r>
            <a:r>
              <a:rPr sz="2541" spc="345" dirty="0"/>
              <a:t> </a:t>
            </a:r>
            <a:r>
              <a:rPr sz="2541" spc="-15" dirty="0"/>
              <a:t>software</a:t>
            </a:r>
            <a:endParaRPr sz="2541" dirty="0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53101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7688" y="545907"/>
            <a:ext cx="5267981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27" dirty="0"/>
              <a:t>Organizational</a:t>
            </a:r>
            <a:r>
              <a:rPr spc="136" dirty="0"/>
              <a:t> </a:t>
            </a:r>
            <a:r>
              <a:rPr spc="-245" dirty="0"/>
              <a:t>Affects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3035" y="1701246"/>
            <a:ext cx="152720" cy="208369"/>
          </a:xfrm>
          <a:prstGeom prst="rect">
            <a:avLst/>
          </a:prstGeom>
        </p:spPr>
        <p:txBody>
          <a:bodyPr vert="horz" wrap="square" lIns="0" tIns="12679" rIns="0" bIns="0" rtlCol="0">
            <a:spAutoFit/>
          </a:bodyPr>
          <a:lstStyle/>
          <a:p>
            <a:pPr marL="11526">
              <a:spcBef>
                <a:spcPts val="100"/>
              </a:spcBef>
            </a:pPr>
            <a:r>
              <a:rPr sz="1271" spc="5" dirty="0">
                <a:latin typeface="OpenSymbol"/>
                <a:cs typeface="OpenSymbol"/>
              </a:rPr>
              <a:t>●</a:t>
            </a:r>
            <a:endParaRPr sz="1271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1592" y="1430593"/>
            <a:ext cx="7772592" cy="4153747"/>
          </a:xfrm>
          <a:prstGeom prst="rect">
            <a:avLst/>
          </a:prstGeom>
        </p:spPr>
        <p:txBody>
          <a:bodyPr vert="horz" wrap="square" lIns="0" tIns="165399" rIns="0" bIns="0" rtlCol="0">
            <a:spAutoFit/>
          </a:bodyPr>
          <a:lstStyle/>
          <a:p>
            <a:pPr marL="34579">
              <a:spcBef>
                <a:spcPts val="1303"/>
              </a:spcBef>
            </a:pPr>
            <a:r>
              <a:rPr sz="2859" b="1" spc="-200" dirty="0">
                <a:latin typeface="Georgia"/>
                <a:cs typeface="Georgia"/>
              </a:rPr>
              <a:t>Process</a:t>
            </a:r>
            <a:r>
              <a:rPr sz="2859" b="1" spc="95" dirty="0">
                <a:latin typeface="Georgia"/>
                <a:cs typeface="Georgia"/>
              </a:rPr>
              <a:t> </a:t>
            </a:r>
            <a:r>
              <a:rPr sz="2859" b="1" spc="-168" dirty="0">
                <a:latin typeface="Georgia"/>
                <a:cs typeface="Georgia"/>
              </a:rPr>
              <a:t>Changes</a:t>
            </a:r>
            <a:endParaRPr sz="2859">
              <a:latin typeface="Georgia"/>
              <a:cs typeface="Georgia"/>
            </a:endParaRPr>
          </a:p>
          <a:p>
            <a:pPr marL="421860" indent="-291038">
              <a:spcBef>
                <a:spcPts val="1080"/>
              </a:spcBef>
              <a:buSzPct val="74545"/>
              <a:buFont typeface="OpenSymbol"/>
              <a:buChar char="–"/>
              <a:tabLst>
                <a:tab pos="421860" algn="l"/>
              </a:tabLst>
            </a:pPr>
            <a:r>
              <a:rPr sz="2496" spc="-15" dirty="0">
                <a:latin typeface="Georgia"/>
                <a:cs typeface="Georgia"/>
              </a:rPr>
              <a:t>Significant </a:t>
            </a:r>
            <a:r>
              <a:rPr sz="2496" spc="-9" dirty="0">
                <a:latin typeface="Georgia"/>
                <a:cs typeface="Georgia"/>
              </a:rPr>
              <a:t>changes may </a:t>
            </a:r>
            <a:r>
              <a:rPr sz="2496" spc="-5" dirty="0">
                <a:latin typeface="Georgia"/>
                <a:cs typeface="Georgia"/>
              </a:rPr>
              <a:t>be </a:t>
            </a:r>
            <a:r>
              <a:rPr sz="2496" spc="-23" dirty="0">
                <a:latin typeface="Georgia"/>
                <a:cs typeface="Georgia"/>
              </a:rPr>
              <a:t>resisted </a:t>
            </a:r>
            <a:r>
              <a:rPr sz="2496" spc="-9" dirty="0">
                <a:latin typeface="Georgia"/>
                <a:cs typeface="Georgia"/>
              </a:rPr>
              <a:t>by</a:t>
            </a:r>
            <a:r>
              <a:rPr sz="2496" spc="59" dirty="0">
                <a:latin typeface="Georgia"/>
                <a:cs typeface="Georgia"/>
              </a:rPr>
              <a:t> </a:t>
            </a:r>
            <a:r>
              <a:rPr sz="2496" spc="-23" dirty="0">
                <a:latin typeface="Georgia"/>
                <a:cs typeface="Georgia"/>
              </a:rPr>
              <a:t>users.</a:t>
            </a:r>
            <a:endParaRPr sz="2496">
              <a:latin typeface="Georgia"/>
              <a:cs typeface="Georgia"/>
            </a:endParaRPr>
          </a:p>
          <a:p>
            <a:pPr marL="34579">
              <a:spcBef>
                <a:spcPts val="1307"/>
              </a:spcBef>
            </a:pPr>
            <a:r>
              <a:rPr sz="2859" b="1" spc="-236" dirty="0">
                <a:latin typeface="Georgia"/>
                <a:cs typeface="Georgia"/>
              </a:rPr>
              <a:t>Job</a:t>
            </a:r>
            <a:r>
              <a:rPr sz="2859" b="1" spc="109" dirty="0">
                <a:latin typeface="Georgia"/>
                <a:cs typeface="Georgia"/>
              </a:rPr>
              <a:t> </a:t>
            </a:r>
            <a:r>
              <a:rPr sz="2859" b="1" spc="-168" dirty="0">
                <a:latin typeface="Georgia"/>
                <a:cs typeface="Georgia"/>
              </a:rPr>
              <a:t>Changes</a:t>
            </a:r>
            <a:endParaRPr sz="2859">
              <a:latin typeface="Georgia"/>
              <a:cs typeface="Georgia"/>
            </a:endParaRPr>
          </a:p>
          <a:p>
            <a:pPr marL="421283" marR="27663" indent="-290461">
              <a:lnSpc>
                <a:spcPct val="101499"/>
              </a:lnSpc>
              <a:spcBef>
                <a:spcPts val="1027"/>
              </a:spcBef>
              <a:buSzPct val="74545"/>
              <a:buFont typeface="OpenSymbol"/>
              <a:buChar char="–"/>
              <a:tabLst>
                <a:tab pos="421860" algn="l"/>
              </a:tabLst>
            </a:pPr>
            <a:r>
              <a:rPr sz="2496" spc="-19" dirty="0">
                <a:latin typeface="Georgia"/>
                <a:cs typeface="Georgia"/>
              </a:rPr>
              <a:t>System </a:t>
            </a:r>
            <a:r>
              <a:rPr sz="2496" spc="-23" dirty="0">
                <a:latin typeface="Georgia"/>
                <a:cs typeface="Georgia"/>
              </a:rPr>
              <a:t>me </a:t>
            </a:r>
            <a:r>
              <a:rPr sz="2496" spc="-32" dirty="0">
                <a:latin typeface="Georgia"/>
                <a:cs typeface="Georgia"/>
              </a:rPr>
              <a:t>de-skill </a:t>
            </a:r>
            <a:r>
              <a:rPr sz="2496" spc="-23" dirty="0">
                <a:latin typeface="Georgia"/>
                <a:cs typeface="Georgia"/>
              </a:rPr>
              <a:t>user or </a:t>
            </a:r>
            <a:r>
              <a:rPr sz="2496" spc="-9" dirty="0">
                <a:latin typeface="Georgia"/>
                <a:cs typeface="Georgia"/>
              </a:rPr>
              <a:t>cause changes </a:t>
            </a:r>
            <a:r>
              <a:rPr sz="2496" spc="-5" dirty="0">
                <a:latin typeface="Georgia"/>
                <a:cs typeface="Georgia"/>
              </a:rPr>
              <a:t>to </a:t>
            </a:r>
            <a:r>
              <a:rPr sz="2496" spc="-9" dirty="0">
                <a:latin typeface="Georgia"/>
                <a:cs typeface="Georgia"/>
              </a:rPr>
              <a:t>the </a:t>
            </a:r>
            <a:r>
              <a:rPr sz="2496" spc="51" dirty="0">
                <a:latin typeface="Georgia"/>
                <a:cs typeface="Georgia"/>
              </a:rPr>
              <a:t>way  </a:t>
            </a:r>
            <a:r>
              <a:rPr sz="2496" dirty="0">
                <a:latin typeface="Georgia"/>
                <a:cs typeface="Georgia"/>
              </a:rPr>
              <a:t>they</a:t>
            </a:r>
            <a:r>
              <a:rPr sz="2496" spc="100" dirty="0">
                <a:latin typeface="Georgia"/>
                <a:cs typeface="Georgia"/>
              </a:rPr>
              <a:t> </a:t>
            </a:r>
            <a:r>
              <a:rPr sz="2496" spc="9" dirty="0">
                <a:latin typeface="Georgia"/>
                <a:cs typeface="Georgia"/>
              </a:rPr>
              <a:t>work.</a:t>
            </a:r>
            <a:endParaRPr sz="2496">
              <a:latin typeface="Georgia"/>
              <a:cs typeface="Georgia"/>
            </a:endParaRPr>
          </a:p>
          <a:p>
            <a:pPr marL="34579">
              <a:spcBef>
                <a:spcPts val="1307"/>
              </a:spcBef>
            </a:pPr>
            <a:r>
              <a:rPr sz="2859" b="1" spc="-155" dirty="0">
                <a:latin typeface="Georgia"/>
                <a:cs typeface="Georgia"/>
              </a:rPr>
              <a:t>Organizational</a:t>
            </a:r>
            <a:r>
              <a:rPr sz="2859" b="1" spc="103" dirty="0">
                <a:latin typeface="Georgia"/>
                <a:cs typeface="Georgia"/>
              </a:rPr>
              <a:t> </a:t>
            </a:r>
            <a:r>
              <a:rPr sz="2859" b="1" spc="-168" dirty="0">
                <a:latin typeface="Georgia"/>
                <a:cs typeface="Georgia"/>
              </a:rPr>
              <a:t>Changes</a:t>
            </a:r>
            <a:endParaRPr sz="2859">
              <a:latin typeface="Georgia"/>
              <a:cs typeface="Georgia"/>
            </a:endParaRPr>
          </a:p>
          <a:p>
            <a:pPr marL="421283" marR="1344536" indent="-290461">
              <a:lnSpc>
                <a:spcPct val="101499"/>
              </a:lnSpc>
              <a:spcBef>
                <a:spcPts val="1031"/>
              </a:spcBef>
              <a:buSzPct val="74545"/>
              <a:buFont typeface="OpenSymbol"/>
              <a:buChar char="–"/>
              <a:tabLst>
                <a:tab pos="421860" algn="l"/>
              </a:tabLst>
            </a:pPr>
            <a:r>
              <a:rPr sz="2496" spc="-27" dirty="0">
                <a:latin typeface="Georgia"/>
                <a:cs typeface="Georgia"/>
              </a:rPr>
              <a:t>May </a:t>
            </a:r>
            <a:r>
              <a:rPr sz="2496" dirty="0">
                <a:latin typeface="Georgia"/>
                <a:cs typeface="Georgia"/>
              </a:rPr>
              <a:t>change </a:t>
            </a:r>
            <a:r>
              <a:rPr sz="2496" spc="-15" dirty="0">
                <a:latin typeface="Georgia"/>
                <a:cs typeface="Georgia"/>
              </a:rPr>
              <a:t>political </a:t>
            </a:r>
            <a:r>
              <a:rPr sz="2496" spc="9" dirty="0">
                <a:latin typeface="Georgia"/>
                <a:cs typeface="Georgia"/>
              </a:rPr>
              <a:t>power </a:t>
            </a:r>
            <a:r>
              <a:rPr sz="2496" spc="-27" dirty="0">
                <a:latin typeface="Georgia"/>
                <a:cs typeface="Georgia"/>
              </a:rPr>
              <a:t>structure </a:t>
            </a:r>
            <a:r>
              <a:rPr sz="2496" spc="-36" dirty="0">
                <a:latin typeface="Georgia"/>
                <a:cs typeface="Georgia"/>
              </a:rPr>
              <a:t>in </a:t>
            </a:r>
            <a:r>
              <a:rPr sz="2496" spc="-15" dirty="0">
                <a:latin typeface="Georgia"/>
                <a:cs typeface="Georgia"/>
              </a:rPr>
              <a:t>an  </a:t>
            </a:r>
            <a:r>
              <a:rPr sz="2496" dirty="0">
                <a:latin typeface="Georgia"/>
                <a:cs typeface="Georgia"/>
              </a:rPr>
              <a:t>organization.</a:t>
            </a:r>
            <a:endParaRPr sz="2496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3035" y="2819274"/>
            <a:ext cx="152720" cy="208369"/>
          </a:xfrm>
          <a:prstGeom prst="rect">
            <a:avLst/>
          </a:prstGeom>
        </p:spPr>
        <p:txBody>
          <a:bodyPr vert="horz" wrap="square" lIns="0" tIns="12679" rIns="0" bIns="0" rtlCol="0">
            <a:spAutoFit/>
          </a:bodyPr>
          <a:lstStyle/>
          <a:p>
            <a:pPr marL="11526">
              <a:spcBef>
                <a:spcPts val="100"/>
              </a:spcBef>
            </a:pPr>
            <a:r>
              <a:rPr sz="1271" spc="5" dirty="0">
                <a:latin typeface="OpenSymbol"/>
                <a:cs typeface="OpenSymbol"/>
              </a:rPr>
              <a:t>●</a:t>
            </a:r>
            <a:endParaRPr sz="1271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3035" y="4323422"/>
            <a:ext cx="152720" cy="208369"/>
          </a:xfrm>
          <a:prstGeom prst="rect">
            <a:avLst/>
          </a:prstGeom>
        </p:spPr>
        <p:txBody>
          <a:bodyPr vert="horz" wrap="square" lIns="0" tIns="12679" rIns="0" bIns="0" rtlCol="0">
            <a:spAutoFit/>
          </a:bodyPr>
          <a:lstStyle/>
          <a:p>
            <a:pPr marL="11526">
              <a:spcBef>
                <a:spcPts val="100"/>
              </a:spcBef>
            </a:pPr>
            <a:r>
              <a:rPr sz="1271" spc="5" dirty="0">
                <a:latin typeface="OpenSymbol"/>
                <a:cs typeface="OpenSymbol"/>
              </a:rPr>
              <a:t>●</a:t>
            </a:r>
            <a:endParaRPr sz="1271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409560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077" y="651752"/>
            <a:ext cx="9543571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444237" marR="4611" indent="-962440">
              <a:lnSpc>
                <a:spcPct val="100000"/>
              </a:lnSpc>
              <a:spcBef>
                <a:spcPts val="91"/>
              </a:spcBef>
            </a:pPr>
            <a:r>
              <a:rPr spc="-231" dirty="0"/>
              <a:t>Socio-technical </a:t>
            </a:r>
            <a:r>
              <a:rPr spc="-263" dirty="0"/>
              <a:t>system  </a:t>
            </a:r>
            <a:r>
              <a:rPr spc="-245" dirty="0"/>
              <a:t>characteristics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3813" y="1690871"/>
            <a:ext cx="140619" cy="189794"/>
          </a:xfrm>
          <a:prstGeom prst="rect">
            <a:avLst/>
          </a:prstGeom>
        </p:spPr>
        <p:txBody>
          <a:bodyPr vert="horz" wrap="square" lIns="0" tIns="14984" rIns="0" bIns="0" rtlCol="0">
            <a:spAutoFit/>
          </a:bodyPr>
          <a:lstStyle/>
          <a:p>
            <a:pPr marL="11526">
              <a:spcBef>
                <a:spcPts val="119"/>
              </a:spcBef>
            </a:pPr>
            <a:r>
              <a:rPr sz="1135" spc="19" dirty="0">
                <a:latin typeface="OpenSymbol"/>
                <a:cs typeface="OpenSymbol"/>
              </a:rPr>
              <a:t>●</a:t>
            </a:r>
            <a:endParaRPr sz="1135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3930" y="1446313"/>
            <a:ext cx="7572615" cy="4837329"/>
          </a:xfrm>
          <a:prstGeom prst="rect">
            <a:avLst/>
          </a:prstGeom>
        </p:spPr>
        <p:txBody>
          <a:bodyPr vert="horz" wrap="square" lIns="0" tIns="149839" rIns="0" bIns="0" rtlCol="0">
            <a:spAutoFit/>
          </a:bodyPr>
          <a:lstStyle/>
          <a:p>
            <a:pPr marL="23053">
              <a:spcBef>
                <a:spcPts val="1180"/>
              </a:spcBef>
            </a:pPr>
            <a:r>
              <a:rPr sz="2587" b="1" spc="-191" dirty="0">
                <a:latin typeface="Georgia"/>
                <a:cs typeface="Georgia"/>
              </a:rPr>
              <a:t>Emergent</a:t>
            </a:r>
            <a:r>
              <a:rPr sz="2587" b="1" spc="103" dirty="0">
                <a:latin typeface="Georgia"/>
                <a:cs typeface="Georgia"/>
              </a:rPr>
              <a:t> </a:t>
            </a:r>
            <a:r>
              <a:rPr sz="2587" b="1" spc="-177" dirty="0">
                <a:latin typeface="Georgia"/>
                <a:cs typeface="Georgia"/>
              </a:rPr>
              <a:t>Properties</a:t>
            </a:r>
            <a:endParaRPr sz="2587">
              <a:latin typeface="Georgia"/>
              <a:cs typeface="Georgia"/>
            </a:endParaRPr>
          </a:p>
          <a:p>
            <a:pPr marL="371145" marR="339448" indent="-261645">
              <a:lnSpc>
                <a:spcPct val="100299"/>
              </a:lnSpc>
              <a:spcBef>
                <a:spcPts val="935"/>
              </a:spcBef>
              <a:buSzPct val="74000"/>
              <a:buFont typeface="OpenSymbol"/>
              <a:buChar char="–"/>
              <a:tabLst>
                <a:tab pos="371145" algn="l"/>
              </a:tabLst>
            </a:pPr>
            <a:r>
              <a:rPr sz="2269" spc="-45" dirty="0">
                <a:latin typeface="Georgia"/>
                <a:cs typeface="Georgia"/>
              </a:rPr>
              <a:t>Properties </a:t>
            </a:r>
            <a:r>
              <a:rPr sz="2269" spc="-15" dirty="0">
                <a:latin typeface="Georgia"/>
                <a:cs typeface="Georgia"/>
              </a:rPr>
              <a:t>of </a:t>
            </a:r>
            <a:r>
              <a:rPr sz="2269" spc="-23" dirty="0">
                <a:latin typeface="Georgia"/>
                <a:cs typeface="Georgia"/>
              </a:rPr>
              <a:t>the </a:t>
            </a:r>
            <a:r>
              <a:rPr sz="2269" spc="-45" dirty="0">
                <a:latin typeface="Georgia"/>
                <a:cs typeface="Georgia"/>
              </a:rPr>
              <a:t>system </a:t>
            </a:r>
            <a:r>
              <a:rPr sz="2269" spc="-15" dirty="0">
                <a:latin typeface="Georgia"/>
                <a:cs typeface="Georgia"/>
              </a:rPr>
              <a:t>of </a:t>
            </a:r>
            <a:r>
              <a:rPr sz="2269" dirty="0">
                <a:latin typeface="Georgia"/>
                <a:cs typeface="Georgia"/>
              </a:rPr>
              <a:t>a whole </a:t>
            </a:r>
            <a:r>
              <a:rPr sz="2269" spc="-32" dirty="0">
                <a:latin typeface="Georgia"/>
                <a:cs typeface="Georgia"/>
              </a:rPr>
              <a:t>that </a:t>
            </a:r>
            <a:r>
              <a:rPr sz="2269" spc="-23" dirty="0">
                <a:latin typeface="Georgia"/>
                <a:cs typeface="Georgia"/>
              </a:rPr>
              <a:t>depend </a:t>
            </a:r>
            <a:r>
              <a:rPr sz="2269" spc="-32" dirty="0">
                <a:latin typeface="Georgia"/>
                <a:cs typeface="Georgia"/>
              </a:rPr>
              <a:t>on </a:t>
            </a:r>
            <a:r>
              <a:rPr sz="2269" spc="-27" dirty="0">
                <a:latin typeface="Georgia"/>
                <a:cs typeface="Georgia"/>
              </a:rPr>
              <a:t>the  </a:t>
            </a:r>
            <a:r>
              <a:rPr sz="2269" spc="-51" dirty="0">
                <a:latin typeface="Georgia"/>
                <a:cs typeface="Georgia"/>
              </a:rPr>
              <a:t>system </a:t>
            </a:r>
            <a:r>
              <a:rPr sz="2269" spc="-41" dirty="0">
                <a:latin typeface="Georgia"/>
                <a:cs typeface="Georgia"/>
              </a:rPr>
              <a:t>components </a:t>
            </a:r>
            <a:r>
              <a:rPr sz="2269" spc="-32" dirty="0">
                <a:latin typeface="Georgia"/>
                <a:cs typeface="Georgia"/>
              </a:rPr>
              <a:t>and </a:t>
            </a:r>
            <a:r>
              <a:rPr sz="2269" spc="-36" dirty="0">
                <a:latin typeface="Georgia"/>
                <a:cs typeface="Georgia"/>
              </a:rPr>
              <a:t>their</a:t>
            </a:r>
            <a:r>
              <a:rPr sz="2269" spc="439" dirty="0">
                <a:latin typeface="Georgia"/>
                <a:cs typeface="Georgia"/>
              </a:rPr>
              <a:t> </a:t>
            </a:r>
            <a:r>
              <a:rPr sz="2269" spc="-41" dirty="0">
                <a:latin typeface="Georgia"/>
                <a:cs typeface="Georgia"/>
              </a:rPr>
              <a:t>relationships</a:t>
            </a:r>
            <a:endParaRPr sz="2269">
              <a:latin typeface="Georgia"/>
              <a:cs typeface="Georgia"/>
            </a:endParaRPr>
          </a:p>
          <a:p>
            <a:pPr marL="23053">
              <a:spcBef>
                <a:spcPts val="1163"/>
              </a:spcBef>
            </a:pPr>
            <a:r>
              <a:rPr sz="2587" b="1" spc="-168" dirty="0">
                <a:latin typeface="Georgia"/>
                <a:cs typeface="Georgia"/>
              </a:rPr>
              <a:t>Non-deterministic</a:t>
            </a:r>
            <a:endParaRPr sz="2587">
              <a:latin typeface="Georgia"/>
              <a:cs typeface="Georgia"/>
            </a:endParaRPr>
          </a:p>
          <a:p>
            <a:pPr marL="371145" marR="445489" indent="-261645">
              <a:lnSpc>
                <a:spcPct val="100499"/>
              </a:lnSpc>
              <a:spcBef>
                <a:spcPts val="931"/>
              </a:spcBef>
              <a:buSzPct val="74000"/>
              <a:buFont typeface="OpenSymbol"/>
              <a:buChar char="–"/>
              <a:tabLst>
                <a:tab pos="371145" algn="l"/>
              </a:tabLst>
            </a:pPr>
            <a:r>
              <a:rPr sz="2269" spc="-23" dirty="0">
                <a:latin typeface="Georgia"/>
                <a:cs typeface="Georgia"/>
              </a:rPr>
              <a:t>They </a:t>
            </a:r>
            <a:r>
              <a:rPr sz="2269" spc="-15" dirty="0">
                <a:latin typeface="Georgia"/>
                <a:cs typeface="Georgia"/>
              </a:rPr>
              <a:t>do </a:t>
            </a:r>
            <a:r>
              <a:rPr sz="2269" spc="-32" dirty="0">
                <a:latin typeface="Georgia"/>
                <a:cs typeface="Georgia"/>
              </a:rPr>
              <a:t>not </a:t>
            </a:r>
            <a:r>
              <a:rPr sz="2269" spc="-5" dirty="0">
                <a:latin typeface="Georgia"/>
                <a:cs typeface="Georgia"/>
              </a:rPr>
              <a:t>always </a:t>
            </a:r>
            <a:r>
              <a:rPr sz="2269" spc="-27" dirty="0">
                <a:latin typeface="Georgia"/>
                <a:cs typeface="Georgia"/>
              </a:rPr>
              <a:t>produce the </a:t>
            </a:r>
            <a:r>
              <a:rPr sz="2269" spc="-45" dirty="0">
                <a:latin typeface="Georgia"/>
                <a:cs typeface="Georgia"/>
              </a:rPr>
              <a:t>same </a:t>
            </a:r>
            <a:r>
              <a:rPr sz="2269" spc="-27" dirty="0">
                <a:latin typeface="Georgia"/>
                <a:cs typeface="Georgia"/>
              </a:rPr>
              <a:t>output </a:t>
            </a:r>
            <a:r>
              <a:rPr sz="2269" spc="-9" dirty="0">
                <a:latin typeface="Georgia"/>
                <a:cs typeface="Georgia"/>
              </a:rPr>
              <a:t>when  </a:t>
            </a:r>
            <a:r>
              <a:rPr sz="2269" spc="-32" dirty="0">
                <a:latin typeface="Georgia"/>
                <a:cs typeface="Georgia"/>
              </a:rPr>
              <a:t>presented </a:t>
            </a:r>
            <a:r>
              <a:rPr sz="2269" spc="-15" dirty="0">
                <a:latin typeface="Georgia"/>
                <a:cs typeface="Georgia"/>
              </a:rPr>
              <a:t>with </a:t>
            </a:r>
            <a:r>
              <a:rPr sz="2269" spc="-27" dirty="0">
                <a:latin typeface="Georgia"/>
                <a:cs typeface="Georgia"/>
              </a:rPr>
              <a:t>the </a:t>
            </a:r>
            <a:r>
              <a:rPr sz="2269" spc="-41" dirty="0">
                <a:latin typeface="Georgia"/>
                <a:cs typeface="Georgia"/>
              </a:rPr>
              <a:t>same input </a:t>
            </a:r>
            <a:r>
              <a:rPr sz="2269" spc="-23" dirty="0">
                <a:latin typeface="Georgia"/>
                <a:cs typeface="Georgia"/>
              </a:rPr>
              <a:t>because </a:t>
            </a:r>
            <a:r>
              <a:rPr sz="2269" spc="-27" dirty="0">
                <a:latin typeface="Georgia"/>
                <a:cs typeface="Georgia"/>
              </a:rPr>
              <a:t>the </a:t>
            </a:r>
            <a:r>
              <a:rPr sz="2269" spc="-55" dirty="0">
                <a:latin typeface="Georgia"/>
                <a:cs typeface="Georgia"/>
              </a:rPr>
              <a:t>system’s  </a:t>
            </a:r>
            <a:r>
              <a:rPr sz="2269" spc="-27" dirty="0">
                <a:latin typeface="Georgia"/>
                <a:cs typeface="Georgia"/>
              </a:rPr>
              <a:t>behaviour </a:t>
            </a:r>
            <a:r>
              <a:rPr sz="2269" spc="-55" dirty="0">
                <a:latin typeface="Georgia"/>
                <a:cs typeface="Georgia"/>
              </a:rPr>
              <a:t>is </a:t>
            </a:r>
            <a:r>
              <a:rPr sz="2269" spc="-23" dirty="0">
                <a:latin typeface="Georgia"/>
                <a:cs typeface="Georgia"/>
              </a:rPr>
              <a:t>partially dependent </a:t>
            </a:r>
            <a:r>
              <a:rPr sz="2269" spc="-36" dirty="0">
                <a:latin typeface="Georgia"/>
                <a:cs typeface="Georgia"/>
              </a:rPr>
              <a:t>on </a:t>
            </a:r>
            <a:r>
              <a:rPr sz="2269" spc="-45" dirty="0">
                <a:latin typeface="Georgia"/>
                <a:cs typeface="Georgia"/>
              </a:rPr>
              <a:t>human</a:t>
            </a:r>
            <a:r>
              <a:rPr sz="2269" spc="109" dirty="0">
                <a:latin typeface="Georgia"/>
                <a:cs typeface="Georgia"/>
              </a:rPr>
              <a:t> </a:t>
            </a:r>
            <a:r>
              <a:rPr sz="2269" spc="-32" dirty="0">
                <a:latin typeface="Georgia"/>
                <a:cs typeface="Georgia"/>
              </a:rPr>
              <a:t>operators.</a:t>
            </a:r>
            <a:endParaRPr sz="2269">
              <a:latin typeface="Georgia"/>
              <a:cs typeface="Georgia"/>
            </a:endParaRPr>
          </a:p>
          <a:p>
            <a:pPr marL="23053" marR="1020072">
              <a:lnSpc>
                <a:spcPct val="101200"/>
              </a:lnSpc>
              <a:spcBef>
                <a:spcPts val="1125"/>
              </a:spcBef>
            </a:pPr>
            <a:r>
              <a:rPr sz="2587" b="1" spc="-172" dirty="0">
                <a:latin typeface="Georgia"/>
                <a:cs typeface="Georgia"/>
              </a:rPr>
              <a:t>Complex </a:t>
            </a:r>
            <a:r>
              <a:rPr sz="2587" b="1" spc="-155" dirty="0">
                <a:latin typeface="Georgia"/>
                <a:cs typeface="Georgia"/>
              </a:rPr>
              <a:t>relationships </a:t>
            </a:r>
            <a:r>
              <a:rPr sz="2587" b="1" spc="-151" dirty="0">
                <a:latin typeface="Georgia"/>
                <a:cs typeface="Georgia"/>
              </a:rPr>
              <a:t>with </a:t>
            </a:r>
            <a:r>
              <a:rPr sz="2587" b="1" spc="-141" dirty="0">
                <a:latin typeface="Georgia"/>
                <a:cs typeface="Georgia"/>
              </a:rPr>
              <a:t>organizational  </a:t>
            </a:r>
            <a:r>
              <a:rPr sz="2587" b="1" spc="-132" dirty="0">
                <a:latin typeface="Georgia"/>
                <a:cs typeface="Georgia"/>
              </a:rPr>
              <a:t>objective</a:t>
            </a:r>
            <a:endParaRPr sz="2587">
              <a:latin typeface="Georgia"/>
              <a:cs typeface="Georgia"/>
            </a:endParaRPr>
          </a:p>
          <a:p>
            <a:pPr marL="371145" marR="16137" indent="-261645">
              <a:spcBef>
                <a:spcPts val="935"/>
              </a:spcBef>
              <a:buSzPct val="74000"/>
              <a:buFont typeface="OpenSymbol"/>
              <a:buChar char="–"/>
              <a:tabLst>
                <a:tab pos="371145" algn="l"/>
              </a:tabLst>
            </a:pPr>
            <a:r>
              <a:rPr sz="2269" spc="-32" dirty="0">
                <a:latin typeface="Georgia"/>
                <a:cs typeface="Georgia"/>
              </a:rPr>
              <a:t>The </a:t>
            </a:r>
            <a:r>
              <a:rPr sz="2269" spc="-19" dirty="0">
                <a:latin typeface="Georgia"/>
                <a:cs typeface="Georgia"/>
              </a:rPr>
              <a:t>extent </a:t>
            </a:r>
            <a:r>
              <a:rPr sz="2269" spc="-23" dirty="0">
                <a:latin typeface="Georgia"/>
                <a:cs typeface="Georgia"/>
              </a:rPr>
              <a:t>to </a:t>
            </a:r>
            <a:r>
              <a:rPr sz="2269" spc="-19" dirty="0">
                <a:latin typeface="Georgia"/>
                <a:cs typeface="Georgia"/>
              </a:rPr>
              <a:t>which </a:t>
            </a:r>
            <a:r>
              <a:rPr sz="2269" spc="-23" dirty="0">
                <a:latin typeface="Georgia"/>
                <a:cs typeface="Georgia"/>
              </a:rPr>
              <a:t>the </a:t>
            </a:r>
            <a:r>
              <a:rPr sz="2269" spc="-55" dirty="0">
                <a:latin typeface="Georgia"/>
                <a:cs typeface="Georgia"/>
              </a:rPr>
              <a:t>systemm </a:t>
            </a:r>
            <a:r>
              <a:rPr sz="2269" spc="-51" dirty="0">
                <a:latin typeface="Georgia"/>
                <a:cs typeface="Georgia"/>
              </a:rPr>
              <a:t>supports </a:t>
            </a:r>
            <a:r>
              <a:rPr sz="2269" spc="-19" dirty="0">
                <a:latin typeface="Georgia"/>
                <a:cs typeface="Georgia"/>
              </a:rPr>
              <a:t>organizational  </a:t>
            </a:r>
            <a:r>
              <a:rPr sz="2269" spc="-23" dirty="0">
                <a:latin typeface="Georgia"/>
                <a:cs typeface="Georgia"/>
              </a:rPr>
              <a:t>objective</a:t>
            </a:r>
            <a:r>
              <a:rPr sz="2269" spc="77" dirty="0">
                <a:latin typeface="Georgia"/>
                <a:cs typeface="Georgia"/>
              </a:rPr>
              <a:t> </a:t>
            </a:r>
            <a:r>
              <a:rPr sz="2269" spc="-23" dirty="0">
                <a:latin typeface="Georgia"/>
                <a:cs typeface="Georgia"/>
              </a:rPr>
              <a:t>does</a:t>
            </a:r>
            <a:r>
              <a:rPr sz="2269" spc="77" dirty="0">
                <a:latin typeface="Georgia"/>
                <a:cs typeface="Georgia"/>
              </a:rPr>
              <a:t> </a:t>
            </a:r>
            <a:r>
              <a:rPr sz="2269" spc="-32" dirty="0">
                <a:latin typeface="Georgia"/>
                <a:cs typeface="Georgia"/>
              </a:rPr>
              <a:t>not</a:t>
            </a:r>
            <a:r>
              <a:rPr sz="2269" spc="73" dirty="0">
                <a:latin typeface="Georgia"/>
                <a:cs typeface="Georgia"/>
              </a:rPr>
              <a:t> </a:t>
            </a:r>
            <a:r>
              <a:rPr sz="2269" spc="-51" dirty="0">
                <a:latin typeface="Georgia"/>
                <a:cs typeface="Georgia"/>
              </a:rPr>
              <a:t>just</a:t>
            </a:r>
            <a:r>
              <a:rPr sz="2269" spc="77" dirty="0">
                <a:latin typeface="Georgia"/>
                <a:cs typeface="Georgia"/>
              </a:rPr>
              <a:t> </a:t>
            </a:r>
            <a:r>
              <a:rPr sz="2269" spc="-23" dirty="0">
                <a:latin typeface="Georgia"/>
                <a:cs typeface="Georgia"/>
              </a:rPr>
              <a:t>depend</a:t>
            </a:r>
            <a:r>
              <a:rPr sz="2269" spc="83" dirty="0">
                <a:latin typeface="Georgia"/>
                <a:cs typeface="Georgia"/>
              </a:rPr>
              <a:t> </a:t>
            </a:r>
            <a:r>
              <a:rPr sz="2269" spc="-36" dirty="0">
                <a:latin typeface="Georgia"/>
                <a:cs typeface="Georgia"/>
              </a:rPr>
              <a:t>on</a:t>
            </a:r>
            <a:r>
              <a:rPr sz="2269" spc="77" dirty="0">
                <a:latin typeface="Georgia"/>
                <a:cs typeface="Georgia"/>
              </a:rPr>
              <a:t> </a:t>
            </a:r>
            <a:r>
              <a:rPr sz="2269" spc="-23" dirty="0">
                <a:latin typeface="Georgia"/>
                <a:cs typeface="Georgia"/>
              </a:rPr>
              <a:t>the</a:t>
            </a:r>
            <a:r>
              <a:rPr sz="2269" spc="83" dirty="0">
                <a:latin typeface="Georgia"/>
                <a:cs typeface="Georgia"/>
              </a:rPr>
              <a:t> </a:t>
            </a:r>
            <a:r>
              <a:rPr sz="2269" spc="-45" dirty="0">
                <a:latin typeface="Georgia"/>
                <a:cs typeface="Georgia"/>
              </a:rPr>
              <a:t>system</a:t>
            </a:r>
            <a:r>
              <a:rPr sz="2269" spc="73" dirty="0">
                <a:latin typeface="Georgia"/>
                <a:cs typeface="Georgia"/>
              </a:rPr>
              <a:t> </a:t>
            </a:r>
            <a:r>
              <a:rPr sz="2269" spc="-23" dirty="0">
                <a:latin typeface="Georgia"/>
                <a:cs typeface="Georgia"/>
              </a:rPr>
              <a:t>itself.</a:t>
            </a:r>
            <a:endParaRPr sz="2269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3813" y="3045183"/>
            <a:ext cx="140619" cy="189794"/>
          </a:xfrm>
          <a:prstGeom prst="rect">
            <a:avLst/>
          </a:prstGeom>
        </p:spPr>
        <p:txBody>
          <a:bodyPr vert="horz" wrap="square" lIns="0" tIns="14984" rIns="0" bIns="0" rtlCol="0">
            <a:spAutoFit/>
          </a:bodyPr>
          <a:lstStyle/>
          <a:p>
            <a:pPr marL="11526">
              <a:spcBef>
                <a:spcPts val="119"/>
              </a:spcBef>
            </a:pPr>
            <a:r>
              <a:rPr sz="1135" spc="19" dirty="0">
                <a:latin typeface="OpenSymbol"/>
                <a:cs typeface="OpenSymbol"/>
              </a:rPr>
              <a:t>●</a:t>
            </a:r>
            <a:endParaRPr sz="1135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3813" y="4747579"/>
            <a:ext cx="140619" cy="189794"/>
          </a:xfrm>
          <a:prstGeom prst="rect">
            <a:avLst/>
          </a:prstGeom>
        </p:spPr>
        <p:txBody>
          <a:bodyPr vert="horz" wrap="square" lIns="0" tIns="14984" rIns="0" bIns="0" rtlCol="0">
            <a:spAutoFit/>
          </a:bodyPr>
          <a:lstStyle/>
          <a:p>
            <a:pPr marL="11526">
              <a:spcBef>
                <a:spcPts val="119"/>
              </a:spcBef>
            </a:pPr>
            <a:r>
              <a:rPr sz="1135" spc="19" dirty="0">
                <a:latin typeface="OpenSymbol"/>
                <a:cs typeface="OpenSymbol"/>
              </a:rPr>
              <a:t>●</a:t>
            </a:r>
            <a:endParaRPr sz="1135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07838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7461" y="545908"/>
            <a:ext cx="4849587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300" dirty="0"/>
              <a:t>Emergent</a:t>
            </a:r>
            <a:r>
              <a:rPr spc="87" dirty="0"/>
              <a:t> </a:t>
            </a:r>
            <a:r>
              <a:rPr spc="-277" dirty="0"/>
              <a:t>Properties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635963"/>
              </p:ext>
            </p:extLst>
          </p:nvPr>
        </p:nvGraphicFramePr>
        <p:xfrm>
          <a:off x="1206500" y="1674737"/>
          <a:ext cx="9791699" cy="43069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6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517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300" b="1" spc="-5" dirty="0">
                          <a:latin typeface="Arial"/>
                          <a:cs typeface="Arial"/>
                        </a:rPr>
                        <a:t>Property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300" b="1" spc="-5" dirty="0">
                          <a:latin typeface="Arial"/>
                          <a:cs typeface="Arial"/>
                        </a:rPr>
                        <a:t>Description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867">
                <a:tc>
                  <a:txBody>
                    <a:bodyPr/>
                    <a:lstStyle/>
                    <a:p>
                      <a:pPr marL="73025">
                        <a:lnSpc>
                          <a:spcPts val="1550"/>
                        </a:lnSpc>
                      </a:pPr>
                      <a:r>
                        <a:rPr sz="1300" spc="-15" dirty="0">
                          <a:latin typeface="Arial"/>
                          <a:cs typeface="Arial"/>
                        </a:rPr>
                        <a:t>Volume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6835">
                        <a:lnSpc>
                          <a:spcPts val="1580"/>
                        </a:lnSpc>
                        <a:spcBef>
                          <a:spcPts val="5"/>
                        </a:spcBef>
                      </a:pPr>
                      <a:r>
                        <a:rPr sz="1300" spc="-5" dirty="0">
                          <a:latin typeface="Arial"/>
                          <a:cs typeface="Arial"/>
                        </a:rPr>
                        <a:t>The volume of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a system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(the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total space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occupied) varies depending on how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the 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component assemblies are arranged and</a:t>
                      </a:r>
                      <a:r>
                        <a:rPr sz="13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connected.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7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065">
                <a:tc>
                  <a:txBody>
                    <a:bodyPr/>
                    <a:lstStyle/>
                    <a:p>
                      <a:pPr marL="73025">
                        <a:lnSpc>
                          <a:spcPts val="1555"/>
                        </a:lnSpc>
                      </a:pPr>
                      <a:r>
                        <a:rPr sz="1300" spc="-5" dirty="0">
                          <a:latin typeface="Arial"/>
                          <a:cs typeface="Arial"/>
                        </a:rPr>
                        <a:t>Reliability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8105">
                        <a:lnSpc>
                          <a:spcPts val="1570"/>
                        </a:lnSpc>
                        <a:spcBef>
                          <a:spcPts val="15"/>
                        </a:spcBef>
                      </a:pPr>
                      <a:r>
                        <a:rPr sz="1300" dirty="0">
                          <a:latin typeface="Arial"/>
                          <a:cs typeface="Arial"/>
                        </a:rPr>
                        <a:t>System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reliability depends on component reliability but unexpected interactions can 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cause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new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types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of failures and therefore affect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reliability of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300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system.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7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2823">
                <a:tc>
                  <a:txBody>
                    <a:bodyPr/>
                    <a:lstStyle/>
                    <a:p>
                      <a:pPr marL="73025">
                        <a:lnSpc>
                          <a:spcPts val="1550"/>
                        </a:lnSpc>
                      </a:pPr>
                      <a:r>
                        <a:rPr sz="1300" spc="-5" dirty="0">
                          <a:latin typeface="Arial"/>
                          <a:cs typeface="Arial"/>
                        </a:rPr>
                        <a:t>Security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500"/>
                        </a:lnSpc>
                      </a:pPr>
                      <a:r>
                        <a:rPr sz="1300" spc="-5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300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security</a:t>
                      </a:r>
                      <a:r>
                        <a:rPr sz="1300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300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300" spc="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system</a:t>
                      </a:r>
                      <a:r>
                        <a:rPr sz="1300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(its</a:t>
                      </a:r>
                      <a:r>
                        <a:rPr sz="1300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ability</a:t>
                      </a:r>
                      <a:r>
                        <a:rPr sz="1300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5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300" spc="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resist</a:t>
                      </a:r>
                      <a:r>
                        <a:rPr sz="1300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attack)</a:t>
                      </a:r>
                      <a:r>
                        <a:rPr sz="13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1300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00" spc="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complex</a:t>
                      </a:r>
                      <a:r>
                        <a:rPr sz="1300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property</a:t>
                      </a:r>
                      <a:r>
                        <a:rPr sz="1300" spc="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1300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cannot</a:t>
                      </a:r>
                      <a:endParaRPr sz="1300">
                        <a:latin typeface="Arial"/>
                        <a:cs typeface="Arial"/>
                      </a:endParaRPr>
                    </a:p>
                    <a:p>
                      <a:pPr marL="71755" marR="76200">
                        <a:lnSpc>
                          <a:spcPts val="1570"/>
                        </a:lnSpc>
                        <a:spcBef>
                          <a:spcPts val="90"/>
                        </a:spcBef>
                      </a:pPr>
                      <a:r>
                        <a:rPr sz="1300" spc="-5" dirty="0">
                          <a:latin typeface="Arial"/>
                          <a:cs typeface="Arial"/>
                        </a:rPr>
                        <a:t>be easily measured. Attacks may be devised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that were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not anticipated by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the system 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designers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and so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may defeat built-in</a:t>
                      </a:r>
                      <a:r>
                        <a:rPr sz="13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safeguards.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2823">
                <a:tc>
                  <a:txBody>
                    <a:bodyPr/>
                    <a:lstStyle/>
                    <a:p>
                      <a:pPr marL="73025">
                        <a:lnSpc>
                          <a:spcPts val="1550"/>
                        </a:lnSpc>
                      </a:pPr>
                      <a:r>
                        <a:rPr sz="1300" spc="-5" dirty="0">
                          <a:latin typeface="Arial"/>
                          <a:cs typeface="Arial"/>
                        </a:rPr>
                        <a:t>Repairability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500"/>
                        </a:lnSpc>
                      </a:pPr>
                      <a:r>
                        <a:rPr sz="1300" spc="-5" dirty="0">
                          <a:latin typeface="Arial"/>
                          <a:cs typeface="Arial"/>
                        </a:rPr>
                        <a:t>This</a:t>
                      </a:r>
                      <a:r>
                        <a:rPr sz="1300" spc="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property</a:t>
                      </a:r>
                      <a:r>
                        <a:rPr sz="1300" spc="1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reflects</a:t>
                      </a:r>
                      <a:r>
                        <a:rPr sz="1300" spc="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how</a:t>
                      </a:r>
                      <a:r>
                        <a:rPr sz="1300" spc="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easy</a:t>
                      </a:r>
                      <a:r>
                        <a:rPr sz="1300" spc="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it</a:t>
                      </a:r>
                      <a:r>
                        <a:rPr sz="1300" spc="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1300" spc="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5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300" spc="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fix</a:t>
                      </a:r>
                      <a:r>
                        <a:rPr sz="1300" spc="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00" spc="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problem</a:t>
                      </a:r>
                      <a:r>
                        <a:rPr sz="1300" spc="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300" spc="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300" spc="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system</a:t>
                      </a:r>
                      <a:r>
                        <a:rPr sz="1300" spc="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once</a:t>
                      </a:r>
                      <a:r>
                        <a:rPr sz="1300" spc="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it</a:t>
                      </a:r>
                      <a:r>
                        <a:rPr sz="1300" spc="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has</a:t>
                      </a:r>
                      <a:r>
                        <a:rPr sz="1300" spc="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been</a:t>
                      </a:r>
                      <a:endParaRPr sz="1300">
                        <a:latin typeface="Arial"/>
                        <a:cs typeface="Arial"/>
                      </a:endParaRPr>
                    </a:p>
                    <a:p>
                      <a:pPr marL="71755" marR="80645">
                        <a:lnSpc>
                          <a:spcPts val="1570"/>
                        </a:lnSpc>
                        <a:spcBef>
                          <a:spcPts val="95"/>
                        </a:spcBef>
                      </a:pPr>
                      <a:r>
                        <a:rPr sz="1300" spc="-5" dirty="0">
                          <a:latin typeface="Arial"/>
                          <a:cs typeface="Arial"/>
                        </a:rPr>
                        <a:t>discovered.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It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depends on being able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diagnose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problem,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access the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components 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that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are </a:t>
                      </a:r>
                      <a:r>
                        <a:rPr sz="1300" spc="-10" dirty="0">
                          <a:latin typeface="Arial"/>
                          <a:cs typeface="Arial"/>
                        </a:rPr>
                        <a:t>faulty,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and modify or replace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these</a:t>
                      </a:r>
                      <a:r>
                        <a:rPr sz="13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components.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867">
                <a:tc>
                  <a:txBody>
                    <a:bodyPr/>
                    <a:lstStyle/>
                    <a:p>
                      <a:pPr marL="73025">
                        <a:lnSpc>
                          <a:spcPts val="1550"/>
                        </a:lnSpc>
                      </a:pPr>
                      <a:r>
                        <a:rPr sz="1300" dirty="0">
                          <a:latin typeface="Arial"/>
                          <a:cs typeface="Arial"/>
                        </a:rPr>
                        <a:t>Usability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8105">
                        <a:lnSpc>
                          <a:spcPts val="1570"/>
                        </a:lnSpc>
                        <a:spcBef>
                          <a:spcPts val="15"/>
                        </a:spcBef>
                      </a:pPr>
                      <a:r>
                        <a:rPr sz="1300" spc="-5" dirty="0">
                          <a:latin typeface="Arial"/>
                          <a:cs typeface="Arial"/>
                        </a:rPr>
                        <a:t>This property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reflects how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easy it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is </a:t>
                      </a:r>
                      <a:r>
                        <a:rPr sz="1300" spc="5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use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system. It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depends on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technical 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system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components,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its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operators, and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its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operating</a:t>
                      </a:r>
                      <a:r>
                        <a:rPr sz="13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" dirty="0">
                          <a:latin typeface="Arial"/>
                          <a:cs typeface="Arial"/>
                        </a:rPr>
                        <a:t>environment.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7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62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51" y="493080"/>
            <a:ext cx="6584832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51" dirty="0"/>
              <a:t>Types </a:t>
            </a:r>
            <a:r>
              <a:rPr spc="-223" dirty="0"/>
              <a:t>of </a:t>
            </a:r>
            <a:r>
              <a:rPr spc="-300" dirty="0"/>
              <a:t>Emergent</a:t>
            </a:r>
            <a:r>
              <a:rPr spc="109" dirty="0"/>
              <a:t> </a:t>
            </a:r>
            <a:r>
              <a:rPr spc="-289" dirty="0"/>
              <a:t>Property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4189" y="1702399"/>
            <a:ext cx="155025" cy="212966"/>
          </a:xfrm>
          <a:prstGeom prst="rect">
            <a:avLst/>
          </a:prstGeom>
        </p:spPr>
        <p:txBody>
          <a:bodyPr vert="horz" wrap="square" lIns="0" tIns="10373" rIns="0" bIns="0" rtlCol="0">
            <a:spAutoFit/>
          </a:bodyPr>
          <a:lstStyle/>
          <a:p>
            <a:pPr marL="11526">
              <a:spcBef>
                <a:spcPts val="83"/>
              </a:spcBef>
            </a:pPr>
            <a:r>
              <a:rPr sz="1316" spc="-9" dirty="0">
                <a:latin typeface="OpenSymbol"/>
                <a:cs typeface="OpenSymbol"/>
              </a:rPr>
              <a:t>●</a:t>
            </a:r>
            <a:endParaRPr sz="1316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5049" y="1429559"/>
            <a:ext cx="7702859" cy="3458621"/>
          </a:xfrm>
          <a:prstGeom prst="rect">
            <a:avLst/>
          </a:prstGeom>
        </p:spPr>
        <p:txBody>
          <a:bodyPr vert="horz" wrap="square" lIns="0" tIns="165399" rIns="0" bIns="0" rtlCol="0">
            <a:spAutoFit/>
          </a:bodyPr>
          <a:lstStyle/>
          <a:p>
            <a:pPr marL="34579">
              <a:spcBef>
                <a:spcPts val="1303"/>
              </a:spcBef>
            </a:pPr>
            <a:r>
              <a:rPr sz="2904" b="1" spc="-195" dirty="0">
                <a:latin typeface="Georgia"/>
                <a:cs typeface="Georgia"/>
              </a:rPr>
              <a:t>Functional</a:t>
            </a:r>
            <a:r>
              <a:rPr sz="2904" b="1" spc="103" dirty="0">
                <a:latin typeface="Georgia"/>
                <a:cs typeface="Georgia"/>
              </a:rPr>
              <a:t> </a:t>
            </a:r>
            <a:r>
              <a:rPr sz="2904" b="1" spc="-204" dirty="0">
                <a:latin typeface="Georgia"/>
                <a:cs typeface="Georgia"/>
              </a:rPr>
              <a:t>Properties</a:t>
            </a:r>
            <a:endParaRPr sz="2904">
              <a:latin typeface="Georgia"/>
              <a:cs typeface="Georgia"/>
            </a:endParaRPr>
          </a:p>
          <a:p>
            <a:pPr marL="426471" marR="314091" indent="-293919">
              <a:lnSpc>
                <a:spcPct val="100899"/>
              </a:lnSpc>
              <a:spcBef>
                <a:spcPts val="1035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36" dirty="0">
                <a:latin typeface="Georgia"/>
                <a:cs typeface="Georgia"/>
              </a:rPr>
              <a:t>These </a:t>
            </a:r>
            <a:r>
              <a:rPr sz="2541" spc="-32" dirty="0">
                <a:latin typeface="Georgia"/>
                <a:cs typeface="Georgia"/>
              </a:rPr>
              <a:t>appear </a:t>
            </a:r>
            <a:r>
              <a:rPr sz="2541" spc="-5" dirty="0">
                <a:latin typeface="Georgia"/>
                <a:cs typeface="Georgia"/>
              </a:rPr>
              <a:t>when </a:t>
            </a:r>
            <a:r>
              <a:rPr sz="2541" spc="-9" dirty="0">
                <a:latin typeface="Georgia"/>
                <a:cs typeface="Georgia"/>
              </a:rPr>
              <a:t>all </a:t>
            </a:r>
            <a:r>
              <a:rPr sz="2541" spc="-23" dirty="0">
                <a:latin typeface="Georgia"/>
                <a:cs typeface="Georgia"/>
              </a:rPr>
              <a:t>the </a:t>
            </a:r>
            <a:r>
              <a:rPr sz="2541" spc="-51" dirty="0">
                <a:latin typeface="Georgia"/>
                <a:cs typeface="Georgia"/>
              </a:rPr>
              <a:t>parts </a:t>
            </a:r>
            <a:r>
              <a:rPr sz="2541" spc="-9" dirty="0">
                <a:latin typeface="Georgia"/>
                <a:cs typeface="Georgia"/>
              </a:rPr>
              <a:t>of </a:t>
            </a:r>
            <a:r>
              <a:rPr sz="2541" spc="5" dirty="0">
                <a:latin typeface="Georgia"/>
                <a:cs typeface="Georgia"/>
              </a:rPr>
              <a:t>a </a:t>
            </a:r>
            <a:r>
              <a:rPr sz="2541" spc="-51" dirty="0">
                <a:latin typeface="Georgia"/>
                <a:cs typeface="Georgia"/>
              </a:rPr>
              <a:t>system </a:t>
            </a:r>
            <a:r>
              <a:rPr sz="2541" spc="-9" dirty="0">
                <a:latin typeface="Georgia"/>
                <a:cs typeface="Georgia"/>
              </a:rPr>
              <a:t>work  </a:t>
            </a:r>
            <a:r>
              <a:rPr sz="2541" spc="-19" dirty="0">
                <a:latin typeface="Georgia"/>
                <a:cs typeface="Georgia"/>
              </a:rPr>
              <a:t>together </a:t>
            </a:r>
            <a:r>
              <a:rPr sz="2541" spc="-23" dirty="0">
                <a:latin typeface="Georgia"/>
                <a:cs typeface="Georgia"/>
              </a:rPr>
              <a:t>to </a:t>
            </a:r>
            <a:r>
              <a:rPr sz="2541" spc="-15" dirty="0">
                <a:latin typeface="Georgia"/>
                <a:cs typeface="Georgia"/>
              </a:rPr>
              <a:t>achieve </a:t>
            </a:r>
            <a:r>
              <a:rPr sz="2541" spc="-45" dirty="0">
                <a:latin typeface="Georgia"/>
                <a:cs typeface="Georgia"/>
              </a:rPr>
              <a:t>some</a:t>
            </a:r>
            <a:r>
              <a:rPr sz="2541" spc="391" dirty="0">
                <a:latin typeface="Georgia"/>
                <a:cs typeface="Georgia"/>
              </a:rPr>
              <a:t> </a:t>
            </a:r>
            <a:r>
              <a:rPr sz="2541" spc="-23" dirty="0">
                <a:latin typeface="Georgia"/>
                <a:cs typeface="Georgia"/>
              </a:rPr>
              <a:t>objective</a:t>
            </a:r>
            <a:endParaRPr sz="2541">
              <a:latin typeface="Georgia"/>
              <a:cs typeface="Georgia"/>
            </a:endParaRPr>
          </a:p>
          <a:p>
            <a:pPr marL="34579">
              <a:spcBef>
                <a:spcPts val="1299"/>
              </a:spcBef>
            </a:pPr>
            <a:r>
              <a:rPr sz="2904" b="1" spc="-191" dirty="0">
                <a:latin typeface="Georgia"/>
                <a:cs typeface="Georgia"/>
              </a:rPr>
              <a:t>Non-functional emergent</a:t>
            </a:r>
            <a:r>
              <a:rPr sz="2904" b="1" spc="-136" dirty="0">
                <a:latin typeface="Georgia"/>
                <a:cs typeface="Georgia"/>
              </a:rPr>
              <a:t> </a:t>
            </a:r>
            <a:r>
              <a:rPr sz="2904" b="1" spc="-191" dirty="0">
                <a:latin typeface="Georgia"/>
                <a:cs typeface="Georgia"/>
              </a:rPr>
              <a:t>properties</a:t>
            </a:r>
            <a:endParaRPr sz="2904">
              <a:latin typeface="Georgia"/>
              <a:cs typeface="Georgia"/>
            </a:endParaRPr>
          </a:p>
          <a:p>
            <a:pPr marL="426471" marR="27663" indent="-293919">
              <a:lnSpc>
                <a:spcPct val="100699"/>
              </a:lnSpc>
              <a:spcBef>
                <a:spcPts val="1048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55" dirty="0">
                <a:latin typeface="Georgia"/>
                <a:cs typeface="Georgia"/>
              </a:rPr>
              <a:t>Example </a:t>
            </a:r>
            <a:r>
              <a:rPr sz="2541" spc="-19" dirty="0">
                <a:latin typeface="Georgia"/>
                <a:cs typeface="Georgia"/>
              </a:rPr>
              <a:t>are </a:t>
            </a:r>
            <a:r>
              <a:rPr sz="2541" spc="-27" dirty="0">
                <a:latin typeface="Georgia"/>
                <a:cs typeface="Georgia"/>
              </a:rPr>
              <a:t>reliability </a:t>
            </a:r>
            <a:r>
              <a:rPr sz="2541" spc="19" dirty="0">
                <a:latin typeface="Georgia"/>
                <a:cs typeface="Georgia"/>
              </a:rPr>
              <a:t>, </a:t>
            </a:r>
            <a:r>
              <a:rPr sz="2541" spc="-36" dirty="0">
                <a:latin typeface="Georgia"/>
                <a:cs typeface="Georgia"/>
              </a:rPr>
              <a:t>performance </a:t>
            </a:r>
            <a:r>
              <a:rPr sz="2541" spc="19" dirty="0">
                <a:latin typeface="Georgia"/>
                <a:cs typeface="Georgia"/>
              </a:rPr>
              <a:t>, </a:t>
            </a:r>
            <a:r>
              <a:rPr sz="2541" spc="-15" dirty="0">
                <a:latin typeface="Georgia"/>
                <a:cs typeface="Georgia"/>
              </a:rPr>
              <a:t>safely </a:t>
            </a:r>
            <a:r>
              <a:rPr sz="2541" spc="-36" dirty="0">
                <a:latin typeface="Georgia"/>
                <a:cs typeface="Georgia"/>
              </a:rPr>
              <a:t>and  </a:t>
            </a:r>
            <a:r>
              <a:rPr sz="2541" spc="-32" dirty="0">
                <a:latin typeface="Georgia"/>
                <a:cs typeface="Georgia"/>
              </a:rPr>
              <a:t>security.These </a:t>
            </a:r>
            <a:r>
              <a:rPr sz="2541" spc="-19" dirty="0">
                <a:latin typeface="Georgia"/>
                <a:cs typeface="Georgia"/>
              </a:rPr>
              <a:t>relate to </a:t>
            </a:r>
            <a:r>
              <a:rPr sz="2541" spc="-23" dirty="0">
                <a:latin typeface="Georgia"/>
                <a:cs typeface="Georgia"/>
              </a:rPr>
              <a:t>the </a:t>
            </a:r>
            <a:r>
              <a:rPr sz="2541" spc="-27" dirty="0">
                <a:latin typeface="Georgia"/>
                <a:cs typeface="Georgia"/>
              </a:rPr>
              <a:t>behaviour </a:t>
            </a:r>
            <a:r>
              <a:rPr sz="2541" spc="-9" dirty="0">
                <a:latin typeface="Georgia"/>
                <a:cs typeface="Georgia"/>
              </a:rPr>
              <a:t>of </a:t>
            </a:r>
            <a:r>
              <a:rPr sz="2541" spc="-23" dirty="0">
                <a:latin typeface="Georgia"/>
                <a:cs typeface="Georgia"/>
              </a:rPr>
              <a:t>the </a:t>
            </a:r>
            <a:r>
              <a:rPr sz="2541" spc="-51" dirty="0">
                <a:latin typeface="Georgia"/>
                <a:cs typeface="Georgia"/>
              </a:rPr>
              <a:t>system  in </a:t>
            </a:r>
            <a:r>
              <a:rPr sz="2541" spc="-55" dirty="0">
                <a:latin typeface="Georgia"/>
                <a:cs typeface="Georgia"/>
              </a:rPr>
              <a:t>its </a:t>
            </a:r>
            <a:r>
              <a:rPr sz="2541" spc="-23" dirty="0">
                <a:latin typeface="Georgia"/>
                <a:cs typeface="Georgia"/>
              </a:rPr>
              <a:t>operational</a:t>
            </a:r>
            <a:r>
              <a:rPr sz="2541" spc="368" dirty="0">
                <a:latin typeface="Georgia"/>
                <a:cs typeface="Georgia"/>
              </a:rPr>
              <a:t> </a:t>
            </a:r>
            <a:r>
              <a:rPr sz="2541" spc="-41" dirty="0">
                <a:latin typeface="Georgia"/>
                <a:cs typeface="Georgia"/>
              </a:rPr>
              <a:t>environment</a:t>
            </a:r>
            <a:endParaRPr sz="2541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4189" y="3222686"/>
            <a:ext cx="155025" cy="212966"/>
          </a:xfrm>
          <a:prstGeom prst="rect">
            <a:avLst/>
          </a:prstGeom>
        </p:spPr>
        <p:txBody>
          <a:bodyPr vert="horz" wrap="square" lIns="0" tIns="10373" rIns="0" bIns="0" rtlCol="0">
            <a:spAutoFit/>
          </a:bodyPr>
          <a:lstStyle/>
          <a:p>
            <a:pPr marL="11526">
              <a:spcBef>
                <a:spcPts val="83"/>
              </a:spcBef>
            </a:pPr>
            <a:r>
              <a:rPr sz="1316" spc="-9" dirty="0">
                <a:latin typeface="OpenSymbol"/>
                <a:cs typeface="OpenSymbol"/>
              </a:rPr>
              <a:t>●</a:t>
            </a:r>
            <a:endParaRPr sz="1316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122608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477" y="610036"/>
            <a:ext cx="9543571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2127743" marR="4611" indent="-2060891">
              <a:lnSpc>
                <a:spcPct val="100000"/>
              </a:lnSpc>
              <a:spcBef>
                <a:spcPts val="91"/>
              </a:spcBef>
            </a:pPr>
            <a:r>
              <a:rPr spc="-223" dirty="0"/>
              <a:t>Reliability </a:t>
            </a:r>
            <a:r>
              <a:rPr spc="-236" dirty="0"/>
              <a:t>as </a:t>
            </a:r>
            <a:r>
              <a:rPr spc="-277" dirty="0"/>
              <a:t>an </a:t>
            </a:r>
            <a:r>
              <a:rPr spc="-263" dirty="0"/>
              <a:t>emergent  property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576" y="1698941"/>
            <a:ext cx="146381" cy="198987"/>
          </a:xfrm>
          <a:prstGeom prst="rect">
            <a:avLst/>
          </a:prstGeom>
        </p:spPr>
        <p:txBody>
          <a:bodyPr vert="horz" wrap="square" lIns="0" tIns="10373" rIns="0" bIns="0" rtlCol="0">
            <a:spAutoFit/>
          </a:bodyPr>
          <a:lstStyle/>
          <a:p>
            <a:pPr marL="11526">
              <a:spcBef>
                <a:spcPts val="83"/>
              </a:spcBef>
            </a:pPr>
            <a:r>
              <a:rPr sz="1225" spc="-9" dirty="0">
                <a:latin typeface="OpenSymbol"/>
                <a:cs typeface="OpenSymbol"/>
              </a:rPr>
              <a:t>●</a:t>
            </a:r>
            <a:endParaRPr sz="1225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6983" y="1583680"/>
            <a:ext cx="7563971" cy="3947999"/>
          </a:xfrm>
          <a:prstGeom prst="rect">
            <a:avLst/>
          </a:prstGeom>
        </p:spPr>
        <p:txBody>
          <a:bodyPr vert="horz" wrap="square" lIns="0" tIns="6916" rIns="0" bIns="0" rtlCol="0">
            <a:spAutoFit/>
          </a:bodyPr>
          <a:lstStyle/>
          <a:p>
            <a:pPr marL="23053" marR="125060">
              <a:lnSpc>
                <a:spcPct val="100800"/>
              </a:lnSpc>
              <a:spcBef>
                <a:spcPts val="55"/>
              </a:spcBef>
            </a:pPr>
            <a:r>
              <a:rPr sz="2768" spc="-32" dirty="0">
                <a:latin typeface="Georgia"/>
                <a:cs typeface="Georgia"/>
              </a:rPr>
              <a:t>Because </a:t>
            </a:r>
            <a:r>
              <a:rPr sz="2768" spc="-15" dirty="0">
                <a:latin typeface="Georgia"/>
                <a:cs typeface="Georgia"/>
              </a:rPr>
              <a:t>of </a:t>
            </a:r>
            <a:r>
              <a:rPr sz="2768" spc="-36" dirty="0">
                <a:latin typeface="Georgia"/>
                <a:cs typeface="Georgia"/>
              </a:rPr>
              <a:t>component </a:t>
            </a:r>
            <a:r>
              <a:rPr sz="2768" spc="-41" dirty="0">
                <a:latin typeface="Georgia"/>
                <a:cs typeface="Georgia"/>
              </a:rPr>
              <a:t>inter-dependencies </a:t>
            </a:r>
            <a:r>
              <a:rPr sz="2768" spc="-27" dirty="0">
                <a:latin typeface="Georgia"/>
                <a:cs typeface="Georgia"/>
              </a:rPr>
              <a:t>faults  can be </a:t>
            </a:r>
            <a:r>
              <a:rPr sz="2768" spc="-23" dirty="0">
                <a:latin typeface="Georgia"/>
                <a:cs typeface="Georgia"/>
              </a:rPr>
              <a:t>propogated </a:t>
            </a:r>
            <a:r>
              <a:rPr sz="2768" spc="-32" dirty="0">
                <a:latin typeface="Georgia"/>
                <a:cs typeface="Georgia"/>
              </a:rPr>
              <a:t>through </a:t>
            </a:r>
            <a:r>
              <a:rPr sz="2768" spc="-27" dirty="0">
                <a:latin typeface="Georgia"/>
                <a:cs typeface="Georgia"/>
              </a:rPr>
              <a:t>the</a:t>
            </a:r>
            <a:r>
              <a:rPr sz="2768" spc="23" dirty="0">
                <a:latin typeface="Georgia"/>
                <a:cs typeface="Georgia"/>
              </a:rPr>
              <a:t> </a:t>
            </a:r>
            <a:r>
              <a:rPr sz="2768" spc="-55" dirty="0">
                <a:latin typeface="Georgia"/>
                <a:cs typeface="Georgia"/>
              </a:rPr>
              <a:t>system</a:t>
            </a:r>
            <a:endParaRPr sz="2768" dirty="0">
              <a:latin typeface="Georgia"/>
              <a:cs typeface="Georgia"/>
            </a:endParaRPr>
          </a:p>
          <a:p>
            <a:pPr marL="23053" marR="16137">
              <a:lnSpc>
                <a:spcPct val="100499"/>
              </a:lnSpc>
              <a:spcBef>
                <a:spcPts val="1225"/>
              </a:spcBef>
            </a:pPr>
            <a:r>
              <a:rPr sz="2768" spc="-41" dirty="0">
                <a:latin typeface="Georgia"/>
                <a:cs typeface="Georgia"/>
              </a:rPr>
              <a:t>System </a:t>
            </a:r>
            <a:r>
              <a:rPr sz="2768" spc="-23" dirty="0">
                <a:latin typeface="Georgia"/>
                <a:cs typeface="Georgia"/>
              </a:rPr>
              <a:t>failure often </a:t>
            </a:r>
            <a:r>
              <a:rPr sz="2768" spc="-32" dirty="0">
                <a:latin typeface="Georgia"/>
                <a:cs typeface="Georgia"/>
              </a:rPr>
              <a:t>occur </a:t>
            </a:r>
            <a:r>
              <a:rPr sz="2768" spc="-23" dirty="0">
                <a:latin typeface="Georgia"/>
                <a:cs typeface="Georgia"/>
              </a:rPr>
              <a:t>because </a:t>
            </a:r>
            <a:r>
              <a:rPr sz="2768" spc="-15" dirty="0">
                <a:latin typeface="Georgia"/>
                <a:cs typeface="Georgia"/>
              </a:rPr>
              <a:t>of </a:t>
            </a:r>
            <a:r>
              <a:rPr sz="2768" spc="-32" dirty="0">
                <a:latin typeface="Georgia"/>
                <a:cs typeface="Georgia"/>
              </a:rPr>
              <a:t>unforeseen  </a:t>
            </a:r>
            <a:r>
              <a:rPr sz="2768" spc="-51" dirty="0">
                <a:latin typeface="Georgia"/>
                <a:cs typeface="Georgia"/>
              </a:rPr>
              <a:t>inter-relationships </a:t>
            </a:r>
            <a:r>
              <a:rPr sz="2768" spc="-5" dirty="0">
                <a:latin typeface="Georgia"/>
                <a:cs typeface="Georgia"/>
              </a:rPr>
              <a:t>between</a:t>
            </a:r>
            <a:r>
              <a:rPr sz="2768" spc="263" dirty="0">
                <a:latin typeface="Georgia"/>
                <a:cs typeface="Georgia"/>
              </a:rPr>
              <a:t> </a:t>
            </a:r>
            <a:r>
              <a:rPr sz="2768" spc="-45" dirty="0">
                <a:latin typeface="Georgia"/>
                <a:cs typeface="Georgia"/>
              </a:rPr>
              <a:t>components</a:t>
            </a:r>
            <a:endParaRPr sz="2768" dirty="0">
              <a:latin typeface="Georgia"/>
              <a:cs typeface="Georgia"/>
            </a:endParaRPr>
          </a:p>
          <a:p>
            <a:pPr marL="23053">
              <a:spcBef>
                <a:spcPts val="1243"/>
              </a:spcBef>
            </a:pPr>
            <a:r>
              <a:rPr sz="2768" spc="-41" dirty="0">
                <a:latin typeface="Georgia"/>
                <a:cs typeface="Georgia"/>
              </a:rPr>
              <a:t>Consider </a:t>
            </a:r>
            <a:r>
              <a:rPr sz="2768" spc="-27" dirty="0">
                <a:latin typeface="Georgia"/>
                <a:cs typeface="Georgia"/>
              </a:rPr>
              <a:t>reliability </a:t>
            </a:r>
            <a:r>
              <a:rPr sz="2768" spc="-55" dirty="0">
                <a:latin typeface="Georgia"/>
                <a:cs typeface="Georgia"/>
              </a:rPr>
              <a:t>from </a:t>
            </a:r>
            <a:r>
              <a:rPr sz="2768" spc="-27" dirty="0">
                <a:latin typeface="Georgia"/>
                <a:cs typeface="Georgia"/>
              </a:rPr>
              <a:t>three</a:t>
            </a:r>
            <a:r>
              <a:rPr sz="2768" spc="549" dirty="0">
                <a:latin typeface="Georgia"/>
                <a:cs typeface="Georgia"/>
              </a:rPr>
              <a:t> </a:t>
            </a:r>
            <a:r>
              <a:rPr sz="2768" spc="-41" dirty="0">
                <a:latin typeface="Georgia"/>
                <a:cs typeface="Georgia"/>
              </a:rPr>
              <a:t>prospectives:-</a:t>
            </a:r>
            <a:endParaRPr sz="2768" dirty="0">
              <a:latin typeface="Georgia"/>
              <a:cs typeface="Georgia"/>
            </a:endParaRPr>
          </a:p>
          <a:p>
            <a:pPr marL="395349" indent="-279512">
              <a:spcBef>
                <a:spcPts val="1017"/>
              </a:spcBef>
              <a:buSzPct val="75471"/>
              <a:buFont typeface="OpenSymbol"/>
              <a:buChar char="–"/>
              <a:tabLst>
                <a:tab pos="395349" algn="l"/>
              </a:tabLst>
            </a:pPr>
            <a:r>
              <a:rPr sz="2405" spc="-27" dirty="0">
                <a:latin typeface="Georgia"/>
                <a:cs typeface="Georgia"/>
              </a:rPr>
              <a:t>Hardware</a:t>
            </a:r>
            <a:r>
              <a:rPr sz="2405" spc="91" dirty="0">
                <a:latin typeface="Georgia"/>
                <a:cs typeface="Georgia"/>
              </a:rPr>
              <a:t> </a:t>
            </a:r>
            <a:r>
              <a:rPr sz="2405" spc="-23" dirty="0">
                <a:latin typeface="Georgia"/>
                <a:cs typeface="Georgia"/>
              </a:rPr>
              <a:t>reliability</a:t>
            </a:r>
            <a:endParaRPr sz="2405" dirty="0">
              <a:latin typeface="Georgia"/>
              <a:cs typeface="Georgia"/>
            </a:endParaRPr>
          </a:p>
          <a:p>
            <a:pPr marL="395349" indent="-279512">
              <a:spcBef>
                <a:spcPts val="999"/>
              </a:spcBef>
              <a:buSzPct val="75471"/>
              <a:buFont typeface="OpenSymbol"/>
              <a:buChar char="–"/>
              <a:tabLst>
                <a:tab pos="395349" algn="l"/>
              </a:tabLst>
            </a:pPr>
            <a:r>
              <a:rPr sz="2405" dirty="0">
                <a:latin typeface="Georgia"/>
                <a:cs typeface="Georgia"/>
              </a:rPr>
              <a:t>Software</a:t>
            </a:r>
            <a:r>
              <a:rPr sz="2405" spc="27" dirty="0">
                <a:latin typeface="Georgia"/>
                <a:cs typeface="Georgia"/>
              </a:rPr>
              <a:t> </a:t>
            </a:r>
            <a:r>
              <a:rPr sz="2405" spc="-19" dirty="0">
                <a:latin typeface="Georgia"/>
                <a:cs typeface="Georgia"/>
              </a:rPr>
              <a:t>reliability</a:t>
            </a:r>
            <a:endParaRPr sz="2405" dirty="0">
              <a:latin typeface="Georgia"/>
              <a:cs typeface="Georgia"/>
            </a:endParaRPr>
          </a:p>
          <a:p>
            <a:pPr marL="395349" indent="-279512">
              <a:spcBef>
                <a:spcPts val="999"/>
              </a:spcBef>
              <a:buSzPct val="75471"/>
              <a:buFont typeface="OpenSymbol"/>
              <a:buChar char="–"/>
              <a:tabLst>
                <a:tab pos="395349" algn="l"/>
              </a:tabLst>
            </a:pPr>
            <a:r>
              <a:rPr sz="2405" spc="-27" dirty="0">
                <a:latin typeface="Georgia"/>
                <a:cs typeface="Georgia"/>
              </a:rPr>
              <a:t>Operator</a:t>
            </a:r>
            <a:r>
              <a:rPr sz="2405" spc="77" dirty="0">
                <a:latin typeface="Georgia"/>
                <a:cs typeface="Georgia"/>
              </a:rPr>
              <a:t> </a:t>
            </a:r>
            <a:r>
              <a:rPr sz="2405" spc="-23" dirty="0">
                <a:latin typeface="Georgia"/>
                <a:cs typeface="Georgia"/>
              </a:rPr>
              <a:t>reliability</a:t>
            </a:r>
            <a:endParaRPr sz="2405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9576" y="2704014"/>
            <a:ext cx="146381" cy="198987"/>
          </a:xfrm>
          <a:prstGeom prst="rect">
            <a:avLst/>
          </a:prstGeom>
        </p:spPr>
        <p:txBody>
          <a:bodyPr vert="horz" wrap="square" lIns="0" tIns="10373" rIns="0" bIns="0" rtlCol="0">
            <a:spAutoFit/>
          </a:bodyPr>
          <a:lstStyle/>
          <a:p>
            <a:pPr marL="11526">
              <a:spcBef>
                <a:spcPts val="83"/>
              </a:spcBef>
            </a:pPr>
            <a:r>
              <a:rPr sz="1225" spc="-9" dirty="0">
                <a:latin typeface="OpenSymbol"/>
                <a:cs typeface="OpenSymbol"/>
              </a:rPr>
              <a:t>●</a:t>
            </a:r>
            <a:endParaRPr sz="1225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9576" y="3707933"/>
            <a:ext cx="146381" cy="198987"/>
          </a:xfrm>
          <a:prstGeom prst="rect">
            <a:avLst/>
          </a:prstGeom>
        </p:spPr>
        <p:txBody>
          <a:bodyPr vert="horz" wrap="square" lIns="0" tIns="10373" rIns="0" bIns="0" rtlCol="0">
            <a:spAutoFit/>
          </a:bodyPr>
          <a:lstStyle/>
          <a:p>
            <a:pPr marL="11526">
              <a:spcBef>
                <a:spcPts val="83"/>
              </a:spcBef>
            </a:pPr>
            <a:r>
              <a:rPr sz="1225" spc="-9" dirty="0">
                <a:latin typeface="OpenSymbol"/>
                <a:cs typeface="OpenSymbol"/>
              </a:rPr>
              <a:t>●</a:t>
            </a:r>
            <a:endParaRPr sz="1225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77139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0101" y="545908"/>
            <a:ext cx="6368572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77" dirty="0"/>
              <a:t>Failure</a:t>
            </a:r>
            <a:r>
              <a:rPr spc="68" dirty="0"/>
              <a:t> </a:t>
            </a:r>
            <a:r>
              <a:rPr spc="-255" dirty="0"/>
              <a:t>Propagation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968501" y="1929461"/>
            <a:ext cx="7646274" cy="38208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</p:spTree>
    <p:extLst>
      <p:ext uri="{BB962C8B-B14F-4D97-AF65-F5344CB8AC3E}">
        <p14:creationId xmlns:p14="http://schemas.microsoft.com/office/powerpoint/2010/main" val="250751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4521" y="577105"/>
            <a:ext cx="4134971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391" dirty="0"/>
              <a:t>N</a:t>
            </a:r>
            <a:r>
              <a:rPr spc="-289" dirty="0"/>
              <a:t>o</a:t>
            </a:r>
            <a:r>
              <a:rPr spc="-277" dirty="0"/>
              <a:t>n-d</a:t>
            </a:r>
            <a:r>
              <a:rPr spc="-200" dirty="0"/>
              <a:t>e</a:t>
            </a:r>
            <a:r>
              <a:rPr spc="-145" dirty="0"/>
              <a:t>t</a:t>
            </a:r>
            <a:r>
              <a:rPr spc="-213" dirty="0"/>
              <a:t>e</a:t>
            </a:r>
            <a:r>
              <a:rPr spc="-399" dirty="0"/>
              <a:t>r</a:t>
            </a:r>
            <a:r>
              <a:rPr spc="-499" dirty="0"/>
              <a:t>m</a:t>
            </a:r>
            <a:r>
              <a:rPr spc="-195" dirty="0"/>
              <a:t>i</a:t>
            </a:r>
            <a:r>
              <a:rPr spc="-268" dirty="0"/>
              <a:t>ni</a:t>
            </a:r>
            <a:r>
              <a:rPr spc="-381" dirty="0"/>
              <a:t>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4189" y="1702399"/>
            <a:ext cx="155025" cy="212966"/>
          </a:xfrm>
          <a:prstGeom prst="rect">
            <a:avLst/>
          </a:prstGeom>
        </p:spPr>
        <p:txBody>
          <a:bodyPr vert="horz" wrap="square" lIns="0" tIns="10373" rIns="0" bIns="0" rtlCol="0">
            <a:spAutoFit/>
          </a:bodyPr>
          <a:lstStyle/>
          <a:p>
            <a:pPr marL="11526">
              <a:spcBef>
                <a:spcPts val="83"/>
              </a:spcBef>
            </a:pPr>
            <a:r>
              <a:rPr sz="1316" spc="-9" dirty="0">
                <a:latin typeface="OpenSymbol"/>
                <a:cs typeface="OpenSymbol"/>
              </a:rPr>
              <a:t>●</a:t>
            </a:r>
            <a:endParaRPr sz="1316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5050" y="1416552"/>
            <a:ext cx="7708047" cy="3146981"/>
          </a:xfrm>
          <a:prstGeom prst="rect">
            <a:avLst/>
          </a:prstGeom>
        </p:spPr>
        <p:txBody>
          <a:bodyPr vert="horz" wrap="square" lIns="0" tIns="178655" rIns="0" bIns="0" rtlCol="0">
            <a:spAutoFit/>
          </a:bodyPr>
          <a:lstStyle/>
          <a:p>
            <a:pPr marL="34579">
              <a:spcBef>
                <a:spcPts val="1407"/>
              </a:spcBef>
            </a:pPr>
            <a:r>
              <a:rPr sz="2904" spc="-32" dirty="0">
                <a:latin typeface="Georgia"/>
                <a:cs typeface="Georgia"/>
              </a:rPr>
              <a:t>People </a:t>
            </a:r>
            <a:r>
              <a:rPr sz="2904" spc="-19" dirty="0">
                <a:latin typeface="Georgia"/>
                <a:cs typeface="Georgia"/>
              </a:rPr>
              <a:t>are</a:t>
            </a:r>
            <a:r>
              <a:rPr sz="2904" spc="236" dirty="0">
                <a:latin typeface="Georgia"/>
                <a:cs typeface="Georgia"/>
              </a:rPr>
              <a:t> </a:t>
            </a:r>
            <a:r>
              <a:rPr sz="2904" spc="-55" dirty="0">
                <a:latin typeface="Georgia"/>
                <a:cs typeface="Georgia"/>
              </a:rPr>
              <a:t>non-deterministics</a:t>
            </a:r>
            <a:endParaRPr sz="2904">
              <a:latin typeface="Georgia"/>
              <a:cs typeface="Georgia"/>
            </a:endParaRPr>
          </a:p>
          <a:p>
            <a:pPr marL="34579" marR="456439">
              <a:lnSpc>
                <a:spcPct val="100800"/>
              </a:lnSpc>
              <a:spcBef>
                <a:spcPts val="1289"/>
              </a:spcBef>
            </a:pPr>
            <a:r>
              <a:rPr sz="2904" spc="-23" dirty="0">
                <a:latin typeface="Georgia"/>
                <a:cs typeface="Georgia"/>
              </a:rPr>
              <a:t>Sociotechnical </a:t>
            </a:r>
            <a:r>
              <a:rPr sz="2904" spc="-59" dirty="0">
                <a:latin typeface="Georgia"/>
                <a:cs typeface="Georgia"/>
              </a:rPr>
              <a:t>systems </a:t>
            </a:r>
            <a:r>
              <a:rPr sz="2904" spc="-19" dirty="0">
                <a:latin typeface="Georgia"/>
                <a:cs typeface="Georgia"/>
              </a:rPr>
              <a:t>are </a:t>
            </a:r>
            <a:r>
              <a:rPr sz="2904" spc="-51" dirty="0">
                <a:latin typeface="Georgia"/>
                <a:cs typeface="Georgia"/>
              </a:rPr>
              <a:t>non-deterministic  </a:t>
            </a:r>
            <a:r>
              <a:rPr sz="2904" spc="-32" dirty="0">
                <a:latin typeface="Georgia"/>
                <a:cs typeface="Georgia"/>
              </a:rPr>
              <a:t>partly </a:t>
            </a:r>
            <a:r>
              <a:rPr sz="2904" spc="-23" dirty="0">
                <a:latin typeface="Georgia"/>
                <a:cs typeface="Georgia"/>
              </a:rPr>
              <a:t>because </a:t>
            </a:r>
            <a:r>
              <a:rPr sz="2904" spc="-15" dirty="0">
                <a:latin typeface="Georgia"/>
                <a:cs typeface="Georgia"/>
              </a:rPr>
              <a:t>of</a:t>
            </a:r>
            <a:r>
              <a:rPr sz="2904" spc="363" dirty="0">
                <a:latin typeface="Georgia"/>
                <a:cs typeface="Georgia"/>
              </a:rPr>
              <a:t> </a:t>
            </a:r>
            <a:r>
              <a:rPr sz="2904" spc="-73" dirty="0">
                <a:latin typeface="Georgia"/>
                <a:cs typeface="Georgia"/>
              </a:rPr>
              <a:t>:-</a:t>
            </a:r>
            <a:endParaRPr sz="2904">
              <a:latin typeface="Georgia"/>
              <a:cs typeface="Georgia"/>
            </a:endParaRPr>
          </a:p>
          <a:p>
            <a:pPr marL="426471" indent="-293919">
              <a:spcBef>
                <a:spcPts val="1071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32" dirty="0">
                <a:latin typeface="Georgia"/>
                <a:cs typeface="Georgia"/>
              </a:rPr>
              <a:t>People</a:t>
            </a:r>
            <a:endParaRPr sz="2541">
              <a:latin typeface="Georgia"/>
              <a:cs typeface="Georgia"/>
            </a:endParaRPr>
          </a:p>
          <a:p>
            <a:pPr marL="426471" marR="27663" indent="-293919">
              <a:lnSpc>
                <a:spcPct val="100600"/>
              </a:lnSpc>
              <a:spcBef>
                <a:spcPts val="1035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27" dirty="0">
                <a:latin typeface="Georgia"/>
                <a:cs typeface="Georgia"/>
              </a:rPr>
              <a:t>Changes </a:t>
            </a:r>
            <a:r>
              <a:rPr sz="2541" spc="-23" dirty="0">
                <a:latin typeface="Georgia"/>
                <a:cs typeface="Georgia"/>
              </a:rPr>
              <a:t>to </a:t>
            </a:r>
            <a:r>
              <a:rPr sz="2541" spc="19" dirty="0">
                <a:latin typeface="Georgia"/>
                <a:cs typeface="Georgia"/>
              </a:rPr>
              <a:t>h/w , </a:t>
            </a:r>
            <a:r>
              <a:rPr sz="2541" spc="5" dirty="0">
                <a:latin typeface="Georgia"/>
                <a:cs typeface="Georgia"/>
              </a:rPr>
              <a:t>s/w </a:t>
            </a:r>
            <a:r>
              <a:rPr sz="2541" spc="-32" dirty="0">
                <a:latin typeface="Georgia"/>
                <a:cs typeface="Georgia"/>
              </a:rPr>
              <a:t>and </a:t>
            </a:r>
            <a:r>
              <a:rPr sz="2541" spc="-15" dirty="0">
                <a:latin typeface="Georgia"/>
                <a:cs typeface="Georgia"/>
              </a:rPr>
              <a:t>data </a:t>
            </a:r>
            <a:r>
              <a:rPr sz="2541" spc="-51" dirty="0">
                <a:latin typeface="Georgia"/>
                <a:cs typeface="Georgia"/>
              </a:rPr>
              <a:t>in </a:t>
            </a:r>
            <a:r>
              <a:rPr sz="2541" spc="-32" dirty="0">
                <a:latin typeface="Georgia"/>
                <a:cs typeface="Georgia"/>
              </a:rPr>
              <a:t>these </a:t>
            </a:r>
            <a:r>
              <a:rPr sz="2541" spc="-59" dirty="0">
                <a:latin typeface="Georgia"/>
                <a:cs typeface="Georgia"/>
              </a:rPr>
              <a:t>systems </a:t>
            </a:r>
            <a:r>
              <a:rPr sz="2541" spc="-19" dirty="0">
                <a:latin typeface="Georgia"/>
                <a:cs typeface="Georgia"/>
              </a:rPr>
              <a:t>are  </a:t>
            </a:r>
            <a:r>
              <a:rPr sz="2541" spc="-45" dirty="0">
                <a:latin typeface="Georgia"/>
                <a:cs typeface="Georgia"/>
              </a:rPr>
              <a:t>so</a:t>
            </a:r>
            <a:r>
              <a:rPr sz="2541" spc="87" dirty="0">
                <a:latin typeface="Georgia"/>
                <a:cs typeface="Georgia"/>
              </a:rPr>
              <a:t> </a:t>
            </a:r>
            <a:r>
              <a:rPr sz="2541" spc="-27" dirty="0">
                <a:latin typeface="Georgia"/>
                <a:cs typeface="Georgia"/>
              </a:rPr>
              <a:t>frequent.</a:t>
            </a:r>
            <a:endParaRPr sz="2541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4189" y="2312127"/>
            <a:ext cx="155025" cy="212966"/>
          </a:xfrm>
          <a:prstGeom prst="rect">
            <a:avLst/>
          </a:prstGeom>
        </p:spPr>
        <p:txBody>
          <a:bodyPr vert="horz" wrap="square" lIns="0" tIns="10373" rIns="0" bIns="0" rtlCol="0">
            <a:spAutoFit/>
          </a:bodyPr>
          <a:lstStyle/>
          <a:p>
            <a:pPr marL="11526">
              <a:spcBef>
                <a:spcPts val="83"/>
              </a:spcBef>
            </a:pPr>
            <a:r>
              <a:rPr sz="1316" spc="-9" dirty="0">
                <a:latin typeface="OpenSymbol"/>
                <a:cs typeface="OpenSymbol"/>
              </a:rPr>
              <a:t>●</a:t>
            </a:r>
            <a:endParaRPr sz="1316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92526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3111" y="520508"/>
            <a:ext cx="4681305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72" dirty="0"/>
              <a:t>System</a:t>
            </a:r>
            <a:r>
              <a:rPr spc="103" dirty="0"/>
              <a:t> </a:t>
            </a:r>
            <a:r>
              <a:rPr spc="-268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53111" y="1317367"/>
            <a:ext cx="10960848" cy="4126129"/>
          </a:xfrm>
          <a:prstGeom prst="rect">
            <a:avLst/>
          </a:prstGeom>
        </p:spPr>
        <p:txBody>
          <a:bodyPr vert="horz" wrap="square" lIns="0" tIns="144652" rIns="0" bIns="0" rtlCol="0">
            <a:spAutoFit/>
          </a:bodyPr>
          <a:lstStyle/>
          <a:p>
            <a:pPr marL="34579">
              <a:lnSpc>
                <a:spcPct val="100000"/>
              </a:lnSpc>
              <a:spcBef>
                <a:spcPts val="1139"/>
              </a:spcBef>
            </a:pP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involved </a:t>
            </a:r>
            <a:r>
              <a:rPr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spc="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367687" indent="-250119">
              <a:lnSpc>
                <a:spcPct val="100000"/>
              </a:lnSpc>
              <a:spcBef>
                <a:spcPts val="935"/>
              </a:spcBef>
              <a:buSzPct val="74468"/>
              <a:buFont typeface="OpenSymbol"/>
              <a:buChar char="–"/>
              <a:tabLst>
                <a:tab pos="367687" algn="l"/>
              </a:tabLst>
            </a:pPr>
            <a:r>
              <a:rPr sz="2133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Procuring</a:t>
            </a:r>
            <a:endParaRPr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87" indent="-250119">
              <a:lnSpc>
                <a:spcPct val="100000"/>
              </a:lnSpc>
              <a:spcBef>
                <a:spcPts val="917"/>
              </a:spcBef>
              <a:buSzPct val="74468"/>
              <a:buFont typeface="OpenSymbol"/>
              <a:buChar char="–"/>
              <a:tabLst>
                <a:tab pos="367687" algn="l"/>
              </a:tabLst>
            </a:pPr>
            <a:r>
              <a:rPr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Specifying</a:t>
            </a:r>
          </a:p>
          <a:p>
            <a:pPr marL="367687" indent="-250119">
              <a:lnSpc>
                <a:spcPct val="100000"/>
              </a:lnSpc>
              <a:spcBef>
                <a:spcPts val="917"/>
              </a:spcBef>
              <a:buSzPct val="74468"/>
              <a:buFont typeface="OpenSymbol"/>
              <a:buChar char="–"/>
              <a:tabLst>
                <a:tab pos="367687" algn="l"/>
              </a:tabLst>
            </a:pPr>
            <a:r>
              <a:rPr sz="2133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</a:t>
            </a:r>
            <a:endParaRPr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87" indent="-250119">
              <a:lnSpc>
                <a:spcPct val="100000"/>
              </a:lnSpc>
              <a:spcBef>
                <a:spcPts val="917"/>
              </a:spcBef>
              <a:buSzPct val="74468"/>
              <a:buFont typeface="OpenSymbol"/>
              <a:buChar char="–"/>
              <a:tabLst>
                <a:tab pos="367687" algn="l"/>
              </a:tabLst>
            </a:pPr>
            <a:r>
              <a:rPr sz="2133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</a:t>
            </a:r>
            <a:endParaRPr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87" indent="-250119">
              <a:lnSpc>
                <a:spcPct val="100000"/>
              </a:lnSpc>
              <a:spcBef>
                <a:spcPts val="925"/>
              </a:spcBef>
              <a:buSzPct val="74468"/>
              <a:buFont typeface="OpenSymbol"/>
              <a:buChar char="–"/>
              <a:tabLst>
                <a:tab pos="367687" algn="l"/>
              </a:tabLst>
            </a:pPr>
            <a:r>
              <a:rPr sz="2133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Validating</a:t>
            </a:r>
            <a:endParaRPr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87" indent="-250119">
              <a:lnSpc>
                <a:spcPct val="100000"/>
              </a:lnSpc>
              <a:spcBef>
                <a:spcPts val="917"/>
              </a:spcBef>
              <a:buSzPct val="74468"/>
              <a:buFont typeface="OpenSymbol"/>
              <a:buChar char="–"/>
              <a:tabLst>
                <a:tab pos="367687" algn="l"/>
              </a:tabLst>
            </a:pPr>
            <a:r>
              <a:rPr sz="2133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Deploying</a:t>
            </a:r>
            <a:endParaRPr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87" indent="-250119">
              <a:lnSpc>
                <a:spcPct val="100000"/>
              </a:lnSpc>
              <a:spcBef>
                <a:spcPts val="917"/>
              </a:spcBef>
              <a:buSzPct val="74468"/>
              <a:buFont typeface="OpenSymbol"/>
              <a:buChar char="–"/>
              <a:tabLst>
                <a:tab pos="367687" algn="l"/>
              </a:tabLst>
            </a:pPr>
            <a:r>
              <a:rPr sz="2133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  <a:endParaRPr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87" indent="-250119">
              <a:lnSpc>
                <a:spcPct val="100000"/>
              </a:lnSpc>
              <a:spcBef>
                <a:spcPts val="917"/>
              </a:spcBef>
              <a:buSzPct val="74468"/>
              <a:buFont typeface="OpenSymbol"/>
              <a:buChar char="–"/>
              <a:tabLst>
                <a:tab pos="367687" algn="l"/>
              </a:tabLst>
            </a:pPr>
            <a:r>
              <a:rPr sz="2133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133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133" spc="1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33" spc="-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</a:t>
            </a:r>
            <a:endParaRPr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00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9121" y="711008"/>
            <a:ext cx="7185916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08" dirty="0"/>
              <a:t>Stages </a:t>
            </a:r>
            <a:r>
              <a:rPr spc="-223" dirty="0"/>
              <a:t>of </a:t>
            </a:r>
            <a:r>
              <a:rPr spc="-272" dirty="0"/>
              <a:t>Systems</a:t>
            </a:r>
            <a:r>
              <a:rPr spc="5" dirty="0"/>
              <a:t> </a:t>
            </a:r>
            <a:r>
              <a:rPr spc="-263" dirty="0"/>
              <a:t>Engineering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4189" y="1702399"/>
            <a:ext cx="155025" cy="212966"/>
          </a:xfrm>
          <a:prstGeom prst="rect">
            <a:avLst/>
          </a:prstGeom>
        </p:spPr>
        <p:txBody>
          <a:bodyPr vert="horz" wrap="square" lIns="0" tIns="10373" rIns="0" bIns="0" rtlCol="0">
            <a:spAutoFit/>
          </a:bodyPr>
          <a:lstStyle/>
          <a:p>
            <a:pPr marL="11526">
              <a:spcBef>
                <a:spcPts val="83"/>
              </a:spcBef>
            </a:pPr>
            <a:r>
              <a:rPr sz="1316" spc="-9" dirty="0">
                <a:latin typeface="OpenSymbol"/>
                <a:cs typeface="OpenSymbol"/>
              </a:rPr>
              <a:t>●</a:t>
            </a:r>
            <a:endParaRPr sz="1316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9121" y="1583680"/>
            <a:ext cx="10455279" cy="2506583"/>
          </a:xfrm>
          <a:prstGeom prst="rect">
            <a:avLst/>
          </a:prstGeom>
        </p:spPr>
        <p:txBody>
          <a:bodyPr vert="horz" wrap="square" lIns="0" tIns="7492" rIns="0" bIns="0" rtlCol="0">
            <a:spAutoFit/>
          </a:bodyPr>
          <a:lstStyle/>
          <a:p>
            <a:pPr marL="34579" marR="27663">
              <a:lnSpc>
                <a:spcPct val="100899"/>
              </a:lnSpc>
              <a:spcBef>
                <a:spcPts val="59"/>
              </a:spcBef>
            </a:pPr>
            <a:r>
              <a:rPr sz="2904" spc="-32" dirty="0">
                <a:latin typeface="Georgia"/>
                <a:cs typeface="Georgia"/>
              </a:rPr>
              <a:t>There </a:t>
            </a:r>
            <a:r>
              <a:rPr sz="2904" spc="-23" dirty="0">
                <a:latin typeface="Georgia"/>
                <a:cs typeface="Georgia"/>
              </a:rPr>
              <a:t>are </a:t>
            </a:r>
            <a:r>
              <a:rPr sz="2904" spc="-27" dirty="0">
                <a:latin typeface="Georgia"/>
                <a:cs typeface="Georgia"/>
              </a:rPr>
              <a:t>three overlapping stages </a:t>
            </a:r>
            <a:r>
              <a:rPr sz="2904" spc="-55" dirty="0">
                <a:latin typeface="Georgia"/>
                <a:cs typeface="Georgia"/>
              </a:rPr>
              <a:t>in </a:t>
            </a:r>
            <a:r>
              <a:rPr sz="2904" spc="-23" dirty="0">
                <a:latin typeface="Georgia"/>
                <a:cs typeface="Georgia"/>
              </a:rPr>
              <a:t>the  </a:t>
            </a:r>
            <a:r>
              <a:rPr sz="2904" spc="-27" dirty="0">
                <a:latin typeface="Georgia"/>
                <a:cs typeface="Georgia"/>
              </a:rPr>
              <a:t>lifetime </a:t>
            </a:r>
            <a:r>
              <a:rPr sz="2904" spc="-9" dirty="0">
                <a:latin typeface="Georgia"/>
                <a:cs typeface="Georgia"/>
              </a:rPr>
              <a:t>of large </a:t>
            </a:r>
            <a:r>
              <a:rPr sz="2904" spc="-32" dirty="0">
                <a:latin typeface="Georgia"/>
                <a:cs typeface="Georgia"/>
              </a:rPr>
              <a:t>and complex </a:t>
            </a:r>
            <a:r>
              <a:rPr sz="2904" spc="-27" dirty="0">
                <a:latin typeface="Georgia"/>
                <a:cs typeface="Georgia"/>
              </a:rPr>
              <a:t>sociotechnical  </a:t>
            </a:r>
            <a:r>
              <a:rPr sz="2904" spc="-59" dirty="0">
                <a:latin typeface="Georgia"/>
                <a:cs typeface="Georgia"/>
              </a:rPr>
              <a:t>systems</a:t>
            </a:r>
            <a:r>
              <a:rPr sz="2904" spc="95" dirty="0">
                <a:latin typeface="Georgia"/>
                <a:cs typeface="Georgia"/>
              </a:rPr>
              <a:t> </a:t>
            </a:r>
            <a:r>
              <a:rPr sz="2904" spc="-73" dirty="0">
                <a:latin typeface="Georgia"/>
                <a:cs typeface="Georgia"/>
              </a:rPr>
              <a:t>:-</a:t>
            </a:r>
            <a:endParaRPr sz="2904" dirty="0">
              <a:latin typeface="Georgia"/>
              <a:cs typeface="Georgia"/>
            </a:endParaRPr>
          </a:p>
          <a:p>
            <a:pPr marL="426471" indent="-293919">
              <a:spcBef>
                <a:spcPts val="1063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b="1" spc="-200" dirty="0">
                <a:latin typeface="Georgia"/>
                <a:cs typeface="Georgia"/>
              </a:rPr>
              <a:t>Procurement </a:t>
            </a:r>
            <a:r>
              <a:rPr sz="2541" b="1" spc="-213" dirty="0">
                <a:latin typeface="Georgia"/>
                <a:cs typeface="Georgia"/>
              </a:rPr>
              <a:t>or</a:t>
            </a:r>
            <a:r>
              <a:rPr sz="2541" b="1" spc="-68" dirty="0">
                <a:latin typeface="Georgia"/>
                <a:cs typeface="Georgia"/>
              </a:rPr>
              <a:t> </a:t>
            </a:r>
            <a:r>
              <a:rPr sz="2541" b="1" spc="-168" dirty="0">
                <a:latin typeface="Georgia"/>
                <a:cs typeface="Georgia"/>
              </a:rPr>
              <a:t>Acquisition</a:t>
            </a:r>
            <a:endParaRPr sz="2541" dirty="0">
              <a:latin typeface="Georgia"/>
              <a:cs typeface="Georgia"/>
            </a:endParaRPr>
          </a:p>
          <a:p>
            <a:pPr marL="426471" indent="-293919">
              <a:spcBef>
                <a:spcPts val="1053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b="1" spc="-172" dirty="0">
                <a:latin typeface="Georgia"/>
                <a:cs typeface="Georgia"/>
              </a:rPr>
              <a:t>Development</a:t>
            </a:r>
            <a:endParaRPr sz="2541" dirty="0">
              <a:latin typeface="Georgia"/>
              <a:cs typeface="Georgia"/>
            </a:endParaRPr>
          </a:p>
          <a:p>
            <a:pPr marL="426471" indent="-293919">
              <a:spcBef>
                <a:spcPts val="1053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b="1" spc="-168" dirty="0">
                <a:latin typeface="Georgia"/>
                <a:cs typeface="Georgia"/>
              </a:rPr>
              <a:t>Operation</a:t>
            </a:r>
            <a:endParaRPr sz="2541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91188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0915" y="723135"/>
            <a:ext cx="6500692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309" dirty="0"/>
              <a:t>Procurement </a:t>
            </a:r>
            <a:r>
              <a:rPr spc="-317" dirty="0"/>
              <a:t>or</a:t>
            </a:r>
            <a:r>
              <a:rPr spc="-159" dirty="0"/>
              <a:t> </a:t>
            </a:r>
            <a:r>
              <a:rPr spc="-259" dirty="0"/>
              <a:t>Acquisition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4189" y="1702399"/>
            <a:ext cx="155025" cy="212966"/>
          </a:xfrm>
          <a:prstGeom prst="rect">
            <a:avLst/>
          </a:prstGeom>
        </p:spPr>
        <p:txBody>
          <a:bodyPr vert="horz" wrap="square" lIns="0" tIns="10373" rIns="0" bIns="0" rtlCol="0">
            <a:spAutoFit/>
          </a:bodyPr>
          <a:lstStyle/>
          <a:p>
            <a:pPr marL="11526">
              <a:spcBef>
                <a:spcPts val="83"/>
              </a:spcBef>
            </a:pPr>
            <a:r>
              <a:rPr sz="1316" spc="-9" dirty="0">
                <a:latin typeface="OpenSymbol"/>
                <a:cs typeface="OpenSymbol"/>
              </a:rPr>
              <a:t>●</a:t>
            </a:r>
            <a:endParaRPr sz="1316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5050" y="1429561"/>
            <a:ext cx="7538612" cy="3514213"/>
          </a:xfrm>
          <a:prstGeom prst="rect">
            <a:avLst/>
          </a:prstGeom>
        </p:spPr>
        <p:txBody>
          <a:bodyPr vert="horz" wrap="square" lIns="0" tIns="165399" rIns="0" bIns="0" rtlCol="0">
            <a:spAutoFit/>
          </a:bodyPr>
          <a:lstStyle/>
          <a:p>
            <a:pPr marL="34579">
              <a:spcBef>
                <a:spcPts val="1303"/>
              </a:spcBef>
            </a:pPr>
            <a:r>
              <a:rPr sz="2904" b="1" spc="-191" dirty="0">
                <a:latin typeface="Georgia"/>
                <a:cs typeface="Georgia"/>
              </a:rPr>
              <a:t>It </a:t>
            </a:r>
            <a:r>
              <a:rPr sz="2904" b="1" spc="-183" dirty="0">
                <a:latin typeface="Georgia"/>
                <a:cs typeface="Georgia"/>
              </a:rPr>
              <a:t>includes</a:t>
            </a:r>
            <a:r>
              <a:rPr sz="2904" b="1" spc="-145" dirty="0">
                <a:latin typeface="Georgia"/>
                <a:cs typeface="Georgia"/>
              </a:rPr>
              <a:t> </a:t>
            </a:r>
            <a:r>
              <a:rPr sz="2904" b="1" spc="-119" dirty="0">
                <a:latin typeface="Georgia"/>
                <a:cs typeface="Georgia"/>
              </a:rPr>
              <a:t>:-</a:t>
            </a:r>
            <a:endParaRPr sz="2904">
              <a:latin typeface="Georgia"/>
              <a:cs typeface="Georgia"/>
            </a:endParaRPr>
          </a:p>
          <a:p>
            <a:pPr marL="426471" indent="-293919">
              <a:spcBef>
                <a:spcPts val="1063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55" dirty="0">
                <a:latin typeface="Georgia"/>
                <a:cs typeface="Georgia"/>
              </a:rPr>
              <a:t>Purpose </a:t>
            </a:r>
            <a:r>
              <a:rPr sz="2541" spc="-9" dirty="0">
                <a:latin typeface="Georgia"/>
                <a:cs typeface="Georgia"/>
              </a:rPr>
              <a:t>of </a:t>
            </a:r>
            <a:r>
              <a:rPr sz="2541" spc="-51" dirty="0">
                <a:latin typeface="Georgia"/>
                <a:cs typeface="Georgia"/>
              </a:rPr>
              <a:t>system </a:t>
            </a:r>
            <a:r>
              <a:rPr sz="2541" spc="-64" dirty="0">
                <a:latin typeface="Georgia"/>
                <a:cs typeface="Georgia"/>
              </a:rPr>
              <a:t>is</a:t>
            </a:r>
            <a:r>
              <a:rPr sz="2541" spc="449" dirty="0">
                <a:latin typeface="Georgia"/>
                <a:cs typeface="Georgia"/>
              </a:rPr>
              <a:t> </a:t>
            </a:r>
            <a:r>
              <a:rPr sz="2541" spc="-19" dirty="0">
                <a:latin typeface="Georgia"/>
                <a:cs typeface="Georgia"/>
              </a:rPr>
              <a:t>decided</a:t>
            </a:r>
            <a:endParaRPr sz="2541">
              <a:latin typeface="Georgia"/>
              <a:cs typeface="Georgia"/>
            </a:endParaRPr>
          </a:p>
          <a:p>
            <a:pPr marL="426471" indent="-293919">
              <a:spcBef>
                <a:spcPts val="1053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45" dirty="0">
                <a:latin typeface="Georgia"/>
                <a:cs typeface="Georgia"/>
              </a:rPr>
              <a:t>High-level </a:t>
            </a:r>
            <a:r>
              <a:rPr sz="2541" spc="-51" dirty="0">
                <a:latin typeface="Georgia"/>
                <a:cs typeface="Georgia"/>
              </a:rPr>
              <a:t>system </a:t>
            </a:r>
            <a:r>
              <a:rPr sz="2541" spc="-45" dirty="0">
                <a:latin typeface="Georgia"/>
                <a:cs typeface="Georgia"/>
              </a:rPr>
              <a:t>requirements </a:t>
            </a:r>
            <a:r>
              <a:rPr sz="2541" spc="-19" dirty="0">
                <a:latin typeface="Georgia"/>
                <a:cs typeface="Georgia"/>
              </a:rPr>
              <a:t>are</a:t>
            </a:r>
            <a:r>
              <a:rPr sz="2541" spc="495" dirty="0">
                <a:latin typeface="Georgia"/>
                <a:cs typeface="Georgia"/>
              </a:rPr>
              <a:t> </a:t>
            </a:r>
            <a:r>
              <a:rPr sz="2541" spc="-36" dirty="0">
                <a:latin typeface="Georgia"/>
                <a:cs typeface="Georgia"/>
              </a:rPr>
              <a:t>established</a:t>
            </a:r>
            <a:endParaRPr sz="2541">
              <a:latin typeface="Georgia"/>
              <a:cs typeface="Georgia"/>
            </a:endParaRPr>
          </a:p>
          <a:p>
            <a:pPr marL="426471" marR="74921" indent="-293919">
              <a:lnSpc>
                <a:spcPct val="100600"/>
              </a:lnSpc>
              <a:spcBef>
                <a:spcPts val="1035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51" dirty="0">
                <a:latin typeface="Georgia"/>
                <a:cs typeface="Georgia"/>
              </a:rPr>
              <a:t>Decision </a:t>
            </a:r>
            <a:r>
              <a:rPr sz="2541" spc="-19" dirty="0">
                <a:latin typeface="Georgia"/>
                <a:cs typeface="Georgia"/>
              </a:rPr>
              <a:t>are </a:t>
            </a:r>
            <a:r>
              <a:rPr sz="2541" spc="-27" dirty="0">
                <a:latin typeface="Georgia"/>
                <a:cs typeface="Georgia"/>
              </a:rPr>
              <a:t>made on </a:t>
            </a:r>
            <a:r>
              <a:rPr sz="2541" spc="9" dirty="0">
                <a:latin typeface="Georgia"/>
                <a:cs typeface="Georgia"/>
              </a:rPr>
              <a:t>how </a:t>
            </a:r>
            <a:r>
              <a:rPr sz="2541" spc="-27" dirty="0">
                <a:latin typeface="Georgia"/>
                <a:cs typeface="Georgia"/>
              </a:rPr>
              <a:t>functionality </a:t>
            </a:r>
            <a:r>
              <a:rPr sz="2541" spc="5" dirty="0">
                <a:latin typeface="Georgia"/>
                <a:cs typeface="Georgia"/>
              </a:rPr>
              <a:t>will </a:t>
            </a:r>
            <a:r>
              <a:rPr sz="2541" spc="-19" dirty="0">
                <a:latin typeface="Georgia"/>
                <a:cs typeface="Georgia"/>
              </a:rPr>
              <a:t>be  </a:t>
            </a:r>
            <a:r>
              <a:rPr sz="2541" spc="-41" dirty="0">
                <a:latin typeface="Georgia"/>
                <a:cs typeface="Georgia"/>
              </a:rPr>
              <a:t>distributed </a:t>
            </a:r>
            <a:r>
              <a:rPr sz="2541" spc="-45" dirty="0">
                <a:latin typeface="Georgia"/>
                <a:cs typeface="Georgia"/>
              </a:rPr>
              <a:t>across </a:t>
            </a:r>
            <a:r>
              <a:rPr sz="2541" spc="-19" dirty="0">
                <a:latin typeface="Georgia"/>
                <a:cs typeface="Georgia"/>
              </a:rPr>
              <a:t>hardware </a:t>
            </a:r>
            <a:r>
              <a:rPr sz="2541" spc="19" dirty="0">
                <a:latin typeface="Georgia"/>
                <a:cs typeface="Georgia"/>
              </a:rPr>
              <a:t>, </a:t>
            </a:r>
            <a:r>
              <a:rPr sz="2541" spc="-15" dirty="0">
                <a:latin typeface="Georgia"/>
                <a:cs typeface="Georgia"/>
              </a:rPr>
              <a:t>software </a:t>
            </a:r>
            <a:r>
              <a:rPr sz="2541" spc="-27" dirty="0">
                <a:latin typeface="Georgia"/>
                <a:cs typeface="Georgia"/>
              </a:rPr>
              <a:t>and</a:t>
            </a:r>
            <a:r>
              <a:rPr sz="2541" spc="64" dirty="0">
                <a:latin typeface="Georgia"/>
                <a:cs typeface="Georgia"/>
              </a:rPr>
              <a:t> </a:t>
            </a:r>
            <a:r>
              <a:rPr sz="2541" spc="-19" dirty="0">
                <a:latin typeface="Georgia"/>
                <a:cs typeface="Georgia"/>
              </a:rPr>
              <a:t>people</a:t>
            </a:r>
            <a:endParaRPr sz="2541">
              <a:latin typeface="Georgia"/>
              <a:cs typeface="Georgia"/>
            </a:endParaRPr>
          </a:p>
          <a:p>
            <a:pPr marL="426471" marR="27663" indent="-293919">
              <a:lnSpc>
                <a:spcPct val="100899"/>
              </a:lnSpc>
              <a:spcBef>
                <a:spcPts val="1027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32" dirty="0">
                <a:latin typeface="Georgia"/>
                <a:cs typeface="Georgia"/>
              </a:rPr>
              <a:t>and </a:t>
            </a:r>
            <a:r>
              <a:rPr sz="2541" spc="-41" dirty="0">
                <a:latin typeface="Georgia"/>
                <a:cs typeface="Georgia"/>
              </a:rPr>
              <a:t>,components </a:t>
            </a:r>
            <a:r>
              <a:rPr sz="2541" spc="-27" dirty="0">
                <a:latin typeface="Georgia"/>
                <a:cs typeface="Georgia"/>
              </a:rPr>
              <a:t>that </a:t>
            </a:r>
            <a:r>
              <a:rPr sz="2541" spc="5" dirty="0">
                <a:latin typeface="Georgia"/>
                <a:cs typeface="Georgia"/>
              </a:rPr>
              <a:t>will </a:t>
            </a:r>
            <a:r>
              <a:rPr sz="2541" spc="-41" dirty="0">
                <a:latin typeface="Georgia"/>
                <a:cs typeface="Georgia"/>
              </a:rPr>
              <a:t>make </a:t>
            </a:r>
            <a:r>
              <a:rPr sz="2541" spc="-36" dirty="0">
                <a:latin typeface="Georgia"/>
                <a:cs typeface="Georgia"/>
              </a:rPr>
              <a:t>up </a:t>
            </a:r>
            <a:r>
              <a:rPr sz="2541" spc="-23" dirty="0">
                <a:latin typeface="Georgia"/>
                <a:cs typeface="Georgia"/>
              </a:rPr>
              <a:t>the </a:t>
            </a:r>
            <a:r>
              <a:rPr sz="2541" spc="-51" dirty="0">
                <a:latin typeface="Georgia"/>
                <a:cs typeface="Georgia"/>
              </a:rPr>
              <a:t>system </a:t>
            </a:r>
            <a:r>
              <a:rPr sz="2541" spc="-19" dirty="0">
                <a:latin typeface="Georgia"/>
                <a:cs typeface="Georgia"/>
              </a:rPr>
              <a:t>are  </a:t>
            </a:r>
            <a:r>
              <a:rPr sz="2541" spc="-36" dirty="0">
                <a:latin typeface="Georgia"/>
                <a:cs typeface="Georgia"/>
              </a:rPr>
              <a:t>purchased</a:t>
            </a:r>
            <a:endParaRPr sz="2541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60291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4104" y="499012"/>
            <a:ext cx="3131051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68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4189" y="1702399"/>
            <a:ext cx="155025" cy="212966"/>
          </a:xfrm>
          <a:prstGeom prst="rect">
            <a:avLst/>
          </a:prstGeom>
        </p:spPr>
        <p:txBody>
          <a:bodyPr vert="horz" wrap="square" lIns="0" tIns="10373" rIns="0" bIns="0" rtlCol="0">
            <a:spAutoFit/>
          </a:bodyPr>
          <a:lstStyle/>
          <a:p>
            <a:pPr marL="11526">
              <a:spcBef>
                <a:spcPts val="83"/>
              </a:spcBef>
            </a:pPr>
            <a:r>
              <a:rPr sz="1316" spc="-9" dirty="0">
                <a:latin typeface="OpenSymbol"/>
                <a:cs typeface="OpenSymbol"/>
              </a:rPr>
              <a:t>●</a:t>
            </a:r>
            <a:endParaRPr sz="1316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5049" y="1429559"/>
            <a:ext cx="5364224" cy="1146000"/>
          </a:xfrm>
          <a:prstGeom prst="rect">
            <a:avLst/>
          </a:prstGeom>
        </p:spPr>
        <p:txBody>
          <a:bodyPr vert="horz" wrap="square" lIns="0" tIns="165399" rIns="0" bIns="0" rtlCol="0">
            <a:spAutoFit/>
          </a:bodyPr>
          <a:lstStyle/>
          <a:p>
            <a:pPr marL="34579">
              <a:spcBef>
                <a:spcPts val="1303"/>
              </a:spcBef>
            </a:pPr>
            <a:r>
              <a:rPr sz="2904" b="1" spc="-191" dirty="0">
                <a:latin typeface="Georgia"/>
                <a:cs typeface="Georgia"/>
              </a:rPr>
              <a:t>It </a:t>
            </a:r>
            <a:r>
              <a:rPr sz="2904" b="1" spc="-183" dirty="0">
                <a:latin typeface="Georgia"/>
                <a:cs typeface="Georgia"/>
              </a:rPr>
              <a:t>includes</a:t>
            </a:r>
            <a:r>
              <a:rPr sz="2904" b="1" spc="-145" dirty="0">
                <a:latin typeface="Georgia"/>
                <a:cs typeface="Georgia"/>
              </a:rPr>
              <a:t> </a:t>
            </a:r>
            <a:r>
              <a:rPr sz="2904" b="1" spc="-119" dirty="0">
                <a:latin typeface="Georgia"/>
                <a:cs typeface="Georgia"/>
              </a:rPr>
              <a:t>:-</a:t>
            </a:r>
            <a:endParaRPr sz="2904" dirty="0">
              <a:latin typeface="Georgia"/>
              <a:cs typeface="Georgia"/>
            </a:endParaRPr>
          </a:p>
          <a:p>
            <a:pPr marL="132551">
              <a:spcBef>
                <a:spcPts val="1063"/>
              </a:spcBef>
            </a:pPr>
            <a:r>
              <a:rPr sz="2859" baseline="10582" dirty="0">
                <a:latin typeface="OpenSymbol"/>
                <a:cs typeface="OpenSymbol"/>
              </a:rPr>
              <a:t>– </a:t>
            </a:r>
            <a:r>
              <a:rPr sz="2541" b="1" spc="-163" dirty="0">
                <a:latin typeface="Georgia"/>
                <a:cs typeface="Georgia"/>
              </a:rPr>
              <a:t>development </a:t>
            </a:r>
            <a:r>
              <a:rPr sz="2541" b="1" spc="-132" dirty="0">
                <a:latin typeface="Georgia"/>
                <a:cs typeface="Georgia"/>
              </a:rPr>
              <a:t>activities </a:t>
            </a:r>
            <a:r>
              <a:rPr sz="2541" b="1" spc="-151" dirty="0">
                <a:latin typeface="Georgia"/>
                <a:cs typeface="Georgia"/>
              </a:rPr>
              <a:t>related</a:t>
            </a:r>
            <a:r>
              <a:rPr sz="2541" b="1" spc="-155" dirty="0">
                <a:latin typeface="Georgia"/>
                <a:cs typeface="Georgia"/>
              </a:rPr>
              <a:t> </a:t>
            </a:r>
            <a:r>
              <a:rPr sz="2541" b="1" spc="-127" dirty="0">
                <a:latin typeface="Georgia"/>
                <a:cs typeface="Georgia"/>
              </a:rPr>
              <a:t>to</a:t>
            </a:r>
            <a:endParaRPr sz="2541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81384" y="2739742"/>
            <a:ext cx="122176" cy="161774"/>
          </a:xfrm>
          <a:prstGeom prst="rect">
            <a:avLst/>
          </a:prstGeom>
        </p:spPr>
        <p:txBody>
          <a:bodyPr vert="horz" wrap="square" lIns="0" tIns="14984" rIns="0" bIns="0" rtlCol="0">
            <a:spAutoFit/>
          </a:bodyPr>
          <a:lstStyle/>
          <a:p>
            <a:pPr marL="11526">
              <a:spcBef>
                <a:spcPts val="119"/>
              </a:spcBef>
            </a:pPr>
            <a:r>
              <a:rPr sz="953" spc="19" dirty="0">
                <a:latin typeface="OpenSymbol"/>
                <a:cs typeface="OpenSymbol"/>
              </a:rPr>
              <a:t>●</a:t>
            </a:r>
            <a:endParaRPr sz="953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41873" y="2650993"/>
            <a:ext cx="6753113" cy="1900658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11526" marR="4611">
              <a:lnSpc>
                <a:spcPct val="100899"/>
              </a:lnSpc>
              <a:spcBef>
                <a:spcPts val="68"/>
              </a:spcBef>
            </a:pPr>
            <a:r>
              <a:rPr sz="2179" spc="-32" dirty="0">
                <a:latin typeface="Georgia"/>
                <a:cs typeface="Georgia"/>
              </a:rPr>
              <a:t>System </a:t>
            </a:r>
            <a:r>
              <a:rPr sz="2179" spc="-36" dirty="0">
                <a:latin typeface="Georgia"/>
                <a:cs typeface="Georgia"/>
              </a:rPr>
              <a:t>Developments </a:t>
            </a:r>
            <a:r>
              <a:rPr sz="2179" spc="-27" dirty="0">
                <a:latin typeface="Georgia"/>
                <a:cs typeface="Georgia"/>
              </a:rPr>
              <a:t>(requirements definition </a:t>
            </a:r>
            <a:r>
              <a:rPr sz="2179" spc="19" dirty="0">
                <a:latin typeface="Georgia"/>
                <a:cs typeface="Georgia"/>
              </a:rPr>
              <a:t>, </a:t>
            </a:r>
            <a:r>
              <a:rPr sz="2179" spc="-41" dirty="0">
                <a:latin typeface="Georgia"/>
                <a:cs typeface="Georgia"/>
              </a:rPr>
              <a:t>system  </a:t>
            </a:r>
            <a:r>
              <a:rPr sz="2179" spc="-23" dirty="0">
                <a:latin typeface="Georgia"/>
                <a:cs typeface="Georgia"/>
              </a:rPr>
              <a:t>design </a:t>
            </a:r>
            <a:r>
              <a:rPr sz="2179" spc="19" dirty="0">
                <a:latin typeface="Georgia"/>
                <a:cs typeface="Georgia"/>
              </a:rPr>
              <a:t>, </a:t>
            </a:r>
            <a:r>
              <a:rPr sz="2179" spc="-19" dirty="0">
                <a:latin typeface="Georgia"/>
                <a:cs typeface="Georgia"/>
              </a:rPr>
              <a:t>hardware </a:t>
            </a:r>
            <a:r>
              <a:rPr sz="2179" spc="-27" dirty="0">
                <a:latin typeface="Georgia"/>
                <a:cs typeface="Georgia"/>
              </a:rPr>
              <a:t>and </a:t>
            </a:r>
            <a:r>
              <a:rPr sz="2179" spc="-15" dirty="0">
                <a:latin typeface="Georgia"/>
                <a:cs typeface="Georgia"/>
              </a:rPr>
              <a:t>software </a:t>
            </a:r>
            <a:r>
              <a:rPr sz="2179" spc="-19" dirty="0">
                <a:latin typeface="Georgia"/>
                <a:cs typeface="Georgia"/>
              </a:rPr>
              <a:t>engineering </a:t>
            </a:r>
            <a:r>
              <a:rPr sz="2179" spc="19" dirty="0">
                <a:latin typeface="Georgia"/>
                <a:cs typeface="Georgia"/>
              </a:rPr>
              <a:t>, </a:t>
            </a:r>
            <a:r>
              <a:rPr sz="2179" spc="-41" dirty="0">
                <a:latin typeface="Georgia"/>
                <a:cs typeface="Georgia"/>
              </a:rPr>
              <a:t>system  </a:t>
            </a:r>
            <a:r>
              <a:rPr sz="2179" spc="-23" dirty="0">
                <a:latin typeface="Georgia"/>
                <a:cs typeface="Georgia"/>
              </a:rPr>
              <a:t>integration </a:t>
            </a:r>
            <a:r>
              <a:rPr sz="2179" spc="-27" dirty="0">
                <a:latin typeface="Georgia"/>
                <a:cs typeface="Georgia"/>
              </a:rPr>
              <a:t>and</a:t>
            </a:r>
            <a:r>
              <a:rPr sz="2179" spc="183" dirty="0">
                <a:latin typeface="Georgia"/>
                <a:cs typeface="Georgia"/>
              </a:rPr>
              <a:t> </a:t>
            </a:r>
            <a:r>
              <a:rPr sz="2179" spc="-9" dirty="0">
                <a:latin typeface="Georgia"/>
                <a:cs typeface="Georgia"/>
              </a:rPr>
              <a:t>testing)</a:t>
            </a:r>
            <a:endParaRPr sz="2179">
              <a:latin typeface="Georgia"/>
              <a:cs typeface="Georgia"/>
            </a:endParaRPr>
          </a:p>
          <a:p>
            <a:pPr marL="11526">
              <a:spcBef>
                <a:spcPts val="791"/>
              </a:spcBef>
            </a:pPr>
            <a:r>
              <a:rPr sz="2179" spc="-23" dirty="0">
                <a:latin typeface="Georgia"/>
                <a:cs typeface="Georgia"/>
              </a:rPr>
              <a:t>operational </a:t>
            </a:r>
            <a:r>
              <a:rPr sz="2179" spc="-45" dirty="0">
                <a:latin typeface="Georgia"/>
                <a:cs typeface="Georgia"/>
              </a:rPr>
              <a:t>Processes </a:t>
            </a:r>
            <a:r>
              <a:rPr sz="2179" spc="-23" dirty="0">
                <a:latin typeface="Georgia"/>
                <a:cs typeface="Georgia"/>
              </a:rPr>
              <a:t>are</a:t>
            </a:r>
            <a:r>
              <a:rPr sz="2179" spc="289" dirty="0">
                <a:latin typeface="Georgia"/>
                <a:cs typeface="Georgia"/>
              </a:rPr>
              <a:t> </a:t>
            </a:r>
            <a:r>
              <a:rPr sz="2179" spc="-19" dirty="0">
                <a:latin typeface="Georgia"/>
                <a:cs typeface="Georgia"/>
              </a:rPr>
              <a:t>defined</a:t>
            </a:r>
            <a:endParaRPr sz="2179">
              <a:latin typeface="Georgia"/>
              <a:cs typeface="Georgia"/>
            </a:endParaRPr>
          </a:p>
          <a:p>
            <a:pPr marL="11526">
              <a:spcBef>
                <a:spcPts val="791"/>
              </a:spcBef>
            </a:pPr>
            <a:r>
              <a:rPr sz="2179" spc="-19" dirty="0">
                <a:latin typeface="Georgia"/>
                <a:cs typeface="Georgia"/>
              </a:rPr>
              <a:t>the</a:t>
            </a:r>
            <a:r>
              <a:rPr sz="2179" spc="77" dirty="0">
                <a:latin typeface="Georgia"/>
                <a:cs typeface="Georgia"/>
              </a:rPr>
              <a:t> </a:t>
            </a:r>
            <a:r>
              <a:rPr sz="2179" spc="-32" dirty="0">
                <a:latin typeface="Georgia"/>
                <a:cs typeface="Georgia"/>
              </a:rPr>
              <a:t>training</a:t>
            </a:r>
            <a:r>
              <a:rPr sz="2179" spc="87" dirty="0">
                <a:latin typeface="Georgia"/>
                <a:cs typeface="Georgia"/>
              </a:rPr>
              <a:t> </a:t>
            </a:r>
            <a:r>
              <a:rPr sz="2179" spc="-36" dirty="0">
                <a:latin typeface="Georgia"/>
                <a:cs typeface="Georgia"/>
              </a:rPr>
              <a:t>courses</a:t>
            </a:r>
            <a:r>
              <a:rPr sz="2179" spc="83" dirty="0">
                <a:latin typeface="Georgia"/>
                <a:cs typeface="Georgia"/>
              </a:rPr>
              <a:t> </a:t>
            </a:r>
            <a:r>
              <a:rPr sz="2179" spc="-27" dirty="0">
                <a:latin typeface="Georgia"/>
                <a:cs typeface="Georgia"/>
              </a:rPr>
              <a:t>for</a:t>
            </a:r>
            <a:r>
              <a:rPr sz="2179" spc="77" dirty="0">
                <a:latin typeface="Georgia"/>
                <a:cs typeface="Georgia"/>
              </a:rPr>
              <a:t> </a:t>
            </a:r>
            <a:r>
              <a:rPr sz="2179" spc="-41" dirty="0">
                <a:latin typeface="Georgia"/>
                <a:cs typeface="Georgia"/>
              </a:rPr>
              <a:t>system</a:t>
            </a:r>
            <a:r>
              <a:rPr sz="2179" spc="87" dirty="0">
                <a:latin typeface="Georgia"/>
                <a:cs typeface="Georgia"/>
              </a:rPr>
              <a:t> </a:t>
            </a:r>
            <a:r>
              <a:rPr sz="2179" spc="-45" dirty="0">
                <a:latin typeface="Georgia"/>
                <a:cs typeface="Georgia"/>
              </a:rPr>
              <a:t>users</a:t>
            </a:r>
            <a:r>
              <a:rPr sz="2179" spc="83" dirty="0">
                <a:latin typeface="Georgia"/>
                <a:cs typeface="Georgia"/>
              </a:rPr>
              <a:t> </a:t>
            </a:r>
            <a:r>
              <a:rPr sz="2179" spc="-23" dirty="0">
                <a:latin typeface="Georgia"/>
                <a:cs typeface="Georgia"/>
              </a:rPr>
              <a:t>are</a:t>
            </a:r>
            <a:r>
              <a:rPr sz="2179" spc="83" dirty="0">
                <a:latin typeface="Georgia"/>
                <a:cs typeface="Georgia"/>
              </a:rPr>
              <a:t> </a:t>
            </a:r>
            <a:r>
              <a:rPr sz="2179" spc="-19" dirty="0">
                <a:latin typeface="Georgia"/>
                <a:cs typeface="Georgia"/>
              </a:rPr>
              <a:t>designed.</a:t>
            </a:r>
            <a:endParaRPr sz="2179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1384" y="3841633"/>
            <a:ext cx="122176" cy="161774"/>
          </a:xfrm>
          <a:prstGeom prst="rect">
            <a:avLst/>
          </a:prstGeom>
        </p:spPr>
        <p:txBody>
          <a:bodyPr vert="horz" wrap="square" lIns="0" tIns="14984" rIns="0" bIns="0" rtlCol="0">
            <a:spAutoFit/>
          </a:bodyPr>
          <a:lstStyle/>
          <a:p>
            <a:pPr marL="11526">
              <a:spcBef>
                <a:spcPts val="119"/>
              </a:spcBef>
            </a:pPr>
            <a:r>
              <a:rPr sz="953" spc="19" dirty="0">
                <a:latin typeface="OpenSymbol"/>
                <a:cs typeface="OpenSymbol"/>
              </a:rPr>
              <a:t>●</a:t>
            </a:r>
            <a:endParaRPr sz="953">
              <a:latin typeface="OpenSymbol"/>
              <a:cs typeface="Open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1384" y="4273859"/>
            <a:ext cx="122176" cy="161774"/>
          </a:xfrm>
          <a:prstGeom prst="rect">
            <a:avLst/>
          </a:prstGeom>
        </p:spPr>
        <p:txBody>
          <a:bodyPr vert="horz" wrap="square" lIns="0" tIns="14984" rIns="0" bIns="0" rtlCol="0">
            <a:spAutoFit/>
          </a:bodyPr>
          <a:lstStyle/>
          <a:p>
            <a:pPr marL="11526">
              <a:spcBef>
                <a:spcPts val="119"/>
              </a:spcBef>
            </a:pPr>
            <a:r>
              <a:rPr sz="953" spc="19" dirty="0">
                <a:latin typeface="OpenSymbol"/>
                <a:cs typeface="OpenSymbol"/>
              </a:rPr>
              <a:t>●</a:t>
            </a:r>
            <a:endParaRPr sz="953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12912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4985" y="545908"/>
            <a:ext cx="2395691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55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4189" y="1702399"/>
            <a:ext cx="155025" cy="212966"/>
          </a:xfrm>
          <a:prstGeom prst="rect">
            <a:avLst/>
          </a:prstGeom>
        </p:spPr>
        <p:txBody>
          <a:bodyPr vert="horz" wrap="square" lIns="0" tIns="10373" rIns="0" bIns="0" rtlCol="0">
            <a:spAutoFit/>
          </a:bodyPr>
          <a:lstStyle/>
          <a:p>
            <a:pPr marL="11526">
              <a:spcBef>
                <a:spcPts val="83"/>
              </a:spcBef>
            </a:pPr>
            <a:r>
              <a:rPr sz="1316" spc="-9" dirty="0">
                <a:latin typeface="OpenSymbol"/>
                <a:cs typeface="OpenSymbol"/>
              </a:rPr>
              <a:t>●</a:t>
            </a:r>
            <a:endParaRPr sz="1316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5049" y="1429560"/>
            <a:ext cx="4179347" cy="2210138"/>
          </a:xfrm>
          <a:prstGeom prst="rect">
            <a:avLst/>
          </a:prstGeom>
        </p:spPr>
        <p:txBody>
          <a:bodyPr vert="horz" wrap="square" lIns="0" tIns="165399" rIns="0" bIns="0" rtlCol="0">
            <a:spAutoFit/>
          </a:bodyPr>
          <a:lstStyle/>
          <a:p>
            <a:pPr marL="34579">
              <a:spcBef>
                <a:spcPts val="1303"/>
              </a:spcBef>
            </a:pPr>
            <a:r>
              <a:rPr sz="2904" spc="-113" dirty="0">
                <a:latin typeface="Georgia"/>
                <a:cs typeface="Georgia"/>
              </a:rPr>
              <a:t>It </a:t>
            </a:r>
            <a:r>
              <a:rPr sz="2904" spc="-36" dirty="0">
                <a:latin typeface="Georgia"/>
                <a:cs typeface="Georgia"/>
              </a:rPr>
              <a:t>includes</a:t>
            </a:r>
            <a:r>
              <a:rPr sz="2904" spc="-272" dirty="0">
                <a:latin typeface="Georgia"/>
                <a:cs typeface="Georgia"/>
              </a:rPr>
              <a:t> </a:t>
            </a:r>
            <a:r>
              <a:rPr sz="2904" spc="-73" dirty="0">
                <a:latin typeface="Georgia"/>
                <a:cs typeface="Georgia"/>
              </a:rPr>
              <a:t>:-</a:t>
            </a:r>
            <a:endParaRPr sz="2904">
              <a:latin typeface="Georgia"/>
              <a:cs typeface="Georgia"/>
            </a:endParaRPr>
          </a:p>
          <a:p>
            <a:pPr marL="426471" indent="-293919">
              <a:spcBef>
                <a:spcPts val="1063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41" dirty="0">
                <a:latin typeface="Georgia"/>
                <a:cs typeface="Georgia"/>
              </a:rPr>
              <a:t>System </a:t>
            </a:r>
            <a:r>
              <a:rPr sz="2541" spc="-64" dirty="0">
                <a:latin typeface="Georgia"/>
                <a:cs typeface="Georgia"/>
              </a:rPr>
              <a:t>is</a:t>
            </a:r>
            <a:r>
              <a:rPr sz="2541" spc="163" dirty="0">
                <a:latin typeface="Georgia"/>
                <a:cs typeface="Georgia"/>
              </a:rPr>
              <a:t> </a:t>
            </a:r>
            <a:r>
              <a:rPr sz="2541" spc="-15" dirty="0">
                <a:latin typeface="Georgia"/>
                <a:cs typeface="Georgia"/>
              </a:rPr>
              <a:t>deployed</a:t>
            </a:r>
            <a:endParaRPr sz="2541">
              <a:latin typeface="Georgia"/>
              <a:cs typeface="Georgia"/>
            </a:endParaRPr>
          </a:p>
          <a:p>
            <a:pPr marL="426471" indent="-293919">
              <a:spcBef>
                <a:spcPts val="1053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83" dirty="0">
                <a:latin typeface="Georgia"/>
                <a:cs typeface="Georgia"/>
              </a:rPr>
              <a:t>Users </a:t>
            </a:r>
            <a:r>
              <a:rPr sz="2541" spc="-19" dirty="0">
                <a:latin typeface="Georgia"/>
                <a:cs typeface="Georgia"/>
              </a:rPr>
              <a:t>are</a:t>
            </a:r>
            <a:r>
              <a:rPr sz="2541" spc="183" dirty="0">
                <a:latin typeface="Georgia"/>
                <a:cs typeface="Georgia"/>
              </a:rPr>
              <a:t> </a:t>
            </a:r>
            <a:r>
              <a:rPr sz="2541" spc="-36" dirty="0">
                <a:latin typeface="Georgia"/>
                <a:cs typeface="Georgia"/>
              </a:rPr>
              <a:t>trainined</a:t>
            </a:r>
            <a:endParaRPr sz="2541">
              <a:latin typeface="Georgia"/>
              <a:cs typeface="Georgia"/>
            </a:endParaRPr>
          </a:p>
          <a:p>
            <a:pPr marL="426471" indent="-293919">
              <a:spcBef>
                <a:spcPts val="1053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41" dirty="0">
                <a:latin typeface="Georgia"/>
                <a:cs typeface="Georgia"/>
              </a:rPr>
              <a:t>System </a:t>
            </a:r>
            <a:r>
              <a:rPr sz="2541" spc="-64" dirty="0">
                <a:latin typeface="Georgia"/>
                <a:cs typeface="Georgia"/>
              </a:rPr>
              <a:t>is </a:t>
            </a:r>
            <a:r>
              <a:rPr sz="2541" spc="-32" dirty="0">
                <a:latin typeface="Georgia"/>
                <a:cs typeface="Georgia"/>
              </a:rPr>
              <a:t>brought </a:t>
            </a:r>
            <a:r>
              <a:rPr sz="2541" spc="-36" dirty="0">
                <a:latin typeface="Georgia"/>
                <a:cs typeface="Georgia"/>
              </a:rPr>
              <a:t>into</a:t>
            </a:r>
            <a:r>
              <a:rPr sz="2541" spc="472" dirty="0">
                <a:latin typeface="Georgia"/>
                <a:cs typeface="Georgia"/>
              </a:rPr>
              <a:t> </a:t>
            </a:r>
            <a:r>
              <a:rPr sz="2541" spc="-32" dirty="0">
                <a:latin typeface="Georgia"/>
                <a:cs typeface="Georgia"/>
              </a:rPr>
              <a:t>use</a:t>
            </a:r>
            <a:endParaRPr sz="2541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50893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5200" y="1384694"/>
            <a:ext cx="10058399" cy="43684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9836" y="440545"/>
            <a:ext cx="6958853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13" dirty="0"/>
              <a:t>Stages </a:t>
            </a:r>
            <a:r>
              <a:rPr spc="-223" dirty="0"/>
              <a:t>of </a:t>
            </a:r>
            <a:r>
              <a:rPr spc="-272" dirty="0"/>
              <a:t>System</a:t>
            </a:r>
            <a:r>
              <a:rPr spc="119" dirty="0"/>
              <a:t> </a:t>
            </a:r>
            <a:r>
              <a:rPr spc="-268" dirty="0"/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240127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738" y="558608"/>
            <a:ext cx="7433727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345" dirty="0"/>
              <a:t>Air </a:t>
            </a:r>
            <a:r>
              <a:rPr spc="-255" dirty="0"/>
              <a:t>Traffic </a:t>
            </a:r>
            <a:r>
              <a:rPr spc="-281" dirty="0"/>
              <a:t>Management</a:t>
            </a:r>
            <a:r>
              <a:rPr spc="-431" dirty="0"/>
              <a:t> </a:t>
            </a:r>
            <a:r>
              <a:rPr spc="-272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1206501" y="1930336"/>
            <a:ext cx="8560462" cy="37896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</p:spTree>
    <p:extLst>
      <p:ext uri="{BB962C8B-B14F-4D97-AF65-F5344CB8AC3E}">
        <p14:creationId xmlns:p14="http://schemas.microsoft.com/office/powerpoint/2010/main" val="1877822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477" y="592401"/>
            <a:ext cx="4880131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72" dirty="0"/>
              <a:t>System</a:t>
            </a:r>
            <a:r>
              <a:rPr spc="64" dirty="0"/>
              <a:t> </a:t>
            </a:r>
            <a:r>
              <a:rPr spc="-309" dirty="0"/>
              <a:t>Procurement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4189" y="1702399"/>
            <a:ext cx="155025" cy="212966"/>
          </a:xfrm>
          <a:prstGeom prst="rect">
            <a:avLst/>
          </a:prstGeom>
        </p:spPr>
        <p:txBody>
          <a:bodyPr vert="horz" wrap="square" lIns="0" tIns="10373" rIns="0" bIns="0" rtlCol="0">
            <a:spAutoFit/>
          </a:bodyPr>
          <a:lstStyle/>
          <a:p>
            <a:pPr marL="11526">
              <a:spcBef>
                <a:spcPts val="83"/>
              </a:spcBef>
            </a:pPr>
            <a:r>
              <a:rPr sz="1316" spc="-9" dirty="0">
                <a:latin typeface="OpenSymbol"/>
                <a:cs typeface="OpenSymbol"/>
              </a:rPr>
              <a:t>●</a:t>
            </a:r>
            <a:endParaRPr sz="1316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8101" y="1583680"/>
            <a:ext cx="4632320" cy="458557"/>
          </a:xfrm>
          <a:prstGeom prst="rect">
            <a:avLst/>
          </a:prstGeom>
        </p:spPr>
        <p:txBody>
          <a:bodyPr vert="horz" wrap="square" lIns="0" tIns="11527" rIns="0" bIns="0" rtlCol="0">
            <a:spAutoFit/>
          </a:bodyPr>
          <a:lstStyle/>
          <a:p>
            <a:pPr marL="11526">
              <a:spcBef>
                <a:spcPts val="91"/>
              </a:spcBef>
            </a:pPr>
            <a:r>
              <a:rPr sz="2904" spc="-41" dirty="0">
                <a:latin typeface="Georgia"/>
                <a:cs typeface="Georgia"/>
              </a:rPr>
              <a:t>System </a:t>
            </a:r>
            <a:r>
              <a:rPr sz="2904" spc="-51" dirty="0">
                <a:latin typeface="Georgia"/>
                <a:cs typeface="Georgia"/>
              </a:rPr>
              <a:t>Procurement</a:t>
            </a:r>
            <a:r>
              <a:rPr sz="2904" spc="227" dirty="0">
                <a:latin typeface="Georgia"/>
                <a:cs typeface="Georgia"/>
              </a:rPr>
              <a:t> </a:t>
            </a:r>
            <a:r>
              <a:rPr sz="2904" spc="-64" dirty="0">
                <a:latin typeface="Georgia"/>
                <a:cs typeface="Georgia"/>
              </a:rPr>
              <a:t>Process</a:t>
            </a:r>
            <a:endParaRPr sz="2904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22493" y="2683752"/>
            <a:ext cx="9720207" cy="26616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</p:spTree>
    <p:extLst>
      <p:ext uri="{BB962C8B-B14F-4D97-AF65-F5344CB8AC3E}">
        <p14:creationId xmlns:p14="http://schemas.microsoft.com/office/powerpoint/2010/main" val="398352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847" y="586655"/>
            <a:ext cx="4952744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72" dirty="0"/>
              <a:t>System</a:t>
            </a:r>
            <a:r>
              <a:rPr spc="87" dirty="0"/>
              <a:t> </a:t>
            </a:r>
            <a:r>
              <a:rPr spc="-268" dirty="0"/>
              <a:t>Development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459314"/>
            <a:ext cx="9969500" cy="4500995"/>
          </a:xfrm>
          <a:prstGeom prst="rect">
            <a:avLst/>
          </a:prstGeom>
        </p:spPr>
        <p:txBody>
          <a:bodyPr vert="horz" wrap="square" lIns="0" tIns="139465" rIns="0" bIns="0" rtlCol="0">
            <a:spAutoFit/>
          </a:bodyPr>
          <a:lstStyle/>
          <a:p>
            <a:pPr marL="34579">
              <a:spcBef>
                <a:spcPts val="1099"/>
              </a:spcBef>
            </a:pPr>
            <a:r>
              <a:rPr sz="2360" b="1" spc="-136" dirty="0">
                <a:latin typeface="Georgia"/>
                <a:cs typeface="Georgia"/>
              </a:rPr>
              <a:t>Goal </a:t>
            </a:r>
            <a:r>
              <a:rPr sz="2360" b="1" spc="-123" dirty="0">
                <a:latin typeface="Georgia"/>
                <a:cs typeface="Georgia"/>
              </a:rPr>
              <a:t>of </a:t>
            </a:r>
            <a:r>
              <a:rPr sz="2360" b="1" spc="-145" dirty="0">
                <a:latin typeface="Georgia"/>
                <a:cs typeface="Georgia"/>
              </a:rPr>
              <a:t>System </a:t>
            </a:r>
            <a:r>
              <a:rPr sz="2360" b="1" spc="-141" dirty="0">
                <a:latin typeface="Georgia"/>
                <a:cs typeface="Georgia"/>
              </a:rPr>
              <a:t>Development </a:t>
            </a:r>
            <a:r>
              <a:rPr sz="2360" b="1" spc="-159" dirty="0">
                <a:latin typeface="Georgia"/>
                <a:cs typeface="Georgia"/>
              </a:rPr>
              <a:t>Process</a:t>
            </a:r>
            <a:r>
              <a:rPr sz="2360" b="1" spc="-336" dirty="0">
                <a:latin typeface="Georgia"/>
                <a:cs typeface="Georgia"/>
              </a:rPr>
              <a:t> </a:t>
            </a:r>
            <a:r>
              <a:rPr sz="2360" b="1" spc="-87" dirty="0">
                <a:latin typeface="Georgia"/>
                <a:cs typeface="Georgia"/>
              </a:rPr>
              <a:t>:-</a:t>
            </a:r>
            <a:endParaRPr sz="2360" dirty="0">
              <a:latin typeface="Georgia"/>
              <a:cs typeface="Georgia"/>
            </a:endParaRPr>
          </a:p>
          <a:p>
            <a:pPr marL="356160" indent="-240898">
              <a:spcBef>
                <a:spcPts val="871"/>
              </a:spcBef>
              <a:buSzPct val="73913"/>
              <a:buFont typeface="OpenSymbol"/>
              <a:buChar char="–"/>
              <a:tabLst>
                <a:tab pos="356160" algn="l"/>
              </a:tabLst>
            </a:pPr>
            <a:r>
              <a:rPr sz="2087" spc="-23" dirty="0">
                <a:latin typeface="Georgia"/>
                <a:cs typeface="Georgia"/>
              </a:rPr>
              <a:t>Develop</a:t>
            </a:r>
            <a:r>
              <a:rPr sz="2087" spc="68" dirty="0">
                <a:latin typeface="Georgia"/>
                <a:cs typeface="Georgia"/>
              </a:rPr>
              <a:t> </a:t>
            </a:r>
            <a:r>
              <a:rPr sz="2087" spc="-32" dirty="0">
                <a:latin typeface="Georgia"/>
                <a:cs typeface="Georgia"/>
              </a:rPr>
              <a:t>or</a:t>
            </a:r>
            <a:r>
              <a:rPr sz="2087" spc="68" dirty="0">
                <a:latin typeface="Georgia"/>
                <a:cs typeface="Georgia"/>
              </a:rPr>
              <a:t> </a:t>
            </a:r>
            <a:r>
              <a:rPr sz="2087" spc="-27" dirty="0">
                <a:latin typeface="Georgia"/>
                <a:cs typeface="Georgia"/>
              </a:rPr>
              <a:t>acquire</a:t>
            </a:r>
            <a:r>
              <a:rPr sz="2087" spc="68" dirty="0">
                <a:latin typeface="Georgia"/>
                <a:cs typeface="Georgia"/>
              </a:rPr>
              <a:t> </a:t>
            </a:r>
            <a:r>
              <a:rPr sz="2087" spc="-5" dirty="0">
                <a:latin typeface="Georgia"/>
                <a:cs typeface="Georgia"/>
              </a:rPr>
              <a:t>all</a:t>
            </a:r>
            <a:r>
              <a:rPr sz="2087" spc="68" dirty="0">
                <a:latin typeface="Georgia"/>
                <a:cs typeface="Georgia"/>
              </a:rPr>
              <a:t> </a:t>
            </a:r>
            <a:r>
              <a:rPr sz="2087" spc="-5" dirty="0">
                <a:latin typeface="Georgia"/>
                <a:cs typeface="Georgia"/>
              </a:rPr>
              <a:t>of</a:t>
            </a:r>
            <a:r>
              <a:rPr sz="2087" spc="73" dirty="0">
                <a:latin typeface="Georgia"/>
                <a:cs typeface="Georgia"/>
              </a:rPr>
              <a:t> </a:t>
            </a:r>
            <a:r>
              <a:rPr sz="2087" spc="-19" dirty="0">
                <a:latin typeface="Georgia"/>
                <a:cs typeface="Georgia"/>
              </a:rPr>
              <a:t>the</a:t>
            </a:r>
            <a:r>
              <a:rPr sz="2087" spc="73" dirty="0">
                <a:latin typeface="Georgia"/>
                <a:cs typeface="Georgia"/>
              </a:rPr>
              <a:t> </a:t>
            </a:r>
            <a:r>
              <a:rPr sz="2087" spc="-36" dirty="0">
                <a:latin typeface="Georgia"/>
                <a:cs typeface="Georgia"/>
              </a:rPr>
              <a:t>components</a:t>
            </a:r>
            <a:r>
              <a:rPr sz="2087" spc="73" dirty="0">
                <a:latin typeface="Georgia"/>
                <a:cs typeface="Georgia"/>
              </a:rPr>
              <a:t> </a:t>
            </a:r>
            <a:r>
              <a:rPr sz="2087" spc="-9" dirty="0">
                <a:latin typeface="Georgia"/>
                <a:cs typeface="Georgia"/>
              </a:rPr>
              <a:t>of</a:t>
            </a:r>
            <a:r>
              <a:rPr sz="2087" spc="73" dirty="0">
                <a:latin typeface="Georgia"/>
                <a:cs typeface="Georgia"/>
              </a:rPr>
              <a:t> </a:t>
            </a:r>
            <a:r>
              <a:rPr sz="2087" spc="5" dirty="0">
                <a:latin typeface="Georgia"/>
                <a:cs typeface="Georgia"/>
              </a:rPr>
              <a:t>a</a:t>
            </a:r>
            <a:r>
              <a:rPr sz="2087" spc="68" dirty="0">
                <a:latin typeface="Georgia"/>
                <a:cs typeface="Georgia"/>
              </a:rPr>
              <a:t> </a:t>
            </a:r>
            <a:r>
              <a:rPr sz="2087" spc="-36" dirty="0">
                <a:latin typeface="Georgia"/>
                <a:cs typeface="Georgia"/>
              </a:rPr>
              <a:t>system</a:t>
            </a:r>
            <a:endParaRPr sz="2087" dirty="0">
              <a:latin typeface="Georgia"/>
              <a:cs typeface="Georgia"/>
            </a:endParaRPr>
          </a:p>
          <a:p>
            <a:pPr marL="356160" indent="-240898">
              <a:spcBef>
                <a:spcPts val="853"/>
              </a:spcBef>
              <a:buSzPct val="73913"/>
              <a:buFont typeface="OpenSymbol"/>
              <a:buChar char="–"/>
              <a:tabLst>
                <a:tab pos="356160" algn="l"/>
              </a:tabLst>
            </a:pPr>
            <a:r>
              <a:rPr sz="2087" spc="-32" dirty="0">
                <a:latin typeface="Georgia"/>
                <a:cs typeface="Georgia"/>
              </a:rPr>
              <a:t>Integrate </a:t>
            </a:r>
            <a:r>
              <a:rPr sz="2087" spc="-23" dirty="0">
                <a:latin typeface="Georgia"/>
                <a:cs typeface="Georgia"/>
              </a:rPr>
              <a:t>these </a:t>
            </a:r>
            <a:r>
              <a:rPr sz="2087" spc="-36" dirty="0">
                <a:latin typeface="Georgia"/>
                <a:cs typeface="Georgia"/>
              </a:rPr>
              <a:t>components </a:t>
            </a:r>
            <a:r>
              <a:rPr sz="2087" spc="-15" dirty="0">
                <a:latin typeface="Georgia"/>
                <a:cs typeface="Georgia"/>
              </a:rPr>
              <a:t>to create </a:t>
            </a:r>
            <a:r>
              <a:rPr sz="2087" spc="-19" dirty="0">
                <a:latin typeface="Georgia"/>
                <a:cs typeface="Georgia"/>
              </a:rPr>
              <a:t>the </a:t>
            </a:r>
            <a:r>
              <a:rPr sz="2087" spc="-23" dirty="0">
                <a:latin typeface="Georgia"/>
                <a:cs typeface="Georgia"/>
              </a:rPr>
              <a:t>final</a:t>
            </a:r>
            <a:r>
              <a:rPr sz="2087" spc="168" dirty="0">
                <a:latin typeface="Georgia"/>
                <a:cs typeface="Georgia"/>
              </a:rPr>
              <a:t> </a:t>
            </a:r>
            <a:r>
              <a:rPr sz="2087" spc="-41" dirty="0">
                <a:latin typeface="Georgia"/>
                <a:cs typeface="Georgia"/>
              </a:rPr>
              <a:t>system</a:t>
            </a:r>
            <a:endParaRPr sz="2087" dirty="0">
              <a:latin typeface="Georgia"/>
              <a:cs typeface="Georgia"/>
            </a:endParaRPr>
          </a:p>
          <a:p>
            <a:pPr marL="34579">
              <a:spcBef>
                <a:spcPts val="1089"/>
              </a:spcBef>
            </a:pPr>
            <a:r>
              <a:rPr sz="2360" b="1" spc="-155" dirty="0">
                <a:latin typeface="Georgia"/>
                <a:cs typeface="Georgia"/>
              </a:rPr>
              <a:t>Fundamental </a:t>
            </a:r>
            <a:r>
              <a:rPr sz="2360" b="1" spc="-109" dirty="0">
                <a:latin typeface="Georgia"/>
                <a:cs typeface="Georgia"/>
              </a:rPr>
              <a:t>activities </a:t>
            </a:r>
            <a:r>
              <a:rPr sz="2360" b="1" spc="-123" dirty="0">
                <a:latin typeface="Georgia"/>
                <a:cs typeface="Georgia"/>
              </a:rPr>
              <a:t>involved </a:t>
            </a:r>
            <a:r>
              <a:rPr sz="2360" b="1" spc="-151" dirty="0">
                <a:latin typeface="Georgia"/>
                <a:cs typeface="Georgia"/>
              </a:rPr>
              <a:t>in </a:t>
            </a:r>
            <a:r>
              <a:rPr sz="2360" b="1" spc="-141" dirty="0">
                <a:latin typeface="Georgia"/>
                <a:cs typeface="Georgia"/>
              </a:rPr>
              <a:t>system</a:t>
            </a:r>
            <a:r>
              <a:rPr sz="2360" b="1" spc="151" dirty="0">
                <a:latin typeface="Georgia"/>
                <a:cs typeface="Georgia"/>
              </a:rPr>
              <a:t> </a:t>
            </a:r>
            <a:r>
              <a:rPr sz="2360" b="1" spc="-132" dirty="0">
                <a:latin typeface="Georgia"/>
                <a:cs typeface="Georgia"/>
              </a:rPr>
              <a:t>development</a:t>
            </a:r>
            <a:endParaRPr sz="2360" dirty="0">
              <a:latin typeface="Georgia"/>
              <a:cs typeface="Georgia"/>
            </a:endParaRPr>
          </a:p>
          <a:p>
            <a:pPr marL="356160" indent="-240898">
              <a:spcBef>
                <a:spcPts val="861"/>
              </a:spcBef>
              <a:buSzPct val="73913"/>
              <a:buFont typeface="OpenSymbol"/>
              <a:buChar char="–"/>
              <a:tabLst>
                <a:tab pos="356160" algn="l"/>
              </a:tabLst>
            </a:pPr>
            <a:r>
              <a:rPr sz="2087" spc="-41" dirty="0">
                <a:latin typeface="Georgia"/>
                <a:cs typeface="Georgia"/>
              </a:rPr>
              <a:t>Requirements</a:t>
            </a:r>
            <a:r>
              <a:rPr sz="2087" spc="64" dirty="0">
                <a:latin typeface="Georgia"/>
                <a:cs typeface="Georgia"/>
              </a:rPr>
              <a:t> </a:t>
            </a:r>
            <a:r>
              <a:rPr sz="2087" spc="-27" dirty="0">
                <a:latin typeface="Georgia"/>
                <a:cs typeface="Georgia"/>
              </a:rPr>
              <a:t>Development</a:t>
            </a:r>
            <a:endParaRPr sz="2087" dirty="0">
              <a:latin typeface="Georgia"/>
              <a:cs typeface="Georgia"/>
            </a:endParaRPr>
          </a:p>
          <a:p>
            <a:pPr marL="356160" indent="-240898">
              <a:spcBef>
                <a:spcPts val="861"/>
              </a:spcBef>
              <a:buSzPct val="73913"/>
              <a:buFont typeface="OpenSymbol"/>
              <a:buChar char="–"/>
              <a:tabLst>
                <a:tab pos="356160" algn="l"/>
              </a:tabLst>
            </a:pPr>
            <a:r>
              <a:rPr sz="2087" spc="-27" dirty="0">
                <a:latin typeface="Georgia"/>
                <a:cs typeface="Georgia"/>
              </a:rPr>
              <a:t>System</a:t>
            </a:r>
            <a:r>
              <a:rPr sz="2087" spc="68" dirty="0">
                <a:latin typeface="Georgia"/>
                <a:cs typeface="Georgia"/>
              </a:rPr>
              <a:t> </a:t>
            </a:r>
            <a:r>
              <a:rPr sz="2087" spc="-41" dirty="0">
                <a:latin typeface="Georgia"/>
                <a:cs typeface="Georgia"/>
              </a:rPr>
              <a:t>Design</a:t>
            </a:r>
            <a:endParaRPr sz="2087" dirty="0">
              <a:latin typeface="Georgia"/>
              <a:cs typeface="Georgia"/>
            </a:endParaRPr>
          </a:p>
          <a:p>
            <a:pPr marL="356160" indent="-240898">
              <a:spcBef>
                <a:spcPts val="853"/>
              </a:spcBef>
              <a:buSzPct val="73913"/>
              <a:buFont typeface="OpenSymbol"/>
              <a:buChar char="–"/>
              <a:tabLst>
                <a:tab pos="356160" algn="l"/>
              </a:tabLst>
            </a:pPr>
            <a:r>
              <a:rPr sz="2087" spc="-36" dirty="0">
                <a:latin typeface="Georgia"/>
                <a:cs typeface="Georgia"/>
              </a:rPr>
              <a:t>Subsystem</a:t>
            </a:r>
            <a:r>
              <a:rPr sz="2087" spc="68" dirty="0">
                <a:latin typeface="Georgia"/>
                <a:cs typeface="Georgia"/>
              </a:rPr>
              <a:t> </a:t>
            </a:r>
            <a:r>
              <a:rPr sz="2087" spc="-32" dirty="0">
                <a:latin typeface="Georgia"/>
                <a:cs typeface="Georgia"/>
              </a:rPr>
              <a:t>Engineering</a:t>
            </a:r>
            <a:endParaRPr sz="2087" dirty="0">
              <a:latin typeface="Georgia"/>
              <a:cs typeface="Georgia"/>
            </a:endParaRPr>
          </a:p>
          <a:p>
            <a:pPr marL="356160" indent="-240898">
              <a:spcBef>
                <a:spcPts val="853"/>
              </a:spcBef>
              <a:buSzPct val="73913"/>
              <a:buFont typeface="OpenSymbol"/>
              <a:buChar char="–"/>
              <a:tabLst>
                <a:tab pos="356160" algn="l"/>
              </a:tabLst>
            </a:pPr>
            <a:r>
              <a:rPr sz="2087" spc="-27" dirty="0">
                <a:latin typeface="Georgia"/>
                <a:cs typeface="Georgia"/>
              </a:rPr>
              <a:t>System</a:t>
            </a:r>
            <a:r>
              <a:rPr sz="2087" spc="68" dirty="0">
                <a:latin typeface="Georgia"/>
                <a:cs typeface="Georgia"/>
              </a:rPr>
              <a:t> </a:t>
            </a:r>
            <a:r>
              <a:rPr sz="2087" spc="-32" dirty="0">
                <a:latin typeface="Georgia"/>
                <a:cs typeface="Georgia"/>
              </a:rPr>
              <a:t>Integration</a:t>
            </a:r>
            <a:endParaRPr sz="2087" dirty="0">
              <a:latin typeface="Georgia"/>
              <a:cs typeface="Georgia"/>
            </a:endParaRPr>
          </a:p>
          <a:p>
            <a:pPr marL="356160" indent="-240898">
              <a:spcBef>
                <a:spcPts val="853"/>
              </a:spcBef>
              <a:buSzPct val="73913"/>
              <a:buFont typeface="OpenSymbol"/>
              <a:buChar char="–"/>
              <a:tabLst>
                <a:tab pos="356160" algn="l"/>
              </a:tabLst>
            </a:pPr>
            <a:r>
              <a:rPr sz="2087" spc="-27" dirty="0">
                <a:latin typeface="Georgia"/>
                <a:cs typeface="Georgia"/>
              </a:rPr>
              <a:t>System</a:t>
            </a:r>
            <a:r>
              <a:rPr sz="2087" spc="68" dirty="0">
                <a:latin typeface="Georgia"/>
                <a:cs typeface="Georgia"/>
              </a:rPr>
              <a:t> </a:t>
            </a:r>
            <a:r>
              <a:rPr sz="2087" spc="-27" dirty="0">
                <a:latin typeface="Georgia"/>
                <a:cs typeface="Georgia"/>
              </a:rPr>
              <a:t>Testing</a:t>
            </a:r>
            <a:endParaRPr sz="2087" dirty="0">
              <a:latin typeface="Georgia"/>
              <a:cs typeface="Georgia"/>
            </a:endParaRPr>
          </a:p>
          <a:p>
            <a:pPr marL="356160" indent="-240898">
              <a:spcBef>
                <a:spcPts val="853"/>
              </a:spcBef>
              <a:buSzPct val="73913"/>
              <a:buFont typeface="OpenSymbol"/>
              <a:buChar char="–"/>
              <a:tabLst>
                <a:tab pos="356160" algn="l"/>
              </a:tabLst>
            </a:pPr>
            <a:r>
              <a:rPr sz="2087" spc="-27" dirty="0">
                <a:latin typeface="Georgia"/>
                <a:cs typeface="Georgia"/>
              </a:rPr>
              <a:t>System</a:t>
            </a:r>
            <a:r>
              <a:rPr sz="2087" spc="68" dirty="0">
                <a:latin typeface="Georgia"/>
                <a:cs typeface="Georgia"/>
              </a:rPr>
              <a:t> </a:t>
            </a:r>
            <a:r>
              <a:rPr sz="2087" spc="-27" dirty="0">
                <a:latin typeface="Georgia"/>
                <a:cs typeface="Georgia"/>
              </a:rPr>
              <a:t>Development</a:t>
            </a:r>
            <a:endParaRPr sz="2087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426519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7047" y="490512"/>
            <a:ext cx="4952744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72" dirty="0"/>
              <a:t>System</a:t>
            </a:r>
            <a:r>
              <a:rPr spc="87" dirty="0"/>
              <a:t> </a:t>
            </a:r>
            <a:r>
              <a:rPr spc="-268" dirty="0"/>
              <a:t>Development</a:t>
            </a:r>
          </a:p>
        </p:txBody>
      </p:sp>
      <p:sp>
        <p:nvSpPr>
          <p:cNvPr id="3" name="object 3"/>
          <p:cNvSpPr/>
          <p:nvPr/>
        </p:nvSpPr>
        <p:spPr>
          <a:xfrm>
            <a:off x="635000" y="2083191"/>
            <a:ext cx="9698839" cy="2660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0012551" y="6336666"/>
            <a:ext cx="231675" cy="19236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4579">
              <a:lnSpc>
                <a:spcPts val="1479"/>
              </a:lnSpc>
            </a:pPr>
            <a:fld id="{81D60167-4931-47E6-BA6A-407CBD079E47}" type="slidenum">
              <a:rPr dirty="0"/>
              <a:pPr marL="34579">
                <a:lnSpc>
                  <a:spcPts val="1479"/>
                </a:lnSpc>
              </a:pPr>
              <a:t>26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654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747" y="431608"/>
            <a:ext cx="4952744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72" dirty="0"/>
              <a:t>System</a:t>
            </a:r>
            <a:r>
              <a:rPr spc="87" dirty="0"/>
              <a:t> </a:t>
            </a:r>
            <a:r>
              <a:rPr spc="-268" dirty="0"/>
              <a:t>Development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429560"/>
            <a:ext cx="10464800" cy="4106106"/>
          </a:xfrm>
          <a:prstGeom prst="rect">
            <a:avLst/>
          </a:prstGeom>
        </p:spPr>
        <p:txBody>
          <a:bodyPr vert="horz" wrap="square" lIns="0" tIns="165399" rIns="0" bIns="0" rtlCol="0">
            <a:spAutoFit/>
          </a:bodyPr>
          <a:lstStyle/>
          <a:p>
            <a:pPr marL="34579">
              <a:spcBef>
                <a:spcPts val="1303"/>
              </a:spcBef>
            </a:pPr>
            <a:r>
              <a:rPr sz="2904" b="1" spc="-219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Requirement</a:t>
            </a:r>
            <a:r>
              <a:rPr sz="2904" b="1" spc="109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2904" b="1" spc="-19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Development</a:t>
            </a:r>
            <a:endParaRPr sz="2904" dirty="0">
              <a:latin typeface="Georgia"/>
              <a:cs typeface="Georgia"/>
            </a:endParaRPr>
          </a:p>
          <a:p>
            <a:pPr marL="426471" marR="690997" indent="-293919">
              <a:lnSpc>
                <a:spcPct val="100699"/>
              </a:lnSpc>
              <a:spcBef>
                <a:spcPts val="1039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45" dirty="0">
                <a:latin typeface="Georgia"/>
                <a:cs typeface="Georgia"/>
              </a:rPr>
              <a:t>High-level </a:t>
            </a:r>
            <a:r>
              <a:rPr sz="2541" spc="-32" dirty="0">
                <a:latin typeface="Georgia"/>
                <a:cs typeface="Georgia"/>
              </a:rPr>
              <a:t>and </a:t>
            </a:r>
            <a:r>
              <a:rPr sz="2541" spc="-55" dirty="0">
                <a:latin typeface="Georgia"/>
                <a:cs typeface="Georgia"/>
              </a:rPr>
              <a:t>business </a:t>
            </a:r>
            <a:r>
              <a:rPr sz="2541" spc="-45" dirty="0">
                <a:latin typeface="Georgia"/>
                <a:cs typeface="Georgia"/>
              </a:rPr>
              <a:t>requirements </a:t>
            </a:r>
            <a:r>
              <a:rPr sz="2541" spc="-27" dirty="0">
                <a:latin typeface="Georgia"/>
                <a:cs typeface="Georgia"/>
              </a:rPr>
              <a:t>identified  </a:t>
            </a:r>
            <a:r>
              <a:rPr sz="2541" spc="-32" dirty="0">
                <a:latin typeface="Georgia"/>
                <a:cs typeface="Georgia"/>
              </a:rPr>
              <a:t>during </a:t>
            </a:r>
            <a:r>
              <a:rPr sz="2541" spc="-23" dirty="0">
                <a:latin typeface="Georgia"/>
                <a:cs typeface="Georgia"/>
              </a:rPr>
              <a:t>the </a:t>
            </a:r>
            <a:r>
              <a:rPr sz="2541" spc="-41" dirty="0">
                <a:latin typeface="Georgia"/>
                <a:cs typeface="Georgia"/>
              </a:rPr>
              <a:t>procurement </a:t>
            </a:r>
            <a:r>
              <a:rPr sz="2541" spc="-45" dirty="0">
                <a:latin typeface="Georgia"/>
                <a:cs typeface="Georgia"/>
              </a:rPr>
              <a:t>process </a:t>
            </a:r>
            <a:r>
              <a:rPr sz="2541" spc="-15" dirty="0">
                <a:latin typeface="Georgia"/>
                <a:cs typeface="Georgia"/>
              </a:rPr>
              <a:t>have </a:t>
            </a:r>
            <a:r>
              <a:rPr sz="2541" spc="-23" dirty="0">
                <a:latin typeface="Georgia"/>
                <a:cs typeface="Georgia"/>
              </a:rPr>
              <a:t>to </a:t>
            </a:r>
            <a:r>
              <a:rPr sz="2541" spc="-19" dirty="0">
                <a:latin typeface="Georgia"/>
                <a:cs typeface="Georgia"/>
              </a:rPr>
              <a:t>be  </a:t>
            </a:r>
            <a:r>
              <a:rPr sz="2541" spc="-15" dirty="0">
                <a:latin typeface="Georgia"/>
                <a:cs typeface="Georgia"/>
              </a:rPr>
              <a:t>developed </a:t>
            </a:r>
            <a:r>
              <a:rPr sz="2541" spc="-51" dirty="0">
                <a:latin typeface="Georgia"/>
                <a:cs typeface="Georgia"/>
              </a:rPr>
              <a:t>in </a:t>
            </a:r>
            <a:r>
              <a:rPr sz="2541" spc="-41" dirty="0">
                <a:latin typeface="Georgia"/>
                <a:cs typeface="Georgia"/>
              </a:rPr>
              <a:t>more</a:t>
            </a:r>
            <a:r>
              <a:rPr sz="2541" spc="327" dirty="0">
                <a:latin typeface="Georgia"/>
                <a:cs typeface="Georgia"/>
              </a:rPr>
              <a:t> </a:t>
            </a:r>
            <a:r>
              <a:rPr sz="2541" spc="-15" dirty="0">
                <a:latin typeface="Georgia"/>
                <a:cs typeface="Georgia"/>
              </a:rPr>
              <a:t>detail.</a:t>
            </a:r>
            <a:endParaRPr sz="2541" dirty="0">
              <a:latin typeface="Georgia"/>
              <a:cs typeface="Georgia"/>
            </a:endParaRPr>
          </a:p>
          <a:p>
            <a:pPr marL="34579">
              <a:spcBef>
                <a:spcPts val="1307"/>
              </a:spcBef>
            </a:pPr>
            <a:r>
              <a:rPr sz="2904" b="1" spc="-19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System</a:t>
            </a:r>
            <a:r>
              <a:rPr sz="2904" b="1" spc="103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2904" b="1" spc="-191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Design</a:t>
            </a:r>
            <a:endParaRPr sz="2904" dirty="0">
              <a:latin typeface="Georgia"/>
              <a:cs typeface="Georgia"/>
            </a:endParaRPr>
          </a:p>
          <a:p>
            <a:pPr marL="426471" marR="95668" indent="-293919">
              <a:lnSpc>
                <a:spcPct val="100899"/>
              </a:lnSpc>
              <a:spcBef>
                <a:spcPts val="1035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59" dirty="0">
                <a:latin typeface="Georgia"/>
                <a:cs typeface="Georgia"/>
              </a:rPr>
              <a:t>This </a:t>
            </a:r>
            <a:r>
              <a:rPr sz="2541" spc="-45" dirty="0">
                <a:latin typeface="Georgia"/>
                <a:cs typeface="Georgia"/>
              </a:rPr>
              <a:t>process </a:t>
            </a:r>
            <a:r>
              <a:rPr sz="2541" spc="-19" dirty="0">
                <a:latin typeface="Georgia"/>
                <a:cs typeface="Georgia"/>
              </a:rPr>
              <a:t>overlap </a:t>
            </a:r>
            <a:r>
              <a:rPr sz="2541" spc="-9" dirty="0">
                <a:latin typeface="Georgia"/>
                <a:cs typeface="Georgia"/>
              </a:rPr>
              <a:t>with </a:t>
            </a:r>
            <a:r>
              <a:rPr sz="2541" spc="-45" dirty="0">
                <a:latin typeface="Georgia"/>
                <a:cs typeface="Georgia"/>
              </a:rPr>
              <a:t>requirement </a:t>
            </a:r>
            <a:r>
              <a:rPr sz="2541" spc="-27" dirty="0">
                <a:latin typeface="Georgia"/>
                <a:cs typeface="Georgia"/>
              </a:rPr>
              <a:t>development  </a:t>
            </a:r>
            <a:r>
              <a:rPr sz="2541" spc="-45" dirty="0">
                <a:latin typeface="Georgia"/>
                <a:cs typeface="Georgia"/>
              </a:rPr>
              <a:t>process</a:t>
            </a:r>
            <a:endParaRPr sz="2541" dirty="0">
              <a:latin typeface="Georgia"/>
              <a:cs typeface="Georgia"/>
            </a:endParaRPr>
          </a:p>
          <a:p>
            <a:pPr marL="426471" indent="-293919">
              <a:spcBef>
                <a:spcPts val="1044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55" dirty="0">
                <a:latin typeface="Georgia"/>
                <a:cs typeface="Georgia"/>
              </a:rPr>
              <a:t>Establishing </a:t>
            </a:r>
            <a:r>
              <a:rPr sz="2541" spc="-27" dirty="0">
                <a:latin typeface="Georgia"/>
                <a:cs typeface="Georgia"/>
              </a:rPr>
              <a:t>the </a:t>
            </a:r>
            <a:r>
              <a:rPr sz="2541" spc="-15" dirty="0">
                <a:latin typeface="Georgia"/>
                <a:cs typeface="Georgia"/>
              </a:rPr>
              <a:t>overall </a:t>
            </a:r>
            <a:r>
              <a:rPr sz="2541" spc="-32" dirty="0">
                <a:latin typeface="Georgia"/>
                <a:cs typeface="Georgia"/>
              </a:rPr>
              <a:t>architecture </a:t>
            </a:r>
            <a:r>
              <a:rPr sz="2541" spc="-5" dirty="0">
                <a:latin typeface="Georgia"/>
                <a:cs typeface="Georgia"/>
              </a:rPr>
              <a:t>of </a:t>
            </a:r>
            <a:r>
              <a:rPr sz="2541" spc="-23" dirty="0">
                <a:latin typeface="Georgia"/>
                <a:cs typeface="Georgia"/>
              </a:rPr>
              <a:t>the</a:t>
            </a:r>
            <a:r>
              <a:rPr sz="2541" spc="73" dirty="0">
                <a:latin typeface="Georgia"/>
                <a:cs typeface="Georgia"/>
              </a:rPr>
              <a:t> </a:t>
            </a:r>
            <a:r>
              <a:rPr sz="2541" spc="-51" dirty="0">
                <a:latin typeface="Georgia"/>
                <a:cs typeface="Georgia"/>
              </a:rPr>
              <a:t>system</a:t>
            </a:r>
            <a:endParaRPr sz="2541" dirty="0">
              <a:latin typeface="Georgia"/>
              <a:cs typeface="Georgia"/>
            </a:endParaRPr>
          </a:p>
          <a:p>
            <a:pPr marL="426471" marR="27663" indent="-293919">
              <a:lnSpc>
                <a:spcPct val="100899"/>
              </a:lnSpc>
              <a:spcBef>
                <a:spcPts val="1027"/>
              </a:spcBef>
              <a:buSzPct val="75000"/>
              <a:buFont typeface="OpenSymbol"/>
              <a:buChar char="–"/>
              <a:tabLst>
                <a:tab pos="426471" algn="l"/>
              </a:tabLst>
            </a:pPr>
            <a:r>
              <a:rPr sz="2541" spc="-41" dirty="0">
                <a:latin typeface="Georgia"/>
                <a:cs typeface="Georgia"/>
              </a:rPr>
              <a:t>Identifying </a:t>
            </a:r>
            <a:r>
              <a:rPr sz="2541" spc="-27" dirty="0">
                <a:latin typeface="Georgia"/>
                <a:cs typeface="Georgia"/>
              </a:rPr>
              <a:t>different </a:t>
            </a:r>
            <a:r>
              <a:rPr sz="2541" spc="-45" dirty="0">
                <a:latin typeface="Georgia"/>
                <a:cs typeface="Georgia"/>
              </a:rPr>
              <a:t>components </a:t>
            </a:r>
            <a:r>
              <a:rPr sz="2541" spc="-32" dirty="0">
                <a:latin typeface="Georgia"/>
                <a:cs typeface="Georgia"/>
              </a:rPr>
              <a:t>and </a:t>
            </a:r>
            <a:r>
              <a:rPr sz="2541" spc="-36" dirty="0">
                <a:latin typeface="Georgia"/>
                <a:cs typeface="Georgia"/>
              </a:rPr>
              <a:t>understanding  relationship </a:t>
            </a:r>
            <a:r>
              <a:rPr sz="2541" spc="-5" dirty="0">
                <a:latin typeface="Georgia"/>
                <a:cs typeface="Georgia"/>
              </a:rPr>
              <a:t>between</a:t>
            </a:r>
            <a:r>
              <a:rPr sz="2541" spc="213" dirty="0">
                <a:latin typeface="Georgia"/>
                <a:cs typeface="Georgia"/>
              </a:rPr>
              <a:t> </a:t>
            </a:r>
            <a:r>
              <a:rPr sz="2541" spc="-45" dirty="0">
                <a:latin typeface="Georgia"/>
                <a:cs typeface="Georgia"/>
              </a:rPr>
              <a:t>them</a:t>
            </a:r>
            <a:endParaRPr sz="2541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6104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4947" y="469832"/>
            <a:ext cx="4952744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72" dirty="0"/>
              <a:t>System</a:t>
            </a:r>
            <a:r>
              <a:rPr spc="87" dirty="0"/>
              <a:t> </a:t>
            </a:r>
            <a:r>
              <a:rPr spc="-268" dirty="0"/>
              <a:t>Development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4948" y="1441190"/>
            <a:ext cx="10480252" cy="4084035"/>
          </a:xfrm>
          <a:prstGeom prst="rect">
            <a:avLst/>
          </a:prstGeom>
        </p:spPr>
        <p:txBody>
          <a:bodyPr vert="horz" wrap="square" lIns="0" tIns="156179" rIns="0" bIns="0" rtlCol="0">
            <a:spAutoFit/>
          </a:bodyPr>
          <a:lstStyle/>
          <a:p>
            <a:pPr marL="34579">
              <a:spcBef>
                <a:spcPts val="1231"/>
              </a:spcBef>
            </a:pPr>
            <a:r>
              <a:rPr sz="2677" b="1" spc="-172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Subsystem</a:t>
            </a:r>
            <a:r>
              <a:rPr sz="2677" b="1" spc="10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2677" b="1" spc="-163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Engineering</a:t>
            </a:r>
            <a:endParaRPr sz="2677" dirty="0">
              <a:latin typeface="Georgia"/>
              <a:cs typeface="Georgia"/>
            </a:endParaRPr>
          </a:p>
          <a:p>
            <a:pPr marL="399961" indent="-274324">
              <a:spcBef>
                <a:spcPts val="989"/>
              </a:spcBef>
              <a:buSzPct val="73076"/>
              <a:buFont typeface="OpenSymbol"/>
              <a:buChar char="–"/>
              <a:tabLst>
                <a:tab pos="399961" algn="l"/>
              </a:tabLst>
            </a:pPr>
            <a:r>
              <a:rPr sz="2360" spc="-91" dirty="0">
                <a:latin typeface="Georgia"/>
                <a:cs typeface="Georgia"/>
              </a:rPr>
              <a:t>It </a:t>
            </a:r>
            <a:r>
              <a:rPr sz="2360" spc="-19" dirty="0">
                <a:latin typeface="Georgia"/>
                <a:cs typeface="Georgia"/>
              </a:rPr>
              <a:t>involves development </a:t>
            </a:r>
            <a:r>
              <a:rPr sz="2360" dirty="0">
                <a:latin typeface="Georgia"/>
                <a:cs typeface="Georgia"/>
              </a:rPr>
              <a:t>of </a:t>
            </a:r>
            <a:r>
              <a:rPr sz="2360" spc="-41" dirty="0">
                <a:latin typeface="Georgia"/>
                <a:cs typeface="Georgia"/>
              </a:rPr>
              <a:t>system</a:t>
            </a:r>
            <a:r>
              <a:rPr sz="2360" spc="127" dirty="0">
                <a:latin typeface="Georgia"/>
                <a:cs typeface="Georgia"/>
              </a:rPr>
              <a:t> </a:t>
            </a:r>
            <a:r>
              <a:rPr sz="2360" spc="-32" dirty="0">
                <a:latin typeface="Georgia"/>
                <a:cs typeface="Georgia"/>
              </a:rPr>
              <a:t>components</a:t>
            </a:r>
            <a:endParaRPr sz="2360" dirty="0">
              <a:latin typeface="Georgia"/>
              <a:cs typeface="Georgia"/>
            </a:endParaRPr>
          </a:p>
          <a:p>
            <a:pPr marL="399961" indent="-274324">
              <a:spcBef>
                <a:spcPts val="980"/>
              </a:spcBef>
              <a:buSzPct val="73076"/>
              <a:buFont typeface="OpenSymbol"/>
              <a:buChar char="–"/>
              <a:tabLst>
                <a:tab pos="399961" algn="l"/>
              </a:tabLst>
            </a:pPr>
            <a:r>
              <a:rPr sz="2360" spc="-19" dirty="0">
                <a:latin typeface="Georgia"/>
                <a:cs typeface="Georgia"/>
              </a:rPr>
              <a:t>Configuring </a:t>
            </a:r>
            <a:r>
              <a:rPr sz="2360" spc="-32" dirty="0">
                <a:latin typeface="Georgia"/>
                <a:cs typeface="Georgia"/>
              </a:rPr>
              <a:t>off-the-self </a:t>
            </a:r>
            <a:r>
              <a:rPr sz="2360" spc="-5" dirty="0">
                <a:latin typeface="Georgia"/>
                <a:cs typeface="Georgia"/>
              </a:rPr>
              <a:t>hardware </a:t>
            </a:r>
            <a:r>
              <a:rPr sz="2360" spc="-19" dirty="0">
                <a:latin typeface="Georgia"/>
                <a:cs typeface="Georgia"/>
              </a:rPr>
              <a:t>and</a:t>
            </a:r>
            <a:r>
              <a:rPr sz="2360" spc="404" dirty="0">
                <a:latin typeface="Georgia"/>
                <a:cs typeface="Georgia"/>
              </a:rPr>
              <a:t> </a:t>
            </a:r>
            <a:r>
              <a:rPr sz="2360" spc="-5" dirty="0">
                <a:latin typeface="Georgia"/>
                <a:cs typeface="Georgia"/>
              </a:rPr>
              <a:t>software</a:t>
            </a:r>
            <a:endParaRPr sz="2360" dirty="0">
              <a:latin typeface="Georgia"/>
              <a:cs typeface="Georgia"/>
            </a:endParaRPr>
          </a:p>
          <a:p>
            <a:pPr marL="399961" indent="-274324">
              <a:spcBef>
                <a:spcPts val="980"/>
              </a:spcBef>
              <a:buSzPct val="73076"/>
              <a:buFont typeface="OpenSymbol"/>
              <a:buChar char="–"/>
              <a:tabLst>
                <a:tab pos="399961" algn="l"/>
              </a:tabLst>
            </a:pPr>
            <a:r>
              <a:rPr sz="2360" spc="-83" dirty="0">
                <a:latin typeface="Georgia"/>
                <a:cs typeface="Georgia"/>
              </a:rPr>
              <a:t>If </a:t>
            </a:r>
            <a:r>
              <a:rPr sz="2360" spc="-27" dirty="0">
                <a:latin typeface="Georgia"/>
                <a:cs typeface="Georgia"/>
              </a:rPr>
              <a:t>necessary </a:t>
            </a:r>
            <a:r>
              <a:rPr sz="2360" spc="19" dirty="0">
                <a:latin typeface="Georgia"/>
                <a:cs typeface="Georgia"/>
              </a:rPr>
              <a:t>, </a:t>
            </a:r>
            <a:r>
              <a:rPr sz="2360" spc="-23" dirty="0">
                <a:latin typeface="Georgia"/>
                <a:cs typeface="Georgia"/>
              </a:rPr>
              <a:t>design </a:t>
            </a:r>
            <a:r>
              <a:rPr sz="2360" spc="-36" dirty="0">
                <a:latin typeface="Georgia"/>
                <a:cs typeface="Georgia"/>
              </a:rPr>
              <a:t>special-purpose</a:t>
            </a:r>
            <a:r>
              <a:rPr sz="2360" spc="103" dirty="0">
                <a:latin typeface="Georgia"/>
                <a:cs typeface="Georgia"/>
              </a:rPr>
              <a:t> </a:t>
            </a:r>
            <a:r>
              <a:rPr sz="2360" spc="-9" dirty="0">
                <a:latin typeface="Georgia"/>
                <a:cs typeface="Georgia"/>
              </a:rPr>
              <a:t>hardware</a:t>
            </a:r>
            <a:endParaRPr sz="2360" dirty="0">
              <a:latin typeface="Georgia"/>
              <a:cs typeface="Georgia"/>
            </a:endParaRPr>
          </a:p>
          <a:p>
            <a:pPr marL="399961" indent="-274324">
              <a:spcBef>
                <a:spcPts val="980"/>
              </a:spcBef>
              <a:buSzPct val="73076"/>
              <a:buFont typeface="OpenSymbol"/>
              <a:buChar char="–"/>
              <a:tabLst>
                <a:tab pos="399961" algn="l"/>
              </a:tabLst>
            </a:pPr>
            <a:r>
              <a:rPr sz="2360" spc="-32" dirty="0">
                <a:latin typeface="Georgia"/>
                <a:cs typeface="Georgia"/>
              </a:rPr>
              <a:t>Define </a:t>
            </a:r>
            <a:r>
              <a:rPr sz="2360" spc="-15" dirty="0">
                <a:latin typeface="Georgia"/>
                <a:cs typeface="Georgia"/>
              </a:rPr>
              <a:t>operational </a:t>
            </a:r>
            <a:r>
              <a:rPr sz="2360" spc="-36" dirty="0">
                <a:latin typeface="Georgia"/>
                <a:cs typeface="Georgia"/>
              </a:rPr>
              <a:t>processes </a:t>
            </a:r>
            <a:r>
              <a:rPr sz="2360" spc="-23" dirty="0">
                <a:latin typeface="Georgia"/>
                <a:cs typeface="Georgia"/>
              </a:rPr>
              <a:t>for </a:t>
            </a:r>
            <a:r>
              <a:rPr sz="2360" spc="-15" dirty="0">
                <a:latin typeface="Georgia"/>
                <a:cs typeface="Georgia"/>
              </a:rPr>
              <a:t>the</a:t>
            </a:r>
            <a:r>
              <a:rPr sz="2360" spc="-5" dirty="0">
                <a:latin typeface="Georgia"/>
                <a:cs typeface="Georgia"/>
              </a:rPr>
              <a:t> </a:t>
            </a:r>
            <a:r>
              <a:rPr sz="2360" spc="-41" dirty="0">
                <a:latin typeface="Georgia"/>
                <a:cs typeface="Georgia"/>
              </a:rPr>
              <a:t>system</a:t>
            </a:r>
            <a:endParaRPr sz="2360" dirty="0">
              <a:latin typeface="Georgia"/>
              <a:cs typeface="Georgia"/>
            </a:endParaRPr>
          </a:p>
          <a:p>
            <a:pPr marL="399961" indent="-274324">
              <a:spcBef>
                <a:spcPts val="980"/>
              </a:spcBef>
              <a:buSzPct val="73076"/>
              <a:buFont typeface="OpenSymbol"/>
              <a:buChar char="–"/>
              <a:tabLst>
                <a:tab pos="399961" algn="l"/>
              </a:tabLst>
            </a:pPr>
            <a:r>
              <a:rPr sz="2360" spc="-32" dirty="0">
                <a:latin typeface="Georgia"/>
                <a:cs typeface="Georgia"/>
              </a:rPr>
              <a:t>Redesign </a:t>
            </a:r>
            <a:r>
              <a:rPr sz="2360" spc="-23" dirty="0">
                <a:latin typeface="Georgia"/>
                <a:cs typeface="Georgia"/>
              </a:rPr>
              <a:t>essential </a:t>
            </a:r>
            <a:r>
              <a:rPr sz="2360" spc="-41" dirty="0">
                <a:latin typeface="Georgia"/>
                <a:cs typeface="Georgia"/>
              </a:rPr>
              <a:t>business</a:t>
            </a:r>
            <a:r>
              <a:rPr sz="2360" spc="327" dirty="0">
                <a:latin typeface="Georgia"/>
                <a:cs typeface="Georgia"/>
              </a:rPr>
              <a:t> </a:t>
            </a:r>
            <a:r>
              <a:rPr sz="2360" spc="-36" dirty="0">
                <a:latin typeface="Georgia"/>
                <a:cs typeface="Georgia"/>
              </a:rPr>
              <a:t>processes</a:t>
            </a:r>
            <a:endParaRPr sz="2360" dirty="0">
              <a:latin typeface="Georgia"/>
              <a:cs typeface="Georgia"/>
            </a:endParaRPr>
          </a:p>
          <a:p>
            <a:pPr marL="34579">
              <a:spcBef>
                <a:spcPts val="1225"/>
              </a:spcBef>
            </a:pPr>
            <a:r>
              <a:rPr sz="2677" b="1" spc="-168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System</a:t>
            </a:r>
            <a:r>
              <a:rPr sz="2677" b="1" spc="103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2677" b="1" spc="-15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Integration</a:t>
            </a:r>
            <a:endParaRPr sz="2677" dirty="0">
              <a:latin typeface="Georgia"/>
              <a:cs typeface="Georgia"/>
            </a:endParaRPr>
          </a:p>
          <a:p>
            <a:pPr marL="399961" indent="-274324">
              <a:spcBef>
                <a:spcPts val="989"/>
              </a:spcBef>
              <a:buSzPct val="73076"/>
              <a:buFont typeface="OpenSymbol"/>
              <a:buChar char="–"/>
              <a:tabLst>
                <a:tab pos="399961" algn="l"/>
              </a:tabLst>
            </a:pPr>
            <a:r>
              <a:rPr sz="2360" spc="-23" dirty="0">
                <a:latin typeface="Georgia"/>
                <a:cs typeface="Georgia"/>
              </a:rPr>
              <a:t>The</a:t>
            </a:r>
            <a:r>
              <a:rPr sz="2360" spc="95" dirty="0">
                <a:latin typeface="Georgia"/>
                <a:cs typeface="Georgia"/>
              </a:rPr>
              <a:t> </a:t>
            </a:r>
            <a:r>
              <a:rPr sz="2360" spc="-32" dirty="0">
                <a:latin typeface="Georgia"/>
                <a:cs typeface="Georgia"/>
              </a:rPr>
              <a:t>components</a:t>
            </a:r>
            <a:r>
              <a:rPr sz="2360" spc="87" dirty="0">
                <a:latin typeface="Georgia"/>
                <a:cs typeface="Georgia"/>
              </a:rPr>
              <a:t> </a:t>
            </a:r>
            <a:r>
              <a:rPr sz="2360" spc="-9" dirty="0">
                <a:latin typeface="Georgia"/>
                <a:cs typeface="Georgia"/>
              </a:rPr>
              <a:t>are</a:t>
            </a:r>
            <a:r>
              <a:rPr sz="2360" spc="100" dirty="0">
                <a:latin typeface="Georgia"/>
                <a:cs typeface="Georgia"/>
              </a:rPr>
              <a:t> </a:t>
            </a:r>
            <a:r>
              <a:rPr sz="2360" spc="-27" dirty="0">
                <a:latin typeface="Georgia"/>
                <a:cs typeface="Georgia"/>
              </a:rPr>
              <a:t>put</a:t>
            </a:r>
            <a:r>
              <a:rPr sz="2360" spc="87" dirty="0">
                <a:latin typeface="Georgia"/>
                <a:cs typeface="Georgia"/>
              </a:rPr>
              <a:t> </a:t>
            </a:r>
            <a:r>
              <a:rPr sz="2360" spc="-9" dirty="0">
                <a:latin typeface="Georgia"/>
                <a:cs typeface="Georgia"/>
              </a:rPr>
              <a:t>together</a:t>
            </a:r>
            <a:r>
              <a:rPr sz="2360" spc="95" dirty="0">
                <a:latin typeface="Georgia"/>
                <a:cs typeface="Georgia"/>
              </a:rPr>
              <a:t> </a:t>
            </a:r>
            <a:r>
              <a:rPr sz="2360" spc="-9" dirty="0">
                <a:latin typeface="Georgia"/>
                <a:cs typeface="Georgia"/>
              </a:rPr>
              <a:t>to</a:t>
            </a:r>
            <a:r>
              <a:rPr sz="2360" spc="91" dirty="0">
                <a:latin typeface="Georgia"/>
                <a:cs typeface="Georgia"/>
              </a:rPr>
              <a:t> </a:t>
            </a:r>
            <a:r>
              <a:rPr sz="2360" spc="-9" dirty="0">
                <a:latin typeface="Georgia"/>
                <a:cs typeface="Georgia"/>
              </a:rPr>
              <a:t>create</a:t>
            </a:r>
            <a:r>
              <a:rPr sz="2360" spc="87" dirty="0">
                <a:latin typeface="Georgia"/>
                <a:cs typeface="Georgia"/>
              </a:rPr>
              <a:t> </a:t>
            </a:r>
            <a:r>
              <a:rPr sz="2360" spc="9" dirty="0">
                <a:latin typeface="Georgia"/>
                <a:cs typeface="Georgia"/>
              </a:rPr>
              <a:t>a</a:t>
            </a:r>
            <a:r>
              <a:rPr sz="2360" spc="109" dirty="0">
                <a:latin typeface="Georgia"/>
                <a:cs typeface="Georgia"/>
              </a:rPr>
              <a:t> </a:t>
            </a:r>
            <a:r>
              <a:rPr sz="2360" spc="19" dirty="0">
                <a:latin typeface="Georgia"/>
                <a:cs typeface="Georgia"/>
              </a:rPr>
              <a:t>new</a:t>
            </a:r>
            <a:r>
              <a:rPr sz="2360" spc="95" dirty="0">
                <a:latin typeface="Georgia"/>
                <a:cs typeface="Georgia"/>
              </a:rPr>
              <a:t> </a:t>
            </a:r>
            <a:r>
              <a:rPr sz="2360" spc="-41" dirty="0">
                <a:latin typeface="Georgia"/>
                <a:cs typeface="Georgia"/>
              </a:rPr>
              <a:t>system</a:t>
            </a:r>
            <a:endParaRPr sz="236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402404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245" y="466286"/>
            <a:ext cx="4952744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72" dirty="0"/>
              <a:t>System</a:t>
            </a:r>
            <a:r>
              <a:rPr spc="87" dirty="0"/>
              <a:t> </a:t>
            </a:r>
            <a:r>
              <a:rPr spc="-268" dirty="0"/>
              <a:t>Development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1441347"/>
            <a:ext cx="10858499" cy="2385602"/>
          </a:xfrm>
          <a:prstGeom prst="rect">
            <a:avLst/>
          </a:prstGeom>
        </p:spPr>
        <p:txBody>
          <a:bodyPr vert="horz" wrap="square" lIns="0" tIns="153873" rIns="0" bIns="0" rtlCol="0">
            <a:spAutoFit/>
          </a:bodyPr>
          <a:lstStyle/>
          <a:p>
            <a:pPr marL="34579">
              <a:spcBef>
                <a:spcPts val="1212"/>
              </a:spcBef>
            </a:pPr>
            <a:r>
              <a:rPr sz="2677" b="1" spc="-183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System</a:t>
            </a:r>
            <a:r>
              <a:rPr sz="2677" b="1" spc="10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2677" b="1" spc="-15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Testing</a:t>
            </a:r>
            <a:endParaRPr sz="2677" dirty="0">
              <a:latin typeface="Georgia"/>
              <a:cs typeface="Georgia"/>
            </a:endParaRPr>
          </a:p>
          <a:p>
            <a:pPr marL="395349" marR="27663" indent="-270867">
              <a:lnSpc>
                <a:spcPct val="101600"/>
              </a:lnSpc>
              <a:spcBef>
                <a:spcPts val="963"/>
              </a:spcBef>
              <a:buSzPct val="74509"/>
              <a:buFont typeface="OpenSymbol"/>
              <a:buChar char="–"/>
              <a:tabLst>
                <a:tab pos="395349" algn="l"/>
              </a:tabLst>
            </a:pPr>
            <a:r>
              <a:rPr sz="2315" spc="-77" dirty="0">
                <a:latin typeface="Georgia"/>
                <a:cs typeface="Georgia"/>
              </a:rPr>
              <a:t>Its </a:t>
            </a:r>
            <a:r>
              <a:rPr sz="2315" spc="-9" dirty="0">
                <a:latin typeface="Georgia"/>
                <a:cs typeface="Georgia"/>
              </a:rPr>
              <a:t>an extensive </a:t>
            </a:r>
            <a:r>
              <a:rPr sz="2315" spc="-27" dirty="0">
                <a:latin typeface="Georgia"/>
                <a:cs typeface="Georgia"/>
              </a:rPr>
              <a:t>process </a:t>
            </a:r>
            <a:r>
              <a:rPr sz="2315" dirty="0">
                <a:latin typeface="Georgia"/>
                <a:cs typeface="Georgia"/>
              </a:rPr>
              <a:t>which </a:t>
            </a:r>
            <a:r>
              <a:rPr sz="2315" spc="-23" dirty="0">
                <a:latin typeface="Georgia"/>
                <a:cs typeface="Georgia"/>
              </a:rPr>
              <a:t>contains </a:t>
            </a:r>
            <a:r>
              <a:rPr sz="2315" spc="-15" dirty="0">
                <a:latin typeface="Georgia"/>
                <a:cs typeface="Georgia"/>
              </a:rPr>
              <a:t>activities </a:t>
            </a:r>
            <a:r>
              <a:rPr sz="2315" spc="-5" dirty="0">
                <a:latin typeface="Georgia"/>
                <a:cs typeface="Georgia"/>
              </a:rPr>
              <a:t>to  </a:t>
            </a:r>
            <a:r>
              <a:rPr sz="2315" spc="-15" dirty="0">
                <a:latin typeface="Georgia"/>
                <a:cs typeface="Georgia"/>
              </a:rPr>
              <a:t>identify </a:t>
            </a:r>
            <a:r>
              <a:rPr sz="2315" spc="-9" dirty="0">
                <a:latin typeface="Georgia"/>
                <a:cs typeface="Georgia"/>
              </a:rPr>
              <a:t>the</a:t>
            </a:r>
            <a:r>
              <a:rPr sz="2315" spc="183" dirty="0">
                <a:latin typeface="Georgia"/>
                <a:cs typeface="Georgia"/>
              </a:rPr>
              <a:t> </a:t>
            </a:r>
            <a:r>
              <a:rPr sz="2315" spc="-23" dirty="0">
                <a:latin typeface="Georgia"/>
                <a:cs typeface="Georgia"/>
              </a:rPr>
              <a:t>problem</a:t>
            </a:r>
            <a:endParaRPr sz="2315" dirty="0">
              <a:latin typeface="Georgia"/>
              <a:cs typeface="Georgia"/>
            </a:endParaRPr>
          </a:p>
          <a:p>
            <a:pPr marL="395349" marR="755544" indent="-270867">
              <a:lnSpc>
                <a:spcPct val="101600"/>
              </a:lnSpc>
              <a:spcBef>
                <a:spcPts val="944"/>
              </a:spcBef>
              <a:buSzPct val="74509"/>
              <a:buFont typeface="OpenSymbol"/>
              <a:buChar char="–"/>
              <a:tabLst>
                <a:tab pos="395349" algn="l"/>
              </a:tabLst>
            </a:pPr>
            <a:r>
              <a:rPr sz="2315" spc="-73" dirty="0">
                <a:latin typeface="Georgia"/>
                <a:cs typeface="Georgia"/>
              </a:rPr>
              <a:t>If </a:t>
            </a:r>
            <a:r>
              <a:rPr sz="2315" spc="-9" dirty="0">
                <a:latin typeface="Georgia"/>
                <a:cs typeface="Georgia"/>
              </a:rPr>
              <a:t>found </a:t>
            </a:r>
            <a:r>
              <a:rPr sz="2315" spc="-5" dirty="0">
                <a:latin typeface="Georgia"/>
                <a:cs typeface="Georgia"/>
              </a:rPr>
              <a:t>fault </a:t>
            </a:r>
            <a:r>
              <a:rPr sz="2315" spc="-15" dirty="0">
                <a:latin typeface="Georgia"/>
                <a:cs typeface="Georgia"/>
              </a:rPr>
              <a:t>then </a:t>
            </a:r>
            <a:r>
              <a:rPr sz="2315" spc="-19" dirty="0">
                <a:latin typeface="Georgia"/>
                <a:cs typeface="Georgia"/>
              </a:rPr>
              <a:t>Rreentered </a:t>
            </a:r>
            <a:r>
              <a:rPr sz="2315" spc="-23" dirty="0">
                <a:latin typeface="Georgia"/>
                <a:cs typeface="Georgia"/>
              </a:rPr>
              <a:t>into </a:t>
            </a:r>
            <a:r>
              <a:rPr sz="2315" spc="-32" dirty="0">
                <a:latin typeface="Georgia"/>
                <a:cs typeface="Georgia"/>
              </a:rPr>
              <a:t>subsystem  </a:t>
            </a:r>
            <a:r>
              <a:rPr sz="2315" spc="-9" dirty="0">
                <a:latin typeface="Georgia"/>
                <a:cs typeface="Georgia"/>
              </a:rPr>
              <a:t>engineering </a:t>
            </a:r>
            <a:r>
              <a:rPr sz="2315" spc="-15" dirty="0">
                <a:latin typeface="Georgia"/>
                <a:cs typeface="Georgia"/>
              </a:rPr>
              <a:t>and </a:t>
            </a:r>
            <a:r>
              <a:rPr sz="2315" spc="-32" dirty="0">
                <a:latin typeface="Georgia"/>
                <a:cs typeface="Georgia"/>
              </a:rPr>
              <a:t>system </a:t>
            </a:r>
            <a:r>
              <a:rPr sz="2315" spc="-15" dirty="0">
                <a:latin typeface="Georgia"/>
                <a:cs typeface="Georgia"/>
              </a:rPr>
              <a:t>integration</a:t>
            </a:r>
            <a:r>
              <a:rPr sz="2315" spc="408" dirty="0">
                <a:latin typeface="Georgia"/>
                <a:cs typeface="Georgia"/>
              </a:rPr>
              <a:t> </a:t>
            </a:r>
            <a:r>
              <a:rPr sz="2315" spc="-15" dirty="0">
                <a:latin typeface="Georgia"/>
                <a:cs typeface="Georgia"/>
              </a:rPr>
              <a:t>phase.</a:t>
            </a:r>
            <a:endParaRPr sz="2315" dirty="0">
              <a:latin typeface="Georgia"/>
              <a:cs typeface="Georgia"/>
            </a:endParaRPr>
          </a:p>
          <a:p>
            <a:pPr marL="395349" indent="-271444">
              <a:spcBef>
                <a:spcPts val="989"/>
              </a:spcBef>
              <a:buSzPct val="74509"/>
              <a:buFont typeface="OpenSymbol"/>
              <a:buChar char="–"/>
              <a:tabLst>
                <a:tab pos="395349" algn="l"/>
              </a:tabLst>
            </a:pPr>
            <a:r>
              <a:rPr sz="2315" spc="-19" dirty="0">
                <a:latin typeface="Georgia"/>
                <a:cs typeface="Georgia"/>
              </a:rPr>
              <a:t>Testing </a:t>
            </a:r>
            <a:r>
              <a:rPr sz="2315" spc="-9" dirty="0">
                <a:latin typeface="Georgia"/>
                <a:cs typeface="Georgia"/>
              </a:rPr>
              <a:t>can </a:t>
            </a:r>
            <a:r>
              <a:rPr sz="2315" spc="-5" dirty="0">
                <a:latin typeface="Georgia"/>
                <a:cs typeface="Georgia"/>
              </a:rPr>
              <a:t>be done </a:t>
            </a:r>
            <a:r>
              <a:rPr sz="2315" spc="-9" dirty="0">
                <a:latin typeface="Georgia"/>
                <a:cs typeface="Georgia"/>
              </a:rPr>
              <a:t>by</a:t>
            </a:r>
            <a:r>
              <a:rPr sz="2315" spc="467" dirty="0">
                <a:latin typeface="Georgia"/>
                <a:cs typeface="Georgia"/>
              </a:rPr>
              <a:t> </a:t>
            </a:r>
            <a:r>
              <a:rPr sz="2315" spc="-45" dirty="0" smtClean="0">
                <a:latin typeface="Georgia"/>
                <a:cs typeface="Georgia"/>
              </a:rPr>
              <a:t>:</a:t>
            </a:r>
            <a:endParaRPr sz="2315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07617" y="4323421"/>
            <a:ext cx="112955" cy="147602"/>
          </a:xfrm>
          <a:prstGeom prst="rect">
            <a:avLst/>
          </a:prstGeom>
        </p:spPr>
        <p:txBody>
          <a:bodyPr vert="horz" wrap="square" lIns="0" tIns="14984" rIns="0" bIns="0" rtlCol="0">
            <a:spAutoFit/>
          </a:bodyPr>
          <a:lstStyle/>
          <a:p>
            <a:pPr marL="11526">
              <a:spcBef>
                <a:spcPts val="119"/>
              </a:spcBef>
            </a:pPr>
            <a:r>
              <a:rPr sz="861" spc="19" dirty="0">
                <a:latin typeface="OpenSymbol"/>
                <a:cs typeface="OpenSymbol"/>
              </a:rPr>
              <a:t>●</a:t>
            </a:r>
            <a:endParaRPr sz="861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7245" y="3694628"/>
            <a:ext cx="4099816" cy="810917"/>
          </a:xfrm>
          <a:prstGeom prst="rect">
            <a:avLst/>
          </a:prstGeom>
        </p:spPr>
        <p:txBody>
          <a:bodyPr vert="horz" wrap="square" lIns="0" tIns="105463" rIns="0" bIns="0" rtlCol="0">
            <a:spAutoFit/>
          </a:bodyPr>
          <a:lstStyle/>
          <a:p>
            <a:pPr marL="11526">
              <a:spcBef>
                <a:spcPts val="831"/>
              </a:spcBef>
            </a:pPr>
            <a:r>
              <a:rPr sz="1997" spc="-23" dirty="0">
                <a:latin typeface="Georgia"/>
                <a:cs typeface="Georgia"/>
              </a:rPr>
              <a:t>System</a:t>
            </a:r>
            <a:r>
              <a:rPr sz="1997" spc="77" dirty="0">
                <a:latin typeface="Georgia"/>
                <a:cs typeface="Georgia"/>
              </a:rPr>
              <a:t> </a:t>
            </a:r>
            <a:r>
              <a:rPr sz="1997" spc="-23" dirty="0">
                <a:latin typeface="Georgia"/>
                <a:cs typeface="Georgia"/>
              </a:rPr>
              <a:t>Developers</a:t>
            </a:r>
            <a:endParaRPr sz="1997" dirty="0">
              <a:latin typeface="Georgia"/>
              <a:cs typeface="Georgia"/>
            </a:endParaRPr>
          </a:p>
          <a:p>
            <a:pPr marL="11526">
              <a:spcBef>
                <a:spcPts val="743"/>
              </a:spcBef>
            </a:pPr>
            <a:r>
              <a:rPr sz="1997" spc="-23" dirty="0">
                <a:latin typeface="Georgia"/>
                <a:cs typeface="Georgia"/>
              </a:rPr>
              <a:t>Acceptance/User </a:t>
            </a:r>
            <a:r>
              <a:rPr sz="1997" dirty="0">
                <a:latin typeface="Georgia"/>
                <a:cs typeface="Georgia"/>
              </a:rPr>
              <a:t>of </a:t>
            </a:r>
            <a:r>
              <a:rPr sz="1997" spc="-15" dirty="0">
                <a:latin typeface="Georgia"/>
                <a:cs typeface="Georgia"/>
              </a:rPr>
              <a:t>the</a:t>
            </a:r>
            <a:r>
              <a:rPr sz="1997" spc="219" dirty="0">
                <a:latin typeface="Georgia"/>
                <a:cs typeface="Georgia"/>
              </a:rPr>
              <a:t> </a:t>
            </a:r>
            <a:r>
              <a:rPr sz="1997" spc="-5" dirty="0">
                <a:latin typeface="Georgia"/>
                <a:cs typeface="Georgia"/>
              </a:rPr>
              <a:t>organization</a:t>
            </a:r>
            <a:endParaRPr sz="1997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07617" y="4722224"/>
            <a:ext cx="112955" cy="147602"/>
          </a:xfrm>
          <a:prstGeom prst="rect">
            <a:avLst/>
          </a:prstGeom>
        </p:spPr>
        <p:txBody>
          <a:bodyPr vert="horz" wrap="square" lIns="0" tIns="14984" rIns="0" bIns="0" rtlCol="0">
            <a:spAutoFit/>
          </a:bodyPr>
          <a:lstStyle/>
          <a:p>
            <a:pPr marL="11526">
              <a:spcBef>
                <a:spcPts val="119"/>
              </a:spcBef>
            </a:pPr>
            <a:r>
              <a:rPr sz="861" spc="19" dirty="0">
                <a:latin typeface="OpenSymbol"/>
                <a:cs typeface="OpenSymbol"/>
              </a:rPr>
              <a:t>●</a:t>
            </a:r>
            <a:endParaRPr sz="861">
              <a:latin typeface="OpenSymbol"/>
              <a:cs typeface="Open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2000" y="4952180"/>
            <a:ext cx="10109200" cy="1422326"/>
          </a:xfrm>
          <a:prstGeom prst="rect">
            <a:avLst/>
          </a:prstGeom>
        </p:spPr>
        <p:txBody>
          <a:bodyPr vert="horz" wrap="square" lIns="0" tIns="153873" rIns="0" bIns="0" rtlCol="0">
            <a:spAutoFit/>
          </a:bodyPr>
          <a:lstStyle/>
          <a:p>
            <a:pPr marL="34579">
              <a:spcBef>
                <a:spcPts val="1212"/>
              </a:spcBef>
            </a:pPr>
            <a:r>
              <a:rPr sz="2677" b="1" spc="-183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System</a:t>
            </a:r>
            <a:r>
              <a:rPr sz="2677" b="1" spc="10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2677" b="1" spc="-183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Deployment</a:t>
            </a:r>
            <a:endParaRPr sz="2677" dirty="0">
              <a:latin typeface="Georgia"/>
              <a:cs typeface="Georgia"/>
            </a:endParaRPr>
          </a:p>
          <a:p>
            <a:pPr marL="395349" marR="27663" indent="-270867">
              <a:lnSpc>
                <a:spcPct val="101600"/>
              </a:lnSpc>
              <a:spcBef>
                <a:spcPts val="963"/>
              </a:spcBef>
            </a:pPr>
            <a:r>
              <a:rPr sz="2587" spc="20" baseline="10233" dirty="0">
                <a:latin typeface="OpenSymbol"/>
                <a:cs typeface="OpenSymbol"/>
              </a:rPr>
              <a:t>– </a:t>
            </a:r>
            <a:r>
              <a:rPr sz="2315" spc="-27" dirty="0">
                <a:latin typeface="Georgia"/>
                <a:cs typeface="Georgia"/>
              </a:rPr>
              <a:t>Transferring </a:t>
            </a:r>
            <a:r>
              <a:rPr sz="2315" dirty="0">
                <a:latin typeface="Georgia"/>
                <a:cs typeface="Georgia"/>
              </a:rPr>
              <a:t>data </a:t>
            </a:r>
            <a:r>
              <a:rPr sz="2315" spc="-32" dirty="0">
                <a:latin typeface="Georgia"/>
                <a:cs typeface="Georgia"/>
              </a:rPr>
              <a:t>from </a:t>
            </a:r>
            <a:r>
              <a:rPr sz="2315" spc="-15" dirty="0">
                <a:latin typeface="Georgia"/>
                <a:cs typeface="Georgia"/>
              </a:rPr>
              <a:t>existing </a:t>
            </a:r>
            <a:r>
              <a:rPr sz="2315" spc="-36" dirty="0">
                <a:latin typeface="Georgia"/>
                <a:cs typeface="Georgia"/>
              </a:rPr>
              <a:t>systems </a:t>
            </a:r>
            <a:r>
              <a:rPr sz="2315" spc="23" dirty="0">
                <a:latin typeface="Georgia"/>
                <a:cs typeface="Georgia"/>
              </a:rPr>
              <a:t>, </a:t>
            </a:r>
            <a:r>
              <a:rPr sz="2315" spc="-9" dirty="0">
                <a:latin typeface="Georgia"/>
                <a:cs typeface="Georgia"/>
              </a:rPr>
              <a:t>and </a:t>
            </a:r>
            <a:r>
              <a:rPr sz="2315" spc="-23" dirty="0">
                <a:latin typeface="Georgia"/>
                <a:cs typeface="Georgia"/>
              </a:rPr>
              <a:t>establishing  </a:t>
            </a:r>
            <a:r>
              <a:rPr sz="2315" spc="-27" dirty="0">
                <a:latin typeface="Georgia"/>
                <a:cs typeface="Georgia"/>
              </a:rPr>
              <a:t>communications </a:t>
            </a:r>
            <a:r>
              <a:rPr sz="2315" spc="5" dirty="0">
                <a:latin typeface="Georgia"/>
                <a:cs typeface="Georgia"/>
              </a:rPr>
              <a:t>with </a:t>
            </a:r>
            <a:r>
              <a:rPr sz="2315" spc="-15" dirty="0">
                <a:latin typeface="Georgia"/>
                <a:cs typeface="Georgia"/>
              </a:rPr>
              <a:t>other </a:t>
            </a:r>
            <a:r>
              <a:rPr sz="2315" spc="-36" dirty="0">
                <a:latin typeface="Georgia"/>
                <a:cs typeface="Georgia"/>
              </a:rPr>
              <a:t>systems in </a:t>
            </a:r>
            <a:r>
              <a:rPr sz="2315" spc="-9" dirty="0">
                <a:latin typeface="Georgia"/>
                <a:cs typeface="Georgia"/>
              </a:rPr>
              <a:t>the</a:t>
            </a:r>
            <a:r>
              <a:rPr sz="2315" spc="119" dirty="0">
                <a:latin typeface="Georgia"/>
                <a:cs typeface="Georgia"/>
              </a:rPr>
              <a:t> </a:t>
            </a:r>
            <a:r>
              <a:rPr sz="2315" spc="-23" dirty="0">
                <a:latin typeface="Georgia"/>
                <a:cs typeface="Georgia"/>
              </a:rPr>
              <a:t>environment</a:t>
            </a:r>
            <a:endParaRPr sz="2315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22125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653" y="432533"/>
            <a:ext cx="6405603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300" dirty="0"/>
              <a:t>New </a:t>
            </a:r>
            <a:r>
              <a:rPr spc="-295" dirty="0"/>
              <a:t>Requirements</a:t>
            </a:r>
            <a:r>
              <a:rPr spc="-185" dirty="0"/>
              <a:t> </a:t>
            </a:r>
            <a:r>
              <a:rPr spc="-317" dirty="0"/>
              <a:t>Emerge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5653" y="1583679"/>
            <a:ext cx="10928147" cy="1073182"/>
          </a:xfrm>
          <a:prstGeom prst="rect">
            <a:avLst/>
          </a:prstGeom>
        </p:spPr>
        <p:txBody>
          <a:bodyPr vert="horz" wrap="square" lIns="0" tIns="8068" rIns="0" bIns="0" rtlCol="0">
            <a:spAutoFit/>
          </a:bodyPr>
          <a:lstStyle/>
          <a:p>
            <a:pPr marL="11526" marR="4611">
              <a:lnSpc>
                <a:spcPct val="100800"/>
              </a:lnSpc>
              <a:spcBef>
                <a:spcPts val="64"/>
              </a:spcBef>
            </a:pPr>
            <a:r>
              <a:rPr sz="2904" spc="-55" dirty="0">
                <a:latin typeface="Georgia"/>
                <a:cs typeface="Georgia"/>
              </a:rPr>
              <a:t>Requirements </a:t>
            </a:r>
            <a:r>
              <a:rPr sz="2904" spc="-9" dirty="0">
                <a:latin typeface="Georgia"/>
                <a:cs typeface="Georgia"/>
              </a:rPr>
              <a:t>affect </a:t>
            </a:r>
            <a:r>
              <a:rPr sz="2904" spc="-27" dirty="0">
                <a:latin typeface="Georgia"/>
                <a:cs typeface="Georgia"/>
              </a:rPr>
              <a:t>design </a:t>
            </a:r>
            <a:r>
              <a:rPr sz="2904" spc="-41" dirty="0">
                <a:latin typeface="Georgia"/>
                <a:cs typeface="Georgia"/>
              </a:rPr>
              <a:t>decisions </a:t>
            </a:r>
            <a:r>
              <a:rPr sz="2904" spc="-32" dirty="0">
                <a:latin typeface="Georgia"/>
                <a:cs typeface="Georgia"/>
              </a:rPr>
              <a:t>and </a:t>
            </a:r>
            <a:r>
              <a:rPr sz="2904" spc="-15" dirty="0">
                <a:latin typeface="Georgia"/>
                <a:cs typeface="Georgia"/>
              </a:rPr>
              <a:t>vice  </a:t>
            </a:r>
            <a:r>
              <a:rPr sz="2904" spc="-32" dirty="0">
                <a:latin typeface="Georgia"/>
                <a:cs typeface="Georgia"/>
              </a:rPr>
              <a:t>versa</a:t>
            </a:r>
            <a:endParaRPr sz="2904" dirty="0">
              <a:latin typeface="Georgia"/>
              <a:cs typeface="Georgia"/>
            </a:endParaRPr>
          </a:p>
          <a:p>
            <a:pPr marL="11526">
              <a:spcBef>
                <a:spcPts val="1316"/>
              </a:spcBef>
            </a:pPr>
            <a:r>
              <a:rPr sz="2904" b="1" spc="-191" dirty="0">
                <a:latin typeface="Georgia"/>
                <a:cs typeface="Georgia"/>
              </a:rPr>
              <a:t>Spiral</a:t>
            </a:r>
            <a:r>
              <a:rPr sz="2904" b="1" spc="100" dirty="0">
                <a:latin typeface="Georgia"/>
                <a:cs typeface="Georgia"/>
              </a:rPr>
              <a:t> </a:t>
            </a:r>
            <a:r>
              <a:rPr sz="2904" b="1" spc="-208" dirty="0">
                <a:latin typeface="Georgia"/>
                <a:cs typeface="Georgia"/>
              </a:rPr>
              <a:t>Model</a:t>
            </a:r>
            <a:endParaRPr sz="2904" dirty="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56430" y="2146300"/>
            <a:ext cx="5970495" cy="39868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</p:spTree>
    <p:extLst>
      <p:ext uri="{BB962C8B-B14F-4D97-AF65-F5344CB8AC3E}">
        <p14:creationId xmlns:p14="http://schemas.microsoft.com/office/powerpoint/2010/main" val="372770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466" y="404319"/>
            <a:ext cx="4756801" cy="565637"/>
          </a:xfrm>
          <a:prstGeom prst="rect">
            <a:avLst/>
          </a:prstGeom>
        </p:spPr>
        <p:txBody>
          <a:bodyPr vert="horz" wrap="square" lIns="0" tIns="11527" rIns="0" bIns="0" rtlCol="0" anchor="ctr">
            <a:spAutoFit/>
          </a:bodyPr>
          <a:lstStyle/>
          <a:p>
            <a:pPr marL="11526">
              <a:lnSpc>
                <a:spcPct val="100000"/>
              </a:lnSpc>
              <a:spcBef>
                <a:spcPts val="91"/>
              </a:spcBef>
            </a:pPr>
            <a:r>
              <a:rPr spc="-236" dirty="0"/>
              <a:t>Integrate</a:t>
            </a:r>
            <a:r>
              <a:rPr spc="100" dirty="0"/>
              <a:t> </a:t>
            </a:r>
            <a:r>
              <a:rPr spc="-272" dirty="0"/>
              <a:t>subsystem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7300" y="1453633"/>
            <a:ext cx="10388599" cy="3357457"/>
          </a:xfrm>
          <a:prstGeom prst="rect">
            <a:avLst/>
          </a:prstGeom>
        </p:spPr>
        <p:txBody>
          <a:bodyPr vert="horz" wrap="square" lIns="0" tIns="144652" rIns="0" bIns="0" rtlCol="0">
            <a:spAutoFit/>
          </a:bodyPr>
          <a:lstStyle/>
          <a:p>
            <a:pPr marL="34579">
              <a:spcBef>
                <a:spcPts val="1139"/>
              </a:spcBef>
            </a:pPr>
            <a:r>
              <a:rPr sz="2451" spc="-23" dirty="0">
                <a:latin typeface="Georgia"/>
                <a:cs typeface="Georgia"/>
              </a:rPr>
              <a:t>Integration </a:t>
            </a:r>
            <a:r>
              <a:rPr sz="2451" spc="5" dirty="0">
                <a:latin typeface="Georgia"/>
                <a:cs typeface="Georgia"/>
              </a:rPr>
              <a:t>of </a:t>
            </a:r>
            <a:r>
              <a:rPr sz="2451" spc="-36" dirty="0">
                <a:latin typeface="Georgia"/>
                <a:cs typeface="Georgia"/>
              </a:rPr>
              <a:t>subsystem </a:t>
            </a:r>
            <a:r>
              <a:rPr sz="2451" spc="-9" dirty="0">
                <a:latin typeface="Georgia"/>
                <a:cs typeface="Georgia"/>
              </a:rPr>
              <a:t>can </a:t>
            </a:r>
            <a:r>
              <a:rPr sz="2451" spc="-5" dirty="0">
                <a:latin typeface="Georgia"/>
                <a:cs typeface="Georgia"/>
              </a:rPr>
              <a:t>be done </a:t>
            </a:r>
            <a:r>
              <a:rPr sz="2451" spc="-19" dirty="0">
                <a:latin typeface="Georgia"/>
                <a:cs typeface="Georgia"/>
              </a:rPr>
              <a:t>using</a:t>
            </a:r>
            <a:r>
              <a:rPr sz="2451" spc="183" dirty="0">
                <a:latin typeface="Georgia"/>
                <a:cs typeface="Georgia"/>
              </a:rPr>
              <a:t> </a:t>
            </a:r>
            <a:r>
              <a:rPr sz="2451" spc="-55" dirty="0">
                <a:latin typeface="Georgia"/>
                <a:cs typeface="Georgia"/>
              </a:rPr>
              <a:t>:-</a:t>
            </a:r>
            <a:endParaRPr sz="2451" dirty="0">
              <a:latin typeface="Georgia"/>
              <a:cs typeface="Georgia"/>
            </a:endParaRPr>
          </a:p>
          <a:p>
            <a:pPr marL="367687" indent="-250119">
              <a:spcBef>
                <a:spcPts val="935"/>
              </a:spcBef>
              <a:buSzPct val="74468"/>
              <a:buFont typeface="OpenSymbol"/>
              <a:buChar char="–"/>
              <a:tabLst>
                <a:tab pos="367687" algn="l"/>
              </a:tabLst>
            </a:pPr>
            <a:r>
              <a:rPr sz="2133" spc="-27" dirty="0">
                <a:latin typeface="Georgia"/>
                <a:cs typeface="Georgia"/>
              </a:rPr>
              <a:t>“Big-Bang”</a:t>
            </a:r>
            <a:r>
              <a:rPr sz="2133" spc="77" dirty="0">
                <a:latin typeface="Georgia"/>
                <a:cs typeface="Georgia"/>
              </a:rPr>
              <a:t> </a:t>
            </a:r>
            <a:r>
              <a:rPr sz="2133" spc="-9" dirty="0">
                <a:latin typeface="Georgia"/>
                <a:cs typeface="Georgia"/>
              </a:rPr>
              <a:t>approach</a:t>
            </a:r>
            <a:endParaRPr sz="2133" dirty="0">
              <a:latin typeface="Georgia"/>
              <a:cs typeface="Georgia"/>
            </a:endParaRPr>
          </a:p>
          <a:p>
            <a:pPr marL="367687" indent="-250119">
              <a:spcBef>
                <a:spcPts val="917"/>
              </a:spcBef>
              <a:buSzPct val="74468"/>
              <a:buFont typeface="OpenSymbol"/>
              <a:buChar char="–"/>
              <a:tabLst>
                <a:tab pos="367687" algn="l"/>
              </a:tabLst>
            </a:pPr>
            <a:r>
              <a:rPr sz="2133" spc="-23" dirty="0">
                <a:latin typeface="Georgia"/>
                <a:cs typeface="Georgia"/>
              </a:rPr>
              <a:t>Incremental</a:t>
            </a:r>
            <a:r>
              <a:rPr sz="2133" spc="87" dirty="0">
                <a:latin typeface="Georgia"/>
                <a:cs typeface="Georgia"/>
              </a:rPr>
              <a:t> </a:t>
            </a:r>
            <a:r>
              <a:rPr sz="2133" spc="-9" dirty="0">
                <a:latin typeface="Georgia"/>
                <a:cs typeface="Georgia"/>
              </a:rPr>
              <a:t>approach</a:t>
            </a:r>
            <a:endParaRPr sz="2133" dirty="0">
              <a:latin typeface="Georgia"/>
              <a:cs typeface="Georgia"/>
            </a:endParaRPr>
          </a:p>
          <a:p>
            <a:pPr marL="34579" marR="218999">
              <a:lnSpc>
                <a:spcPct val="101200"/>
              </a:lnSpc>
              <a:spcBef>
                <a:spcPts val="1095"/>
              </a:spcBef>
            </a:pPr>
            <a:r>
              <a:rPr sz="2451" spc="-19" dirty="0">
                <a:latin typeface="Georgia"/>
                <a:cs typeface="Georgia"/>
              </a:rPr>
              <a:t>Development </a:t>
            </a:r>
            <a:r>
              <a:rPr sz="2451" spc="5" dirty="0">
                <a:latin typeface="Georgia"/>
                <a:cs typeface="Georgia"/>
              </a:rPr>
              <a:t>of </a:t>
            </a:r>
            <a:r>
              <a:rPr sz="2451" spc="-36" dirty="0">
                <a:latin typeface="Georgia"/>
                <a:cs typeface="Georgia"/>
              </a:rPr>
              <a:t>subsystem </a:t>
            </a:r>
            <a:r>
              <a:rPr sz="2451" spc="-9" dirty="0">
                <a:latin typeface="Georgia"/>
                <a:cs typeface="Georgia"/>
              </a:rPr>
              <a:t>can be </a:t>
            </a:r>
            <a:r>
              <a:rPr sz="2451" spc="-23" dirty="0">
                <a:latin typeface="Georgia"/>
                <a:cs typeface="Georgia"/>
              </a:rPr>
              <a:t>finished </a:t>
            </a:r>
            <a:r>
              <a:rPr sz="2451" spc="-5" dirty="0">
                <a:latin typeface="Georgia"/>
                <a:cs typeface="Georgia"/>
              </a:rPr>
              <a:t>at </a:t>
            </a:r>
            <a:r>
              <a:rPr sz="2451" spc="-9" dirty="0">
                <a:latin typeface="Georgia"/>
                <a:cs typeface="Georgia"/>
              </a:rPr>
              <a:t>the </a:t>
            </a:r>
            <a:r>
              <a:rPr sz="2451" spc="-23" dirty="0">
                <a:latin typeface="Georgia"/>
                <a:cs typeface="Georgia"/>
              </a:rPr>
              <a:t>same  </a:t>
            </a:r>
            <a:r>
              <a:rPr sz="2451" spc="-15" dirty="0">
                <a:latin typeface="Georgia"/>
                <a:cs typeface="Georgia"/>
              </a:rPr>
              <a:t>time.</a:t>
            </a:r>
            <a:endParaRPr sz="2451" dirty="0">
              <a:latin typeface="Georgia"/>
              <a:cs typeface="Georgia"/>
            </a:endParaRPr>
          </a:p>
          <a:p>
            <a:pPr marL="34579" marR="1046006">
              <a:lnSpc>
                <a:spcPct val="101499"/>
              </a:lnSpc>
              <a:spcBef>
                <a:spcPts val="1099"/>
              </a:spcBef>
            </a:pPr>
            <a:r>
              <a:rPr sz="2451" spc="-32" dirty="0">
                <a:latin typeface="Georgia"/>
                <a:cs typeface="Georgia"/>
              </a:rPr>
              <a:t>Incremental </a:t>
            </a:r>
            <a:r>
              <a:rPr sz="2451" spc="-15" dirty="0">
                <a:latin typeface="Georgia"/>
                <a:cs typeface="Georgia"/>
              </a:rPr>
              <a:t>integration reduces </a:t>
            </a:r>
            <a:r>
              <a:rPr sz="2451" spc="-9" dirty="0">
                <a:latin typeface="Georgia"/>
                <a:cs typeface="Georgia"/>
              </a:rPr>
              <a:t>the </a:t>
            </a:r>
            <a:r>
              <a:rPr sz="2451" spc="-23" dirty="0">
                <a:latin typeface="Georgia"/>
                <a:cs typeface="Georgia"/>
              </a:rPr>
              <a:t>cost </a:t>
            </a:r>
            <a:r>
              <a:rPr sz="2451" dirty="0">
                <a:latin typeface="Georgia"/>
                <a:cs typeface="Georgia"/>
              </a:rPr>
              <a:t>of </a:t>
            </a:r>
            <a:r>
              <a:rPr sz="2451" spc="-32" dirty="0">
                <a:latin typeface="Georgia"/>
                <a:cs typeface="Georgia"/>
              </a:rPr>
              <a:t>error  </a:t>
            </a:r>
            <a:r>
              <a:rPr sz="2451" spc="-5" dirty="0">
                <a:latin typeface="Georgia"/>
                <a:cs typeface="Georgia"/>
              </a:rPr>
              <a:t>location.</a:t>
            </a:r>
            <a:endParaRPr sz="2451" dirty="0">
              <a:latin typeface="Georgia"/>
              <a:cs typeface="Georgia"/>
            </a:endParaRPr>
          </a:p>
          <a:p>
            <a:pPr marL="34579" marR="27663">
              <a:lnSpc>
                <a:spcPct val="101499"/>
              </a:lnSpc>
              <a:spcBef>
                <a:spcPts val="1089"/>
              </a:spcBef>
            </a:pPr>
            <a:r>
              <a:rPr sz="2451" dirty="0">
                <a:latin typeface="Georgia"/>
                <a:cs typeface="Georgia"/>
              </a:rPr>
              <a:t>Now </a:t>
            </a:r>
            <a:r>
              <a:rPr sz="2451" spc="15" dirty="0">
                <a:latin typeface="Georgia"/>
                <a:cs typeface="Georgia"/>
              </a:rPr>
              <a:t>a </a:t>
            </a:r>
            <a:r>
              <a:rPr sz="2451" spc="-15" dirty="0">
                <a:latin typeface="Georgia"/>
                <a:cs typeface="Georgia"/>
              </a:rPr>
              <a:t>days </a:t>
            </a:r>
            <a:r>
              <a:rPr sz="2451" spc="-36" dirty="0">
                <a:latin typeface="Georgia"/>
                <a:cs typeface="Georgia"/>
              </a:rPr>
              <a:t>systems </a:t>
            </a:r>
            <a:r>
              <a:rPr sz="2451" spc="5" dirty="0">
                <a:latin typeface="Georgia"/>
                <a:cs typeface="Georgia"/>
              </a:rPr>
              <a:t>developed </a:t>
            </a:r>
            <a:r>
              <a:rPr sz="2451" spc="-19" dirty="0">
                <a:latin typeface="Georgia"/>
                <a:cs typeface="Georgia"/>
              </a:rPr>
              <a:t>using COTS </a:t>
            </a:r>
            <a:r>
              <a:rPr sz="2451" spc="-5" dirty="0">
                <a:latin typeface="Georgia"/>
                <a:cs typeface="Georgia"/>
              </a:rPr>
              <a:t>(component  </a:t>
            </a:r>
            <a:r>
              <a:rPr sz="2451" spc="-19" dirty="0">
                <a:latin typeface="Georgia"/>
                <a:cs typeface="Georgia"/>
              </a:rPr>
              <a:t>off-the-self) </a:t>
            </a:r>
            <a:r>
              <a:rPr sz="2451" spc="36" dirty="0">
                <a:latin typeface="Georgia"/>
                <a:cs typeface="Georgia"/>
              </a:rPr>
              <a:t>h/w </a:t>
            </a:r>
            <a:r>
              <a:rPr sz="2451" spc="-15" dirty="0">
                <a:latin typeface="Georgia"/>
                <a:cs typeface="Georgia"/>
              </a:rPr>
              <a:t>and</a:t>
            </a:r>
            <a:r>
              <a:rPr sz="2451" spc="277" dirty="0">
                <a:latin typeface="Georgia"/>
                <a:cs typeface="Georgia"/>
              </a:rPr>
              <a:t> </a:t>
            </a:r>
            <a:r>
              <a:rPr sz="2451" spc="23" dirty="0">
                <a:latin typeface="Georgia"/>
                <a:cs typeface="Georgia"/>
              </a:rPr>
              <a:t>s/w.</a:t>
            </a:r>
            <a:endParaRPr sz="2451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93058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371</TotalTime>
  <Words>1157</Words>
  <Application>Microsoft Office PowerPoint</Application>
  <PresentationFormat>Widescreen</PresentationFormat>
  <Paragraphs>204</Paragraphs>
  <Slides>31</Slides>
  <Notes>2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Georgia</vt:lpstr>
      <vt:lpstr>OpenSymbol</vt:lpstr>
      <vt:lpstr>Times New Roman</vt:lpstr>
      <vt:lpstr>Office Theme</vt:lpstr>
      <vt:lpstr>SOFTWARE ENGINEERING</vt:lpstr>
      <vt:lpstr>SYSTEMS</vt:lpstr>
      <vt:lpstr>System/Complex System ?</vt:lpstr>
      <vt:lpstr>Technical Computer-based  Systems</vt:lpstr>
      <vt:lpstr>Socio-technical System</vt:lpstr>
      <vt:lpstr>Sociotechnical System Stack</vt:lpstr>
      <vt:lpstr>Layers in the STS stacks</vt:lpstr>
      <vt:lpstr>Layers in the STS stacks</vt:lpstr>
      <vt:lpstr>Holistic System Design</vt:lpstr>
      <vt:lpstr>Organizational Affects</vt:lpstr>
      <vt:lpstr>Socio-technical system  characteristics</vt:lpstr>
      <vt:lpstr>Emergent Properties</vt:lpstr>
      <vt:lpstr>Types of Emergent Property</vt:lpstr>
      <vt:lpstr>Reliability as an emergent  property</vt:lpstr>
      <vt:lpstr>Failure Propagation</vt:lpstr>
      <vt:lpstr>Non-determinism</vt:lpstr>
      <vt:lpstr>System Engineering</vt:lpstr>
      <vt:lpstr>Stages of Systems Engineering</vt:lpstr>
      <vt:lpstr>Procurement or Acquisition</vt:lpstr>
      <vt:lpstr>Development</vt:lpstr>
      <vt:lpstr>Operation</vt:lpstr>
      <vt:lpstr>Stages of System Engineering</vt:lpstr>
      <vt:lpstr>Air Traffic Management System</vt:lpstr>
      <vt:lpstr>System Procurement</vt:lpstr>
      <vt:lpstr>System Development</vt:lpstr>
      <vt:lpstr>System Development</vt:lpstr>
      <vt:lpstr>System Development</vt:lpstr>
      <vt:lpstr>System Development</vt:lpstr>
      <vt:lpstr>System Development</vt:lpstr>
      <vt:lpstr>New Requirements Emerge</vt:lpstr>
      <vt:lpstr>Integrate subsystem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Noor Nabi</dc:creator>
  <cp:lastModifiedBy>Noor Nabi</cp:lastModifiedBy>
  <cp:revision>28</cp:revision>
  <dcterms:created xsi:type="dcterms:W3CDTF">2020-09-20T04:21:23Z</dcterms:created>
  <dcterms:modified xsi:type="dcterms:W3CDTF">2022-12-05T19:07:21Z</dcterms:modified>
</cp:coreProperties>
</file>