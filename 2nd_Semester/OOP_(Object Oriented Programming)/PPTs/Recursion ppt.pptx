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6" r:id="rId6"/>
    <p:sldId id="259" r:id="rId7"/>
    <p:sldId id="260" r:id="rId8"/>
    <p:sldId id="267" r:id="rId9"/>
    <p:sldId id="261" r:id="rId10"/>
    <p:sldId id="263" r:id="rId11"/>
    <p:sldId id="268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95A4B-A6FB-C5F9-4E0A-096893294A29}" v="479" dt="2025-11-17T18:56:30.886"/>
    <p1510:client id="{12D2E550-5611-77E4-AFB2-0559BEE5DAAB}" v="8" dt="2025-11-17T15:01:53.230"/>
    <p1510:client id="{23120C64-B5F4-D2E3-4B1C-50240B165A00}" v="15" dt="2025-11-17T14:40:19.306"/>
    <p1510:client id="{7E8ACCAB-9C94-437E-A328-A776F2A2B85C}" v="1" dt="2025-11-17T14:13:55.366"/>
    <p1510:client id="{995C476B-A91A-A8D7-8D7A-79DE47DF5403}" v="864" dt="2025-11-17T16:58:55.616"/>
    <p1510:client id="{C3FB5C7F-B68E-8884-42D6-E057CDD533EE}" v="30" dt="2025-11-17T15:39:27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 snapToGrid="0"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417" cy="4816592"/>
            </a:xfrm>
            <a:custGeom>
              <a:avLst/>
              <a:gdLst/>
              <a:ahLst/>
              <a:cxnLst/>
              <a:rect l="l" t="t" r="r" b="b"/>
              <a:pathLst>
                <a:path w="411417" h="4816592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42875"/>
              <a:ext cx="411417" cy="4673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765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0"/>
            <a:ext cx="8991600" cy="8724900"/>
            <a:chOff x="0" y="0"/>
            <a:chExt cx="1035548" cy="1004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5548" cy="1004833"/>
            </a:xfrm>
            <a:custGeom>
              <a:avLst/>
              <a:gdLst/>
              <a:ahLst/>
              <a:cxnLst/>
              <a:rect l="l" t="t" r="r" b="b"/>
              <a:pathLst>
                <a:path w="1035548" h="1004833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r="-27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54984" y="3435316"/>
            <a:ext cx="8324850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99"/>
              </a:lnSpc>
            </a:pPr>
            <a:r>
              <a:rPr lang="en-US" sz="10499" b="1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Recursion: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9524" y="9230208"/>
            <a:ext cx="6073801" cy="3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2"/>
              </a:lnSpc>
            </a:pPr>
            <a:r>
              <a:rPr lang="en-US" sz="2962">
                <a:solidFill>
                  <a:srgbClr val="1F2937"/>
                </a:solidFill>
                <a:latin typeface="Touvlo"/>
                <a:ea typeface="Touvlo"/>
                <a:cs typeface="Touvlo"/>
                <a:sym typeface="Touvlo"/>
              </a:rPr>
              <a:t>Algorithmic Designs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750" y="9120050"/>
            <a:ext cx="495645" cy="576750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rved Down Arrow 23"/>
          <p:cNvSpPr/>
          <p:nvPr/>
        </p:nvSpPr>
        <p:spPr>
          <a:xfrm>
            <a:off x="14630400" y="2095500"/>
            <a:ext cx="1752600" cy="762000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urved Down Arrow 21"/>
          <p:cNvSpPr/>
          <p:nvPr/>
        </p:nvSpPr>
        <p:spPr>
          <a:xfrm>
            <a:off x="10820400" y="2247900"/>
            <a:ext cx="1752600" cy="990600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>
            <a:off x="12725400" y="2171700"/>
            <a:ext cx="1676400" cy="838200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862964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Understanding Recursion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8465" y="4453690"/>
            <a:ext cx="7848600" cy="2608542"/>
            <a:chOff x="0" y="-66675"/>
            <a:chExt cx="10550733" cy="3478060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10550733" cy="71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4000" b="1" u="none" strike="noStrike">
                  <a:solidFill>
                    <a:srgbClr val="FBBF24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THE CORE CONCEPT OF RECURSION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74899"/>
              <a:ext cx="10550733" cy="2136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500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chemeClr val="bg1"/>
                  </a:solidFill>
                </a:rPr>
                <a:t>Recursion is a process where a function calls itself to solve smaller instances of the same problem. It keeps repeating until it reaches a simple base case.</a:t>
              </a:r>
              <a:endParaRPr lang="en-US" sz="2400" u="none" strike="noStrike" dirty="0">
                <a:solidFill>
                  <a:schemeClr val="bg1"/>
                </a:solidFill>
                <a:latin typeface="Touvlo"/>
                <a:ea typeface="Touvlo"/>
                <a:cs typeface="Touvlo"/>
                <a:sym typeface="Touvlo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10210800" y="3086100"/>
            <a:ext cx="1676400" cy="1828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13" name="Oval 12"/>
          <p:cNvSpPr/>
          <p:nvPr/>
        </p:nvSpPr>
        <p:spPr>
          <a:xfrm>
            <a:off x="11963400" y="3086100"/>
            <a:ext cx="1676400" cy="1828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Function calls itself again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0" y="3009900"/>
            <a:ext cx="1676400" cy="1828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Function calls itself again</a:t>
            </a:r>
          </a:p>
        </p:txBody>
      </p:sp>
      <p:sp>
        <p:nvSpPr>
          <p:cNvPr id="20" name="Curved Down Arrow 19"/>
          <p:cNvSpPr/>
          <p:nvPr/>
        </p:nvSpPr>
        <p:spPr>
          <a:xfrm>
            <a:off x="8991600" y="2324100"/>
            <a:ext cx="1752600" cy="838200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458200" y="3086100"/>
            <a:ext cx="1676400" cy="1828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Main  function</a:t>
            </a:r>
          </a:p>
        </p:txBody>
      </p:sp>
      <p:sp>
        <p:nvSpPr>
          <p:cNvPr id="23" name="Oval 22"/>
          <p:cNvSpPr/>
          <p:nvPr/>
        </p:nvSpPr>
        <p:spPr>
          <a:xfrm>
            <a:off x="15621000" y="2933700"/>
            <a:ext cx="1676400" cy="1828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Base Case</a:t>
            </a:r>
          </a:p>
        </p:txBody>
      </p:sp>
      <p:sp>
        <p:nvSpPr>
          <p:cNvPr id="25" name="Curved Up Arrow 24"/>
          <p:cNvSpPr/>
          <p:nvPr/>
        </p:nvSpPr>
        <p:spPr>
          <a:xfrm flipH="1">
            <a:off x="15163800" y="4838700"/>
            <a:ext cx="1444752" cy="762000"/>
          </a:xfrm>
          <a:prstGeom prst="curvedUp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rved Up Arrow 25"/>
          <p:cNvSpPr/>
          <p:nvPr/>
        </p:nvSpPr>
        <p:spPr>
          <a:xfrm flipH="1">
            <a:off x="13106400" y="4991100"/>
            <a:ext cx="1444752" cy="762000"/>
          </a:xfrm>
          <a:prstGeom prst="curvedUp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Up Arrow 26"/>
          <p:cNvSpPr/>
          <p:nvPr/>
        </p:nvSpPr>
        <p:spPr>
          <a:xfrm flipH="1">
            <a:off x="11049000" y="5143500"/>
            <a:ext cx="1444752" cy="762000"/>
          </a:xfrm>
          <a:prstGeom prst="curvedUp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Curved Up Arrow 27"/>
          <p:cNvSpPr/>
          <p:nvPr/>
        </p:nvSpPr>
        <p:spPr>
          <a:xfrm flipH="1">
            <a:off x="9296400" y="4991100"/>
            <a:ext cx="1371600" cy="609600"/>
          </a:xfrm>
          <a:prstGeom prst="curvedUp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91800" y="6906280"/>
            <a:ext cx="464820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/>
              <a:t>Returns values on every step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rot="5400000">
            <a:off x="14744700" y="5638800"/>
            <a:ext cx="1143000" cy="9144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13220700" y="5943600"/>
            <a:ext cx="990600" cy="7620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H="1">
            <a:off x="11658600" y="6286500"/>
            <a:ext cx="838200" cy="2286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9944100" y="6019800"/>
            <a:ext cx="1143000" cy="3048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2" grpId="0" animBg="1"/>
      <p:bldP spid="19" grpId="0" animBg="1"/>
      <p:bldP spid="12" grpId="0" animBg="1"/>
      <p:bldP spid="13" grpId="0" animBg="1"/>
      <p:bldP spid="14" grpId="0" animBg="1"/>
      <p:bldP spid="20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364826" y="1075695"/>
            <a:ext cx="15109884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US" sz="8450" b="1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Loop VS Recursion</a:t>
            </a:r>
            <a:endParaRPr lang="en-US" sz="8450" b="1" dirty="0">
              <a:solidFill>
                <a:srgbClr val="FBBF24"/>
              </a:solidFill>
              <a:latin typeface="Proxima Nova Condensed Bold"/>
              <a:ea typeface="Proxima Nova Condensed Bold"/>
              <a:cs typeface="Proxima Nova Condensed Bold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2667000"/>
            <a:ext cx="15640050" cy="72580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Recursion is preferred when: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 can be divided into smaller subproblems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Working with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hierarchical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structures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Clarity is more </a:t>
            </a:r>
            <a:r>
              <a:rPr lang="en-US" sz="3200" dirty="0">
                <a:solidFill>
                  <a:schemeClr val="bg1"/>
                </a:solidFill>
              </a:rPr>
              <a:t>important than speed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Loops are preferred when: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Efficiency is critical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Task is linear and repetitive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Memory use must remain 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364826" y="1570995"/>
            <a:ext cx="17923174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US" sz="8000" b="1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Real-Life Applications of Recursion</a:t>
            </a:r>
            <a:endParaRPr lang="en-US" sz="8000" b="1" dirty="0">
              <a:solidFill>
                <a:srgbClr val="FBBF24"/>
              </a:solidFill>
              <a:latin typeface="Proxima Nova Condensed Bold"/>
              <a:ea typeface="Proxima Nova Condensed Bold"/>
              <a:cs typeface="Proxima Nova Condensed Bold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43000" y="3962399"/>
            <a:ext cx="11706726" cy="556661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Computer Science Uses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</a:rPr>
              <a:t>Graph traversal </a:t>
            </a:r>
          </a:p>
          <a:p>
            <a:pPr>
              <a:buFont typeface="Wingdings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</a:rPr>
              <a:t>Sorting</a:t>
            </a:r>
          </a:p>
          <a:p>
            <a:endParaRPr lang="en-US" sz="4800" dirty="0">
              <a:solidFill>
                <a:schemeClr val="bg1"/>
              </a:solidFill>
            </a:endParaRPr>
          </a:p>
          <a:p>
            <a:r>
              <a:rPr lang="en-US" sz="4800" b="1" dirty="0">
                <a:solidFill>
                  <a:schemeClr val="bg1"/>
                </a:solidFill>
              </a:rPr>
              <a:t>Mathematical Uses</a:t>
            </a:r>
          </a:p>
          <a:p>
            <a:pPr>
              <a:buFont typeface="Wingdings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</a:rPr>
              <a:t>Factorial</a:t>
            </a:r>
          </a:p>
          <a:p>
            <a:pPr>
              <a:buFont typeface="Wingdings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</a:rPr>
              <a:t>Fibonacci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8839200" y="4702342"/>
            <a:ext cx="78486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4000" b="1" u="none" strike="noStrike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Complexity  OF RECURSION (O(n))</a:t>
            </a:r>
          </a:p>
        </p:txBody>
      </p:sp>
      <p:sp>
        <p:nvSpPr>
          <p:cNvPr id="6" name="TextBox 10"/>
          <p:cNvSpPr txBox="1"/>
          <p:nvPr/>
        </p:nvSpPr>
        <p:spPr>
          <a:xfrm>
            <a:off x="8887327" y="5949151"/>
            <a:ext cx="7848600" cy="494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US" sz="2400" u="none" strike="noStrike" dirty="0">
              <a:solidFill>
                <a:schemeClr val="bg1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200"/>
            <a:ext cx="5448300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3B82F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Simple Examples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96400" y="1562100"/>
            <a:ext cx="6886575" cy="1466836"/>
            <a:chOff x="0" y="0"/>
            <a:chExt cx="9182100" cy="1955782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FBBF24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FACTORIAL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2658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chemeClr val="bg1"/>
                  </a:solidFill>
                  <a:latin typeface="Touvlo"/>
                  <a:ea typeface="Touvlo"/>
                  <a:cs typeface="Touvlo"/>
                  <a:sym typeface="Touvlo"/>
                </a:rPr>
                <a:t>Calculates the product of all positive integers.</a:t>
              </a:r>
            </a:p>
          </p:txBody>
        </p:sp>
      </p:grpSp>
      <p:pic>
        <p:nvPicPr>
          <p:cNvPr id="9" name="Picture 8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7D89DC5-0EF6-3E42-9EEC-BD4012F6D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853761"/>
            <a:ext cx="6279671" cy="4757648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9770100" y="4000500"/>
            <a:ext cx="6450975" cy="4735910"/>
            <a:chOff x="9770100" y="4000500"/>
            <a:chExt cx="6450975" cy="4735910"/>
          </a:xfrm>
        </p:grpSpPr>
        <p:pic>
          <p:nvPicPr>
            <p:cNvPr id="10" name="Picture 9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100" y="4000500"/>
              <a:ext cx="6450975" cy="473591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1201400" y="4991100"/>
              <a:ext cx="51435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6!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1307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200"/>
            <a:ext cx="5448300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3B82F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Simple Examples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96399" y="1638300"/>
            <a:ext cx="6886575" cy="1462392"/>
            <a:chOff x="0" y="0"/>
            <a:chExt cx="9182100" cy="19498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FBBF24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FIBONACCI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chemeClr val="bg1"/>
                  </a:solidFill>
                  <a:latin typeface="Touvlo"/>
                  <a:ea typeface="Touvlo"/>
                  <a:cs typeface="Touvlo"/>
                  <a:sym typeface="Touvlo"/>
                </a:rPr>
                <a:t>Generates a sequence where each number adds previous.</a:t>
              </a:r>
            </a:p>
          </p:txBody>
        </p:sp>
      </p:grpSp>
      <p:pic>
        <p:nvPicPr>
          <p:cNvPr id="15" name="Picture 1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012" y="3924300"/>
            <a:ext cx="6344962" cy="5078847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924300"/>
            <a:ext cx="6666338" cy="507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98325" y="1917580"/>
            <a:ext cx="8324850" cy="7162800"/>
            <a:chOff x="0" y="0"/>
            <a:chExt cx="1287005" cy="110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1107355"/>
            </a:xfrm>
            <a:custGeom>
              <a:avLst/>
              <a:gdLst/>
              <a:ahLst/>
              <a:cxnLst/>
              <a:rect l="l" t="t" r="r" b="b"/>
              <a:pathLst>
                <a:path w="1287005" h="110735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14607215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50" b="1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Algorithm of Fibonacci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3E90B-347F-B4FA-67FD-53401F5A9CFB}"/>
              </a:ext>
            </a:extLst>
          </p:cNvPr>
          <p:cNvSpPr txBox="1"/>
          <p:nvPr/>
        </p:nvSpPr>
        <p:spPr>
          <a:xfrm>
            <a:off x="1168400" y="2768599"/>
            <a:ext cx="6781800" cy="1193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ECFCC-C7B9-8857-0975-D0D31DEE9AC4}"/>
              </a:ext>
            </a:extLst>
          </p:cNvPr>
          <p:cNvGrpSpPr/>
          <p:nvPr/>
        </p:nvGrpSpPr>
        <p:grpSpPr>
          <a:xfrm>
            <a:off x="1524478" y="2602301"/>
            <a:ext cx="7409971" cy="1541731"/>
            <a:chOff x="942196" y="2580735"/>
            <a:chExt cx="3311106" cy="1541731"/>
          </a:xfrm>
        </p:grpSpPr>
        <p:sp>
          <p:nvSpPr>
            <p:cNvPr id="13" name="Double Bracket 12" descr="a=0&#10;b=1">
              <a:extLst>
                <a:ext uri="{FF2B5EF4-FFF2-40B4-BE49-F238E27FC236}">
                  <a16:creationId xmlns:a16="http://schemas.microsoft.com/office/drawing/2014/main" id="{5917F217-0D68-B123-BC55-E055241B80D7}"/>
                </a:ext>
              </a:extLst>
            </p:cNvPr>
            <p:cNvSpPr/>
            <p:nvPr/>
          </p:nvSpPr>
          <p:spPr>
            <a:xfrm>
              <a:off x="942196" y="2580735"/>
              <a:ext cx="3311106" cy="1541731"/>
            </a:xfrm>
            <a:prstGeom prst="bracketPair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F76089-9701-AA89-9AB8-BA0AC5EC34B2}"/>
                </a:ext>
              </a:extLst>
            </p:cNvPr>
            <p:cNvSpPr txBox="1"/>
            <p:nvPr/>
          </p:nvSpPr>
          <p:spPr>
            <a:xfrm>
              <a:off x="1171036" y="2588356"/>
              <a:ext cx="2762609" cy="14465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ea typeface="Calibri"/>
                  <a:cs typeface="Calibri"/>
                </a:rPr>
                <a:t>Algorithm of Fibonacci according to Recursion</a:t>
              </a:r>
            </a:p>
          </p:txBody>
        </p:sp>
      </p:grpSp>
      <p:sp>
        <p:nvSpPr>
          <p:cNvPr id="14" name="Content Placeholder 2"/>
          <p:cNvSpPr txBox="1">
            <a:spLocks/>
          </p:cNvSpPr>
          <p:nvPr/>
        </p:nvSpPr>
        <p:spPr>
          <a:xfrm>
            <a:off x="762000" y="451485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STEP1. FUNCTION fib(n)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</a:rPr>
              <a:t>STEP2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IF n ≤ 1 THEN RETURN 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</a:rPr>
              <a:t>STEP3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ELSE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fib(n-1) + fib(n-2)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4400" b="1" dirty="0">
                <a:solidFill>
                  <a:schemeClr val="bg1"/>
                </a:solidFill>
              </a:rPr>
              <a:t>[END OF IF STRUCTURE]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</a:rPr>
              <a:t>STEP4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END FUNCTION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BF4C6-D301-8DD0-1156-563F9D83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A8BD6A6-C0D8-7011-8040-1552358098D6}"/>
              </a:ext>
            </a:extLst>
          </p:cNvPr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792735C-5D53-36C4-1857-FCF99406AC70}"/>
                </a:ext>
              </a:extLst>
            </p:cNvPr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E2C7F28-A574-7A0A-2041-85209EB612B3}"/>
                </a:ext>
              </a:extLst>
            </p:cNvPr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EB47834-912F-7223-0E0F-1F03E4824DCD}"/>
              </a:ext>
            </a:extLst>
          </p:cNvPr>
          <p:cNvSpPr txBox="1"/>
          <p:nvPr/>
        </p:nvSpPr>
        <p:spPr>
          <a:xfrm>
            <a:off x="666750" y="838200"/>
            <a:ext cx="14909141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US" sz="8450" b="1" dirty="0">
                <a:solidFill>
                  <a:srgbClr val="FBBF24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Program of </a:t>
            </a:r>
            <a:r>
              <a:rPr lang="en-US" sz="8400" b="1" dirty="0">
                <a:solidFill>
                  <a:srgbClr val="FBBF24"/>
                </a:solidFill>
                <a:latin typeface="Calibri"/>
                <a:ea typeface="Calibri"/>
                <a:cs typeface="Calibri"/>
                <a:sym typeface="Proxima Nova Condensed Bold"/>
              </a:rPr>
              <a:t>Fibonacci</a:t>
            </a:r>
            <a:endParaRPr lang="en-US" sz="8450" b="1" dirty="0">
              <a:solidFill>
                <a:srgbClr val="FBBF24"/>
              </a:solidFill>
              <a:latin typeface="Proxima Nova Condensed Bold"/>
              <a:ea typeface="Proxima Nova Condensed Bold"/>
              <a:cs typeface="Proxima Nova Condensed Bold"/>
              <a:sym typeface="Proxima Nova Condensed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C91BC7-FA00-1B26-183C-B778E3B4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95" y="2122098"/>
            <a:ext cx="13505730" cy="76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6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04842" y="1962509"/>
            <a:ext cx="6828347" cy="7159925"/>
            <a:chOff x="0" y="0"/>
            <a:chExt cx="1201192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1192" cy="1184737"/>
            </a:xfrm>
            <a:custGeom>
              <a:avLst/>
              <a:gdLst/>
              <a:ahLst/>
              <a:cxnLst/>
              <a:rect l="l" t="t" r="r" b="b"/>
              <a:pathLst>
                <a:path w="1201192" h="1184737">
                  <a:moveTo>
                    <a:pt x="0" y="0"/>
                  </a:moveTo>
                  <a:lnTo>
                    <a:pt x="1201192" y="0"/>
                  </a:lnTo>
                  <a:lnTo>
                    <a:pt x="1201192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6750" y="795337"/>
            <a:ext cx="11443658" cy="1101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US" sz="8400" b="1" dirty="0">
                <a:solidFill>
                  <a:srgbClr val="FBBF24"/>
                </a:solidFill>
                <a:ea typeface="+mn-lt"/>
                <a:cs typeface="+mn-lt"/>
              </a:rPr>
              <a:t>Algorithm of Factorial</a:t>
            </a:r>
            <a:endParaRPr lang="en-US" sz="8400" dirty="0">
              <a:ea typeface="+mn-lt"/>
              <a:cs typeface="+mn-l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2EDBF40-4BD0-9BCF-B8C2-F757482BF443}"/>
              </a:ext>
            </a:extLst>
          </p:cNvPr>
          <p:cNvSpPr txBox="1"/>
          <p:nvPr/>
        </p:nvSpPr>
        <p:spPr>
          <a:xfrm>
            <a:off x="947109" y="4584310"/>
            <a:ext cx="7377741" cy="3754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STEP1. FUNCTION fact(n)</a:t>
            </a:r>
          </a:p>
          <a:p>
            <a:r>
              <a:rPr lang="en-US" sz="4000" dirty="0">
                <a:solidFill>
                  <a:schemeClr val="bg1"/>
                </a:solidFill>
              </a:rPr>
              <a:t>STEP2. IF n = 1 THEN RETURN 1</a:t>
            </a:r>
          </a:p>
          <a:p>
            <a:r>
              <a:rPr lang="en-US" sz="4000" dirty="0">
                <a:solidFill>
                  <a:schemeClr val="bg1"/>
                </a:solidFill>
              </a:rPr>
              <a:t>STEP3. ELSE</a:t>
            </a:r>
          </a:p>
          <a:p>
            <a:r>
              <a:rPr lang="en-US" sz="4000" dirty="0">
                <a:solidFill>
                  <a:schemeClr val="bg1"/>
                </a:solidFill>
              </a:rPr>
              <a:t>RETURN  </a:t>
            </a:r>
            <a:r>
              <a:rPr lang="en-US" sz="4000" b="1" dirty="0">
                <a:solidFill>
                  <a:schemeClr val="bg1"/>
                </a:solidFill>
              </a:rPr>
              <a:t>n</a:t>
            </a:r>
            <a:r>
              <a:rPr lang="en-US" sz="4000" dirty="0">
                <a:solidFill>
                  <a:schemeClr val="bg1"/>
                </a:solidFill>
              </a:rPr>
              <a:t> * </a:t>
            </a:r>
            <a:r>
              <a:rPr lang="en-US" sz="4000" b="1" dirty="0">
                <a:solidFill>
                  <a:schemeClr val="bg1"/>
                </a:solidFill>
              </a:rPr>
              <a:t>fact(n - 1)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[END OF IF STRUCTURE]</a:t>
            </a:r>
          </a:p>
          <a:p>
            <a:r>
              <a:rPr lang="en-US" sz="4000" dirty="0">
                <a:solidFill>
                  <a:schemeClr val="bg1"/>
                </a:solidFill>
              </a:rPr>
              <a:t>STEP4. END FUNCTION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F036F4-F44A-C086-76EE-8267FE670889}"/>
              </a:ext>
            </a:extLst>
          </p:cNvPr>
          <p:cNvGrpSpPr/>
          <p:nvPr/>
        </p:nvGrpSpPr>
        <p:grpSpPr>
          <a:xfrm>
            <a:off x="1136290" y="2580735"/>
            <a:ext cx="7624313" cy="3485496"/>
            <a:chOff x="942196" y="2580735"/>
            <a:chExt cx="3311106" cy="3485496"/>
          </a:xfrm>
        </p:grpSpPr>
        <p:sp>
          <p:nvSpPr>
            <p:cNvPr id="10" name="Double Bracket 9" descr="a=0&#10;b=1">
              <a:extLst>
                <a:ext uri="{FF2B5EF4-FFF2-40B4-BE49-F238E27FC236}">
                  <a16:creationId xmlns:a16="http://schemas.microsoft.com/office/drawing/2014/main" id="{7C5A7B3F-51E9-D634-197F-EE75C48FF293}"/>
                </a:ext>
              </a:extLst>
            </p:cNvPr>
            <p:cNvSpPr/>
            <p:nvPr/>
          </p:nvSpPr>
          <p:spPr>
            <a:xfrm>
              <a:off x="942196" y="2580735"/>
              <a:ext cx="3311106" cy="1541731"/>
            </a:xfrm>
            <a:prstGeom prst="bracketPair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F0C9E4-808C-EB09-927D-88AF8E905633}"/>
                </a:ext>
              </a:extLst>
            </p:cNvPr>
            <p:cNvSpPr txBox="1"/>
            <p:nvPr/>
          </p:nvSpPr>
          <p:spPr>
            <a:xfrm>
              <a:off x="1171036" y="2588356"/>
              <a:ext cx="2762609" cy="34778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ea typeface="Calibri"/>
                  <a:cs typeface="Calibri"/>
                </a:rPr>
                <a:t>Algorithm of Factorial according to Recursion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666750" y="838200"/>
            <a:ext cx="12040858" cy="1101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US" sz="8400" b="1" dirty="0">
                <a:solidFill>
                  <a:srgbClr val="FBBF24"/>
                </a:solidFill>
                <a:ea typeface="+mn-lt"/>
                <a:cs typeface="+mn-lt"/>
                <a:sym typeface="Proxima Nova Condensed Bold"/>
              </a:rPr>
              <a:t>Program of Factorial</a:t>
            </a:r>
            <a:endParaRPr lang="en-US" dirty="0"/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1725F29-48B1-33B8-98D5-94181CD2A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54" y="2367682"/>
            <a:ext cx="12625656" cy="7406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C2B76-3F79-9A75-CAE8-C3040E1E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8">
            <a:extLst>
              <a:ext uri="{FF2B5EF4-FFF2-40B4-BE49-F238E27FC236}">
                <a16:creationId xmlns:a16="http://schemas.microsoft.com/office/drawing/2014/main" id="{A9E974A1-18FA-A585-2C83-2AE13399219F}"/>
              </a:ext>
            </a:extLst>
          </p:cNvPr>
          <p:cNvSpPr txBox="1"/>
          <p:nvPr/>
        </p:nvSpPr>
        <p:spPr>
          <a:xfrm>
            <a:off x="1796734" y="4471395"/>
            <a:ext cx="13953585" cy="134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9650" b="1" dirty="0">
                <a:solidFill>
                  <a:srgbClr val="FBBF24"/>
                </a:solidFill>
                <a:latin typeface="Proxima Nova Condensed Bold"/>
                <a:sym typeface="Proxima Nova Condensed Bold"/>
              </a:rPr>
              <a:t>Thank You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69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</TotalTime>
  <Words>252</Words>
  <Application>Microsoft Office PowerPoint</Application>
  <PresentationFormat>Custom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Wingdings</vt:lpstr>
      <vt:lpstr>Calibri</vt:lpstr>
      <vt:lpstr>Proxima Nova Condensed Bold</vt:lpstr>
      <vt:lpstr>Touvlo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ATTA JAAN</dc:creator>
  <cp:lastModifiedBy>Ghulam Mustafa</cp:lastModifiedBy>
  <cp:revision>451</cp:revision>
  <dcterms:created xsi:type="dcterms:W3CDTF">2006-08-16T00:00:00Z</dcterms:created>
  <dcterms:modified xsi:type="dcterms:W3CDTF">2026-08-03T07:35:25Z</dcterms:modified>
  <dc:identifier>DAG41nDm498</dc:identifier>
</cp:coreProperties>
</file>