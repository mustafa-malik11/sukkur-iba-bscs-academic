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5" r:id="rId7"/>
    <p:sldId id="261" r:id="rId8"/>
    <p:sldId id="266" r:id="rId9"/>
    <p:sldId id="262" r:id="rId10"/>
    <p:sldId id="269" r:id="rId11"/>
    <p:sldId id="264" r:id="rId12"/>
    <p:sldId id="263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8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94AB-9B3E-47D2-B547-47DD431189E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C3C01-E4FE-4287-9EA0-86FBAAE36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995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94AB-9B3E-47D2-B547-47DD431189E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C3C01-E4FE-4287-9EA0-86FBAAE36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076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94AB-9B3E-47D2-B547-47DD431189E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C3C01-E4FE-4287-9EA0-86FBAAE36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07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94AB-9B3E-47D2-B547-47DD431189E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C3C01-E4FE-4287-9EA0-86FBAAE36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701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94AB-9B3E-47D2-B547-47DD431189E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C3C01-E4FE-4287-9EA0-86FBAAE36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850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94AB-9B3E-47D2-B547-47DD431189E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C3C01-E4FE-4287-9EA0-86FBAAE36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94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94AB-9B3E-47D2-B547-47DD431189E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C3C01-E4FE-4287-9EA0-86FBAAE36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94AB-9B3E-47D2-B547-47DD431189E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C3C01-E4FE-4287-9EA0-86FBAAE36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79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94AB-9B3E-47D2-B547-47DD431189E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C3C01-E4FE-4287-9EA0-86FBAAE36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74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94AB-9B3E-47D2-B547-47DD431189E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C3C01-E4FE-4287-9EA0-86FBAAE36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83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94AB-9B3E-47D2-B547-47DD431189E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C3C01-E4FE-4287-9EA0-86FBAAE36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874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A94AB-9B3E-47D2-B547-47DD431189E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C3C01-E4FE-4287-9EA0-86FBAAE36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35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-1" y="2286000"/>
            <a:ext cx="12192001" cy="2235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Bodoni MT Poster Compressed" panose="02070706080601050204" pitchFamily="18" charset="0"/>
              </a:rPr>
              <a:t>REALTIONSHIP IN CLASSES</a:t>
            </a:r>
          </a:p>
        </p:txBody>
      </p:sp>
    </p:spTree>
    <p:extLst>
      <p:ext uri="{BB962C8B-B14F-4D97-AF65-F5344CB8AC3E}">
        <p14:creationId xmlns:p14="http://schemas.microsoft.com/office/powerpoint/2010/main" val="335214557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63425" cy="685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latin typeface="Baskerville Old Face" panose="02020602080505020303" pitchFamily="18" charset="0"/>
            </a:endParaRPr>
          </a:p>
          <a:p>
            <a:pPr algn="ctr"/>
            <a:endParaRPr lang="en-US" sz="4000" dirty="0">
              <a:latin typeface="Baskerville Old Face" panose="02020602080505020303" pitchFamily="18" charset="0"/>
            </a:endParaRPr>
          </a:p>
          <a:p>
            <a:pPr algn="ctr"/>
            <a:endParaRPr lang="en-US" sz="4000" dirty="0">
              <a:latin typeface="Baskerville Old Face" panose="02020602080505020303" pitchFamily="18" charset="0"/>
            </a:endParaRPr>
          </a:p>
          <a:p>
            <a:pPr algn="ctr"/>
            <a:r>
              <a:rPr lang="en-US" sz="4000" dirty="0">
                <a:latin typeface="Baskerville Old Face" panose="02020602080505020303" pitchFamily="18" charset="0"/>
              </a:rPr>
              <a:t> When we create two or more classes and establish relationships between them, the study of those relationships is called class relationships.</a:t>
            </a:r>
          </a:p>
          <a:p>
            <a:pPr algn="ctr"/>
            <a:endParaRPr lang="en-US" sz="4000" dirty="0">
              <a:latin typeface="Baskerville Old Face" panose="02020602080505020303" pitchFamily="18" charset="0"/>
            </a:endParaRPr>
          </a:p>
          <a:p>
            <a:r>
              <a:rPr lang="en-US" sz="4000" dirty="0">
                <a:latin typeface="Baskerville Old Face" panose="02020602080505020303" pitchFamily="18" charset="0"/>
              </a:rPr>
              <a:t>      Class a{</a:t>
            </a:r>
          </a:p>
          <a:p>
            <a:r>
              <a:rPr lang="en-US" sz="4000" dirty="0">
                <a:latin typeface="Baskerville Old Face" panose="02020602080505020303" pitchFamily="18" charset="0"/>
              </a:rPr>
              <a:t>               }</a:t>
            </a:r>
          </a:p>
          <a:p>
            <a:r>
              <a:rPr lang="en-US" sz="4000" dirty="0">
                <a:latin typeface="Baskerville Old Face" panose="02020602080505020303" pitchFamily="18" charset="0"/>
              </a:rPr>
              <a:t>      Class b {</a:t>
            </a:r>
          </a:p>
          <a:p>
            <a:r>
              <a:rPr lang="en-US" sz="4000" dirty="0">
                <a:latin typeface="Baskerville Old Face" panose="02020602080505020303" pitchFamily="18" charset="0"/>
              </a:rPr>
              <a:t>              }</a:t>
            </a:r>
          </a:p>
          <a:p>
            <a:pPr algn="ctr"/>
            <a:endParaRPr lang="en-US" sz="4000" dirty="0">
              <a:latin typeface="Baskerville Old Face" panose="02020602080505020303" pitchFamily="18" charset="0"/>
            </a:endParaRPr>
          </a:p>
          <a:p>
            <a:pPr algn="ctr"/>
            <a:endParaRPr lang="en-US" sz="4000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649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dirty="0">
              <a:latin typeface="Baskerville Old Face" panose="02020602080505020303" pitchFamily="18" charset="0"/>
            </a:endParaRPr>
          </a:p>
          <a:p>
            <a:r>
              <a:rPr lang="en-US" sz="3200" dirty="0">
                <a:latin typeface="Baskerville Old Face" panose="02020602080505020303" pitchFamily="18" charset="0"/>
              </a:rPr>
              <a:t>    </a:t>
            </a:r>
          </a:p>
          <a:p>
            <a:r>
              <a:rPr lang="en-US" sz="3200" dirty="0">
                <a:latin typeface="Baskerville Old Face" panose="02020602080505020303" pitchFamily="18" charset="0"/>
              </a:rPr>
              <a:t>     </a:t>
            </a:r>
          </a:p>
          <a:p>
            <a:endParaRPr lang="en-US" sz="3200" dirty="0">
              <a:latin typeface="Baskerville Old Face" panose="02020602080505020303" pitchFamily="18" charset="0"/>
            </a:endParaRPr>
          </a:p>
          <a:p>
            <a:r>
              <a:rPr lang="en-US" sz="3200" dirty="0">
                <a:latin typeface="Baskerville Old Face" panose="02020602080505020303" pitchFamily="18" charset="0"/>
              </a:rPr>
              <a:t>   </a:t>
            </a:r>
          </a:p>
          <a:p>
            <a:endParaRPr lang="en-US" sz="3200" dirty="0">
              <a:latin typeface="Baskerville Old Face" panose="02020602080505020303" pitchFamily="18" charset="0"/>
            </a:endParaRPr>
          </a:p>
          <a:p>
            <a:r>
              <a:rPr lang="en-US" sz="3200" dirty="0">
                <a:latin typeface="Baskerville Old Face" panose="02020602080505020303" pitchFamily="18" charset="0"/>
              </a:rPr>
              <a:t>    Two types of relation:</a:t>
            </a:r>
          </a:p>
          <a:p>
            <a:r>
              <a:rPr lang="en-US" sz="3200" dirty="0">
                <a:latin typeface="Baskerville Old Face" panose="02020602080505020303" pitchFamily="18" charset="0"/>
              </a:rPr>
              <a:t>        1-Inheritance</a:t>
            </a:r>
          </a:p>
          <a:p>
            <a:r>
              <a:rPr lang="en-US" sz="3200" dirty="0">
                <a:latin typeface="Baskerville Old Face" panose="02020602080505020303" pitchFamily="18" charset="0"/>
              </a:rPr>
              <a:t>        2-Associtaion</a:t>
            </a:r>
          </a:p>
          <a:p>
            <a:r>
              <a:rPr lang="en-US" sz="3200" dirty="0">
                <a:latin typeface="Baskerville Old Face" panose="02020602080505020303" pitchFamily="18" charset="0"/>
              </a:rPr>
              <a:t>     </a:t>
            </a:r>
          </a:p>
          <a:p>
            <a:endParaRPr lang="en-US" sz="3200" b="1" dirty="0">
              <a:latin typeface="Baskerville Old Face" panose="02020602080505020303" pitchFamily="18" charset="0"/>
            </a:endParaRPr>
          </a:p>
          <a:p>
            <a:pPr algn="ctr"/>
            <a:r>
              <a:rPr lang="en-US" sz="4000" b="1" dirty="0">
                <a:latin typeface="Baskerville Old Face" panose="02020602080505020303" pitchFamily="18" charset="0"/>
              </a:rPr>
              <a:t>Inheritance</a:t>
            </a:r>
            <a:r>
              <a:rPr lang="en-US" sz="3200" dirty="0">
                <a:latin typeface="Baskerville Old Face" panose="02020602080505020303" pitchFamily="18" charset="0"/>
              </a:rPr>
              <a:t> : Inheritance is a property of parent class to child class.</a:t>
            </a:r>
          </a:p>
          <a:p>
            <a:pPr algn="ctr"/>
            <a:r>
              <a:rPr lang="en-US" sz="3200" dirty="0">
                <a:latin typeface="Baskerville Old Face" panose="02020602080505020303" pitchFamily="18" charset="0"/>
              </a:rPr>
              <a:t> When we do changes in one class then these properties also inherits in   another class.</a:t>
            </a:r>
          </a:p>
          <a:p>
            <a:endParaRPr lang="en-US" sz="3200" dirty="0">
              <a:latin typeface="Baskerville Old Face" panose="02020602080505020303" pitchFamily="18" charset="0"/>
            </a:endParaRPr>
          </a:p>
          <a:p>
            <a:endParaRPr lang="en-US" sz="3200" dirty="0">
              <a:latin typeface="Baskerville Old Face" panose="02020602080505020303" pitchFamily="18" charset="0"/>
            </a:endParaRPr>
          </a:p>
          <a:p>
            <a:endParaRPr lang="en-US" sz="3200" dirty="0">
              <a:latin typeface="Baskerville Old Face" panose="02020602080505020303" pitchFamily="18" charset="0"/>
            </a:endParaRPr>
          </a:p>
          <a:p>
            <a:endParaRPr lang="en-US" sz="3200" dirty="0">
              <a:latin typeface="Baskerville Old Face" panose="02020602080505020303" pitchFamily="18" charset="0"/>
            </a:endParaRPr>
          </a:p>
          <a:p>
            <a:endParaRPr lang="en-US" sz="3200" dirty="0">
              <a:latin typeface="Baskerville Old Face" panose="02020602080505020303" pitchFamily="18" charset="0"/>
            </a:endParaRPr>
          </a:p>
          <a:p>
            <a:endParaRPr lang="en-US" sz="3200" dirty="0">
              <a:latin typeface="Baskerville Old Face" panose="02020602080505020303" pitchFamily="18" charset="0"/>
            </a:endParaRPr>
          </a:p>
          <a:p>
            <a:endParaRPr lang="en-US" sz="3200" dirty="0">
              <a:latin typeface="Baskerville Old Face" panose="02020602080505020303" pitchFamily="18" charset="0"/>
            </a:endParaRPr>
          </a:p>
          <a:p>
            <a:endParaRPr lang="en-US" sz="3200" dirty="0">
              <a:latin typeface="Baskerville Old Face" panose="02020602080505020303" pitchFamily="18" charset="0"/>
            </a:endParaRPr>
          </a:p>
          <a:p>
            <a:endParaRPr lang="en-US" sz="3200" dirty="0">
              <a:latin typeface="Baskerville Old Face" panose="02020602080505020303" pitchFamily="18" charset="0"/>
            </a:endParaRPr>
          </a:p>
          <a:p>
            <a:pPr algn="ctr"/>
            <a:endParaRPr lang="en-US" sz="3200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23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-41565"/>
            <a:ext cx="12192000" cy="685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Baskerville Old Face" panose="02020602080505020303" pitchFamily="18" charset="0"/>
              </a:rPr>
              <a:t>                                                                                    </a:t>
            </a:r>
          </a:p>
          <a:p>
            <a:endParaRPr lang="en-US" b="1" dirty="0">
              <a:latin typeface="Baskerville Old Face" panose="02020602080505020303" pitchFamily="18" charset="0"/>
            </a:endParaRPr>
          </a:p>
          <a:p>
            <a:endParaRPr lang="en-US" b="1" dirty="0">
              <a:latin typeface="Baskerville Old Face" panose="02020602080505020303" pitchFamily="18" charset="0"/>
            </a:endParaRPr>
          </a:p>
          <a:p>
            <a:endParaRPr lang="en-US" b="1" dirty="0">
              <a:latin typeface="Baskerville Old Face" panose="02020602080505020303" pitchFamily="18" charset="0"/>
            </a:endParaRPr>
          </a:p>
          <a:p>
            <a:endParaRPr lang="en-US" b="1" dirty="0">
              <a:latin typeface="Baskerville Old Face" panose="02020602080505020303" pitchFamily="18" charset="0"/>
            </a:endParaRPr>
          </a:p>
          <a:p>
            <a:r>
              <a:rPr lang="en-US" b="1" dirty="0">
                <a:latin typeface="Baskerville Old Face" panose="02020602080505020303" pitchFamily="18" charset="0"/>
              </a:rPr>
              <a:t> </a:t>
            </a:r>
          </a:p>
          <a:p>
            <a:endParaRPr lang="en-US" b="1" dirty="0">
              <a:latin typeface="Baskerville Old Face" panose="02020602080505020303" pitchFamily="18" charset="0"/>
            </a:endParaRPr>
          </a:p>
          <a:p>
            <a:endParaRPr lang="en-US" b="1" dirty="0">
              <a:latin typeface="Baskerville Old Face" panose="02020602080505020303" pitchFamily="18" charset="0"/>
            </a:endParaRPr>
          </a:p>
          <a:p>
            <a:r>
              <a:rPr lang="en-US" b="1" dirty="0">
                <a:latin typeface="Baskerville Old Face" panose="02020602080505020303" pitchFamily="18" charset="0"/>
              </a:rPr>
              <a:t>SYNTAX: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CLASS A {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}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CLASS B EXTENDS A {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}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algn="ctr"/>
            <a:r>
              <a:rPr lang="en-US" sz="3200" dirty="0">
                <a:latin typeface="Baskerville Old Face" panose="02020602080505020303" pitchFamily="18" charset="0"/>
              </a:rPr>
              <a:t>TYPES OF INHERITANCE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 1-SINGLE INHERITANCE 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 2- MULTI –LEVEL INHERITANCE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3-HIERARCHICAL INHERITANCE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 4-MULTIPLE INHERITANCE</a:t>
            </a:r>
          </a:p>
          <a:p>
            <a:pPr algn="ctr"/>
            <a:endParaRPr lang="en-US" dirty="0">
              <a:latin typeface="Baskerville Old Face" panose="02020602080505020303" pitchFamily="18" charset="0"/>
            </a:endParaRPr>
          </a:p>
          <a:p>
            <a:pPr algn="ctr"/>
            <a:endParaRPr lang="en-US" dirty="0">
              <a:latin typeface="Baskerville Old Face" panose="02020602080505020303" pitchFamily="18" charset="0"/>
            </a:endParaRPr>
          </a:p>
          <a:p>
            <a:pPr algn="ctr"/>
            <a:endParaRPr lang="en-US" dirty="0">
              <a:latin typeface="Baskerville Old Face" panose="02020602080505020303" pitchFamily="18" charset="0"/>
            </a:endParaRPr>
          </a:p>
          <a:p>
            <a:pPr algn="ctr"/>
            <a:endParaRPr lang="en-US" dirty="0">
              <a:latin typeface="Baskerville Old Face" panose="02020602080505020303" pitchFamily="18" charset="0"/>
            </a:endParaRPr>
          </a:p>
          <a:p>
            <a:pPr algn="ctr"/>
            <a:endParaRPr lang="en-US" dirty="0">
              <a:latin typeface="Baskerville Old Face" panose="02020602080505020303" pitchFamily="18" charset="0"/>
            </a:endParaRPr>
          </a:p>
          <a:p>
            <a:pPr algn="ctr"/>
            <a:endParaRPr lang="en-US" dirty="0">
              <a:latin typeface="Baskerville Old Face" panose="02020602080505020303" pitchFamily="18" charset="0"/>
            </a:endParaRPr>
          </a:p>
          <a:p>
            <a:pPr algn="ctr"/>
            <a:endParaRPr lang="en-US" dirty="0">
              <a:latin typeface="Baskerville Old Face" panose="02020602080505020303" pitchFamily="18" charset="0"/>
            </a:endParaRPr>
          </a:p>
          <a:p>
            <a:pPr algn="ctr"/>
            <a:endParaRPr lang="en-US" dirty="0">
              <a:latin typeface="Baskerville Old Face" panose="02020602080505020303" pitchFamily="18" charset="0"/>
            </a:endParaRPr>
          </a:p>
          <a:p>
            <a:pPr algn="ctr"/>
            <a:endParaRPr lang="en-US" dirty="0">
              <a:latin typeface="Baskerville Old Face" panose="02020602080505020303" pitchFamily="18" charset="0"/>
            </a:endParaRPr>
          </a:p>
          <a:p>
            <a:pPr algn="ctr"/>
            <a:endParaRPr lang="en-US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903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8313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 dirty="0">
              <a:latin typeface="Baskerville Old Face" panose="02020602080505020303" pitchFamily="18" charset="0"/>
            </a:endParaRPr>
          </a:p>
          <a:p>
            <a:pPr algn="ctr"/>
            <a:endParaRPr lang="en-US" sz="6000" dirty="0">
              <a:latin typeface="Baskerville Old Face" panose="02020602080505020303" pitchFamily="18" charset="0"/>
            </a:endParaRPr>
          </a:p>
          <a:p>
            <a:pPr algn="ctr"/>
            <a:endParaRPr lang="en-US" sz="6000" dirty="0">
              <a:latin typeface="Baskerville Old Face" panose="02020602080505020303" pitchFamily="18" charset="0"/>
            </a:endParaRPr>
          </a:p>
          <a:p>
            <a:pPr algn="ctr"/>
            <a:r>
              <a:rPr lang="en-US" sz="6000" dirty="0">
                <a:latin typeface="Baskerville Old Face" panose="02020602080505020303" pitchFamily="18" charset="0"/>
              </a:rPr>
              <a:t>Single inheritance</a:t>
            </a:r>
            <a:r>
              <a:rPr lang="en-US" sz="4000" dirty="0">
                <a:latin typeface="Baskerville Old Face" panose="02020602080505020303" pitchFamily="18" charset="0"/>
              </a:rPr>
              <a:t>: Single inheritance is nothing but which contains only one super class and only one sub class is called single inheritance.</a:t>
            </a:r>
          </a:p>
          <a:p>
            <a:pPr algn="ctr"/>
            <a:endParaRPr lang="en-US" sz="3600" dirty="0"/>
          </a:p>
          <a:p>
            <a:r>
              <a:rPr lang="en-US" sz="3600" dirty="0">
                <a:latin typeface="Baskerville Old Face" panose="02020602080505020303" pitchFamily="18" charset="0"/>
              </a:rPr>
              <a:t>Syntax:</a:t>
            </a:r>
          </a:p>
          <a:p>
            <a:r>
              <a:rPr lang="en-US" sz="3600" dirty="0">
                <a:latin typeface="Baskerville Old Face" panose="02020602080505020303" pitchFamily="18" charset="0"/>
              </a:rPr>
              <a:t>class A{</a:t>
            </a:r>
          </a:p>
          <a:p>
            <a:r>
              <a:rPr lang="en-US" sz="3600" dirty="0">
                <a:latin typeface="Baskerville Old Face" panose="02020602080505020303" pitchFamily="18" charset="0"/>
              </a:rPr>
              <a:t>}</a:t>
            </a:r>
          </a:p>
          <a:p>
            <a:r>
              <a:rPr lang="en-US" sz="3600" dirty="0">
                <a:latin typeface="Baskerville Old Face" panose="02020602080505020303" pitchFamily="18" charset="0"/>
              </a:rPr>
              <a:t>public class B extends A{</a:t>
            </a:r>
          </a:p>
          <a:p>
            <a:r>
              <a:rPr lang="en-US" sz="3600" dirty="0">
                <a:latin typeface="Baskerville Old Face" panose="02020602080505020303" pitchFamily="18" charset="0"/>
              </a:rPr>
              <a:t>}</a:t>
            </a:r>
          </a:p>
          <a:p>
            <a:pPr algn="ctr"/>
            <a:endParaRPr lang="en-US" sz="3600" dirty="0">
              <a:latin typeface="Baskerville Old Face" panose="02020602080505020303" pitchFamily="18" charset="0"/>
            </a:endParaRPr>
          </a:p>
          <a:p>
            <a:pPr algn="ctr"/>
            <a:endParaRPr lang="en-US" sz="3600" dirty="0"/>
          </a:p>
          <a:p>
            <a:pPr algn="ctr"/>
            <a:endParaRPr lang="en-US" sz="3600" dirty="0"/>
          </a:p>
          <a:p>
            <a:pPr algn="ctr"/>
            <a:endParaRPr lang="en-US" sz="3600" dirty="0"/>
          </a:p>
          <a:p>
            <a:pPr algn="ctr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819457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587" y="419100"/>
            <a:ext cx="6472825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7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Baskerville Old Face" panose="02020602080505020303" pitchFamily="18" charset="0"/>
            </a:endParaRPr>
          </a:p>
          <a:p>
            <a:pPr algn="ctr"/>
            <a:r>
              <a:rPr lang="en-US" sz="4800" dirty="0">
                <a:latin typeface="Baskerville Old Face" panose="02020602080505020303" pitchFamily="18" charset="0"/>
              </a:rPr>
              <a:t>Multi-level inheritance </a:t>
            </a:r>
            <a:r>
              <a:rPr lang="en-US" sz="4000" dirty="0">
                <a:latin typeface="Baskerville Old Face" panose="02020602080505020303" pitchFamily="18" charset="0"/>
              </a:rPr>
              <a:t>: in multilevel inheritance we have only one super class and multiple sub classes called multi-level inheritance.</a:t>
            </a:r>
          </a:p>
          <a:p>
            <a:r>
              <a:rPr lang="en-US" sz="3600" dirty="0">
                <a:latin typeface="Baskerville Old Face" panose="02020602080505020303" pitchFamily="18" charset="0"/>
              </a:rPr>
              <a:t>Syntax:</a:t>
            </a:r>
          </a:p>
          <a:p>
            <a:r>
              <a:rPr lang="en-US" sz="3600" dirty="0">
                <a:latin typeface="Baskerville Old Face" panose="02020602080505020303" pitchFamily="18" charset="0"/>
              </a:rPr>
              <a:t>class a {</a:t>
            </a:r>
          </a:p>
          <a:p>
            <a:r>
              <a:rPr lang="en-US" sz="3600" dirty="0">
                <a:latin typeface="Baskerville Old Face" panose="02020602080505020303" pitchFamily="18" charset="0"/>
              </a:rPr>
              <a:t>}</a:t>
            </a:r>
          </a:p>
          <a:p>
            <a:r>
              <a:rPr lang="en-US" sz="3600" dirty="0">
                <a:latin typeface="Baskerville Old Face" panose="02020602080505020303" pitchFamily="18" charset="0"/>
              </a:rPr>
              <a:t>class b extends a{</a:t>
            </a:r>
          </a:p>
          <a:p>
            <a:r>
              <a:rPr lang="en-US" sz="3600" dirty="0">
                <a:latin typeface="Baskerville Old Face" panose="02020602080505020303" pitchFamily="18" charset="0"/>
              </a:rPr>
              <a:t>}</a:t>
            </a:r>
          </a:p>
          <a:p>
            <a:r>
              <a:rPr lang="en-US" sz="3600" dirty="0">
                <a:latin typeface="Baskerville Old Face" panose="02020602080505020303" pitchFamily="18" charset="0"/>
              </a:rPr>
              <a:t>public class c extends b {</a:t>
            </a:r>
          </a:p>
          <a:p>
            <a:r>
              <a:rPr lang="en-US" sz="3600" dirty="0">
                <a:latin typeface="Baskerville Old Face" panose="02020602080505020303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77504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259" y="456785"/>
            <a:ext cx="5601482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68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66502"/>
            <a:ext cx="12192000" cy="679981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skerville Old Face" panose="02020602080505020303" pitchFamily="18" charset="0"/>
              </a:rPr>
              <a:t>Hierarchical inheritance</a:t>
            </a:r>
            <a:r>
              <a:rPr lang="en-US" sz="4000" dirty="0">
                <a:latin typeface="Baskerville Old Face" panose="02020602080505020303" pitchFamily="18" charset="0"/>
              </a:rPr>
              <a:t> :a inheritance which contain only one super class and multiple sub classes and all sub classes directly extends super class called hierarchical inheritance.</a:t>
            </a:r>
            <a:r>
              <a:rPr lang="en-US" dirty="0"/>
              <a:t> 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r>
              <a:rPr lang="en-US" sz="2800" dirty="0">
                <a:latin typeface="Baskerville Old Face" panose="02020602080505020303" pitchFamily="18" charset="0"/>
              </a:rPr>
              <a:t>Syntax</a:t>
            </a:r>
          </a:p>
          <a:p>
            <a:r>
              <a:rPr lang="en-US" sz="2800" dirty="0">
                <a:latin typeface="Baskerville Old Face" panose="02020602080505020303" pitchFamily="18" charset="0"/>
              </a:rPr>
              <a:t>class a {</a:t>
            </a:r>
          </a:p>
          <a:p>
            <a:r>
              <a:rPr lang="en-US" sz="2800" dirty="0">
                <a:latin typeface="Baskerville Old Face" panose="02020602080505020303" pitchFamily="18" charset="0"/>
              </a:rPr>
              <a:t>}</a:t>
            </a:r>
          </a:p>
          <a:p>
            <a:r>
              <a:rPr lang="en-US" sz="2800" dirty="0">
                <a:latin typeface="Baskerville Old Face" panose="02020602080505020303" pitchFamily="18" charset="0"/>
              </a:rPr>
              <a:t>class b extends a {</a:t>
            </a:r>
          </a:p>
          <a:p>
            <a:r>
              <a:rPr lang="en-US" sz="2800" dirty="0">
                <a:latin typeface="Baskerville Old Face" panose="02020602080505020303" pitchFamily="18" charset="0"/>
              </a:rPr>
              <a:t>}</a:t>
            </a:r>
          </a:p>
          <a:p>
            <a:r>
              <a:rPr lang="en-US" sz="2800" dirty="0">
                <a:latin typeface="Baskerville Old Face" panose="02020602080505020303" pitchFamily="18" charset="0"/>
              </a:rPr>
              <a:t>Public class c extends a{</a:t>
            </a:r>
          </a:p>
          <a:p>
            <a:r>
              <a:rPr lang="en-US" sz="2800" dirty="0">
                <a:latin typeface="Baskerville Old Face" panose="02020602080505020303" pitchFamily="18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308670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450" y="733049"/>
            <a:ext cx="5601080" cy="53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713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42735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29028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Baskerville Old Face" panose="02020602080505020303" pitchFamily="18" charset="0"/>
              </a:rPr>
              <a:t>Multiple inheritance : not support in java we use it with the help of interface.</a:t>
            </a:r>
          </a:p>
          <a:p>
            <a:pPr algn="ctr"/>
            <a:r>
              <a:rPr lang="en-US" dirty="0">
                <a:latin typeface="Baskerville Old Face" panose="02020602080505020303" pitchFamily="18" charset="0"/>
              </a:rPr>
              <a:t> </a:t>
            </a:r>
          </a:p>
          <a:p>
            <a:pPr algn="ctr"/>
            <a:r>
              <a:rPr lang="en-US" sz="4400" dirty="0">
                <a:latin typeface="Baskerville Old Face" panose="02020602080505020303" pitchFamily="18" charset="0"/>
              </a:rPr>
              <a:t>Where a class can inherit from more than one parent class.</a:t>
            </a:r>
          </a:p>
          <a:p>
            <a:pPr algn="ctr"/>
            <a:endParaRPr lang="en-US" dirty="0">
              <a:latin typeface="Baskerville Old Face" panose="02020602080505020303" pitchFamily="18" charset="0"/>
            </a:endParaRPr>
          </a:p>
          <a:p>
            <a:pPr algn="ctr"/>
            <a:endParaRPr lang="en-US" dirty="0">
              <a:latin typeface="Baskerville Old Face" panose="02020602080505020303" pitchFamily="18" charset="0"/>
            </a:endParaRPr>
          </a:p>
          <a:p>
            <a:pPr algn="ctr"/>
            <a:endParaRPr lang="en-US" dirty="0">
              <a:latin typeface="Baskerville Old Face" panose="02020602080505020303" pitchFamily="18" charset="0"/>
            </a:endParaRPr>
          </a:p>
          <a:p>
            <a:pPr algn="ctr"/>
            <a:endParaRPr lang="en-US" dirty="0">
              <a:latin typeface="Baskerville Old Face" panose="02020602080505020303" pitchFamily="18" charset="0"/>
            </a:endParaRPr>
          </a:p>
          <a:p>
            <a:pPr algn="ctr"/>
            <a:endParaRPr lang="en-US" dirty="0">
              <a:latin typeface="Baskerville Old Face" panose="02020602080505020303" pitchFamily="18" charset="0"/>
            </a:endParaRPr>
          </a:p>
          <a:p>
            <a:pPr algn="ctr"/>
            <a:endParaRPr lang="en-US" dirty="0">
              <a:latin typeface="Baskerville Old Face" panose="02020602080505020303" pitchFamily="18" charset="0"/>
            </a:endParaRPr>
          </a:p>
          <a:p>
            <a:pPr algn="ctr"/>
            <a:endParaRPr lang="en-US" dirty="0">
              <a:latin typeface="Baskerville Old Face" panose="02020602080505020303" pitchFamily="18" charset="0"/>
            </a:endParaRPr>
          </a:p>
          <a:p>
            <a:pPr algn="ctr"/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52400" y="5783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" y="152400"/>
            <a:ext cx="42735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386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dirty="0">
                <a:latin typeface="Baskerville Old Face" panose="02020602080505020303" pitchFamily="18" charset="0"/>
              </a:rPr>
              <a:t>                         Association: loose couple </a:t>
            </a:r>
          </a:p>
          <a:p>
            <a:pPr algn="ctr"/>
            <a:r>
              <a:rPr lang="en-US" sz="4000" dirty="0">
                <a:latin typeface="Baskerville Old Face" panose="02020602080505020303" pitchFamily="18" charset="0"/>
              </a:rPr>
              <a:t> When we do something change in one class then it will not be impacted on another class.</a:t>
            </a:r>
          </a:p>
          <a:p>
            <a:endParaRPr lang="en-US" sz="4000" dirty="0">
              <a:latin typeface="Baskerville Old Face" panose="02020602080505020303" pitchFamily="18" charset="0"/>
            </a:endParaRPr>
          </a:p>
          <a:p>
            <a:endParaRPr lang="en-US" sz="4000" dirty="0">
              <a:latin typeface="Baskerville Old Face" panose="02020602080505020303" pitchFamily="18" charset="0"/>
            </a:endParaRPr>
          </a:p>
          <a:p>
            <a:r>
              <a:rPr lang="en-US" sz="4000" dirty="0">
                <a:latin typeface="Baskerville Old Face" panose="02020602080505020303" pitchFamily="18" charset="0"/>
              </a:rPr>
              <a:t>There are also two types of association:</a:t>
            </a:r>
          </a:p>
          <a:p>
            <a:r>
              <a:rPr lang="en-US" sz="4000" dirty="0">
                <a:latin typeface="Baskerville Old Face" panose="02020602080505020303" pitchFamily="18" charset="0"/>
              </a:rPr>
              <a:t>1- Aggregation(weak)</a:t>
            </a:r>
          </a:p>
          <a:p>
            <a:r>
              <a:rPr lang="en-US" sz="4000" dirty="0">
                <a:latin typeface="Baskerville Old Face" panose="02020602080505020303" pitchFamily="18" charset="0"/>
              </a:rPr>
              <a:t>2-Compostion(strong)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579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601" y="928338"/>
            <a:ext cx="6258798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424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286000"/>
            <a:ext cx="12191999" cy="2286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Baskerville Old Face" panose="02020602080505020303" pitchFamily="18" charset="0"/>
              </a:rPr>
              <a:t>THANKYOU!!</a:t>
            </a:r>
          </a:p>
        </p:txBody>
      </p:sp>
    </p:spTree>
    <p:extLst>
      <p:ext uri="{BB962C8B-B14F-4D97-AF65-F5344CB8AC3E}">
        <p14:creationId xmlns:p14="http://schemas.microsoft.com/office/powerpoint/2010/main" val="3389882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1400</TotalTime>
  <Words>311</Words>
  <Application>Microsoft Office PowerPoint</Application>
  <PresentationFormat>Widescreen</PresentationFormat>
  <Paragraphs>118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Baskerville Old Face</vt:lpstr>
      <vt:lpstr>Bodoni MT Poster Compressed</vt:lpstr>
      <vt:lpstr>Calibri</vt:lpstr>
      <vt:lpstr>Calibri Light</vt:lpstr>
      <vt:lpstr>Söhne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Ghulam Mustafa</cp:lastModifiedBy>
  <cp:revision>24</cp:revision>
  <dcterms:created xsi:type="dcterms:W3CDTF">2024-04-16T19:30:33Z</dcterms:created>
  <dcterms:modified xsi:type="dcterms:W3CDTF">2026-08-03T07:30:39Z</dcterms:modified>
</cp:coreProperties>
</file>