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282" r:id="rId24"/>
    <p:sldId id="284" r:id="rId25"/>
    <p:sldId id="285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27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EAE02-316D-4D7D-85A9-B0CBD24440A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AD099-576D-4FF3-99B1-DB13D5E76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3b56769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3b5676941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04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3b56769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3b5676941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04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82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99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742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803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010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017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380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16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834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995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6605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174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066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918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459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88252dc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f88252dc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581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429A-0EFB-AF83-017A-0D31B8F39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42A0E-84B9-5583-25A5-4E159937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35883-8ECA-1067-2599-45A5B914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0FAD-4C78-F579-4FA1-2EC7355D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182E-EF3B-0A4B-EB5C-B95F978F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5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0DE8-05CB-3B03-BD3D-5C03989D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CDAC2-D63E-A81F-DA16-5BB1A2C59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32823-DE8E-58B4-884F-FFD1BD42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030EA-F8A2-7FC0-6C88-3A331983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7E40-7578-382E-A3C5-CB54E73C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7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1F12-6DB6-CFF6-541A-F71F382D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25E60-A492-1E60-9D15-C2A610633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1A8C-94B5-1E95-3F17-45CBC220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A443-9B39-F4F8-9A48-D50D8AB4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38332-0DAB-80B1-37C4-7BB06C42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F59B-5578-C0A5-2C3E-FBEC3799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A56C-A564-A7AB-7BC1-0B6CFDF2F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1801A-2F8E-61DF-BEF5-995E8D789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556D0-7796-2686-1254-50F37057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A203F-E6F9-A38E-607F-90C85EC5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E6F47-9BD1-F056-5CF6-85369C74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9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66AF-A419-41A7-604C-5CA52AAB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DC76-2170-1EC1-22F2-997D0040C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CF0A2-F0AF-8534-54C8-1583F3E21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DDD96-2B73-7B0F-630C-B46FBDD53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4D756-01DC-C973-BA79-385D5807B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A0301-DC60-8DD3-DE6E-21ACA046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279E0-948F-7485-B9C0-8D802401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0E23D-3E31-B023-AD05-AC8B3561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3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C3E8-CA63-AC09-DE93-47B667D8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5E9EA-BFDB-2873-363C-339BA951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392D9-DB8B-60B3-92DC-1CE3A51BD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34C1A-C69E-193F-153C-FBE69146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8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3BAAD-4007-1CB9-2810-DC7A2011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CC7ED-57B1-FC81-3CE8-36C8773D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BD21B-F40F-BB45-24F2-AE99577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5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F2B1-20A4-14E5-73CF-11799FE3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1866B-7DDA-1BA8-5C75-A14F6E0B1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48BC0-DA21-6295-A194-93E9E0C0E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FE65-AC10-564E-445C-A8406E3D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7CFD9-AE6E-8EBB-2C2A-7AA88F1A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D191F-A4DE-45DB-EDD1-5003D8DF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4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E27C-0F09-4136-04A6-F062A0127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B9B51-982C-D984-917E-1E3A87A08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1AF36-2F85-41AE-2BDA-F069F0C61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BB187-BD67-2A13-3F0D-BC89AD42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CD8AD-9AC0-9BE2-3707-D8691A11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A532A-BFCE-065E-7186-72C192C1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5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F0DE-A168-2AAC-E3AE-6EEB6E50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0E256-E0DC-C02C-3D79-EE143C85F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CD1A1-9148-2F3C-47DC-9155ACD2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44B4E-8282-61A2-3BA2-CF6A2538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29E6F-6FCF-CCDE-6D43-E9981C49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2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5D2D5-3F52-EF3C-FC09-93972C446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14ADF-AC29-F470-6FEE-444D965EF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5BCD-736A-9929-1DB5-EBF21EF9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4AB3-B180-4487-CC5E-163C0C56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F07B2-1E65-C7C4-5D3A-065108BD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26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3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BB51DE-041F-FDF5-FEFE-C630D7A3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0BFD8-4480-7374-3918-66E251599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9A95F-CCE4-D23C-68D7-94C1C856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C8717-3480-4368-9173-790BC0AC5CF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57E10-B5E0-ECCE-8F6D-34CFAB47D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1910-7687-F106-ACEF-32F3E3A19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6B9FE-787E-455B-AFC4-EA47A02D5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6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2;p18">
            <a:extLst>
              <a:ext uri="{FF2B5EF4-FFF2-40B4-BE49-F238E27FC236}">
                <a16:creationId xmlns:a16="http://schemas.microsoft.com/office/drawing/2014/main" id="{7E794FC8-6554-B78A-9741-C48236D56CD3}"/>
              </a:ext>
            </a:extLst>
          </p:cNvPr>
          <p:cNvSpPr txBox="1">
            <a:spLocks/>
          </p:cNvSpPr>
          <p:nvPr/>
        </p:nvSpPr>
        <p:spPr>
          <a:xfrm>
            <a:off x="831050" y="2043810"/>
            <a:ext cx="56202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en-GB" sz="5500" b="1" dirty="0">
                <a:solidFill>
                  <a:srgbClr val="002060"/>
                </a:solidFill>
                <a:latin typeface="Bahnschrift" panose="020B0502040204020203" pitchFamily="34" charset="0"/>
              </a:rPr>
              <a:t>JAVA GUI</a:t>
            </a:r>
          </a:p>
          <a:p>
            <a:r>
              <a:rPr lang="en-GB" sz="5500" b="1" dirty="0">
                <a:solidFill>
                  <a:srgbClr val="002060"/>
                </a:solidFill>
                <a:latin typeface="Bahnschrift" panose="020B0502040204020203" pitchFamily="34" charset="0"/>
              </a:rPr>
              <a:t>PRESENTATION</a:t>
            </a:r>
          </a:p>
        </p:txBody>
      </p:sp>
      <p:sp>
        <p:nvSpPr>
          <p:cNvPr id="5" name="Google Shape;132;p18">
            <a:extLst>
              <a:ext uri="{FF2B5EF4-FFF2-40B4-BE49-F238E27FC236}">
                <a16:creationId xmlns:a16="http://schemas.microsoft.com/office/drawing/2014/main" id="{85063EA6-80A0-943C-F284-776E3530D15D}"/>
              </a:ext>
            </a:extLst>
          </p:cNvPr>
          <p:cNvSpPr txBox="1">
            <a:spLocks/>
          </p:cNvSpPr>
          <p:nvPr/>
        </p:nvSpPr>
        <p:spPr>
          <a:xfrm>
            <a:off x="831050" y="4614290"/>
            <a:ext cx="10446550" cy="4406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en-GB" sz="1800" dirty="0">
                <a:latin typeface="Bahnschrift" panose="020B0502040204020203" pitchFamily="34" charset="0"/>
              </a:rPr>
              <a:t>Assigned By: Sir </a:t>
            </a:r>
            <a:r>
              <a:rPr lang="en-GB" sz="1800" dirty="0" err="1">
                <a:latin typeface="Bahnschrift" panose="020B0502040204020203" pitchFamily="34" charset="0"/>
              </a:rPr>
              <a:t>Faiz</a:t>
            </a:r>
            <a:r>
              <a:rPr lang="en-GB" sz="1800" dirty="0">
                <a:latin typeface="Bahnschrift" panose="020B0502040204020203" pitchFamily="34" charset="0"/>
              </a:rPr>
              <a:t> Lakhani</a:t>
            </a:r>
          </a:p>
        </p:txBody>
      </p:sp>
      <p:pic>
        <p:nvPicPr>
          <p:cNvPr id="9" name="Picture 8" descr="A logo of a coffee cup&#10;&#10;AI-generated content may be incorrect.">
            <a:extLst>
              <a:ext uri="{FF2B5EF4-FFF2-40B4-BE49-F238E27FC236}">
                <a16:creationId xmlns:a16="http://schemas.microsoft.com/office/drawing/2014/main" id="{E9316922-62B3-4C4D-479E-EFE732FC4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529" y="1803029"/>
            <a:ext cx="3251941" cy="3251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970200" y="1555000"/>
            <a:ext cx="102516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GB" b="1" dirty="0"/>
              <a:t>Outline</a:t>
            </a:r>
            <a:endParaRPr b="1" dirty="0"/>
          </a:p>
        </p:txBody>
      </p:sp>
      <p:graphicFrame>
        <p:nvGraphicFramePr>
          <p:cNvPr id="157" name="Google Shape;157;p20"/>
          <p:cNvGraphicFramePr/>
          <p:nvPr>
            <p:extLst>
              <p:ext uri="{D42A27DB-BD31-4B8C-83A1-F6EECF244321}">
                <p14:modId xmlns:p14="http://schemas.microsoft.com/office/powerpoint/2010/main" val="4135452328"/>
              </p:ext>
            </p:extLst>
          </p:nvPr>
        </p:nvGraphicFramePr>
        <p:xfrm>
          <a:off x="1068360" y="2288560"/>
          <a:ext cx="9652000" cy="3779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34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7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Overview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JFrame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 err="1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JLabel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 err="1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JButton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 dirty="0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Border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8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>
                          <a:solidFill>
                            <a:schemeClr val="lt1"/>
                          </a:solidFill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 sz="2500" b="1" dirty="0">
                        <a:solidFill>
                          <a:schemeClr val="lt1"/>
                        </a:solidFill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Comic Sans MS" panose="030F0702030302020204" pitchFamily="66" charset="0"/>
                          <a:ea typeface="Lato"/>
                          <a:cs typeface="Lato"/>
                          <a:sym typeface="Lato"/>
                        </a:rPr>
                        <a:t>JOptionPane</a:t>
                      </a:r>
                      <a:endParaRPr sz="2400" b="1" dirty="0">
                        <a:latin typeface="Comic Sans MS" panose="030F0702030302020204" pitchFamily="66" charset="0"/>
                        <a:ea typeface="Lato"/>
                        <a:cs typeface="Lato"/>
                        <a:sym typeface="Lato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402907631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1.Overview</a:t>
            </a:r>
            <a:endParaRPr lang="en-US" sz="6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97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5158520" y="20320"/>
            <a:ext cx="138452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GUI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301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GUI stands for “Graphical User Interface”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It is a visual interface that allow users to interact with a program or machine through GUI components,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like, frames, buttons, icons, and other visual components.</a:t>
            </a:r>
            <a:endParaRPr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  <a:spcAft>
                <a:spcPts val="1600"/>
              </a:spcAft>
              <a:buSzPts val="770"/>
            </a:pPr>
            <a:endParaRPr sz="32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2405742" y="32658"/>
            <a:ext cx="9339943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Bahnschrift" panose="020B0502040204020203" pitchFamily="34" charset="0"/>
              </a:rPr>
              <a:t>Why should we learn GUI?</a:t>
            </a:r>
            <a:endParaRPr sz="50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Google Shape;168;p22">
            <a:extLst>
              <a:ext uri="{FF2B5EF4-FFF2-40B4-BE49-F238E27FC236}">
                <a16:creationId xmlns:a16="http://schemas.microsoft.com/office/drawing/2014/main" id="{A953A0FB-F1E8-960C-F287-59A0B1636658}"/>
              </a:ext>
            </a:extLst>
          </p:cNvPr>
          <p:cNvSpPr txBox="1">
            <a:spLocks/>
          </p:cNvSpPr>
          <p:nvPr/>
        </p:nvSpPr>
        <p:spPr>
          <a:xfrm>
            <a:off x="44450" y="1257124"/>
            <a:ext cx="12103100" cy="54865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r>
              <a:rPr lang="en-US" sz="2400" b="1" dirty="0">
                <a:latin typeface="Raleway"/>
                <a:ea typeface="Raleway"/>
                <a:cs typeface="Raleway"/>
                <a:sym typeface="Raleway"/>
              </a:rPr>
              <a:t>Visual way for users to interact </a:t>
            </a: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r>
              <a:rPr lang="en-US" sz="2400" b="1" dirty="0">
                <a:latin typeface="Raleway"/>
                <a:ea typeface="Raleway"/>
                <a:cs typeface="Raleway"/>
                <a:sym typeface="Raleway"/>
              </a:rPr>
              <a:t>Easy to use for non-technical users, instead of type commands or    	navigate, tasks are being performed by the events</a:t>
            </a: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r>
              <a:rPr lang="en-US" sz="2400" b="1" dirty="0">
                <a:latin typeface="Raleway"/>
                <a:ea typeface="Raleway"/>
                <a:cs typeface="Raleway"/>
                <a:sym typeface="Raleway"/>
              </a:rPr>
              <a:t>It saves time and makes tasks simple</a:t>
            </a: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457200" indent="-330835">
              <a:lnSpc>
                <a:spcPct val="105000"/>
              </a:lnSpc>
              <a:spcBef>
                <a:spcPts val="0"/>
              </a:spcBef>
              <a:buSzPts val="1610"/>
              <a:buFont typeface="Raleway"/>
              <a:buAutoNum type="arabicPeriod"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Raleway"/>
                <a:ea typeface="Raleway"/>
                <a:cs typeface="Raleway"/>
                <a:sym typeface="Raleway"/>
              </a:rPr>
              <a:t>GUI provides a user-friendly environment for the users to be engaged in using application.</a:t>
            </a:r>
          </a:p>
          <a:p>
            <a:pPr marL="0" indent="0">
              <a:lnSpc>
                <a:spcPct val="105000"/>
              </a:lnSpc>
              <a:spcBef>
                <a:spcPts val="1200"/>
              </a:spcBef>
              <a:buSzPts val="770"/>
              <a:buFont typeface="Arial" panose="020B0604020202020204" pitchFamily="34" charset="0"/>
              <a:buNone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Font typeface="Arial" panose="020B0604020202020204" pitchFamily="34" charset="0"/>
              <a:buNone/>
            </a:pPr>
            <a:endParaRPr lang="en-US" sz="24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40899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1028700" y="114301"/>
            <a:ext cx="12342585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4000" b="1" dirty="0">
                <a:solidFill>
                  <a:srgbClr val="002060"/>
                </a:solidFill>
                <a:latin typeface="Bahnschrift" panose="020B0502040204020203" pitchFamily="34" charset="0"/>
              </a:rPr>
              <a:t>Basic Concepts and Libraries of GUI in Java</a:t>
            </a:r>
            <a:endParaRPr sz="40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FD9E04-D2FB-1CAA-8B16-7D66A64A8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842627"/>
              </p:ext>
            </p:extLst>
          </p:nvPr>
        </p:nvGraphicFramePr>
        <p:xfrm>
          <a:off x="800500" y="1287178"/>
          <a:ext cx="10591000" cy="4961222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295500">
                  <a:extLst>
                    <a:ext uri="{9D8B030D-6E8A-4147-A177-3AD203B41FA5}">
                      <a16:colId xmlns:a16="http://schemas.microsoft.com/office/drawing/2014/main" val="2628573295"/>
                    </a:ext>
                  </a:extLst>
                </a:gridCol>
                <a:gridCol w="5295500">
                  <a:extLst>
                    <a:ext uri="{9D8B030D-6E8A-4147-A177-3AD203B41FA5}">
                      <a16:colId xmlns:a16="http://schemas.microsoft.com/office/drawing/2014/main" val="1400899727"/>
                    </a:ext>
                  </a:extLst>
                </a:gridCol>
              </a:tblGrid>
              <a:tr h="66066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Library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523747"/>
                  </a:ext>
                </a:extLst>
              </a:tr>
              <a:tr h="2182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1: import javax.swing.*;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This imports swing classes, which are used to create GUI components, like frame, button, label, text field, and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329820"/>
                  </a:ext>
                </a:extLst>
              </a:tr>
              <a:tr h="21177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2: import java.awt.*;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This imports classes from AWT package, which are used to layout management, colors, fonts, and events.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07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480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2.Java Frame</a:t>
            </a:r>
            <a:endParaRPr lang="en-US" sz="6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75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4241800" y="20320"/>
            <a:ext cx="39624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Java Frame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JFrame is a class in java swing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It is used to create a frame or window in a GUI application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It acts as a main container that holds GUI components like, buttons, labels, panels, etc.</a:t>
            </a:r>
            <a:endParaRPr sz="32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45513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Basic Methods of JFrame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setSize(int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widhth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, int height);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setTitle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(String title);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setVisible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(Boolean t/f);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setResized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(Boolean t/f);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setDefaultCloseOperation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JFrame.EXIT_ON_CLOSE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getContentPane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().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setBackground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Color.GREEN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836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3.Java Label</a:t>
            </a:r>
            <a:endParaRPr lang="en-US" sz="6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59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4343400" y="20320"/>
            <a:ext cx="39624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Java Label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It is a GUI display area for a string of text, and image or both.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JLable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cannot be edited by the user.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JLabel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label = new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JLabel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();      </a:t>
            </a:r>
            <a:r>
              <a:rPr lang="en-GB" sz="2400" b="1" dirty="0"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//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 Creates a </a:t>
            </a:r>
            <a:r>
              <a:rPr lang="en-GB" sz="2400" b="1" dirty="0" err="1">
                <a:latin typeface="Raleway"/>
                <a:ea typeface="Raleway"/>
                <a:cs typeface="Raleway"/>
                <a:sym typeface="Raleway"/>
              </a:rPr>
              <a:t>JLabel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label.setText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(“Hello World);     </a:t>
            </a:r>
            <a:r>
              <a:rPr lang="en-GB" sz="2400" b="1" dirty="0"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//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 display this message on the screen</a:t>
            </a:r>
            <a:endParaRPr sz="32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22051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setHorizontalTextPosition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JLabel.LEFT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/RIGHT/CENTER);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US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setVerticalTextPosition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JLabel.TOP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/BOTTOM/CENTER);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setFont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(new Font(“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Fname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”,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Font.PLAIN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, int size);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setBackground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Color.BLUE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sz="32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Basic Methods of </a:t>
            </a:r>
            <a:r>
              <a:rPr lang="en-GB" sz="5000" b="1" dirty="0" err="1">
                <a:solidFill>
                  <a:srgbClr val="002060"/>
                </a:solidFill>
                <a:latin typeface="Raleway" pitchFamily="2" charset="0"/>
              </a:rPr>
              <a:t>JLabel</a:t>
            </a:r>
            <a:endParaRPr lang="en-GB"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75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4.Java Button</a:t>
            </a:r>
            <a:endParaRPr lang="en-US" sz="6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7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4343400" y="20320"/>
            <a:ext cx="39624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Java Button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JButton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is a swing class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It is used to create a button in java GUI and performs an action.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Jbutton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button = new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JButton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352491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355600" y="20320"/>
            <a:ext cx="120015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SzPts val="990"/>
            </a:pPr>
            <a:r>
              <a:rPr lang="en-US" sz="5000" b="1" dirty="0">
                <a:solidFill>
                  <a:srgbClr val="002060"/>
                </a:solidFill>
                <a:latin typeface="Raleway" pitchFamily="2" charset="0"/>
              </a:rPr>
              <a:t>Action Handling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297E16-23A1-288E-6365-1716A8CBE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52049"/>
              </p:ext>
            </p:extLst>
          </p:nvPr>
        </p:nvGraphicFramePr>
        <p:xfrm>
          <a:off x="800500" y="1277018"/>
          <a:ext cx="10591000" cy="4961222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295500">
                  <a:extLst>
                    <a:ext uri="{9D8B030D-6E8A-4147-A177-3AD203B41FA5}">
                      <a16:colId xmlns:a16="http://schemas.microsoft.com/office/drawing/2014/main" val="2628573295"/>
                    </a:ext>
                  </a:extLst>
                </a:gridCol>
                <a:gridCol w="5295500">
                  <a:extLst>
                    <a:ext uri="{9D8B030D-6E8A-4147-A177-3AD203B41FA5}">
                      <a16:colId xmlns:a16="http://schemas.microsoft.com/office/drawing/2014/main" val="1400899727"/>
                    </a:ext>
                  </a:extLst>
                </a:gridCol>
              </a:tblGrid>
              <a:tr h="66066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Library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523747"/>
                  </a:ext>
                </a:extLst>
              </a:tr>
              <a:tr h="2182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1: import </a:t>
                      </a:r>
                      <a:r>
                        <a:rPr lang="en-US" sz="2400" b="1" dirty="0" err="1">
                          <a:latin typeface="Raleway" pitchFamily="2" charset="0"/>
                        </a:rPr>
                        <a:t>java.awt.event.ActionEvent</a:t>
                      </a:r>
                      <a:r>
                        <a:rPr lang="en-US" sz="2400" b="1" dirty="0">
                          <a:latin typeface="Raleway" pitchFamily="2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It is a message after clicking the button that says. “Something Happened”.</a:t>
                      </a:r>
                    </a:p>
                    <a:p>
                      <a:pPr algn="l"/>
                      <a:endParaRPr lang="en-US" sz="2400" b="1" dirty="0">
                        <a:latin typeface="Raleway" pitchFamily="2" charset="0"/>
                      </a:endParaRPr>
                    </a:p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Real Life: Pressing the doorbell.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329820"/>
                  </a:ext>
                </a:extLst>
              </a:tr>
              <a:tr h="21177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Raleway" pitchFamily="2" charset="0"/>
                        </a:rPr>
                        <a:t>2: import </a:t>
                      </a:r>
                      <a:r>
                        <a:rPr lang="en-US" sz="2400" b="1" dirty="0" err="1">
                          <a:latin typeface="Raleway" pitchFamily="2" charset="0"/>
                        </a:rPr>
                        <a:t>java.awt.event.ActionListener</a:t>
                      </a:r>
                      <a:r>
                        <a:rPr lang="en-US" sz="2400" b="1" dirty="0">
                          <a:latin typeface="Raleway" pitchFamily="2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It is a listener that waits for the event and execute some code when the event happens.</a:t>
                      </a:r>
                    </a:p>
                    <a:p>
                      <a:pPr algn="l"/>
                      <a:endParaRPr lang="en-US" sz="2400" b="1" dirty="0">
                        <a:latin typeface="Raleway" pitchFamily="2" charset="0"/>
                      </a:endParaRPr>
                    </a:p>
                    <a:p>
                      <a:pPr algn="l"/>
                      <a:r>
                        <a:rPr lang="en-US" sz="2400" b="1" dirty="0">
                          <a:latin typeface="Raleway" pitchFamily="2" charset="0"/>
                        </a:rPr>
                        <a:t>Real Life: Hears the bell and opens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07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660632"/>
      </p:ext>
    </p:extLst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5.Border</a:t>
            </a:r>
            <a:endParaRPr lang="en-US" sz="6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7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4876800" y="20320"/>
            <a:ext cx="245872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Border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395566"/>
            <a:ext cx="12273280" cy="301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Borders are used to decorate the components like, buttons, labels, text fields, and etc… 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Before using the border you need to import the following library: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Import </a:t>
            </a: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jaxax.swing.border.Border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;</a:t>
            </a:r>
            <a:endParaRPr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  <a:spcAft>
                <a:spcPts val="1600"/>
              </a:spcAft>
              <a:buSzPts val="770"/>
            </a:pPr>
            <a:endParaRPr sz="32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754641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 idx="4294967295"/>
          </p:nvPr>
        </p:nvSpPr>
        <p:spPr>
          <a:xfrm>
            <a:off x="2336800" y="20320"/>
            <a:ext cx="732536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Types of Border</a:t>
            </a:r>
            <a:endParaRPr sz="50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2" name="Google Shape;168;p22">
            <a:extLst>
              <a:ext uri="{FF2B5EF4-FFF2-40B4-BE49-F238E27FC236}">
                <a16:creationId xmlns:a16="http://schemas.microsoft.com/office/drawing/2014/main" id="{45B8A7B4-F9C3-561E-52C1-5FD7E1134AB4}"/>
              </a:ext>
            </a:extLst>
          </p:cNvPr>
          <p:cNvSpPr txBox="1">
            <a:spLocks/>
          </p:cNvSpPr>
          <p:nvPr/>
        </p:nvSpPr>
        <p:spPr>
          <a:xfrm>
            <a:off x="0" y="135492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Line Border	-(simple)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Tittle Border	-(tittle)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  <a:buFont typeface="Wingdings" panose="05000000000000000000" pitchFamily="2" charset="2"/>
              <a:buChar char="ü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Creating a simple border:</a:t>
            </a:r>
          </a:p>
          <a:p>
            <a:pPr marL="0" indent="0" algn="ctr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Border </a:t>
            </a:r>
            <a:r>
              <a:rPr lang="en-GB" sz="2400" b="1" dirty="0" err="1">
                <a:latin typeface="Raleway"/>
                <a:ea typeface="Raleway"/>
                <a:cs typeface="Raleway"/>
                <a:sym typeface="Raleway"/>
              </a:rPr>
              <a:t>border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lang="en-GB" sz="2400" b="1" dirty="0" err="1">
                <a:latin typeface="Raleway"/>
                <a:ea typeface="Raleway"/>
                <a:cs typeface="Raleway"/>
                <a:sym typeface="Raleway"/>
              </a:rPr>
              <a:t>BorderFactory.createLineBorder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2400" b="1" dirty="0" err="1">
                <a:latin typeface="Raleway"/>
                <a:ea typeface="Raleway"/>
                <a:cs typeface="Raleway"/>
                <a:sym typeface="Raleway"/>
              </a:rPr>
              <a:t>Color.GREEN</a:t>
            </a:r>
            <a:r>
              <a:rPr lang="en-GB" sz="2400" b="1" dirty="0">
                <a:latin typeface="Raleway"/>
                <a:ea typeface="Raleway"/>
                <a:cs typeface="Raleway"/>
                <a:sym typeface="Raleway"/>
              </a:rPr>
              <a:t>, int thickness);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5829366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527AF"/>
            </a:gs>
            <a:gs pos="0">
              <a:schemeClr val="bg1"/>
            </a:gs>
            <a:gs pos="97000">
              <a:srgbClr val="E527AF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6.Java Option Pane</a:t>
            </a:r>
            <a:endParaRPr lang="en-US" sz="6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0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Java Option Pane</a:t>
            </a:r>
          </a:p>
        </p:txBody>
      </p:sp>
      <p:sp>
        <p:nvSpPr>
          <p:cNvPr id="3" name="Google Shape;168;p22">
            <a:extLst>
              <a:ext uri="{FF2B5EF4-FFF2-40B4-BE49-F238E27FC236}">
                <a16:creationId xmlns:a16="http://schemas.microsoft.com/office/drawing/2014/main" id="{FADA92E9-310B-EF3F-3A43-A35757FB8750}"/>
              </a:ext>
            </a:extLst>
          </p:cNvPr>
          <p:cNvSpPr txBox="1">
            <a:spLocks/>
          </p:cNvSpPr>
          <p:nvPr/>
        </p:nvSpPr>
        <p:spPr>
          <a:xfrm>
            <a:off x="0" y="1395566"/>
            <a:ext cx="12273280" cy="463693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US" sz="3200" b="1" dirty="0">
                <a:latin typeface="Raleway"/>
                <a:ea typeface="Raleway"/>
                <a:cs typeface="Raleway"/>
                <a:sym typeface="Raleway"/>
              </a:rPr>
              <a:t> JOptionPane is class in java swing that is used to create simple popup dialog boxes.</a:t>
            </a:r>
          </a:p>
          <a:p>
            <a:pPr>
              <a:lnSpc>
                <a:spcPct val="105000"/>
              </a:lnSpc>
              <a:spcBef>
                <a:spcPts val="1600"/>
              </a:spcBef>
            </a:pPr>
            <a:endParaRPr lang="en-US" sz="3200" b="1" dirty="0">
              <a:latin typeface="Raleway"/>
              <a:ea typeface="Raleway"/>
              <a:cs typeface="Raleway"/>
              <a:sym typeface="Raleway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en-US" sz="3200" b="1" dirty="0">
                <a:latin typeface="Raleway"/>
                <a:ea typeface="Raleway"/>
                <a:cs typeface="Raleway"/>
                <a:sym typeface="Raleway"/>
              </a:rPr>
              <a:t>It is commonly used for:</a:t>
            </a:r>
          </a:p>
          <a:p>
            <a:pPr lvl="1">
              <a:lnSpc>
                <a:spcPct val="105000"/>
              </a:lnSpc>
              <a:spcBef>
                <a:spcPts val="1600"/>
              </a:spcBef>
            </a:pPr>
            <a:r>
              <a:rPr lang="en-US" sz="2800" b="1" dirty="0">
                <a:latin typeface="Raleway"/>
                <a:ea typeface="Raleway"/>
                <a:cs typeface="Raleway"/>
                <a:sym typeface="Raleway"/>
              </a:rPr>
              <a:t>Showing Message to the user</a:t>
            </a:r>
          </a:p>
          <a:p>
            <a:pPr lvl="1">
              <a:lnSpc>
                <a:spcPct val="105000"/>
              </a:lnSpc>
              <a:spcBef>
                <a:spcPts val="1600"/>
              </a:spcBef>
            </a:pPr>
            <a:r>
              <a:rPr lang="en-US" sz="2800" b="1" dirty="0">
                <a:latin typeface="Raleway"/>
                <a:ea typeface="Raleway"/>
                <a:cs typeface="Raleway"/>
                <a:sym typeface="Raleway"/>
              </a:rPr>
              <a:t>Asking for user input</a:t>
            </a:r>
          </a:p>
          <a:p>
            <a:pPr lvl="1">
              <a:lnSpc>
                <a:spcPct val="105000"/>
              </a:lnSpc>
              <a:spcBef>
                <a:spcPts val="1600"/>
              </a:spcBef>
            </a:pPr>
            <a:r>
              <a:rPr lang="en-US" sz="2800" b="1" dirty="0">
                <a:latin typeface="Raleway"/>
                <a:ea typeface="Raleway"/>
                <a:cs typeface="Raleway"/>
                <a:sym typeface="Raleway"/>
              </a:rPr>
              <a:t>Asking for confirmation like (Yes/No/Cancel)</a:t>
            </a:r>
          </a:p>
        </p:txBody>
      </p:sp>
    </p:spTree>
    <p:extLst>
      <p:ext uri="{BB962C8B-B14F-4D97-AF65-F5344CB8AC3E}">
        <p14:creationId xmlns:p14="http://schemas.microsoft.com/office/powerpoint/2010/main" val="1550112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1090766"/>
            <a:ext cx="12273280" cy="587899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 Show Message Dialog: It’s used to show informational message.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Show Input Dialog: It’s used for getting input.</a:t>
            </a: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514350" indent="-514350">
              <a:lnSpc>
                <a:spcPct val="105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Show Confirm Dialog: It’s used for confirmation like, (Yes/No/Cancel)</a:t>
            </a:r>
          </a:p>
        </p:txBody>
      </p:sp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Types of Dialogs</a:t>
            </a:r>
          </a:p>
        </p:txBody>
      </p:sp>
    </p:spTree>
    <p:extLst>
      <p:ext uri="{BB962C8B-B14F-4D97-AF65-F5344CB8AC3E}">
        <p14:creationId xmlns:p14="http://schemas.microsoft.com/office/powerpoint/2010/main" val="54577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843987"/>
            <a:ext cx="12273280" cy="587899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Syntax:</a:t>
            </a: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JOptionPane.showMessageDialog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(component, String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JOptionPane.PLAIN_MESSAGE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endParaRPr lang="en-GB"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2.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JOptionPane.showMessageDialog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(component, String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JOptionPane.INFORMATION_MESSAGE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endParaRPr lang="en-GB"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3.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JOptionPane.showMessageDialog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(component, String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JOptionPane.QUESTION_MESSAGE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endParaRPr lang="en-GB"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4.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JOptionPane.showMessageDialog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(component, String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JOptionPane.WARNING_MESSAGE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endParaRPr lang="en-GB" sz="16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5.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JOptionPane.showMessageDialog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(component, String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sz="1600" b="1" dirty="0" err="1">
                <a:latin typeface="Raleway"/>
                <a:ea typeface="Raleway"/>
                <a:cs typeface="Raleway"/>
                <a:sym typeface="Raleway"/>
              </a:rPr>
              <a:t>JOptionPane.ERROR_MESSAGE</a:t>
            </a:r>
            <a:r>
              <a:rPr lang="en-GB" sz="1600" b="1" dirty="0">
                <a:latin typeface="Raleway"/>
                <a:ea typeface="Raleway"/>
                <a:cs typeface="Raleway"/>
                <a:sym typeface="Raleway"/>
              </a:rPr>
              <a:t>);</a:t>
            </a: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Show Message Dialog</a:t>
            </a:r>
          </a:p>
        </p:txBody>
      </p:sp>
    </p:spTree>
    <p:extLst>
      <p:ext uri="{BB962C8B-B14F-4D97-AF65-F5344CB8AC3E}">
        <p14:creationId xmlns:p14="http://schemas.microsoft.com/office/powerpoint/2010/main" val="374044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843987"/>
            <a:ext cx="12273280" cy="587899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Syntax:</a:t>
            </a: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String name =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JOptionPane.showInputDialog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("Enter your name:");</a:t>
            </a: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      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System.out.println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("You entered: " + name);</a:t>
            </a: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Show Input Dialog</a:t>
            </a:r>
          </a:p>
        </p:txBody>
      </p:sp>
    </p:spTree>
    <p:extLst>
      <p:ext uri="{BB962C8B-B14F-4D97-AF65-F5344CB8AC3E}">
        <p14:creationId xmlns:p14="http://schemas.microsoft.com/office/powerpoint/2010/main" val="146815430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body" idx="4294967295"/>
          </p:nvPr>
        </p:nvSpPr>
        <p:spPr>
          <a:xfrm>
            <a:off x="0" y="864307"/>
            <a:ext cx="12273280" cy="587899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Syntax:</a:t>
            </a: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int answer =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JOptionPane.showConfirmDialog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(null, String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parentMessage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, String tittle, </a:t>
            </a:r>
            <a:r>
              <a:rPr lang="en-GB" b="1" dirty="0" err="1">
                <a:latin typeface="Raleway"/>
                <a:ea typeface="Raleway"/>
                <a:cs typeface="Raleway"/>
                <a:sym typeface="Raleway"/>
              </a:rPr>
              <a:t>JOptionPane.YES_NO_CANCEL_OPTION</a:t>
            </a: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);</a:t>
            </a: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>
              <a:lnSpc>
                <a:spcPct val="105000"/>
              </a:lnSpc>
              <a:spcBef>
                <a:spcPts val="1600"/>
              </a:spcBef>
              <a:buAutoNum type="arabicPeriod"/>
            </a:pPr>
            <a:endParaRPr lang="en-GB" sz="3200" b="1" dirty="0">
              <a:latin typeface="Raleway"/>
              <a:ea typeface="Raleway"/>
              <a:cs typeface="Raleway"/>
              <a:sym typeface="Raleway"/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-GB" sz="3200" b="1" dirty="0" err="1">
                <a:latin typeface="Raleway"/>
                <a:ea typeface="Raleway"/>
                <a:cs typeface="Raleway"/>
                <a:sym typeface="Raleway"/>
              </a:rPr>
              <a:t>System.out.println</a:t>
            </a:r>
            <a:r>
              <a:rPr lang="en-GB" sz="3200" b="1" dirty="0">
                <a:latin typeface="Raleway"/>
                <a:ea typeface="Raleway"/>
                <a:cs typeface="Raleway"/>
                <a:sym typeface="Raleway"/>
              </a:rPr>
              <a:t>(answer);</a:t>
            </a:r>
            <a:endParaRPr lang="en-GB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Google Shape;167;p22">
            <a:extLst>
              <a:ext uri="{FF2B5EF4-FFF2-40B4-BE49-F238E27FC236}">
                <a16:creationId xmlns:a16="http://schemas.microsoft.com/office/drawing/2014/main" id="{FBD13CEB-86DD-9B4B-1C48-801E6121D91B}"/>
              </a:ext>
            </a:extLst>
          </p:cNvPr>
          <p:cNvSpPr txBox="1">
            <a:spLocks/>
          </p:cNvSpPr>
          <p:nvPr/>
        </p:nvSpPr>
        <p:spPr>
          <a:xfrm>
            <a:off x="2184400" y="20320"/>
            <a:ext cx="8001000" cy="7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990"/>
            </a:pP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Show </a:t>
            </a:r>
            <a:r>
              <a:rPr lang="en-GB" sz="5000" b="1" dirty="0" err="1">
                <a:solidFill>
                  <a:srgbClr val="002060"/>
                </a:solidFill>
                <a:latin typeface="Raleway" pitchFamily="2" charset="0"/>
              </a:rPr>
              <a:t>Confrim</a:t>
            </a:r>
            <a:r>
              <a:rPr lang="en-GB" sz="5000" b="1" dirty="0">
                <a:solidFill>
                  <a:srgbClr val="002060"/>
                </a:solidFill>
                <a:latin typeface="Raleway" pitchFamily="2" charset="0"/>
              </a:rPr>
              <a:t> Dialog</a:t>
            </a:r>
          </a:p>
        </p:txBody>
      </p:sp>
    </p:spTree>
    <p:extLst>
      <p:ext uri="{BB962C8B-B14F-4D97-AF65-F5344CB8AC3E}">
        <p14:creationId xmlns:p14="http://schemas.microsoft.com/office/powerpoint/2010/main" val="24222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latin typeface="Comic Sans MS" panose="030F0702030302020204" pitchFamily="66" charset="0"/>
                <a:ea typeface="Unbounded Bold" pitchFamily="34" charset="-122"/>
              </a:rPr>
              <a:t>Comments Please...</a:t>
            </a:r>
            <a:endParaRPr lang="en-US" sz="6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24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5">
                <a:lumMod val="67000"/>
              </a:schemeClr>
            </a:gs>
            <a:gs pos="67000">
              <a:srgbClr val="FF000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12B05-6A68-622F-4B47-B04469E549C2}"/>
              </a:ext>
            </a:extLst>
          </p:cNvPr>
          <p:cNvSpPr/>
          <p:nvPr/>
        </p:nvSpPr>
        <p:spPr>
          <a:xfrm>
            <a:off x="954425" y="3022163"/>
            <a:ext cx="10648910" cy="902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  <a:ea typeface="Unbounded Bold" pitchFamily="34" charset="-122"/>
                <a:cs typeface="Unbounded Bold" pitchFamily="34" charset="-120"/>
              </a:rPr>
              <a:t>THANKYOU</a:t>
            </a:r>
            <a:endParaRPr lang="en-US" sz="6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846</Words>
  <Application>Microsoft Office PowerPoint</Application>
  <PresentationFormat>Widescreen</PresentationFormat>
  <Paragraphs>137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Bahnschrift</vt:lpstr>
      <vt:lpstr>Comic Sans MS</vt:lpstr>
      <vt:lpstr>Raleway</vt:lpstr>
      <vt:lpstr>Wingdings</vt:lpstr>
      <vt:lpstr>Office Theme</vt:lpstr>
      <vt:lpstr>PowerPoint Presentation</vt:lpstr>
      <vt:lpstr>Outline</vt:lpstr>
      <vt:lpstr>PowerPoint Presentation</vt:lpstr>
      <vt:lpstr>GUI</vt:lpstr>
      <vt:lpstr>Why should we learn GUI?</vt:lpstr>
      <vt:lpstr>Basic Concepts and Libraries of GUI in Java</vt:lpstr>
      <vt:lpstr>PowerPoint Presentation</vt:lpstr>
      <vt:lpstr>Java Frame</vt:lpstr>
      <vt:lpstr>Basic Methods of JFrame</vt:lpstr>
      <vt:lpstr>PowerPoint Presentation</vt:lpstr>
      <vt:lpstr>Java Label</vt:lpstr>
      <vt:lpstr>PowerPoint Presentation</vt:lpstr>
      <vt:lpstr>PowerPoint Presentation</vt:lpstr>
      <vt:lpstr>Java Button</vt:lpstr>
      <vt:lpstr>Action Handling</vt:lpstr>
      <vt:lpstr>PowerPoint Presentation</vt:lpstr>
      <vt:lpstr>Border</vt:lpstr>
      <vt:lpstr>Types of Border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Tushal Dawani</dc:creator>
  <cp:lastModifiedBy>Ghulam Mustafa</cp:lastModifiedBy>
  <cp:revision>14</cp:revision>
  <dcterms:created xsi:type="dcterms:W3CDTF">2025-04-13T10:32:15Z</dcterms:created>
  <dcterms:modified xsi:type="dcterms:W3CDTF">2026-08-03T07:32:21Z</dcterms:modified>
</cp:coreProperties>
</file>