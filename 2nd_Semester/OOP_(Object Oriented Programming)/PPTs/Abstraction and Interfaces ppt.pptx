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5" r:id="rId5"/>
    <p:sldId id="262" r:id="rId6"/>
    <p:sldId id="261" r:id="rId7"/>
    <p:sldId id="263" r:id="rId8"/>
    <p:sldId id="264" r:id="rId9"/>
    <p:sldId id="260" r:id="rId10"/>
    <p:sldId id="267" r:id="rId11"/>
    <p:sldId id="269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 Bold" panose="020B0604020202020204" charset="0"/>
      <p:regular r:id="rId18"/>
    </p:embeddedFont>
    <p:embeddedFont>
      <p:font typeface="Montserrat" panose="00000500000000000000" pitchFamily="2" charset="0"/>
      <p:regular r:id="rId19"/>
    </p:embeddedFont>
    <p:embeddedFont>
      <p:font typeface="Montserrat Bold" panose="00000800000000000000" charset="0"/>
      <p:regular r:id="rId20"/>
    </p:embeddedFont>
    <p:embeddedFont>
      <p:font typeface="Museo Moderno" panose="020B0604020202020204" charset="0"/>
      <p:regular r:id="rId21"/>
    </p:embeddedFont>
    <p:embeddedFont>
      <p:font typeface="Museo Moderno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93677-11E4-4101-A57B-37288B5CA9F0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A5B0B-9DB8-43B0-ADD5-930913A5C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4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A5B0B-9DB8-43B0-ADD5-930913A5C9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02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95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314" t="-27670" b="-3852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064086"/>
            <a:ext cx="18288000" cy="6740814"/>
            <a:chOff x="0" y="-38100"/>
            <a:chExt cx="4816593" cy="1775358"/>
          </a:xfrm>
        </p:grpSpPr>
        <p:sp>
          <p:nvSpPr>
            <p:cNvPr id="4" name="Freeform 4"/>
            <p:cNvSpPr/>
            <p:nvPr/>
          </p:nvSpPr>
          <p:spPr>
            <a:xfrm>
              <a:off x="1" y="270368"/>
              <a:ext cx="4816592" cy="1466890"/>
            </a:xfrm>
            <a:custGeom>
              <a:avLst/>
              <a:gdLst/>
              <a:ahLst/>
              <a:cxnLst/>
              <a:rect l="l" t="t" r="r" b="b"/>
              <a:pathLst>
                <a:path w="4816592" h="1466890">
                  <a:moveTo>
                    <a:pt x="0" y="0"/>
                  </a:moveTo>
                  <a:lnTo>
                    <a:pt x="4816592" y="0"/>
                  </a:lnTo>
                  <a:lnTo>
                    <a:pt x="4816592" y="1466890"/>
                  </a:lnTo>
                  <a:lnTo>
                    <a:pt x="0" y="1466890"/>
                  </a:lnTo>
                  <a:close/>
                </a:path>
              </a:pathLst>
            </a:custGeom>
            <a:gradFill rotWithShape="1">
              <a:gsLst>
                <a:gs pos="0">
                  <a:srgbClr val="9F1211">
                    <a:alpha val="0"/>
                  </a:srgbClr>
                </a:gs>
                <a:gs pos="100000">
                  <a:srgbClr val="9F121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504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87714" y="3525286"/>
            <a:ext cx="15512572" cy="237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33"/>
              </a:lnSpc>
            </a:pPr>
            <a:r>
              <a:rPr lang="en-US" sz="6809" spc="5447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ABSTRACT ION</a:t>
            </a:r>
          </a:p>
          <a:p>
            <a:pPr algn="ctr">
              <a:lnSpc>
                <a:spcPts val="9533"/>
              </a:lnSpc>
              <a:spcBef>
                <a:spcPct val="0"/>
              </a:spcBef>
            </a:pPr>
            <a:r>
              <a:rPr lang="en-US" sz="6809" spc="5447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INTERFCES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41990" y="7235300"/>
            <a:ext cx="3275768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endParaRPr lang="en-US" sz="2526" spc="112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70651" y="9006076"/>
            <a:ext cx="4839139" cy="357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Sukkur IBA University Kandh Kot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837721"/>
            <a:ext cx="2458782" cy="54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1"/>
              </a:lnSpc>
              <a:spcBef>
                <a:spcPct val="0"/>
              </a:spcBef>
            </a:pPr>
            <a:r>
              <a:rPr lang="en-US" sz="3251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BSCS-II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24814" y="1000125"/>
            <a:ext cx="5238372" cy="26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sz="160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Fueling the Future, Powering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36356" y="4273155"/>
            <a:ext cx="6151644" cy="6013845"/>
            <a:chOff x="0" y="0"/>
            <a:chExt cx="1620186" cy="1583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0186" cy="1583893"/>
            </a:xfrm>
            <a:custGeom>
              <a:avLst/>
              <a:gdLst/>
              <a:ahLst/>
              <a:cxnLst/>
              <a:rect l="l" t="t" r="r" b="b"/>
              <a:pathLst>
                <a:path w="1620186" h="1583893">
                  <a:moveTo>
                    <a:pt x="0" y="0"/>
                  </a:moveTo>
                  <a:lnTo>
                    <a:pt x="1620186" y="0"/>
                  </a:lnTo>
                  <a:lnTo>
                    <a:pt x="1620186" y="1583893"/>
                  </a:lnTo>
                  <a:lnTo>
                    <a:pt x="0" y="158389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0186" cy="162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40166" y="1305878"/>
            <a:ext cx="7952422" cy="7952422"/>
            <a:chOff x="0" y="0"/>
            <a:chExt cx="3331210" cy="3331210"/>
          </a:xfrm>
        </p:grpSpPr>
        <p:sp>
          <p:nvSpPr>
            <p:cNvPr id="6" name="Freeform 6"/>
            <p:cNvSpPr/>
            <p:nvPr/>
          </p:nvSpPr>
          <p:spPr>
            <a:xfrm flipH="1"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3331210" y="0"/>
                  </a:moveTo>
                  <a:lnTo>
                    <a:pt x="0" y="0"/>
                  </a:lnTo>
                  <a:cubicBezTo>
                    <a:pt x="0" y="1840230"/>
                    <a:pt x="1490980" y="3331210"/>
                    <a:pt x="3331210" y="3331210"/>
                  </a:cubicBezTo>
                  <a:lnTo>
                    <a:pt x="3331210" y="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504950" y="1814618"/>
            <a:ext cx="6966829" cy="8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6"/>
              </a:lnSpc>
              <a:spcBef>
                <a:spcPct val="0"/>
              </a:spcBef>
            </a:pPr>
            <a:r>
              <a:rPr lang="en-US" sz="5126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What is Abstraction 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950" y="452534"/>
            <a:ext cx="2548703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" y="3457452"/>
            <a:ext cx="8133340" cy="655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Abstraction is the concept of hiding complex implementation details and showing only the essential features of an object.</a:t>
            </a:r>
          </a:p>
          <a:p>
            <a:pPr algn="just">
              <a:lnSpc>
                <a:spcPct val="150000"/>
              </a:lnSpc>
            </a:pPr>
            <a:endParaRPr lang="en-US" sz="3600" b="1" dirty="0">
              <a:solidFill>
                <a:srgbClr val="2E2B2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Ex: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Withdrawing money from ATM Machine without knowing  how it is working from inside.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41433" y="-548496"/>
            <a:ext cx="4088016" cy="4088016"/>
          </a:xfrm>
          <a:custGeom>
            <a:avLst/>
            <a:gdLst/>
            <a:ahLst/>
            <a:cxnLst/>
            <a:rect l="l" t="t" r="r" b="b"/>
            <a:pathLst>
              <a:path w="4088016" h="4088016">
                <a:moveTo>
                  <a:pt x="0" y="0"/>
                </a:moveTo>
                <a:lnTo>
                  <a:pt x="4088016" y="0"/>
                </a:lnTo>
                <a:lnTo>
                  <a:pt x="4088016" y="4088016"/>
                </a:lnTo>
                <a:lnTo>
                  <a:pt x="0" y="408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3833" y="7983449"/>
            <a:ext cx="2125897" cy="2125897"/>
          </a:xfrm>
          <a:custGeom>
            <a:avLst/>
            <a:gdLst/>
            <a:ahLst/>
            <a:cxnLst/>
            <a:rect l="l" t="t" r="r" b="b"/>
            <a:pathLst>
              <a:path w="2125897" h="2125897">
                <a:moveTo>
                  <a:pt x="0" y="0"/>
                </a:moveTo>
                <a:lnTo>
                  <a:pt x="2125897" y="0"/>
                </a:lnTo>
                <a:lnTo>
                  <a:pt x="2125897" y="2125897"/>
                </a:lnTo>
                <a:lnTo>
                  <a:pt x="0" y="2125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3833" y="3519684"/>
            <a:ext cx="7700598" cy="212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1"/>
              </a:lnSpc>
            </a:pPr>
            <a:r>
              <a:rPr lang="en-US" sz="5900" b="1" dirty="0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Diagram example for Abstraction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36133" y="152994"/>
            <a:ext cx="9709333" cy="10324502"/>
            <a:chOff x="0" y="15947"/>
            <a:chExt cx="812800" cy="864298"/>
          </a:xfrm>
        </p:grpSpPr>
        <p:sp>
          <p:nvSpPr>
            <p:cNvPr id="6" name="Freeform 6"/>
            <p:cNvSpPr/>
            <p:nvPr/>
          </p:nvSpPr>
          <p:spPr>
            <a:xfrm>
              <a:off x="0" y="15947"/>
              <a:ext cx="812800" cy="864298"/>
            </a:xfrm>
            <a:custGeom>
              <a:avLst/>
              <a:gdLst/>
              <a:ahLst/>
              <a:cxnLst/>
              <a:rect l="l" t="t" r="r" b="b"/>
              <a:pathLst>
                <a:path w="812800" h="864298">
                  <a:moveTo>
                    <a:pt x="0" y="0"/>
                  </a:moveTo>
                  <a:lnTo>
                    <a:pt x="812800" y="0"/>
                  </a:lnTo>
                  <a:lnTo>
                    <a:pt x="812800" y="864298"/>
                  </a:lnTo>
                  <a:lnTo>
                    <a:pt x="0" y="864298"/>
                  </a:lnTo>
                  <a:close/>
                </a:path>
              </a:pathLst>
            </a:custGeom>
            <a:blipFill>
              <a:blip r:embed="rId5"/>
              <a:stretch>
                <a:fillRect l="-2774" r="-4810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3837447" y="-5336188"/>
            <a:ext cx="10597371" cy="10597371"/>
          </a:xfrm>
          <a:custGeom>
            <a:avLst/>
            <a:gdLst/>
            <a:ahLst/>
            <a:cxnLst/>
            <a:rect l="l" t="t" r="r" b="b"/>
            <a:pathLst>
              <a:path w="10597371" h="10597371">
                <a:moveTo>
                  <a:pt x="0" y="0"/>
                </a:moveTo>
                <a:lnTo>
                  <a:pt x="10597371" y="0"/>
                </a:lnTo>
                <a:lnTo>
                  <a:pt x="10597371" y="10597372"/>
                </a:lnTo>
                <a:lnTo>
                  <a:pt x="0" y="10597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1492" y="572877"/>
            <a:ext cx="2008238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36356" y="4273155"/>
            <a:ext cx="6151644" cy="6013845"/>
            <a:chOff x="0" y="0"/>
            <a:chExt cx="1620186" cy="1583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0186" cy="1583893"/>
            </a:xfrm>
            <a:custGeom>
              <a:avLst/>
              <a:gdLst/>
              <a:ahLst/>
              <a:cxnLst/>
              <a:rect l="l" t="t" r="r" b="b"/>
              <a:pathLst>
                <a:path w="1620186" h="1583893">
                  <a:moveTo>
                    <a:pt x="0" y="0"/>
                  </a:moveTo>
                  <a:lnTo>
                    <a:pt x="1620186" y="0"/>
                  </a:lnTo>
                  <a:lnTo>
                    <a:pt x="1620186" y="1583893"/>
                  </a:lnTo>
                  <a:lnTo>
                    <a:pt x="0" y="158389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0186" cy="162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40166" y="1305878"/>
            <a:ext cx="7952422" cy="7952422"/>
            <a:chOff x="0" y="0"/>
            <a:chExt cx="3331210" cy="33312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0" y="0"/>
                  </a:moveTo>
                  <a:lnTo>
                    <a:pt x="3331210" y="0"/>
                  </a:lnTo>
                  <a:cubicBezTo>
                    <a:pt x="3331210" y="1840230"/>
                    <a:pt x="1840230" y="3331210"/>
                    <a:pt x="0" y="3331210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516" r="-5988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82304" y="1262959"/>
            <a:ext cx="6966829" cy="1570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6" b="1" dirty="0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Programming Examples of Abstraction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950" y="452534"/>
            <a:ext cx="2548703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0948" y="2859999"/>
            <a:ext cx="7449539" cy="729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abstract class ATM { 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abstract void 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performTransaction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();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}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class Withdraw extends ATM 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voidperformTransaction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()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	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System.out.println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(" Cash Withdrawn...");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}}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class Abstract{  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public static void main(String[] 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args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 { 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Withdrawobj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newWithdraw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();           	</a:t>
            </a:r>
            <a:r>
              <a:rPr lang="en-US" sz="1980" b="1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obj.performTransaction</a:t>
            </a: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();  </a:t>
            </a:r>
          </a:p>
          <a:p>
            <a:pPr algn="just">
              <a:lnSpc>
                <a:spcPts val="4120"/>
              </a:lnSpc>
            </a:pPr>
            <a:r>
              <a:rPr lang="en-US" sz="198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}}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55356"/>
            <a:ext cx="18288000" cy="1431644"/>
            <a:chOff x="0" y="0"/>
            <a:chExt cx="4816593" cy="377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7059"/>
            </a:xfrm>
            <a:custGeom>
              <a:avLst/>
              <a:gdLst/>
              <a:ahLst/>
              <a:cxnLst/>
              <a:rect l="l" t="t" r="r" b="b"/>
              <a:pathLst>
                <a:path w="4816592" h="377059">
                  <a:moveTo>
                    <a:pt x="0" y="0"/>
                  </a:moveTo>
                  <a:lnTo>
                    <a:pt x="4816592" y="0"/>
                  </a:lnTo>
                  <a:lnTo>
                    <a:pt x="4816592" y="377059"/>
                  </a:lnTo>
                  <a:lnTo>
                    <a:pt x="0" y="3770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15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06743" y="452534"/>
            <a:ext cx="2108307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8250" y="3263031"/>
            <a:ext cx="16237865" cy="4800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846" lvl="1" indent="-278423" algn="just">
              <a:lnSpc>
                <a:spcPts val="6447"/>
              </a:lnSpc>
              <a:buFont typeface="Arial"/>
              <a:buChar char="•"/>
            </a:pPr>
            <a:r>
              <a:rPr lang="en-US" sz="2579" b="1" spc="-14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Cannot be Instantiated: You cannot create objects of abstract classes directly.</a:t>
            </a:r>
          </a:p>
          <a:p>
            <a:pPr marL="556846" lvl="1" indent="-278423" algn="just">
              <a:lnSpc>
                <a:spcPts val="6447"/>
              </a:lnSpc>
              <a:buFont typeface="Arial"/>
              <a:buChar char="•"/>
            </a:pPr>
            <a:r>
              <a:rPr lang="en-US" sz="2579" b="1" spc="-14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May contain abstract methods: Abstract classes have methods without implementation.</a:t>
            </a:r>
          </a:p>
          <a:p>
            <a:pPr marL="556846" lvl="1" indent="-278423" algn="just">
              <a:lnSpc>
                <a:spcPts val="6447"/>
              </a:lnSpc>
              <a:buFont typeface="Arial"/>
              <a:buChar char="•"/>
            </a:pPr>
            <a:r>
              <a:rPr lang="en-US" sz="2579" b="1" spc="-14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Provides a blueprint: Meant to be extended by subclasses that provide specific behavior.</a:t>
            </a:r>
          </a:p>
          <a:p>
            <a:pPr marL="556846" lvl="1" indent="-278423" algn="just">
              <a:lnSpc>
                <a:spcPts val="6447"/>
              </a:lnSpc>
              <a:buFont typeface="Arial"/>
              <a:buChar char="•"/>
            </a:pPr>
            <a:r>
              <a:rPr lang="en-US" sz="2579" b="1" spc="-14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Focuses on “what” not “how”: Emphasizes what an object does, not how it does it.</a:t>
            </a:r>
          </a:p>
          <a:p>
            <a:pPr marL="556846" lvl="1" indent="-278423" algn="just">
              <a:lnSpc>
                <a:spcPts val="6447"/>
              </a:lnSpc>
              <a:buFont typeface="Arial"/>
              <a:buChar char="•"/>
            </a:pPr>
            <a:r>
              <a:rPr lang="en-US" sz="2579" b="1" spc="-14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Supports partial implementation: Can contain both abstract and concrete methods, unlike interfaces.</a:t>
            </a:r>
          </a:p>
          <a:p>
            <a:pPr algn="just">
              <a:lnSpc>
                <a:spcPts val="6447"/>
              </a:lnSpc>
            </a:pPr>
            <a:endParaRPr lang="en-US" sz="2579" b="1" spc="-141" dirty="0">
              <a:solidFill>
                <a:srgbClr val="2E2B2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922541" y="1274854"/>
            <a:ext cx="6442918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3"/>
              </a:lnSpc>
            </a:pPr>
            <a:r>
              <a:rPr lang="en-US" sz="4937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Properties of </a:t>
            </a:r>
            <a:r>
              <a:rPr lang="en-US" sz="4937" dirty="0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Abstraction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4976300" y="1028700"/>
            <a:ext cx="1892483" cy="2287616"/>
          </a:xfrm>
          <a:custGeom>
            <a:avLst/>
            <a:gdLst/>
            <a:ahLst/>
            <a:cxnLst/>
            <a:rect l="l" t="t" r="r" b="b"/>
            <a:pathLst>
              <a:path w="1892483" h="2287616">
                <a:moveTo>
                  <a:pt x="0" y="0"/>
                </a:moveTo>
                <a:lnTo>
                  <a:pt x="1892482" y="0"/>
                </a:lnTo>
                <a:lnTo>
                  <a:pt x="1892482" y="2287616"/>
                </a:lnTo>
                <a:lnTo>
                  <a:pt x="0" y="228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55356"/>
            <a:ext cx="18288000" cy="1431644"/>
            <a:chOff x="0" y="0"/>
            <a:chExt cx="4816593" cy="377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7059"/>
            </a:xfrm>
            <a:custGeom>
              <a:avLst/>
              <a:gdLst/>
              <a:ahLst/>
              <a:cxnLst/>
              <a:rect l="l" t="t" r="r" b="b"/>
              <a:pathLst>
                <a:path w="4816592" h="377059">
                  <a:moveTo>
                    <a:pt x="0" y="0"/>
                  </a:moveTo>
                  <a:lnTo>
                    <a:pt x="4816592" y="0"/>
                  </a:lnTo>
                  <a:lnTo>
                    <a:pt x="4816592" y="377059"/>
                  </a:lnTo>
                  <a:lnTo>
                    <a:pt x="0" y="3770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15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39508" y="2323721"/>
            <a:ext cx="14236740" cy="352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386" lvl="1" indent="-296693" algn="just">
              <a:lnSpc>
                <a:spcPts val="5744"/>
              </a:lnSpc>
              <a:buFont typeface="Arial"/>
              <a:buChar char="•"/>
            </a:pPr>
            <a:r>
              <a:rPr lang="en-US" sz="2748" b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Hides internal implementation details.</a:t>
            </a:r>
          </a:p>
          <a:p>
            <a:pPr marL="593386" lvl="1" indent="-296693" algn="just">
              <a:lnSpc>
                <a:spcPts val="5744"/>
              </a:lnSpc>
              <a:buFont typeface="Arial"/>
              <a:buChar char="•"/>
            </a:pPr>
            <a:r>
              <a:rPr lang="en-US" sz="2748" b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Shows only essential features to the user.</a:t>
            </a:r>
          </a:p>
          <a:p>
            <a:pPr marL="593386" lvl="1" indent="-296693" algn="just">
              <a:lnSpc>
                <a:spcPts val="5744"/>
              </a:lnSpc>
              <a:buFont typeface="Arial"/>
              <a:buChar char="•"/>
            </a:pPr>
            <a:r>
              <a:rPr lang="en-US" sz="2748" b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Improves code maintainability and readability.</a:t>
            </a:r>
          </a:p>
          <a:p>
            <a:pPr marL="593386" lvl="1" indent="-296693" algn="just">
              <a:lnSpc>
                <a:spcPts val="5744"/>
              </a:lnSpc>
              <a:buFont typeface="Arial"/>
              <a:buChar char="•"/>
            </a:pPr>
            <a:r>
              <a:rPr lang="en-US" sz="2748" b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Reduces code complexity.</a:t>
            </a:r>
          </a:p>
          <a:p>
            <a:pPr marL="593386" lvl="1" indent="-296693" algn="just">
              <a:lnSpc>
                <a:spcPts val="5744"/>
              </a:lnSpc>
              <a:buFont typeface="Arial"/>
              <a:buChar char="•"/>
            </a:pPr>
            <a:r>
              <a:rPr lang="en-US" sz="2748" b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Enhances security by exposing only necessary parts.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95275" y="571860"/>
            <a:ext cx="6442918" cy="140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0"/>
              </a:lnSpc>
            </a:pPr>
            <a:r>
              <a:rPr lang="en-US" sz="4937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Advantages of Abstraction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36356" y="4273155"/>
            <a:ext cx="6151644" cy="6013845"/>
            <a:chOff x="0" y="0"/>
            <a:chExt cx="1620186" cy="1583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0186" cy="1583893"/>
            </a:xfrm>
            <a:custGeom>
              <a:avLst/>
              <a:gdLst/>
              <a:ahLst/>
              <a:cxnLst/>
              <a:rect l="l" t="t" r="r" b="b"/>
              <a:pathLst>
                <a:path w="1620186" h="1583893">
                  <a:moveTo>
                    <a:pt x="0" y="0"/>
                  </a:moveTo>
                  <a:lnTo>
                    <a:pt x="1620186" y="0"/>
                  </a:lnTo>
                  <a:lnTo>
                    <a:pt x="1620186" y="1583893"/>
                  </a:lnTo>
                  <a:lnTo>
                    <a:pt x="0" y="158389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0186" cy="162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40166" y="1305878"/>
            <a:ext cx="7952422" cy="7952422"/>
            <a:chOff x="0" y="0"/>
            <a:chExt cx="3331210" cy="3331210"/>
          </a:xfrm>
        </p:grpSpPr>
        <p:sp>
          <p:nvSpPr>
            <p:cNvPr id="6" name="Freeform 6"/>
            <p:cNvSpPr/>
            <p:nvPr/>
          </p:nvSpPr>
          <p:spPr>
            <a:xfrm flipH="1"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3331210" y="0"/>
                  </a:moveTo>
                  <a:lnTo>
                    <a:pt x="0" y="0"/>
                  </a:lnTo>
                  <a:cubicBezTo>
                    <a:pt x="0" y="1840230"/>
                    <a:pt x="1490980" y="3331210"/>
                    <a:pt x="3331210" y="3331210"/>
                  </a:cubicBezTo>
                  <a:lnTo>
                    <a:pt x="3331210" y="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504950" y="1814618"/>
            <a:ext cx="6966829" cy="8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6"/>
              </a:lnSpc>
              <a:spcBef>
                <a:spcPct val="0"/>
              </a:spcBef>
            </a:pPr>
            <a:r>
              <a:rPr lang="en-US" sz="5126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What is an Interface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950" y="452534"/>
            <a:ext cx="2548703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4950" y="3466977"/>
            <a:ext cx="6784226" cy="626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 in Java programming language is defined an abstract type which gives us 100% abstraction.</a:t>
            </a:r>
          </a:p>
          <a:p>
            <a:pPr algn="just">
              <a:lnSpc>
                <a:spcPts val="3490"/>
              </a:lnSpc>
            </a:pPr>
            <a:endParaRPr lang="en-US" sz="3600" b="1" dirty="0">
              <a:solidFill>
                <a:srgbClr val="2E2B2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Interfaces take only the abstract method.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41433" y="-548496"/>
            <a:ext cx="4088016" cy="4088016"/>
          </a:xfrm>
          <a:custGeom>
            <a:avLst/>
            <a:gdLst/>
            <a:ahLst/>
            <a:cxnLst/>
            <a:rect l="l" t="t" r="r" b="b"/>
            <a:pathLst>
              <a:path w="4088016" h="4088016">
                <a:moveTo>
                  <a:pt x="0" y="0"/>
                </a:moveTo>
                <a:lnTo>
                  <a:pt x="4088016" y="0"/>
                </a:lnTo>
                <a:lnTo>
                  <a:pt x="4088016" y="4088016"/>
                </a:lnTo>
                <a:lnTo>
                  <a:pt x="0" y="408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3833" y="7983449"/>
            <a:ext cx="2125897" cy="2125897"/>
          </a:xfrm>
          <a:custGeom>
            <a:avLst/>
            <a:gdLst/>
            <a:ahLst/>
            <a:cxnLst/>
            <a:rect l="l" t="t" r="r" b="b"/>
            <a:pathLst>
              <a:path w="2125897" h="2125897">
                <a:moveTo>
                  <a:pt x="0" y="0"/>
                </a:moveTo>
                <a:lnTo>
                  <a:pt x="2125897" y="0"/>
                </a:lnTo>
                <a:lnTo>
                  <a:pt x="2125897" y="2125897"/>
                </a:lnTo>
                <a:lnTo>
                  <a:pt x="0" y="212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37447" y="-5336188"/>
            <a:ext cx="10597371" cy="10597371"/>
          </a:xfrm>
          <a:custGeom>
            <a:avLst/>
            <a:gdLst/>
            <a:ahLst/>
            <a:cxnLst/>
            <a:rect l="l" t="t" r="r" b="b"/>
            <a:pathLst>
              <a:path w="10597371" h="10597371">
                <a:moveTo>
                  <a:pt x="0" y="0"/>
                </a:moveTo>
                <a:lnTo>
                  <a:pt x="10597371" y="0"/>
                </a:lnTo>
                <a:lnTo>
                  <a:pt x="10597371" y="10597372"/>
                </a:lnTo>
                <a:lnTo>
                  <a:pt x="0" y="10597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3833" y="3519684"/>
            <a:ext cx="7700598" cy="212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1"/>
              </a:lnSpc>
              <a:spcBef>
                <a:spcPct val="0"/>
              </a:spcBef>
            </a:pPr>
            <a:r>
              <a:rPr lang="en-US" sz="5900" b="1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Diagram </a:t>
            </a:r>
            <a:r>
              <a:rPr lang="en-US" sz="5900" b="1" dirty="0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example for Interface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36133" y="-37502"/>
            <a:ext cx="9709333" cy="10324502"/>
            <a:chOff x="0" y="0"/>
            <a:chExt cx="812800" cy="864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64298"/>
            </a:xfrm>
            <a:custGeom>
              <a:avLst/>
              <a:gdLst/>
              <a:ahLst/>
              <a:cxnLst/>
              <a:rect l="l" t="t" r="r" b="b"/>
              <a:pathLst>
                <a:path w="812800" h="864298">
                  <a:moveTo>
                    <a:pt x="0" y="0"/>
                  </a:moveTo>
                  <a:lnTo>
                    <a:pt x="812800" y="0"/>
                  </a:lnTo>
                  <a:lnTo>
                    <a:pt x="812800" y="864298"/>
                  </a:lnTo>
                  <a:lnTo>
                    <a:pt x="0" y="864298"/>
                  </a:lnTo>
                  <a:close/>
                </a:path>
              </a:pathLst>
            </a:custGeom>
            <a:blipFill>
              <a:blip r:embed="rId6"/>
              <a:stretch>
                <a:fillRect l="-633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806743" y="452534"/>
            <a:ext cx="2008238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8197" y="4026011"/>
            <a:ext cx="285988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36356" y="4273155"/>
            <a:ext cx="6151644" cy="6013845"/>
            <a:chOff x="0" y="0"/>
            <a:chExt cx="1620186" cy="1583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0186" cy="1583893"/>
            </a:xfrm>
            <a:custGeom>
              <a:avLst/>
              <a:gdLst/>
              <a:ahLst/>
              <a:cxnLst/>
              <a:rect l="l" t="t" r="r" b="b"/>
              <a:pathLst>
                <a:path w="1620186" h="1583893">
                  <a:moveTo>
                    <a:pt x="0" y="0"/>
                  </a:moveTo>
                  <a:lnTo>
                    <a:pt x="1620186" y="0"/>
                  </a:lnTo>
                  <a:lnTo>
                    <a:pt x="1620186" y="1583893"/>
                  </a:lnTo>
                  <a:lnTo>
                    <a:pt x="0" y="158389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20186" cy="1621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40166" y="1305878"/>
            <a:ext cx="7952422" cy="7952422"/>
            <a:chOff x="0" y="0"/>
            <a:chExt cx="3331210" cy="33312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0" y="0"/>
                  </a:moveTo>
                  <a:lnTo>
                    <a:pt x="3331210" y="0"/>
                  </a:lnTo>
                  <a:cubicBezTo>
                    <a:pt x="3331210" y="1840230"/>
                    <a:pt x="1840230" y="3331210"/>
                    <a:pt x="0" y="3331210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516" r="-5988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481592"/>
            <a:ext cx="6966829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6"/>
              </a:lnSpc>
              <a:spcBef>
                <a:spcPct val="0"/>
              </a:spcBef>
            </a:pPr>
            <a:r>
              <a:rPr lang="en-US" sz="4526" b="1" dirty="0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Programming Examples of Interface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950" y="452534"/>
            <a:ext cx="2548703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3490707"/>
            <a:ext cx="8607359" cy="7694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interface Shape{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void area();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 circle implements shape {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void area(){ </a:t>
            </a:r>
            <a:r>
              <a:rPr lang="en-US" sz="2177" b="1" spc="233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System.out.println</a:t>
            </a: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(“circle area 44cm”);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 triangle implements shape{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void area(){ </a:t>
            </a:r>
            <a:r>
              <a:rPr lang="en-US" sz="2177" b="1" spc="233" dirty="0" err="1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System.out.println</a:t>
            </a: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(“triangle area 44cm”);</a:t>
            </a:r>
          </a:p>
          <a:p>
            <a:pPr algn="just">
              <a:lnSpc>
                <a:spcPts val="4965"/>
              </a:lnSpc>
            </a:pPr>
            <a:r>
              <a:rPr lang="en-US" sz="2177" b="1" spc="233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}</a:t>
            </a:r>
          </a:p>
          <a:p>
            <a:pPr algn="just">
              <a:lnSpc>
                <a:spcPts val="4965"/>
              </a:lnSpc>
            </a:pPr>
            <a:endParaRPr lang="en-US" sz="2177" b="1" spc="233" dirty="0">
              <a:solidFill>
                <a:srgbClr val="2E2B2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55356"/>
            <a:ext cx="18288000" cy="1431644"/>
            <a:chOff x="0" y="0"/>
            <a:chExt cx="4816593" cy="377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7059"/>
            </a:xfrm>
            <a:custGeom>
              <a:avLst/>
              <a:gdLst/>
              <a:ahLst/>
              <a:cxnLst/>
              <a:rect l="l" t="t" r="r" b="b"/>
              <a:pathLst>
                <a:path w="4816592" h="377059">
                  <a:moveTo>
                    <a:pt x="0" y="0"/>
                  </a:moveTo>
                  <a:lnTo>
                    <a:pt x="4816592" y="0"/>
                  </a:lnTo>
                  <a:lnTo>
                    <a:pt x="4816592" y="377059"/>
                  </a:lnTo>
                  <a:lnTo>
                    <a:pt x="0" y="3770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15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38250" y="3434481"/>
            <a:ext cx="16237865" cy="301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846" lvl="1" indent="-278423" algn="just">
              <a:lnSpc>
                <a:spcPts val="4694"/>
              </a:lnSpc>
              <a:buFont typeface="Arial"/>
              <a:buChar char="•"/>
            </a:pPr>
            <a:r>
              <a:rPr lang="en-US" sz="2579" b="1" spc="72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Contains abstract methods.</a:t>
            </a:r>
          </a:p>
          <a:p>
            <a:pPr marL="556846" lvl="1" indent="-278423" algn="just">
              <a:lnSpc>
                <a:spcPts val="4694"/>
              </a:lnSpc>
              <a:buFont typeface="Arial"/>
              <a:buChar char="•"/>
            </a:pPr>
            <a:r>
              <a:rPr lang="en-US" sz="2579" b="1" spc="72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implements keyword to implement an interface.</a:t>
            </a:r>
          </a:p>
          <a:p>
            <a:pPr marL="556846" lvl="1" indent="-278423" algn="just">
              <a:lnSpc>
                <a:spcPts val="4694"/>
              </a:lnSpc>
              <a:buFont typeface="Arial"/>
              <a:buChar char="•"/>
            </a:pPr>
            <a:r>
              <a:rPr lang="en-US" sz="2579" b="1" spc="72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Supports multiple inheritance.</a:t>
            </a:r>
          </a:p>
          <a:p>
            <a:pPr marL="556846" lvl="1" indent="-278423" algn="just">
              <a:lnSpc>
                <a:spcPts val="4694"/>
              </a:lnSpc>
              <a:buFont typeface="Arial"/>
              <a:buChar char="•"/>
            </a:pPr>
            <a:r>
              <a:rPr lang="en-US" sz="2579" b="1" spc="72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 methods are public and abstract by default.</a:t>
            </a:r>
          </a:p>
          <a:p>
            <a:pPr marL="556846" lvl="1" indent="-278423" algn="just">
              <a:lnSpc>
                <a:spcPts val="4694"/>
              </a:lnSpc>
              <a:buFont typeface="Arial"/>
              <a:buChar char="•"/>
            </a:pPr>
            <a:r>
              <a:rPr lang="en-US" sz="2579" b="1" spc="72" dirty="0">
                <a:solidFill>
                  <a:srgbClr val="2E2B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Interfaces can extend other interfaces.</a:t>
            </a:r>
          </a:p>
        </p:txBody>
      </p:sp>
      <p:sp>
        <p:nvSpPr>
          <p:cNvPr id="6" name="Freeform 6"/>
          <p:cNvSpPr/>
          <p:nvPr/>
        </p:nvSpPr>
        <p:spPr>
          <a:xfrm>
            <a:off x="4525605" y="905826"/>
            <a:ext cx="1892483" cy="2287616"/>
          </a:xfrm>
          <a:custGeom>
            <a:avLst/>
            <a:gdLst/>
            <a:ahLst/>
            <a:cxnLst/>
            <a:rect l="l" t="t" r="r" b="b"/>
            <a:pathLst>
              <a:path w="1892483" h="2287616">
                <a:moveTo>
                  <a:pt x="0" y="0"/>
                </a:moveTo>
                <a:lnTo>
                  <a:pt x="1892483" y="0"/>
                </a:lnTo>
                <a:lnTo>
                  <a:pt x="1892483" y="2287616"/>
                </a:lnTo>
                <a:lnTo>
                  <a:pt x="0" y="228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6743" y="452534"/>
            <a:ext cx="2108307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22541" y="1274854"/>
            <a:ext cx="6442918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3"/>
              </a:lnSpc>
            </a:pPr>
            <a:r>
              <a:rPr lang="en-US" sz="4937" dirty="0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Properties of Interfaces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55356"/>
            <a:ext cx="18288000" cy="1431644"/>
            <a:chOff x="0" y="0"/>
            <a:chExt cx="4816593" cy="377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77059"/>
            </a:xfrm>
            <a:custGeom>
              <a:avLst/>
              <a:gdLst/>
              <a:ahLst/>
              <a:cxnLst/>
              <a:rect l="l" t="t" r="r" b="b"/>
              <a:pathLst>
                <a:path w="4816592" h="377059">
                  <a:moveTo>
                    <a:pt x="0" y="0"/>
                  </a:moveTo>
                  <a:lnTo>
                    <a:pt x="4816592" y="0"/>
                  </a:lnTo>
                  <a:lnTo>
                    <a:pt x="4816592" y="377059"/>
                  </a:lnTo>
                  <a:lnTo>
                    <a:pt x="0" y="3770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15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6743" y="452534"/>
            <a:ext cx="2108307" cy="45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3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SIBA K.KOT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4000" y="3270717"/>
            <a:ext cx="6442918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3"/>
              </a:lnSpc>
            </a:pPr>
            <a:r>
              <a:rPr lang="en-US" sz="4937" dirty="0">
                <a:solidFill>
                  <a:srgbClr val="000000"/>
                </a:solidFill>
                <a:latin typeface="Museo Moderno"/>
                <a:ea typeface="Museo Moderno"/>
                <a:cs typeface="Museo Moderno"/>
                <a:sym typeface="Museo Moderno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746835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398</Words>
  <Application>Microsoft Office PowerPoint</Application>
  <PresentationFormat>Custom</PresentationFormat>
  <Paragraphs>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Museo Moderno</vt:lpstr>
      <vt:lpstr>Montserrat</vt:lpstr>
      <vt:lpstr>Montserrat Bold</vt:lpstr>
      <vt:lpstr>Canva Sans Bold</vt:lpstr>
      <vt:lpstr>Museo Moderno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Minimalist Company Profile Presentation</dc:title>
  <dc:creator>Harsh Kumar</dc:creator>
  <cp:lastModifiedBy>Ghulam Mustafa</cp:lastModifiedBy>
  <cp:revision>28</cp:revision>
  <dcterms:created xsi:type="dcterms:W3CDTF">2006-08-16T00:00:00Z</dcterms:created>
  <dcterms:modified xsi:type="dcterms:W3CDTF">2026-08-03T07:30:19Z</dcterms:modified>
  <dc:identifier>DAGksJTn6wE</dc:identifier>
</cp:coreProperties>
</file>