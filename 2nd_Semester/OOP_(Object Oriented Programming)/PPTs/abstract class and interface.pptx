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</p:sldIdLst>
  <p:sldSz cx="18288000" cy="10287000"/>
  <p:notesSz cx="6858000" cy="9144000"/>
  <p:embeddedFontLst>
    <p:embeddedFont>
      <p:font typeface="Boriboon" panose="020B0604020202020204" charset="-34"/>
      <p:regular r:id="rId20"/>
    </p:embeddedFont>
    <p:embeddedFont>
      <p:font typeface="Boriboon Bold" panose="020B0604020202020204" charset="-34"/>
      <p:regular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Garet 1 Bold" panose="020B0604020202020204" charset="0"/>
      <p:regular r:id="rId26"/>
    </p:embeddedFont>
    <p:embeddedFont>
      <p:font typeface="Garet 2" panose="020B0604020202020204" charset="0"/>
      <p:regular r:id="rId27"/>
    </p:embeddedFont>
    <p:embeddedFont>
      <p:font typeface="Garet 2 Bold" panose="020B0604020202020204" charset="0"/>
      <p:regular r:id="rId28"/>
    </p:embeddedFont>
    <p:embeddedFont>
      <p:font typeface="TAN Mon Cheri" panose="020B0604020202020204" charset="0"/>
      <p:regular r:id="rId29"/>
    </p:embeddedFont>
    <p:embeddedFont>
      <p:font typeface="Tomorrow" panose="020B0604020202020204" charset="0"/>
      <p:regular r:id="rId30"/>
    </p:embeddedFont>
    <p:embeddedFont>
      <p:font typeface="Tomorrow Bold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75039" y="0"/>
            <a:ext cx="3812961" cy="10287000"/>
            <a:chOff x="0" y="0"/>
            <a:chExt cx="1004237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4237" cy="2709333"/>
            </a:xfrm>
            <a:custGeom>
              <a:avLst/>
              <a:gdLst/>
              <a:ahLst/>
              <a:cxnLst/>
              <a:rect l="l" t="t" r="r" b="b"/>
              <a:pathLst>
                <a:path w="1004237" h="2709333">
                  <a:moveTo>
                    <a:pt x="0" y="0"/>
                  </a:moveTo>
                  <a:lnTo>
                    <a:pt x="1004237" y="0"/>
                  </a:lnTo>
                  <a:lnTo>
                    <a:pt x="100423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5A58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04237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695608" y="4364069"/>
            <a:ext cx="1558861" cy="1558861"/>
          </a:xfrm>
          <a:custGeom>
            <a:avLst/>
            <a:gdLst/>
            <a:ahLst/>
            <a:cxnLst/>
            <a:rect l="l" t="t" r="r" b="b"/>
            <a:pathLst>
              <a:path w="1558861" h="1558861">
                <a:moveTo>
                  <a:pt x="0" y="0"/>
                </a:moveTo>
                <a:lnTo>
                  <a:pt x="1558861" y="0"/>
                </a:lnTo>
                <a:lnTo>
                  <a:pt x="1558861" y="1558862"/>
                </a:lnTo>
                <a:lnTo>
                  <a:pt x="0" y="1558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1377731"/>
            <a:ext cx="19822020" cy="3410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73"/>
              </a:lnSpc>
            </a:pPr>
            <a:r>
              <a:rPr lang="en-US" sz="9766" b="1">
                <a:solidFill>
                  <a:srgbClr val="737373"/>
                </a:solidFill>
                <a:latin typeface="Boriboon Bold"/>
                <a:ea typeface="Boriboon Bold"/>
                <a:cs typeface="Boriboon Bold"/>
                <a:sym typeface="Boriboon Bold"/>
              </a:rPr>
              <a:t>ABSTRACT CLASS</a:t>
            </a:r>
          </a:p>
          <a:p>
            <a:pPr algn="l">
              <a:lnSpc>
                <a:spcPts val="13673"/>
              </a:lnSpc>
            </a:pPr>
            <a:r>
              <a:rPr lang="en-US" sz="9766" b="1">
                <a:solidFill>
                  <a:srgbClr val="737373"/>
                </a:solidFill>
                <a:latin typeface="Boriboon Bold"/>
                <a:ea typeface="Boriboon Bold"/>
                <a:cs typeface="Boriboon Bold"/>
                <a:sym typeface="Boriboon Bold"/>
              </a:rPr>
              <a:t> AND INTERFACE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658513" cy="10287000"/>
            <a:chOff x="0" y="0"/>
            <a:chExt cx="96355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3559" cy="2709333"/>
            </a:xfrm>
            <a:custGeom>
              <a:avLst/>
              <a:gdLst/>
              <a:ahLst/>
              <a:cxnLst/>
              <a:rect l="l" t="t" r="r" b="b"/>
              <a:pathLst>
                <a:path w="963559" h="2709333">
                  <a:moveTo>
                    <a:pt x="0" y="0"/>
                  </a:moveTo>
                  <a:lnTo>
                    <a:pt x="963559" y="0"/>
                  </a:lnTo>
                  <a:lnTo>
                    <a:pt x="96355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B705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63559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688213" y="565546"/>
            <a:ext cx="13600787" cy="184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38"/>
              </a:lnSpc>
            </a:pPr>
            <a:r>
              <a:rPr lang="en-US" sz="9600" dirty="0">
                <a:solidFill>
                  <a:srgbClr val="6B705C"/>
                </a:solidFill>
                <a:latin typeface="TAN Mon Cheri"/>
                <a:ea typeface="TAN Mon Cheri"/>
                <a:cs typeface="TAN Mon Cheri"/>
                <a:sym typeface="TAN Mon Cheri"/>
              </a:rPr>
              <a:t>ABSTRACTION</a:t>
            </a:r>
          </a:p>
        </p:txBody>
      </p:sp>
      <p:sp>
        <p:nvSpPr>
          <p:cNvPr id="6" name="Freeform 6"/>
          <p:cNvSpPr/>
          <p:nvPr/>
        </p:nvSpPr>
        <p:spPr>
          <a:xfrm>
            <a:off x="2993409" y="616373"/>
            <a:ext cx="1330209" cy="1330209"/>
          </a:xfrm>
          <a:custGeom>
            <a:avLst/>
            <a:gdLst/>
            <a:ahLst/>
            <a:cxnLst/>
            <a:rect l="l" t="t" r="r" b="b"/>
            <a:pathLst>
              <a:path w="1330209" h="1330209">
                <a:moveTo>
                  <a:pt x="0" y="0"/>
                </a:moveTo>
                <a:lnTo>
                  <a:pt x="1330209" y="0"/>
                </a:lnTo>
                <a:lnTo>
                  <a:pt x="1330209" y="1330209"/>
                </a:lnTo>
                <a:lnTo>
                  <a:pt x="0" y="1330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658513" y="2880432"/>
            <a:ext cx="14629487" cy="7147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069"/>
              </a:lnSpc>
            </a:pPr>
            <a:r>
              <a:rPr lang="en-US" sz="6207" dirty="0">
                <a:solidFill>
                  <a:srgbClr val="6B705C"/>
                </a:solidFill>
                <a:latin typeface="Garet 2"/>
                <a:ea typeface="Garet 2"/>
                <a:cs typeface="Garet 2"/>
                <a:sym typeface="Garet 2"/>
              </a:rPr>
              <a:t>Hiding internal details, showing only necessary information.</a:t>
            </a:r>
          </a:p>
          <a:p>
            <a:pPr algn="just">
              <a:lnSpc>
                <a:spcPts val="8069"/>
              </a:lnSpc>
            </a:pPr>
            <a:endParaRPr lang="en-US" sz="6207" dirty="0">
              <a:solidFill>
                <a:srgbClr val="6B705C"/>
              </a:solidFill>
              <a:latin typeface="Garet 2"/>
              <a:ea typeface="Garet 2"/>
              <a:cs typeface="Garet 2"/>
              <a:sym typeface="Garet 2"/>
            </a:endParaRPr>
          </a:p>
          <a:p>
            <a:pPr algn="just">
              <a:lnSpc>
                <a:spcPts val="8069"/>
              </a:lnSpc>
            </a:pPr>
            <a:r>
              <a:rPr lang="en-US" sz="6207" b="1" dirty="0">
                <a:solidFill>
                  <a:srgbClr val="6B705C"/>
                </a:solidFill>
                <a:latin typeface="Garet 2 Bold"/>
                <a:ea typeface="Garet 2 Bold"/>
                <a:cs typeface="Garet 2 Bold"/>
                <a:sym typeface="Garet 2 Bold"/>
              </a:rPr>
              <a:t>Ex: </a:t>
            </a:r>
            <a:r>
              <a:rPr lang="en-US" sz="6207" dirty="0">
                <a:solidFill>
                  <a:srgbClr val="6B705C"/>
                </a:solidFill>
                <a:latin typeface="Garet 2 Bold"/>
                <a:ea typeface="Garet 2 Bold"/>
                <a:cs typeface="Garet 2 Bold"/>
                <a:sym typeface="Garet 2 Bold"/>
              </a:rPr>
              <a:t>Smart phone.</a:t>
            </a:r>
            <a:endParaRPr lang="en-US" sz="6207" dirty="0">
              <a:solidFill>
                <a:srgbClr val="6B705C"/>
              </a:solidFill>
              <a:latin typeface="Garet 2"/>
              <a:ea typeface="Garet 2"/>
              <a:cs typeface="Garet 2"/>
              <a:sym typeface="Garet 2"/>
            </a:endParaRPr>
          </a:p>
          <a:p>
            <a:pPr algn="just">
              <a:lnSpc>
                <a:spcPts val="8069"/>
              </a:lnSpc>
            </a:pPr>
            <a:endParaRPr lang="en-US" sz="6207" dirty="0">
              <a:solidFill>
                <a:srgbClr val="6B705C"/>
              </a:solidFill>
              <a:latin typeface="Garet 2"/>
              <a:ea typeface="Garet 2"/>
              <a:cs typeface="Garet 2"/>
              <a:sym typeface="Garet 2"/>
            </a:endParaRPr>
          </a:p>
          <a:p>
            <a:pPr algn="just">
              <a:lnSpc>
                <a:spcPts val="7289"/>
              </a:lnSpc>
            </a:pPr>
            <a:r>
              <a:rPr lang="en-US" sz="5607" dirty="0">
                <a:solidFill>
                  <a:srgbClr val="6B705C"/>
                </a:solidFill>
                <a:latin typeface="Garet 2"/>
                <a:ea typeface="Garet 2"/>
                <a:cs typeface="Garet 2"/>
                <a:sym typeface="Garet 2"/>
              </a:rPr>
              <a:t>⟶two ways to perform the abstraction.</a:t>
            </a:r>
          </a:p>
          <a:p>
            <a:pPr algn="just">
              <a:lnSpc>
                <a:spcPts val="8069"/>
              </a:lnSpc>
            </a:pPr>
            <a:r>
              <a:rPr lang="en-US" sz="6207" dirty="0">
                <a:solidFill>
                  <a:srgbClr val="6B705C"/>
                </a:solidFill>
                <a:latin typeface="Garet 2"/>
                <a:ea typeface="Garet 2"/>
                <a:cs typeface="Garet 2"/>
                <a:sym typeface="Garet 2"/>
              </a:rPr>
              <a:t>1-abstract class         2-interface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8138038" y="137038"/>
            <a:ext cx="2011924" cy="18288000"/>
            <a:chOff x="0" y="0"/>
            <a:chExt cx="529889" cy="4816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9889" cy="4816592"/>
            </a:xfrm>
            <a:custGeom>
              <a:avLst/>
              <a:gdLst/>
              <a:ahLst/>
              <a:cxnLst/>
              <a:rect l="l" t="t" r="r" b="b"/>
              <a:pathLst>
                <a:path w="529889" h="4816592">
                  <a:moveTo>
                    <a:pt x="0" y="0"/>
                  </a:moveTo>
                  <a:lnTo>
                    <a:pt x="529889" y="0"/>
                  </a:lnTo>
                  <a:lnTo>
                    <a:pt x="529889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BF734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29889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364569" y="7495646"/>
            <a:ext cx="1558861" cy="1558861"/>
          </a:xfrm>
          <a:custGeom>
            <a:avLst/>
            <a:gdLst/>
            <a:ahLst/>
            <a:cxnLst/>
            <a:rect l="l" t="t" r="r" b="b"/>
            <a:pathLst>
              <a:path w="1558861" h="1558861">
                <a:moveTo>
                  <a:pt x="0" y="0"/>
                </a:moveTo>
                <a:lnTo>
                  <a:pt x="1558862" y="0"/>
                </a:lnTo>
                <a:lnTo>
                  <a:pt x="1558862" y="1558861"/>
                </a:lnTo>
                <a:lnTo>
                  <a:pt x="0" y="1558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21322" y="-10482"/>
            <a:ext cx="11181296" cy="1859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119"/>
              </a:lnSpc>
            </a:pPr>
            <a:r>
              <a:rPr lang="en-US" sz="10799" b="1">
                <a:solidFill>
                  <a:srgbClr val="BF7343"/>
                </a:solidFill>
                <a:latin typeface="Boriboon Bold"/>
                <a:ea typeface="Boriboon Bold"/>
                <a:cs typeface="Boriboon Bold"/>
                <a:sym typeface="Boriboon Bold"/>
              </a:rPr>
              <a:t>ABSTRACT: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1322" y="2642006"/>
            <a:ext cx="17726238" cy="471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385"/>
              </a:lnSpc>
            </a:pPr>
            <a:r>
              <a:rPr lang="en-US" sz="6703">
                <a:solidFill>
                  <a:srgbClr val="BF7343"/>
                </a:solidFill>
                <a:latin typeface="Tomorrow"/>
                <a:ea typeface="Tomorrow"/>
                <a:cs typeface="Tomorrow"/>
                <a:sym typeface="Tomorrow"/>
              </a:rPr>
              <a:t>Abstract is a scenario or a idea which exists in thoughts but not  physically.</a:t>
            </a:r>
          </a:p>
          <a:p>
            <a:pPr algn="just">
              <a:lnSpc>
                <a:spcPts val="9385"/>
              </a:lnSpc>
            </a:pPr>
            <a:endParaRPr lang="en-US" sz="6703">
              <a:solidFill>
                <a:srgbClr val="BF7343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just">
              <a:lnSpc>
                <a:spcPts val="9385"/>
              </a:lnSpc>
            </a:pPr>
            <a:r>
              <a:rPr lang="en-US" sz="6703">
                <a:solidFill>
                  <a:srgbClr val="BF7343"/>
                </a:solidFill>
                <a:latin typeface="Tomorrow"/>
                <a:ea typeface="Tomorrow"/>
                <a:cs typeface="Tomorrow"/>
                <a:sym typeface="Tomorrow"/>
              </a:rPr>
              <a:t>Ex: A map</a:t>
            </a:r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6572250" y="-6572250"/>
            <a:ext cx="5143500" cy="18288000"/>
            <a:chOff x="0" y="0"/>
            <a:chExt cx="1354667" cy="4816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54667" cy="4816592"/>
            </a:xfrm>
            <a:custGeom>
              <a:avLst/>
              <a:gdLst/>
              <a:ahLst/>
              <a:cxnLst/>
              <a:rect l="l" t="t" r="r" b="b"/>
              <a:pathLst>
                <a:path w="1354667" h="4816592">
                  <a:moveTo>
                    <a:pt x="0" y="0"/>
                  </a:moveTo>
                  <a:lnTo>
                    <a:pt x="1354667" y="0"/>
                  </a:lnTo>
                  <a:lnTo>
                    <a:pt x="135466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B99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54667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0" y="352425"/>
            <a:ext cx="17654809" cy="4231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0000" dirty="0">
                <a:solidFill>
                  <a:srgbClr val="F8F5ED"/>
                </a:solidFill>
                <a:latin typeface="TAN Mon Cheri"/>
                <a:ea typeface="TAN Mon Cheri"/>
                <a:cs typeface="TAN Mon Cheri"/>
                <a:sym typeface="TAN Mon Cheri"/>
              </a:rPr>
              <a:t>ABSTRACT</a:t>
            </a:r>
          </a:p>
          <a:p>
            <a:pPr algn="ctr">
              <a:lnSpc>
                <a:spcPts val="16800"/>
              </a:lnSpc>
            </a:pPr>
            <a:r>
              <a:rPr lang="en-US" sz="10000" dirty="0">
                <a:solidFill>
                  <a:srgbClr val="F8F5ED"/>
                </a:solidFill>
                <a:latin typeface="TAN Mon Cheri"/>
                <a:ea typeface="TAN Mon Cheri"/>
                <a:cs typeface="TAN Mon Cheri"/>
                <a:sym typeface="TAN Mon Cheri"/>
              </a:rPr>
              <a:t> METHOD</a:t>
            </a:r>
            <a:r>
              <a:rPr lang="en-US" sz="12000" dirty="0">
                <a:solidFill>
                  <a:srgbClr val="F8F5ED"/>
                </a:solidFill>
                <a:latin typeface="TAN Mon Cheri"/>
                <a:ea typeface="TAN Mon Cheri"/>
                <a:cs typeface="TAN Mon Cheri"/>
                <a:sym typeface="TAN Mon Cheri"/>
              </a:rPr>
              <a:t>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4231" y="6177952"/>
            <a:ext cx="17246346" cy="2285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sz="4400" dirty="0">
                <a:solidFill>
                  <a:srgbClr val="BF7343"/>
                </a:solidFill>
                <a:latin typeface="TAN Mon Cheri"/>
                <a:ea typeface="TAN Mon Cheri"/>
                <a:cs typeface="TAN Mon Cheri"/>
                <a:sym typeface="TAN Mon Cheri"/>
              </a:rPr>
              <a:t>A method that is declared without an implementation.</a:t>
            </a:r>
          </a:p>
          <a:p>
            <a:pPr algn="ctr">
              <a:lnSpc>
                <a:spcPts val="4400"/>
              </a:lnSpc>
            </a:pPr>
            <a:endParaRPr lang="en-US" sz="4400" dirty="0">
              <a:solidFill>
                <a:srgbClr val="BF7343"/>
              </a:solidFill>
              <a:latin typeface="TAN Mon Cheri"/>
              <a:ea typeface="TAN Mon Cheri"/>
              <a:cs typeface="TAN Mon Cheri"/>
              <a:sym typeface="TAN Mon Cheri"/>
            </a:endParaRPr>
          </a:p>
          <a:p>
            <a:pPr algn="ctr">
              <a:lnSpc>
                <a:spcPts val="4400"/>
              </a:lnSpc>
            </a:pPr>
            <a:endParaRPr lang="en-US" sz="4400" dirty="0">
              <a:solidFill>
                <a:srgbClr val="BF7343"/>
              </a:solidFill>
              <a:latin typeface="TAN Mon Cheri"/>
              <a:ea typeface="TAN Mon Cheri"/>
              <a:cs typeface="TAN Mon Cheri"/>
              <a:sym typeface="TAN Mon Cheri"/>
            </a:endParaRPr>
          </a:p>
          <a:p>
            <a:pPr algn="l">
              <a:lnSpc>
                <a:spcPts val="4400"/>
              </a:lnSpc>
            </a:pPr>
            <a:r>
              <a:rPr lang="en-US" sz="4400" dirty="0">
                <a:solidFill>
                  <a:srgbClr val="BF7343"/>
                </a:solidFill>
                <a:latin typeface="TAN Mon Cheri"/>
                <a:ea typeface="TAN Mon Cheri"/>
                <a:cs typeface="TAN Mon Cheri"/>
                <a:sym typeface="TAN Mon Cheri"/>
              </a:rPr>
              <a:t>Ex:  </a:t>
            </a:r>
            <a:r>
              <a:rPr lang="en-US" sz="4400" dirty="0" err="1">
                <a:solidFill>
                  <a:srgbClr val="BF7343"/>
                </a:solidFill>
                <a:latin typeface="TAN Mon Cheri"/>
                <a:ea typeface="TAN Mon Cheri"/>
                <a:cs typeface="TAN Mon Cheri"/>
                <a:sym typeface="TAN Mon Cheri"/>
              </a:rPr>
              <a:t>Abstact</a:t>
            </a:r>
            <a:r>
              <a:rPr lang="en-US" sz="4400" dirty="0">
                <a:solidFill>
                  <a:srgbClr val="BF7343"/>
                </a:solidFill>
                <a:latin typeface="TAN Mon Cheri"/>
                <a:ea typeface="TAN Mon Cheri"/>
                <a:cs typeface="TAN Mon Cheri"/>
                <a:sym typeface="TAN Mon Cheri"/>
              </a:rPr>
              <a:t> void meth1 (double </a:t>
            </a:r>
            <a:r>
              <a:rPr lang="en-US" sz="4400" dirty="0" err="1">
                <a:solidFill>
                  <a:srgbClr val="BF7343"/>
                </a:solidFill>
                <a:latin typeface="TAN Mon Cheri"/>
                <a:ea typeface="TAN Mon Cheri"/>
                <a:cs typeface="TAN Mon Cheri"/>
                <a:sym typeface="TAN Mon Cheri"/>
              </a:rPr>
              <a:t>x,double</a:t>
            </a:r>
            <a:r>
              <a:rPr lang="en-US" sz="4400" dirty="0">
                <a:solidFill>
                  <a:srgbClr val="BF7343"/>
                </a:solidFill>
                <a:latin typeface="TAN Mon Cheri"/>
                <a:ea typeface="TAN Mon Cheri"/>
                <a:cs typeface="TAN Mon Cheri"/>
                <a:sym typeface="TAN Mon Cheri"/>
              </a:rPr>
              <a:t> y)</a:t>
            </a:r>
          </a:p>
        </p:txBody>
      </p:sp>
      <p:sp>
        <p:nvSpPr>
          <p:cNvPr id="7" name="Freeform 7"/>
          <p:cNvSpPr/>
          <p:nvPr/>
        </p:nvSpPr>
        <p:spPr>
          <a:xfrm>
            <a:off x="8364569" y="4364069"/>
            <a:ext cx="1558861" cy="1558861"/>
          </a:xfrm>
          <a:custGeom>
            <a:avLst/>
            <a:gdLst/>
            <a:ahLst/>
            <a:cxnLst/>
            <a:rect l="l" t="t" r="r" b="b"/>
            <a:pathLst>
              <a:path w="1558861" h="1558861">
                <a:moveTo>
                  <a:pt x="0" y="0"/>
                </a:moveTo>
                <a:lnTo>
                  <a:pt x="1558862" y="0"/>
                </a:lnTo>
                <a:lnTo>
                  <a:pt x="1558862" y="1558862"/>
                </a:lnTo>
                <a:lnTo>
                  <a:pt x="0" y="1558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0"/>
            <a:ext cx="2011924" cy="10287000"/>
            <a:chOff x="0" y="0"/>
            <a:chExt cx="52988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9889" cy="2709333"/>
            </a:xfrm>
            <a:custGeom>
              <a:avLst/>
              <a:gdLst/>
              <a:ahLst/>
              <a:cxnLst/>
              <a:rect l="l" t="t" r="r" b="b"/>
              <a:pathLst>
                <a:path w="529889" h="2709333">
                  <a:moveTo>
                    <a:pt x="0" y="0"/>
                  </a:moveTo>
                  <a:lnTo>
                    <a:pt x="529889" y="0"/>
                  </a:lnTo>
                  <a:lnTo>
                    <a:pt x="52988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B705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29889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99597" y="3957769"/>
            <a:ext cx="1224653" cy="1224653"/>
          </a:xfrm>
          <a:custGeom>
            <a:avLst/>
            <a:gdLst/>
            <a:ahLst/>
            <a:cxnLst/>
            <a:rect l="l" t="t" r="r" b="b"/>
            <a:pathLst>
              <a:path w="1224653" h="1224653">
                <a:moveTo>
                  <a:pt x="0" y="0"/>
                </a:moveTo>
                <a:lnTo>
                  <a:pt x="1224653" y="0"/>
                </a:lnTo>
                <a:lnTo>
                  <a:pt x="1224653" y="1224653"/>
                </a:lnTo>
                <a:lnTo>
                  <a:pt x="0" y="12246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364926" y="159703"/>
            <a:ext cx="15544950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1">
                <a:solidFill>
                  <a:srgbClr val="737373"/>
                </a:solidFill>
                <a:latin typeface="Boriboon Bold"/>
                <a:ea typeface="Boriboon Bold"/>
                <a:cs typeface="Boriboon Bold"/>
                <a:sym typeface="Boriboon Bold"/>
              </a:rPr>
              <a:t>ABSTRACT CLASS: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64926" y="2247900"/>
            <a:ext cx="15897953" cy="8681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dirty="0">
                <a:solidFill>
                  <a:srgbClr val="737373"/>
                </a:solidFill>
                <a:latin typeface="Tomorrow"/>
                <a:ea typeface="Tomorrow"/>
                <a:cs typeface="Tomorrow"/>
                <a:sym typeface="Tomorrow"/>
              </a:rPr>
              <a:t>if a class includes methods, than the class itself must be</a:t>
            </a:r>
          </a:p>
          <a:p>
            <a:pPr algn="l">
              <a:lnSpc>
                <a:spcPts val="6552"/>
              </a:lnSpc>
            </a:pPr>
            <a:r>
              <a:rPr lang="en-US" sz="4680" dirty="0">
                <a:solidFill>
                  <a:srgbClr val="737373"/>
                </a:solidFill>
                <a:latin typeface="Tomorrow"/>
                <a:ea typeface="Tomorrow"/>
                <a:cs typeface="Tomorrow"/>
                <a:sym typeface="Tomorrow"/>
              </a:rPr>
              <a:t>         declared abstract.</a:t>
            </a:r>
          </a:p>
          <a:p>
            <a:pPr marL="685800" indent="-685800" algn="l">
              <a:lnSpc>
                <a:spcPts val="6552"/>
              </a:lnSpc>
              <a:buFontTx/>
              <a:buChar char="-"/>
            </a:pPr>
            <a:r>
              <a:rPr lang="en-US" sz="4680" dirty="0">
                <a:solidFill>
                  <a:srgbClr val="737373"/>
                </a:solidFill>
                <a:latin typeface="Tomorrow"/>
                <a:ea typeface="Tomorrow"/>
                <a:cs typeface="Tomorrow"/>
                <a:sym typeface="Tomorrow"/>
              </a:rPr>
              <a:t>It can have abstract and non-abstract methods.</a:t>
            </a:r>
          </a:p>
          <a:p>
            <a:pPr marL="685800" indent="-685800" algn="l">
              <a:lnSpc>
                <a:spcPts val="6552"/>
              </a:lnSpc>
              <a:buFontTx/>
              <a:buChar char="-"/>
            </a:pPr>
            <a:r>
              <a:rPr lang="en-US" sz="4680" dirty="0">
                <a:solidFill>
                  <a:srgbClr val="737373"/>
                </a:solidFill>
                <a:latin typeface="Tomorrow"/>
                <a:ea typeface="Tomorrow"/>
                <a:cs typeface="Tomorrow"/>
                <a:sym typeface="Tomorrow"/>
              </a:rPr>
              <a:t>Non-abstract method (concrete method).</a:t>
            </a:r>
          </a:p>
          <a:p>
            <a:pPr marL="685800" indent="-685800" algn="l">
              <a:lnSpc>
                <a:spcPts val="6552"/>
              </a:lnSpc>
              <a:buFontTx/>
              <a:buChar char="-"/>
            </a:pPr>
            <a:r>
              <a:rPr lang="en-US" sz="4680" dirty="0">
                <a:solidFill>
                  <a:srgbClr val="737373"/>
                </a:solidFill>
                <a:latin typeface="Tomorrow"/>
                <a:ea typeface="Tomorrow"/>
                <a:cs typeface="Tomorrow"/>
                <a:sym typeface="Tomorrow"/>
              </a:rPr>
              <a:t>If a class contain partial implementation then we should declare a class as abstract. </a:t>
            </a:r>
          </a:p>
          <a:p>
            <a:pPr algn="just">
              <a:lnSpc>
                <a:spcPts val="6449"/>
              </a:lnSpc>
            </a:pPr>
            <a:r>
              <a:rPr lang="en-US" sz="4606" dirty="0">
                <a:solidFill>
                  <a:srgbClr val="737373"/>
                </a:solidFill>
                <a:latin typeface="Tomorrow"/>
                <a:ea typeface="Tomorrow"/>
                <a:cs typeface="Tomorrow"/>
                <a:sym typeface="Tomorrow"/>
              </a:rPr>
              <a:t>Ex:- public abstract class phone </a:t>
            </a:r>
            <a:r>
              <a:rPr lang="en-US" sz="3780" dirty="0">
                <a:solidFill>
                  <a:srgbClr val="737373"/>
                </a:solidFill>
                <a:latin typeface="Tomorrow"/>
                <a:ea typeface="Tomorrow"/>
                <a:cs typeface="Tomorrow"/>
                <a:sym typeface="Tomorrow"/>
              </a:rPr>
              <a:t>{</a:t>
            </a:r>
          </a:p>
          <a:p>
            <a:pPr algn="just">
              <a:lnSpc>
                <a:spcPts val="6552"/>
              </a:lnSpc>
            </a:pPr>
            <a:r>
              <a:rPr lang="en-US" sz="4680" dirty="0">
                <a:solidFill>
                  <a:srgbClr val="737373"/>
                </a:solidFill>
                <a:latin typeface="Tomorrow"/>
                <a:ea typeface="Tomorrow"/>
                <a:cs typeface="Tomorrow"/>
                <a:sym typeface="Tomorrow"/>
              </a:rPr>
              <a:t>abstract void </a:t>
            </a:r>
            <a:r>
              <a:rPr lang="en-US" sz="4680" dirty="0" err="1">
                <a:solidFill>
                  <a:srgbClr val="737373"/>
                </a:solidFill>
                <a:latin typeface="Tomorrow"/>
                <a:ea typeface="Tomorrow"/>
                <a:cs typeface="Tomorrow"/>
                <a:sym typeface="Tomorrow"/>
              </a:rPr>
              <a:t>switchoff</a:t>
            </a:r>
            <a:r>
              <a:rPr lang="en-US" sz="4680" dirty="0">
                <a:solidFill>
                  <a:srgbClr val="737373"/>
                </a:solidFill>
                <a:latin typeface="Tomorrow"/>
                <a:ea typeface="Tomorrow"/>
                <a:cs typeface="Tomorrow"/>
                <a:sym typeface="Tomorrow"/>
              </a:rPr>
              <a:t> ()  {</a:t>
            </a:r>
          </a:p>
          <a:p>
            <a:pPr algn="just">
              <a:lnSpc>
                <a:spcPts val="5292"/>
              </a:lnSpc>
            </a:pPr>
            <a:r>
              <a:rPr lang="en-US" sz="3780" dirty="0">
                <a:solidFill>
                  <a:srgbClr val="737373"/>
                </a:solidFill>
                <a:latin typeface="Tomorrow"/>
                <a:ea typeface="Tomorrow"/>
                <a:cs typeface="Tomorrow"/>
                <a:sym typeface="Tomorrow"/>
              </a:rPr>
              <a:t>         } </a:t>
            </a:r>
          </a:p>
          <a:p>
            <a:pPr algn="just">
              <a:lnSpc>
                <a:spcPts val="5292"/>
              </a:lnSpc>
            </a:pPr>
            <a:r>
              <a:rPr lang="en-US" sz="3780" dirty="0">
                <a:solidFill>
                  <a:srgbClr val="737373"/>
                </a:solidFill>
                <a:latin typeface="Tomorrow"/>
                <a:ea typeface="Tomorrow"/>
                <a:cs typeface="Tomorrow"/>
                <a:sym typeface="Tomorrow"/>
              </a:rPr>
              <a:t>    }</a:t>
            </a:r>
          </a:p>
          <a:p>
            <a:pPr algn="just">
              <a:lnSpc>
                <a:spcPts val="4719"/>
              </a:lnSpc>
            </a:pPr>
            <a:endParaRPr lang="en-US" sz="3780" dirty="0">
              <a:solidFill>
                <a:srgbClr val="737373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5763338" y="0"/>
            <a:ext cx="2501924" cy="10287000"/>
            <a:chOff x="0" y="0"/>
            <a:chExt cx="65894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58943" cy="2709333"/>
            </a:xfrm>
            <a:custGeom>
              <a:avLst/>
              <a:gdLst/>
              <a:ahLst/>
              <a:cxnLst/>
              <a:rect l="l" t="t" r="r" b="b"/>
              <a:pathLst>
                <a:path w="658943" h="2709333">
                  <a:moveTo>
                    <a:pt x="0" y="0"/>
                  </a:moveTo>
                  <a:lnTo>
                    <a:pt x="658943" y="0"/>
                  </a:lnTo>
                  <a:lnTo>
                    <a:pt x="6589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B99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5894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040968" y="2439929"/>
            <a:ext cx="1444741" cy="1444741"/>
          </a:xfrm>
          <a:custGeom>
            <a:avLst/>
            <a:gdLst/>
            <a:ahLst/>
            <a:cxnLst/>
            <a:rect l="l" t="t" r="r" b="b"/>
            <a:pathLst>
              <a:path w="1444741" h="1444741">
                <a:moveTo>
                  <a:pt x="0" y="0"/>
                </a:moveTo>
                <a:lnTo>
                  <a:pt x="1444741" y="0"/>
                </a:lnTo>
                <a:lnTo>
                  <a:pt x="1444741" y="1444742"/>
                </a:lnTo>
                <a:lnTo>
                  <a:pt x="0" y="1444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42120" y="1998980"/>
            <a:ext cx="12886105" cy="9211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CB997E"/>
                </a:solidFill>
                <a:latin typeface="Tomorrow"/>
                <a:ea typeface="Tomorrow"/>
                <a:cs typeface="Tomorrow"/>
                <a:sym typeface="Tomorrow"/>
              </a:rPr>
              <a:t>We can’t create object in abstract class but we can make reference variable.</a:t>
            </a:r>
          </a:p>
          <a:p>
            <a:pPr algn="l">
              <a:lnSpc>
                <a:spcPts val="7279"/>
              </a:lnSpc>
            </a:pPr>
            <a:endParaRPr lang="en-US" sz="5199">
              <a:solidFill>
                <a:srgbClr val="CB997E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CB997E"/>
                </a:solidFill>
                <a:latin typeface="Tomorrow"/>
                <a:ea typeface="Tomorrow"/>
                <a:cs typeface="Tomorrow"/>
                <a:sym typeface="Tomorrow"/>
              </a:rPr>
              <a:t>Abstract class is the super class and every super class has capability to store the other class object.</a:t>
            </a:r>
          </a:p>
          <a:p>
            <a:pPr algn="l">
              <a:lnSpc>
                <a:spcPts val="7279"/>
              </a:lnSpc>
            </a:pPr>
            <a:endParaRPr lang="en-US" sz="5199">
              <a:solidFill>
                <a:srgbClr val="CB997E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l">
              <a:lnSpc>
                <a:spcPts val="7279"/>
              </a:lnSpc>
            </a:pPr>
            <a:endParaRPr lang="en-US" sz="5199">
              <a:solidFill>
                <a:srgbClr val="CB997E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l">
              <a:lnSpc>
                <a:spcPts val="7279"/>
              </a:lnSpc>
            </a:pPr>
            <a:endParaRPr lang="en-US" sz="5199">
              <a:solidFill>
                <a:srgbClr val="CB997E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42120" y="159703"/>
            <a:ext cx="1516826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1">
                <a:solidFill>
                  <a:srgbClr val="CB997E"/>
                </a:solidFill>
                <a:latin typeface="Boriboon Bold"/>
                <a:ea typeface="Boriboon Bold"/>
                <a:cs typeface="Boriboon Bold"/>
                <a:sym typeface="Boriboon Bold"/>
              </a:rPr>
              <a:t>ABSTRACT CLASS: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9964513" y="1963513"/>
            <a:ext cx="10287000" cy="6359975"/>
            <a:chOff x="0" y="0"/>
            <a:chExt cx="2709333" cy="16750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3" cy="1675055"/>
            </a:xfrm>
            <a:custGeom>
              <a:avLst/>
              <a:gdLst/>
              <a:ahLst/>
              <a:cxnLst/>
              <a:rect l="l" t="t" r="r" b="b"/>
              <a:pathLst>
                <a:path w="2709333" h="1675055">
                  <a:moveTo>
                    <a:pt x="0" y="0"/>
                  </a:moveTo>
                  <a:lnTo>
                    <a:pt x="2709333" y="0"/>
                  </a:lnTo>
                  <a:lnTo>
                    <a:pt x="2709333" y="1675055"/>
                  </a:lnTo>
                  <a:lnTo>
                    <a:pt x="0" y="1675055"/>
                  </a:lnTo>
                  <a:close/>
                </a:path>
              </a:pathLst>
            </a:custGeom>
            <a:solidFill>
              <a:srgbClr val="B7B7A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3" cy="17131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304672" y="735248"/>
            <a:ext cx="1558861" cy="1558861"/>
          </a:xfrm>
          <a:custGeom>
            <a:avLst/>
            <a:gdLst/>
            <a:ahLst/>
            <a:cxnLst/>
            <a:rect l="l" t="t" r="r" b="b"/>
            <a:pathLst>
              <a:path w="1558861" h="1558861">
                <a:moveTo>
                  <a:pt x="0" y="0"/>
                </a:moveTo>
                <a:lnTo>
                  <a:pt x="1558862" y="0"/>
                </a:lnTo>
                <a:lnTo>
                  <a:pt x="1558862" y="1558862"/>
                </a:lnTo>
                <a:lnTo>
                  <a:pt x="0" y="1558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3484" y="857250"/>
            <a:ext cx="12065170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1">
                <a:solidFill>
                  <a:srgbClr val="737373"/>
                </a:solidFill>
                <a:latin typeface="Boriboon Bold"/>
                <a:ea typeface="Boriboon Bold"/>
                <a:cs typeface="Boriboon Bold"/>
                <a:sym typeface="Boriboon Bold"/>
              </a:rPr>
              <a:t>ABSTRACT CLASS: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446387" y="3497155"/>
            <a:ext cx="12374412" cy="672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67323" lvl="1" indent="-583662" algn="l">
              <a:lnSpc>
                <a:spcPts val="7569"/>
              </a:lnSpc>
              <a:buFont typeface="Arial"/>
              <a:buChar char="•"/>
            </a:pPr>
            <a:r>
              <a:rPr lang="en-US" sz="5406">
                <a:solidFill>
                  <a:srgbClr val="737373"/>
                </a:solidFill>
                <a:latin typeface="Tomorrow"/>
                <a:ea typeface="Tomorrow"/>
                <a:cs typeface="Tomorrow"/>
                <a:sym typeface="Tomorrow"/>
              </a:rPr>
              <a:t>It can have abstract and non-abstract methods.</a:t>
            </a:r>
          </a:p>
          <a:p>
            <a:pPr algn="l">
              <a:lnSpc>
                <a:spcPts val="7569"/>
              </a:lnSpc>
            </a:pPr>
            <a:endParaRPr lang="en-US" sz="5406">
              <a:solidFill>
                <a:srgbClr val="737373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1189771" lvl="1" indent="-594885" algn="l">
              <a:lnSpc>
                <a:spcPts val="7715"/>
              </a:lnSpc>
              <a:buFont typeface="Arial"/>
              <a:buChar char="•"/>
            </a:pPr>
            <a:r>
              <a:rPr lang="en-US" sz="5510">
                <a:solidFill>
                  <a:srgbClr val="737373"/>
                </a:solidFill>
                <a:latin typeface="Tomorrow"/>
                <a:ea typeface="Tomorrow"/>
                <a:cs typeface="Tomorrow"/>
                <a:sym typeface="Tomorrow"/>
              </a:rPr>
              <a:t>To use an abstract class, you have to inherit it from sub-classes.</a:t>
            </a:r>
          </a:p>
          <a:p>
            <a:pPr algn="l">
              <a:lnSpc>
                <a:spcPts val="7569"/>
              </a:lnSpc>
            </a:pPr>
            <a:endParaRPr lang="en-US" sz="5510">
              <a:solidFill>
                <a:srgbClr val="737373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6961965" y="-6961965"/>
            <a:ext cx="4364069" cy="18288000"/>
            <a:chOff x="0" y="0"/>
            <a:chExt cx="1149385" cy="4816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9384" cy="4816592"/>
            </a:xfrm>
            <a:custGeom>
              <a:avLst/>
              <a:gdLst/>
              <a:ahLst/>
              <a:cxnLst/>
              <a:rect l="l" t="t" r="r" b="b"/>
              <a:pathLst>
                <a:path w="1149384" h="4816592">
                  <a:moveTo>
                    <a:pt x="0" y="0"/>
                  </a:moveTo>
                  <a:lnTo>
                    <a:pt x="1149384" y="0"/>
                  </a:lnTo>
                  <a:lnTo>
                    <a:pt x="114938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B99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49385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0" y="167677"/>
            <a:ext cx="18288000" cy="395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60"/>
              </a:lnSpc>
            </a:pPr>
            <a:r>
              <a:rPr lang="en-US" sz="9600" dirty="0">
                <a:solidFill>
                  <a:srgbClr val="F8F5ED"/>
                </a:solidFill>
                <a:latin typeface="TAN Mon Cheri"/>
                <a:ea typeface="TAN Mon Cheri"/>
                <a:cs typeface="TAN Mon Cheri"/>
                <a:sym typeface="TAN Mon Cheri"/>
              </a:rPr>
              <a:t>BENEFITS OF ABSTRACT CLASS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4173" y="5348568"/>
            <a:ext cx="17253352" cy="7001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73867" lvl="1" indent="-836934" algn="l">
              <a:lnSpc>
                <a:spcPts val="7752"/>
              </a:lnSpc>
              <a:buFont typeface="Arial"/>
              <a:buChar char="•"/>
            </a:pPr>
            <a:r>
              <a:rPr lang="en-US" sz="7752" dirty="0">
                <a:solidFill>
                  <a:srgbClr val="BF7343"/>
                </a:solidFill>
                <a:latin typeface="TAN Mon Cheri"/>
                <a:ea typeface="TAN Mon Cheri"/>
                <a:cs typeface="TAN Mon Cheri"/>
                <a:sym typeface="TAN Mon Cheri"/>
              </a:rPr>
              <a:t> </a:t>
            </a:r>
            <a:r>
              <a:rPr lang="en-US" sz="7200" dirty="0">
                <a:solidFill>
                  <a:srgbClr val="BF7343"/>
                </a:solidFill>
                <a:latin typeface="TAN Mon Cheri"/>
                <a:ea typeface="TAN Mon Cheri"/>
                <a:cs typeface="TAN Mon Cheri"/>
                <a:sym typeface="TAN Mon Cheri"/>
              </a:rPr>
              <a:t>provide security</a:t>
            </a:r>
          </a:p>
          <a:p>
            <a:pPr algn="l">
              <a:lnSpc>
                <a:spcPts val="7752"/>
              </a:lnSpc>
            </a:pPr>
            <a:endParaRPr lang="en-US" sz="7200" dirty="0">
              <a:solidFill>
                <a:srgbClr val="BF7343"/>
              </a:solidFill>
              <a:latin typeface="TAN Mon Cheri"/>
              <a:ea typeface="TAN Mon Cheri"/>
              <a:cs typeface="TAN Mon Cheri"/>
              <a:sym typeface="TAN Mon Cheri"/>
            </a:endParaRPr>
          </a:p>
          <a:p>
            <a:pPr marL="1673867" lvl="1" indent="-836934" algn="l">
              <a:lnSpc>
                <a:spcPts val="7752"/>
              </a:lnSpc>
              <a:buFont typeface="Arial"/>
              <a:buChar char="•"/>
            </a:pPr>
            <a:r>
              <a:rPr lang="en-US" sz="7200" dirty="0">
                <a:solidFill>
                  <a:srgbClr val="BF7343"/>
                </a:solidFill>
                <a:latin typeface="TAN Mon Cheri"/>
                <a:ea typeface="TAN Mon Cheri"/>
                <a:cs typeface="TAN Mon Cheri"/>
                <a:sym typeface="TAN Mon Cheri"/>
              </a:rPr>
              <a:t>Code reusability</a:t>
            </a:r>
          </a:p>
          <a:p>
            <a:pPr algn="l">
              <a:lnSpc>
                <a:spcPts val="7752"/>
              </a:lnSpc>
            </a:pPr>
            <a:endParaRPr lang="en-US" sz="7200" dirty="0">
              <a:solidFill>
                <a:srgbClr val="BF7343"/>
              </a:solidFill>
              <a:latin typeface="TAN Mon Cheri"/>
              <a:ea typeface="TAN Mon Cheri"/>
              <a:cs typeface="TAN Mon Cheri"/>
              <a:sym typeface="TAN Mon Cheri"/>
            </a:endParaRPr>
          </a:p>
          <a:p>
            <a:pPr marL="1673867" lvl="1" indent="-836934" algn="l">
              <a:lnSpc>
                <a:spcPts val="7752"/>
              </a:lnSpc>
              <a:buFont typeface="Arial"/>
              <a:buChar char="•"/>
            </a:pPr>
            <a:r>
              <a:rPr lang="en-US" sz="7200" dirty="0">
                <a:solidFill>
                  <a:srgbClr val="BF7343"/>
                </a:solidFill>
                <a:latin typeface="TAN Mon Cheri"/>
                <a:ea typeface="TAN Mon Cheri"/>
                <a:cs typeface="TAN Mon Cheri"/>
                <a:sym typeface="TAN Mon Cheri"/>
              </a:rPr>
              <a:t>Reduce complexity</a:t>
            </a:r>
          </a:p>
          <a:p>
            <a:pPr algn="l">
              <a:lnSpc>
                <a:spcPts val="7752"/>
              </a:lnSpc>
            </a:pPr>
            <a:endParaRPr lang="en-US" sz="7752" dirty="0">
              <a:solidFill>
                <a:srgbClr val="BF7343"/>
              </a:solidFill>
              <a:latin typeface="TAN Mon Cheri"/>
              <a:ea typeface="TAN Mon Cheri"/>
              <a:cs typeface="TAN Mon Cheri"/>
              <a:sym typeface="TAN Mon Cheri"/>
            </a:endParaRPr>
          </a:p>
          <a:p>
            <a:pPr algn="l">
              <a:lnSpc>
                <a:spcPts val="7752"/>
              </a:lnSpc>
            </a:pPr>
            <a:endParaRPr lang="en-US" sz="7752" dirty="0">
              <a:solidFill>
                <a:srgbClr val="BF7343"/>
              </a:solidFill>
              <a:latin typeface="TAN Mon Cheri"/>
              <a:ea typeface="TAN Mon Cheri"/>
              <a:cs typeface="TAN Mon Cheri"/>
              <a:sym typeface="TAN Mon Cheri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8102463" y="3637306"/>
            <a:ext cx="1558861" cy="1558861"/>
          </a:xfrm>
          <a:custGeom>
            <a:avLst/>
            <a:gdLst/>
            <a:ahLst/>
            <a:cxnLst/>
            <a:rect l="l" t="t" r="r" b="b"/>
            <a:pathLst>
              <a:path w="1558861" h="1558861">
                <a:moveTo>
                  <a:pt x="0" y="0"/>
                </a:moveTo>
                <a:lnTo>
                  <a:pt x="1558861" y="0"/>
                </a:lnTo>
                <a:lnTo>
                  <a:pt x="1558861" y="1558862"/>
                </a:lnTo>
                <a:lnTo>
                  <a:pt x="0" y="1558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5763338" y="0"/>
            <a:ext cx="2501924" cy="10287000"/>
            <a:chOff x="0" y="0"/>
            <a:chExt cx="65894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58943" cy="2709333"/>
            </a:xfrm>
            <a:custGeom>
              <a:avLst/>
              <a:gdLst/>
              <a:ahLst/>
              <a:cxnLst/>
              <a:rect l="l" t="t" r="r" b="b"/>
              <a:pathLst>
                <a:path w="658943" h="2709333">
                  <a:moveTo>
                    <a:pt x="0" y="0"/>
                  </a:moveTo>
                  <a:lnTo>
                    <a:pt x="658943" y="0"/>
                  </a:lnTo>
                  <a:lnTo>
                    <a:pt x="6589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B99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5894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040968" y="2439929"/>
            <a:ext cx="1444741" cy="1444741"/>
          </a:xfrm>
          <a:custGeom>
            <a:avLst/>
            <a:gdLst/>
            <a:ahLst/>
            <a:cxnLst/>
            <a:rect l="l" t="t" r="r" b="b"/>
            <a:pathLst>
              <a:path w="1444741" h="1444741">
                <a:moveTo>
                  <a:pt x="0" y="0"/>
                </a:moveTo>
                <a:lnTo>
                  <a:pt x="1444741" y="0"/>
                </a:lnTo>
                <a:lnTo>
                  <a:pt x="1444741" y="1444742"/>
                </a:lnTo>
                <a:lnTo>
                  <a:pt x="0" y="1444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6185737"/>
            <a:ext cx="14734638" cy="555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0"/>
              </a:lnSpc>
            </a:pPr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994" y="0"/>
            <a:ext cx="18534261" cy="1028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138038" y="137038"/>
            <a:ext cx="2011924" cy="18288000"/>
            <a:chOff x="0" y="0"/>
            <a:chExt cx="529889" cy="4816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9889" cy="4816592"/>
            </a:xfrm>
            <a:custGeom>
              <a:avLst/>
              <a:gdLst/>
              <a:ahLst/>
              <a:cxnLst/>
              <a:rect l="l" t="t" r="r" b="b"/>
              <a:pathLst>
                <a:path w="529889" h="4816592">
                  <a:moveTo>
                    <a:pt x="0" y="0"/>
                  </a:moveTo>
                  <a:lnTo>
                    <a:pt x="529889" y="0"/>
                  </a:lnTo>
                  <a:lnTo>
                    <a:pt x="529889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BF734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29889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364569" y="7495646"/>
            <a:ext cx="1558861" cy="1558861"/>
          </a:xfrm>
          <a:custGeom>
            <a:avLst/>
            <a:gdLst/>
            <a:ahLst/>
            <a:cxnLst/>
            <a:rect l="l" t="t" r="r" b="b"/>
            <a:pathLst>
              <a:path w="1558861" h="1558861">
                <a:moveTo>
                  <a:pt x="0" y="0"/>
                </a:moveTo>
                <a:lnTo>
                  <a:pt x="1558862" y="0"/>
                </a:lnTo>
                <a:lnTo>
                  <a:pt x="1558862" y="1558861"/>
                </a:lnTo>
                <a:lnTo>
                  <a:pt x="0" y="1558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10093" y="626668"/>
            <a:ext cx="8541834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1">
                <a:solidFill>
                  <a:srgbClr val="BF7343"/>
                </a:solidFill>
                <a:latin typeface="Boriboon Bold"/>
                <a:ea typeface="Boriboon Bold"/>
                <a:cs typeface="Boriboon Bold"/>
                <a:sym typeface="Boriboon Bold"/>
              </a:rPr>
              <a:t>INTERFACE: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4827" y="2306426"/>
            <a:ext cx="11143962" cy="544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09"/>
              </a:lnSpc>
            </a:pPr>
            <a:r>
              <a:rPr lang="en-US" sz="4435" dirty="0">
                <a:solidFill>
                  <a:srgbClr val="BF7343"/>
                </a:solidFill>
                <a:latin typeface="Tomorrow"/>
                <a:ea typeface="Tomorrow"/>
                <a:cs typeface="Tomorrow"/>
                <a:sym typeface="Tomorrow"/>
              </a:rPr>
              <a:t>interface is a point where two systems meet and interact.</a:t>
            </a:r>
          </a:p>
          <a:p>
            <a:pPr algn="just">
              <a:lnSpc>
                <a:spcPts val="6209"/>
              </a:lnSpc>
            </a:pPr>
            <a:endParaRPr lang="en-US" sz="4435" dirty="0">
              <a:solidFill>
                <a:srgbClr val="BF7343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just">
              <a:lnSpc>
                <a:spcPts val="6209"/>
              </a:lnSpc>
            </a:pPr>
            <a:r>
              <a:rPr lang="en-US" sz="4435" b="1" dirty="0">
                <a:solidFill>
                  <a:srgbClr val="BF7343"/>
                </a:solidFill>
                <a:latin typeface="Tomorrow Bold"/>
                <a:ea typeface="Tomorrow Bold"/>
                <a:cs typeface="Tomorrow Bold"/>
                <a:sym typeface="Tomorrow Bold"/>
              </a:rPr>
              <a:t>Ex:-</a:t>
            </a:r>
            <a:r>
              <a:rPr lang="en-US" sz="4435" dirty="0">
                <a:solidFill>
                  <a:srgbClr val="BF7343"/>
                </a:solidFill>
                <a:latin typeface="Tomorrow"/>
                <a:ea typeface="Tomorrow"/>
                <a:cs typeface="Tomorrow"/>
                <a:sym typeface="Tomorrow"/>
              </a:rPr>
              <a:t> ATM Machine.</a:t>
            </a:r>
          </a:p>
          <a:p>
            <a:pPr algn="just">
              <a:lnSpc>
                <a:spcPts val="6209"/>
              </a:lnSpc>
            </a:pPr>
            <a:endParaRPr lang="en-US" sz="4435" dirty="0">
              <a:solidFill>
                <a:srgbClr val="BF7343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just">
              <a:lnSpc>
                <a:spcPts val="6209"/>
              </a:lnSpc>
            </a:pPr>
            <a:r>
              <a:rPr lang="en-US" sz="4435" dirty="0">
                <a:solidFill>
                  <a:srgbClr val="BF7343"/>
                </a:solidFill>
                <a:latin typeface="Tomorrow"/>
                <a:ea typeface="Tomorrow"/>
                <a:cs typeface="Tomorrow"/>
                <a:sym typeface="Tomorrow"/>
              </a:rPr>
              <a:t>in java interface is just like a class which contains only abstract methods.</a:t>
            </a:r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138038" y="-8138038"/>
            <a:ext cx="2011924" cy="18288000"/>
            <a:chOff x="0" y="0"/>
            <a:chExt cx="529889" cy="4816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9889" cy="4816592"/>
            </a:xfrm>
            <a:custGeom>
              <a:avLst/>
              <a:gdLst/>
              <a:ahLst/>
              <a:cxnLst/>
              <a:rect l="l" t="t" r="r" b="b"/>
              <a:pathLst>
                <a:path w="529889" h="4816592">
                  <a:moveTo>
                    <a:pt x="0" y="0"/>
                  </a:moveTo>
                  <a:lnTo>
                    <a:pt x="529889" y="0"/>
                  </a:lnTo>
                  <a:lnTo>
                    <a:pt x="529889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B7B7A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29889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153487" y="1232493"/>
            <a:ext cx="1558861" cy="1558861"/>
          </a:xfrm>
          <a:custGeom>
            <a:avLst/>
            <a:gdLst/>
            <a:ahLst/>
            <a:cxnLst/>
            <a:rect l="l" t="t" r="r" b="b"/>
            <a:pathLst>
              <a:path w="1558861" h="1558861">
                <a:moveTo>
                  <a:pt x="0" y="0"/>
                </a:moveTo>
                <a:lnTo>
                  <a:pt x="1558861" y="0"/>
                </a:lnTo>
                <a:lnTo>
                  <a:pt x="1558861" y="1558861"/>
                </a:lnTo>
                <a:lnTo>
                  <a:pt x="0" y="1558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52629" y="2194705"/>
            <a:ext cx="12534866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880"/>
              </a:lnSpc>
            </a:pPr>
            <a:r>
              <a:rPr lang="en-US" sz="9200" b="1">
                <a:solidFill>
                  <a:srgbClr val="737373"/>
                </a:solidFill>
                <a:latin typeface="Boriboon Bold"/>
                <a:ea typeface="Boriboon Bold"/>
                <a:cs typeface="Boriboon Bold"/>
                <a:sym typeface="Boriboon Bold"/>
              </a:rPr>
              <a:t>INTERFACE: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3999375"/>
            <a:ext cx="18045436" cy="602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30627" lvl="1" indent="-615313" algn="just">
              <a:lnSpc>
                <a:spcPts val="7979"/>
              </a:lnSpc>
              <a:buFont typeface="Arial"/>
              <a:buChar char="•"/>
            </a:pPr>
            <a:r>
              <a:rPr lang="en-US" sz="5699">
                <a:solidFill>
                  <a:srgbClr val="737373"/>
                </a:solidFill>
                <a:latin typeface="Tomorrow"/>
                <a:ea typeface="Tomorrow"/>
                <a:cs typeface="Tomorrow"/>
                <a:sym typeface="Tomorrow"/>
              </a:rPr>
              <a:t>To achieve interface java provides a keyword called implements.</a:t>
            </a:r>
          </a:p>
          <a:p>
            <a:pPr algn="just">
              <a:lnSpc>
                <a:spcPts val="7979"/>
              </a:lnSpc>
            </a:pPr>
            <a:endParaRPr lang="en-US" sz="5699">
              <a:solidFill>
                <a:srgbClr val="737373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1230627" lvl="1" indent="-615313" algn="just">
              <a:lnSpc>
                <a:spcPts val="7979"/>
              </a:lnSpc>
              <a:buFont typeface="Arial"/>
              <a:buChar char="•"/>
            </a:pPr>
            <a:r>
              <a:rPr lang="en-US" sz="5699">
                <a:solidFill>
                  <a:srgbClr val="737373"/>
                </a:solidFill>
                <a:latin typeface="Tomorrow"/>
                <a:ea typeface="Tomorrow"/>
                <a:cs typeface="Tomorrow"/>
                <a:sym typeface="Tomorrow"/>
              </a:rPr>
              <a:t>Interface methods are by default public and abstract.</a:t>
            </a:r>
          </a:p>
          <a:p>
            <a:pPr algn="just">
              <a:lnSpc>
                <a:spcPts val="7979"/>
              </a:lnSpc>
            </a:pPr>
            <a:endParaRPr lang="en-US" sz="5699">
              <a:solidFill>
                <a:srgbClr val="737373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658513" cy="10287000"/>
            <a:chOff x="0" y="0"/>
            <a:chExt cx="96355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3559" cy="2709333"/>
            </a:xfrm>
            <a:custGeom>
              <a:avLst/>
              <a:gdLst/>
              <a:ahLst/>
              <a:cxnLst/>
              <a:rect l="l" t="t" r="r" b="b"/>
              <a:pathLst>
                <a:path w="963559" h="2709333">
                  <a:moveTo>
                    <a:pt x="0" y="0"/>
                  </a:moveTo>
                  <a:lnTo>
                    <a:pt x="963559" y="0"/>
                  </a:lnTo>
                  <a:lnTo>
                    <a:pt x="96355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B705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63559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993409" y="616373"/>
            <a:ext cx="1330209" cy="1330209"/>
          </a:xfrm>
          <a:custGeom>
            <a:avLst/>
            <a:gdLst/>
            <a:ahLst/>
            <a:cxnLst/>
            <a:rect l="l" t="t" r="r" b="b"/>
            <a:pathLst>
              <a:path w="1330209" h="1330209">
                <a:moveTo>
                  <a:pt x="0" y="0"/>
                </a:moveTo>
                <a:lnTo>
                  <a:pt x="1330209" y="0"/>
                </a:lnTo>
                <a:lnTo>
                  <a:pt x="1330209" y="1330209"/>
                </a:lnTo>
                <a:lnTo>
                  <a:pt x="0" y="1330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694806" y="2293314"/>
            <a:ext cx="12193612" cy="731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02"/>
              </a:lnSpc>
            </a:pPr>
            <a:r>
              <a:rPr lang="en-US" sz="5930">
                <a:solidFill>
                  <a:srgbClr val="737373"/>
                </a:solidFill>
                <a:latin typeface="Tomorrow"/>
                <a:ea typeface="Tomorrow"/>
                <a:cs typeface="Tomorrow"/>
                <a:sym typeface="Tomorrow"/>
              </a:rPr>
              <a:t>-interface variables are by default public ,static and final.</a:t>
            </a:r>
          </a:p>
          <a:p>
            <a:pPr algn="l">
              <a:lnSpc>
                <a:spcPts val="8302"/>
              </a:lnSpc>
            </a:pPr>
            <a:endParaRPr lang="en-US" sz="5930">
              <a:solidFill>
                <a:srgbClr val="737373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l">
              <a:lnSpc>
                <a:spcPts val="8302"/>
              </a:lnSpc>
            </a:pPr>
            <a:r>
              <a:rPr lang="en-US" sz="5930">
                <a:solidFill>
                  <a:srgbClr val="737373"/>
                </a:solidFill>
                <a:latin typeface="Tomorrow"/>
                <a:ea typeface="Tomorrow"/>
                <a:cs typeface="Tomorrow"/>
                <a:sym typeface="Tomorrow"/>
              </a:rPr>
              <a:t>-interface methods must be override inside the implementing classes.</a:t>
            </a:r>
          </a:p>
          <a:p>
            <a:pPr algn="l">
              <a:lnSpc>
                <a:spcPts val="8302"/>
              </a:lnSpc>
            </a:pPr>
            <a:endParaRPr lang="en-US" sz="5930">
              <a:solidFill>
                <a:srgbClr val="737373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361899" y="444923"/>
            <a:ext cx="9028430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1">
                <a:solidFill>
                  <a:srgbClr val="737373"/>
                </a:solidFill>
                <a:latin typeface="Boriboon Bold"/>
                <a:ea typeface="Boriboon Bold"/>
                <a:cs typeface="Boriboon Bold"/>
                <a:sym typeface="Boriboon Bold"/>
              </a:rPr>
              <a:t>INTERFACE: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6723840" y="-6723840"/>
            <a:ext cx="4840319" cy="18288000"/>
            <a:chOff x="0" y="0"/>
            <a:chExt cx="1274817" cy="4816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4817" cy="4816592"/>
            </a:xfrm>
            <a:custGeom>
              <a:avLst/>
              <a:gdLst/>
              <a:ahLst/>
              <a:cxnLst/>
              <a:rect l="l" t="t" r="r" b="b"/>
              <a:pathLst>
                <a:path w="1274817" h="4816592">
                  <a:moveTo>
                    <a:pt x="0" y="0"/>
                  </a:moveTo>
                  <a:lnTo>
                    <a:pt x="1274817" y="0"/>
                  </a:lnTo>
                  <a:lnTo>
                    <a:pt x="127481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B99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74817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21191" y="442596"/>
            <a:ext cx="17038109" cy="4039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40"/>
              </a:lnSpc>
            </a:pPr>
            <a:r>
              <a:rPr lang="en-US" sz="11600">
                <a:solidFill>
                  <a:srgbClr val="F8F5ED"/>
                </a:solidFill>
                <a:latin typeface="TAN Mon Cheri"/>
                <a:ea typeface="TAN Mon Cheri"/>
                <a:cs typeface="TAN Mon Cheri"/>
                <a:sym typeface="TAN Mon Cheri"/>
              </a:rPr>
              <a:t>BENEFITS OF INTERFACe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5394" y="5286375"/>
            <a:ext cx="13810841" cy="5675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06534" lvl="1" indent="-803267" algn="l">
              <a:lnSpc>
                <a:spcPts val="7441"/>
              </a:lnSpc>
              <a:buFont typeface="Arial"/>
              <a:buChar char="•"/>
            </a:pPr>
            <a:r>
              <a:rPr lang="en-US" sz="7441">
                <a:solidFill>
                  <a:srgbClr val="BF7343"/>
                </a:solidFill>
                <a:latin typeface="TAN Mon Cheri"/>
                <a:ea typeface="TAN Mon Cheri"/>
                <a:cs typeface="TAN Mon Cheri"/>
                <a:sym typeface="TAN Mon Cheri"/>
              </a:rPr>
              <a:t>Reusability</a:t>
            </a:r>
          </a:p>
          <a:p>
            <a:pPr algn="l">
              <a:lnSpc>
                <a:spcPts val="7441"/>
              </a:lnSpc>
            </a:pPr>
            <a:endParaRPr lang="en-US" sz="7441">
              <a:solidFill>
                <a:srgbClr val="BF7343"/>
              </a:solidFill>
              <a:latin typeface="TAN Mon Cheri"/>
              <a:ea typeface="TAN Mon Cheri"/>
              <a:cs typeface="TAN Mon Cheri"/>
              <a:sym typeface="TAN Mon Cheri"/>
            </a:endParaRPr>
          </a:p>
          <a:p>
            <a:pPr marL="1606534" lvl="1" indent="-803267" algn="l">
              <a:lnSpc>
                <a:spcPts val="7441"/>
              </a:lnSpc>
              <a:buFont typeface="Arial"/>
              <a:buChar char="•"/>
            </a:pPr>
            <a:r>
              <a:rPr lang="en-US" sz="7441">
                <a:solidFill>
                  <a:srgbClr val="BF7343"/>
                </a:solidFill>
                <a:latin typeface="TAN Mon Cheri"/>
                <a:ea typeface="TAN Mon Cheri"/>
                <a:cs typeface="TAN Mon Cheri"/>
                <a:sym typeface="TAN Mon Cheri"/>
              </a:rPr>
              <a:t>Flexibility</a:t>
            </a:r>
          </a:p>
          <a:p>
            <a:pPr algn="l">
              <a:lnSpc>
                <a:spcPts val="7241"/>
              </a:lnSpc>
            </a:pPr>
            <a:endParaRPr lang="en-US" sz="7441">
              <a:solidFill>
                <a:srgbClr val="BF7343"/>
              </a:solidFill>
              <a:latin typeface="TAN Mon Cheri"/>
              <a:ea typeface="TAN Mon Cheri"/>
              <a:cs typeface="TAN Mon Cheri"/>
              <a:sym typeface="TAN Mon Cheri"/>
            </a:endParaRPr>
          </a:p>
          <a:p>
            <a:pPr marL="1606534" lvl="1" indent="-803267" algn="l">
              <a:lnSpc>
                <a:spcPts val="7441"/>
              </a:lnSpc>
              <a:buFont typeface="Arial"/>
              <a:buChar char="•"/>
            </a:pPr>
            <a:r>
              <a:rPr lang="en-US" sz="7441">
                <a:solidFill>
                  <a:srgbClr val="BF7343"/>
                </a:solidFill>
                <a:latin typeface="TAN Mon Cheri"/>
                <a:ea typeface="TAN Mon Cheri"/>
                <a:cs typeface="TAN Mon Cheri"/>
                <a:sym typeface="TAN Mon Cheri"/>
              </a:rPr>
              <a:t>Maintainability</a:t>
            </a:r>
          </a:p>
          <a:p>
            <a:pPr algn="l">
              <a:lnSpc>
                <a:spcPts val="7441"/>
              </a:lnSpc>
            </a:pPr>
            <a:endParaRPr lang="en-US" sz="7441">
              <a:solidFill>
                <a:srgbClr val="BF7343"/>
              </a:solidFill>
              <a:latin typeface="TAN Mon Cheri"/>
              <a:ea typeface="TAN Mon Cheri"/>
              <a:cs typeface="TAN Mon Cheri"/>
              <a:sym typeface="TAN Mon Cheri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7960815" y="4060889"/>
            <a:ext cx="1558861" cy="1558861"/>
          </a:xfrm>
          <a:custGeom>
            <a:avLst/>
            <a:gdLst/>
            <a:ahLst/>
            <a:cxnLst/>
            <a:rect l="l" t="t" r="r" b="b"/>
            <a:pathLst>
              <a:path w="1558861" h="1558861">
                <a:moveTo>
                  <a:pt x="0" y="0"/>
                </a:moveTo>
                <a:lnTo>
                  <a:pt x="1558861" y="0"/>
                </a:lnTo>
                <a:lnTo>
                  <a:pt x="1558861" y="1558861"/>
                </a:lnTo>
                <a:lnTo>
                  <a:pt x="0" y="1558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93371" y="2183983"/>
            <a:ext cx="11301259" cy="5919034"/>
          </a:xfrm>
          <a:custGeom>
            <a:avLst/>
            <a:gdLst/>
            <a:ahLst/>
            <a:cxnLst/>
            <a:rect l="l" t="t" r="r" b="b"/>
            <a:pathLst>
              <a:path w="11301259" h="5919034">
                <a:moveTo>
                  <a:pt x="0" y="0"/>
                </a:moveTo>
                <a:lnTo>
                  <a:pt x="11301258" y="0"/>
                </a:lnTo>
                <a:lnTo>
                  <a:pt x="11301258" y="5919034"/>
                </a:lnTo>
                <a:lnTo>
                  <a:pt x="0" y="59190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645771" y="2336383"/>
            <a:ext cx="11301259" cy="5919034"/>
          </a:xfrm>
          <a:custGeom>
            <a:avLst/>
            <a:gdLst/>
            <a:ahLst/>
            <a:cxnLst/>
            <a:rect l="l" t="t" r="r" b="b"/>
            <a:pathLst>
              <a:path w="11301259" h="5919034">
                <a:moveTo>
                  <a:pt x="0" y="0"/>
                </a:moveTo>
                <a:lnTo>
                  <a:pt x="11301258" y="0"/>
                </a:lnTo>
                <a:lnTo>
                  <a:pt x="11301258" y="5919034"/>
                </a:lnTo>
                <a:lnTo>
                  <a:pt x="0" y="59190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813" y="0"/>
            <a:ext cx="18135187" cy="10287000"/>
          </a:xfrm>
          <a:custGeom>
            <a:avLst/>
            <a:gdLst/>
            <a:ahLst/>
            <a:cxnLst/>
            <a:rect l="l" t="t" r="r" b="b"/>
            <a:pathLst>
              <a:path w="18135187" h="10287000">
                <a:moveTo>
                  <a:pt x="0" y="0"/>
                </a:moveTo>
                <a:lnTo>
                  <a:pt x="18135187" y="0"/>
                </a:lnTo>
                <a:lnTo>
                  <a:pt x="181351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51" r="-4151"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0"/>
            <a:ext cx="9250398" cy="10287000"/>
            <a:chOff x="0" y="0"/>
            <a:chExt cx="243631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6319" cy="2709333"/>
            </a:xfrm>
            <a:custGeom>
              <a:avLst/>
              <a:gdLst/>
              <a:ahLst/>
              <a:cxnLst/>
              <a:rect l="l" t="t" r="r" b="b"/>
              <a:pathLst>
                <a:path w="2436319" h="2709333">
                  <a:moveTo>
                    <a:pt x="0" y="0"/>
                  </a:moveTo>
                  <a:lnTo>
                    <a:pt x="2436319" y="0"/>
                  </a:lnTo>
                  <a:lnTo>
                    <a:pt x="243631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B705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6319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470967" y="4364069"/>
            <a:ext cx="1558861" cy="1558861"/>
          </a:xfrm>
          <a:custGeom>
            <a:avLst/>
            <a:gdLst/>
            <a:ahLst/>
            <a:cxnLst/>
            <a:rect l="l" t="t" r="r" b="b"/>
            <a:pathLst>
              <a:path w="1558861" h="1558861">
                <a:moveTo>
                  <a:pt x="0" y="0"/>
                </a:moveTo>
                <a:lnTo>
                  <a:pt x="1558862" y="0"/>
                </a:lnTo>
                <a:lnTo>
                  <a:pt x="1558862" y="1558862"/>
                </a:lnTo>
                <a:lnTo>
                  <a:pt x="0" y="1558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803868" y="174309"/>
            <a:ext cx="13629415" cy="1127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sz="6600" b="1">
                <a:solidFill>
                  <a:srgbClr val="D1BDCE"/>
                </a:solidFill>
                <a:latin typeface="Boriboon Bold"/>
                <a:ea typeface="Boriboon Bold"/>
                <a:cs typeface="Boriboon Bold"/>
                <a:sym typeface="Boriboon Bold"/>
              </a:rPr>
              <a:t>DIFFERENTIATE: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3147" y="1159182"/>
            <a:ext cx="8344105" cy="800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02"/>
              </a:lnSpc>
              <a:spcBef>
                <a:spcPct val="0"/>
              </a:spcBef>
            </a:pPr>
            <a:r>
              <a:rPr lang="en-US" sz="7430" b="1" dirty="0">
                <a:solidFill>
                  <a:srgbClr val="F8F5ED"/>
                </a:solidFill>
                <a:latin typeface="Boriboon Bold"/>
                <a:ea typeface="Boriboon Bold"/>
                <a:cs typeface="Boriboon Bold"/>
                <a:sym typeface="Boriboon Bold"/>
              </a:rPr>
              <a:t>INTERFACE:</a:t>
            </a:r>
          </a:p>
          <a:p>
            <a:pPr marL="1604214" lvl="1" indent="-802107" algn="l">
              <a:lnSpc>
                <a:spcPts val="10402"/>
              </a:lnSpc>
              <a:spcBef>
                <a:spcPct val="0"/>
              </a:spcBef>
              <a:buFont typeface="Arial"/>
              <a:buChar char="•"/>
            </a:pPr>
            <a:r>
              <a:rPr lang="en-US" sz="6000" dirty="0">
                <a:solidFill>
                  <a:srgbClr val="F8F5ED"/>
                </a:solidFill>
                <a:latin typeface="Boriboon"/>
                <a:ea typeface="Boriboon"/>
                <a:cs typeface="Boriboon"/>
                <a:sym typeface="Boriboon"/>
              </a:rPr>
              <a:t>Interface can be implemented more than one.</a:t>
            </a:r>
          </a:p>
          <a:p>
            <a:pPr marL="1604214" lvl="1" indent="-802107" algn="l">
              <a:lnSpc>
                <a:spcPts val="10402"/>
              </a:lnSpc>
              <a:spcBef>
                <a:spcPct val="0"/>
              </a:spcBef>
              <a:buFont typeface="Arial"/>
              <a:buChar char="•"/>
            </a:pPr>
            <a:r>
              <a:rPr lang="en-US" sz="7430" dirty="0">
                <a:solidFill>
                  <a:srgbClr val="F8F5ED"/>
                </a:solidFill>
                <a:latin typeface="Boriboon"/>
                <a:ea typeface="Boriboon"/>
                <a:cs typeface="Boriboon"/>
                <a:sym typeface="Boriboon"/>
              </a:rPr>
              <a:t>no constructor</a:t>
            </a:r>
          </a:p>
          <a:p>
            <a:pPr algn="l">
              <a:lnSpc>
                <a:spcPts val="10402"/>
              </a:lnSpc>
              <a:spcBef>
                <a:spcPct val="0"/>
              </a:spcBef>
            </a:pPr>
            <a:endParaRPr lang="en-US" sz="7430" dirty="0">
              <a:solidFill>
                <a:srgbClr val="F8F5ED"/>
              </a:solidFill>
              <a:latin typeface="Boriboon"/>
              <a:ea typeface="Boriboon"/>
              <a:cs typeface="Boriboon"/>
              <a:sym typeface="Boriboo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029829" y="1059072"/>
            <a:ext cx="7535300" cy="8258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91"/>
              </a:lnSpc>
              <a:spcBef>
                <a:spcPct val="0"/>
              </a:spcBef>
            </a:pPr>
            <a:r>
              <a:rPr lang="en-US" sz="6350" b="1" dirty="0">
                <a:solidFill>
                  <a:srgbClr val="737373"/>
                </a:solidFill>
                <a:latin typeface="Boriboon Bold"/>
                <a:ea typeface="Boriboon Bold"/>
                <a:cs typeface="Boriboon Bold"/>
                <a:sym typeface="Boriboon Bold"/>
              </a:rPr>
              <a:t>ABSTRACT:</a:t>
            </a:r>
          </a:p>
          <a:p>
            <a:pPr marL="1371174" lvl="1" indent="-685587" algn="l">
              <a:lnSpc>
                <a:spcPts val="8891"/>
              </a:lnSpc>
              <a:spcBef>
                <a:spcPct val="0"/>
              </a:spcBef>
              <a:buFont typeface="Arial"/>
              <a:buChar char="•"/>
            </a:pPr>
            <a:r>
              <a:rPr lang="en-US" sz="6350" dirty="0">
                <a:solidFill>
                  <a:srgbClr val="737373"/>
                </a:solidFill>
                <a:latin typeface="Boriboon"/>
                <a:ea typeface="Boriboon"/>
                <a:cs typeface="Boriboon"/>
                <a:sym typeface="Boriboon"/>
              </a:rPr>
              <a:t>abstract can be extended only once.</a:t>
            </a:r>
          </a:p>
          <a:p>
            <a:pPr marL="1371174" lvl="1" indent="-685587" algn="l">
              <a:lnSpc>
                <a:spcPts val="8891"/>
              </a:lnSpc>
              <a:spcBef>
                <a:spcPct val="0"/>
              </a:spcBef>
              <a:buFont typeface="Arial"/>
              <a:buChar char="•"/>
            </a:pPr>
            <a:r>
              <a:rPr lang="en-US" sz="6350" dirty="0">
                <a:solidFill>
                  <a:srgbClr val="737373"/>
                </a:solidFill>
                <a:latin typeface="Boriboon"/>
                <a:ea typeface="Boriboon"/>
                <a:cs typeface="Boriboon"/>
                <a:sym typeface="Boriboon"/>
              </a:rPr>
              <a:t>can have constructor.</a:t>
            </a:r>
          </a:p>
          <a:p>
            <a:pPr algn="l">
              <a:lnSpc>
                <a:spcPts val="11031"/>
              </a:lnSpc>
              <a:spcBef>
                <a:spcPct val="0"/>
              </a:spcBef>
            </a:pPr>
            <a:endParaRPr lang="en-US" sz="6350" dirty="0">
              <a:solidFill>
                <a:srgbClr val="737373"/>
              </a:solidFill>
              <a:latin typeface="Boriboon"/>
              <a:ea typeface="Boriboon"/>
              <a:cs typeface="Boriboon"/>
              <a:sym typeface="Boriboon"/>
            </a:endParaRPr>
          </a:p>
        </p:txBody>
      </p:sp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7356164" y="-7882816"/>
            <a:ext cx="3575673" cy="18288000"/>
            <a:chOff x="0" y="0"/>
            <a:chExt cx="941741" cy="4816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1741" cy="4816592"/>
            </a:xfrm>
            <a:custGeom>
              <a:avLst/>
              <a:gdLst/>
              <a:ahLst/>
              <a:cxnLst/>
              <a:rect l="l" t="t" r="r" b="b"/>
              <a:pathLst>
                <a:path w="941741" h="4816592">
                  <a:moveTo>
                    <a:pt x="0" y="0"/>
                  </a:moveTo>
                  <a:lnTo>
                    <a:pt x="941741" y="0"/>
                  </a:lnTo>
                  <a:lnTo>
                    <a:pt x="94174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B99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41741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364569" y="2269590"/>
            <a:ext cx="1558861" cy="1558861"/>
          </a:xfrm>
          <a:custGeom>
            <a:avLst/>
            <a:gdLst/>
            <a:ahLst/>
            <a:cxnLst/>
            <a:rect l="l" t="t" r="r" b="b"/>
            <a:pathLst>
              <a:path w="1558861" h="1558861">
                <a:moveTo>
                  <a:pt x="0" y="0"/>
                </a:moveTo>
                <a:lnTo>
                  <a:pt x="1558862" y="0"/>
                </a:lnTo>
                <a:lnTo>
                  <a:pt x="1558862" y="1558861"/>
                </a:lnTo>
                <a:lnTo>
                  <a:pt x="0" y="1558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224229" y="904875"/>
            <a:ext cx="11181296" cy="1127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sz="6600" b="1">
                <a:solidFill>
                  <a:srgbClr val="737373"/>
                </a:solidFill>
                <a:latin typeface="Boriboon Bold"/>
                <a:ea typeface="Boriboon Bold"/>
                <a:cs typeface="Boriboon Bold"/>
                <a:sym typeface="Boriboon Bold"/>
              </a:rPr>
              <a:t>DIFFERENTIATE: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659398"/>
            <a:ext cx="6731362" cy="5347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13"/>
              </a:lnSpc>
            </a:pPr>
            <a:r>
              <a:rPr lang="en-US" sz="5081" b="1">
                <a:solidFill>
                  <a:srgbClr val="737373"/>
                </a:solidFill>
                <a:latin typeface="Tomorrow Bold"/>
                <a:ea typeface="Tomorrow Bold"/>
                <a:cs typeface="Tomorrow Bold"/>
                <a:sym typeface="Tomorrow Bold"/>
              </a:rPr>
              <a:t>INTERFACE:</a:t>
            </a:r>
          </a:p>
          <a:p>
            <a:pPr algn="ctr">
              <a:lnSpc>
                <a:spcPts val="7113"/>
              </a:lnSpc>
            </a:pPr>
            <a:endParaRPr lang="en-US" sz="5081" b="1">
              <a:solidFill>
                <a:srgbClr val="737373"/>
              </a:solidFill>
              <a:latin typeface="Tomorrow Bold"/>
              <a:ea typeface="Tomorrow Bold"/>
              <a:cs typeface="Tomorrow Bold"/>
              <a:sym typeface="Tomorrow Bold"/>
            </a:endParaRPr>
          </a:p>
          <a:p>
            <a:pPr marL="1097063" lvl="1" indent="-548531" algn="l">
              <a:lnSpc>
                <a:spcPts val="7113"/>
              </a:lnSpc>
              <a:buFont typeface="Arial"/>
              <a:buChar char="•"/>
            </a:pPr>
            <a:r>
              <a:rPr lang="en-US" sz="5081">
                <a:solidFill>
                  <a:srgbClr val="737373"/>
                </a:solidFill>
                <a:latin typeface="Tomorrow"/>
                <a:ea typeface="Tomorrow"/>
                <a:cs typeface="Tomorrow"/>
                <a:sym typeface="Tomorrow"/>
              </a:rPr>
              <a:t>All methods are public by default.</a:t>
            </a:r>
          </a:p>
          <a:p>
            <a:pPr marL="1097063" lvl="1" indent="-548531" algn="l">
              <a:lnSpc>
                <a:spcPts val="7113"/>
              </a:lnSpc>
              <a:buFont typeface="Arial"/>
              <a:buChar char="•"/>
            </a:pPr>
            <a:r>
              <a:rPr lang="en-US" sz="5081">
                <a:solidFill>
                  <a:srgbClr val="737373"/>
                </a:solidFill>
                <a:latin typeface="Tomorrow"/>
                <a:ea typeface="Tomorrow"/>
                <a:cs typeface="Tomorrow"/>
                <a:sym typeface="Tomorrow"/>
              </a:rPr>
              <a:t>Support multiple inheritance.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0" y="3668923"/>
            <a:ext cx="8323927" cy="528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7"/>
              </a:lnSpc>
            </a:pPr>
            <a:r>
              <a:rPr lang="en-US" sz="5027" b="1">
                <a:solidFill>
                  <a:srgbClr val="737373"/>
                </a:solidFill>
                <a:latin typeface="Tomorrow Bold"/>
                <a:ea typeface="Tomorrow Bold"/>
                <a:cs typeface="Tomorrow Bold"/>
                <a:sym typeface="Tomorrow Bold"/>
              </a:rPr>
              <a:t>ABSTRACT CLASS:</a:t>
            </a:r>
          </a:p>
          <a:p>
            <a:pPr algn="ctr">
              <a:lnSpc>
                <a:spcPts val="7037"/>
              </a:lnSpc>
            </a:pPr>
            <a:endParaRPr lang="en-US" sz="5027" b="1">
              <a:solidFill>
                <a:srgbClr val="737373"/>
              </a:solidFill>
              <a:latin typeface="Tomorrow Bold"/>
              <a:ea typeface="Tomorrow Bold"/>
              <a:cs typeface="Tomorrow Bold"/>
              <a:sym typeface="Tomorrow Bold"/>
            </a:endParaRPr>
          </a:p>
          <a:p>
            <a:pPr marL="1085359" lvl="1" indent="-542679" algn="l">
              <a:lnSpc>
                <a:spcPts val="7037"/>
              </a:lnSpc>
              <a:buFont typeface="Arial"/>
              <a:buChar char="•"/>
            </a:pPr>
            <a:r>
              <a:rPr lang="en-US" sz="5027">
                <a:solidFill>
                  <a:srgbClr val="737373"/>
                </a:solidFill>
                <a:latin typeface="Tomorrow"/>
                <a:ea typeface="Tomorrow"/>
                <a:cs typeface="Tomorrow"/>
                <a:sym typeface="Tomorrow"/>
              </a:rPr>
              <a:t>Can have any access modifier.</a:t>
            </a:r>
          </a:p>
          <a:p>
            <a:pPr marL="1085359" lvl="1" indent="-542679" algn="l">
              <a:lnSpc>
                <a:spcPts val="7037"/>
              </a:lnSpc>
              <a:buFont typeface="Arial"/>
              <a:buChar char="•"/>
            </a:pPr>
            <a:r>
              <a:rPr lang="en-US" sz="5027">
                <a:solidFill>
                  <a:srgbClr val="737373"/>
                </a:solidFill>
                <a:latin typeface="Tomorrow"/>
                <a:ea typeface="Tomorrow"/>
                <a:cs typeface="Tomorrow"/>
                <a:sym typeface="Tomorrow"/>
              </a:rPr>
              <a:t>Don’t support multiple inheritance.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349"/>
            <a:ext cx="18288000" cy="1104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9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217668" y="0"/>
            <a:ext cx="8688636" cy="10287000"/>
            <a:chOff x="0" y="0"/>
            <a:chExt cx="2288365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8365" cy="2709333"/>
            </a:xfrm>
            <a:custGeom>
              <a:avLst/>
              <a:gdLst/>
              <a:ahLst/>
              <a:cxnLst/>
              <a:rect l="l" t="t" r="r" b="b"/>
              <a:pathLst>
                <a:path w="2288365" h="2709333">
                  <a:moveTo>
                    <a:pt x="0" y="0"/>
                  </a:moveTo>
                  <a:lnTo>
                    <a:pt x="2288365" y="0"/>
                  </a:lnTo>
                  <a:lnTo>
                    <a:pt x="228836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B705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8836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691537" y="1976579"/>
            <a:ext cx="1558861" cy="1558861"/>
          </a:xfrm>
          <a:custGeom>
            <a:avLst/>
            <a:gdLst/>
            <a:ahLst/>
            <a:cxnLst/>
            <a:rect l="l" t="t" r="r" b="b"/>
            <a:pathLst>
              <a:path w="1558861" h="1558861">
                <a:moveTo>
                  <a:pt x="0" y="0"/>
                </a:moveTo>
                <a:lnTo>
                  <a:pt x="1558861" y="0"/>
                </a:lnTo>
                <a:lnTo>
                  <a:pt x="1558861" y="1558861"/>
                </a:lnTo>
                <a:lnTo>
                  <a:pt x="0" y="1558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596713" y="4311799"/>
            <a:ext cx="9662587" cy="2259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 spc="999">
                <a:solidFill>
                  <a:srgbClr val="000000"/>
                </a:solidFill>
                <a:latin typeface="Garet 1 Bold"/>
                <a:ea typeface="Garet 1 Bold"/>
                <a:cs typeface="Garet 1 Bold"/>
                <a:sym typeface="Garet 1 Bold"/>
              </a:rPr>
              <a:t>Thank you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endParaRPr lang="en-US" sz="9999" b="1" spc="999">
              <a:solidFill>
                <a:srgbClr val="000000"/>
              </a:solidFill>
              <a:latin typeface="Garet 1 Bold"/>
              <a:ea typeface="Garet 1 Bold"/>
              <a:cs typeface="Garet 1 Bold"/>
              <a:sym typeface="Garet 1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355</Words>
  <Application>Microsoft Office PowerPoint</Application>
  <PresentationFormat>Custom</PresentationFormat>
  <Paragraphs>81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Calibri</vt:lpstr>
      <vt:lpstr>Tomorrow Bold</vt:lpstr>
      <vt:lpstr>Tomorrow</vt:lpstr>
      <vt:lpstr>Garet 1 Bold</vt:lpstr>
      <vt:lpstr>Boriboon</vt:lpstr>
      <vt:lpstr>Garet 2</vt:lpstr>
      <vt:lpstr>Garet 2 Bold</vt:lpstr>
      <vt:lpstr>Arial</vt:lpstr>
      <vt:lpstr>Boriboon Bold</vt:lpstr>
      <vt:lpstr>TAN Mon Cheri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 class and interface</dc:title>
  <dc:creator>nancy</dc:creator>
  <cp:lastModifiedBy>Ghulam Mustafa</cp:lastModifiedBy>
  <cp:revision>10</cp:revision>
  <dcterms:created xsi:type="dcterms:W3CDTF">2006-08-16T00:00:00Z</dcterms:created>
  <dcterms:modified xsi:type="dcterms:W3CDTF">2026-08-03T07:29:22Z</dcterms:modified>
  <dc:identifier>DAGkl27NYzE</dc:identifier>
</cp:coreProperties>
</file>