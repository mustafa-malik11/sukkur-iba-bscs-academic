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59" r:id="rId5"/>
    <p:sldId id="260" r:id="rId6"/>
    <p:sldId id="261" r:id="rId7"/>
    <p:sldId id="262" r:id="rId8"/>
    <p:sldId id="263" r:id="rId9"/>
    <p:sldId id="264" r:id="rId10"/>
    <p:sldId id="265" r:id="rId11"/>
    <p:sldId id="266" r:id="rId12"/>
    <p:sldId id="275" r:id="rId13"/>
    <p:sldId id="276" r:id="rId14"/>
    <p:sldId id="277" r:id="rId15"/>
    <p:sldId id="267" r:id="rId16"/>
    <p:sldId id="268" r:id="rId17"/>
    <p:sldId id="270" r:id="rId18"/>
    <p:sldId id="271"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E884280-777C-4B5B-8C4F-A08AD27739C0}" type="datetimeFigureOut">
              <a:rPr lang="en-GB" smtClean="0"/>
              <a:t>18/04/2024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256503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E884280-777C-4B5B-8C4F-A08AD27739C0}" type="datetimeFigureOut">
              <a:rPr lang="en-GB" smtClean="0"/>
              <a:t>18/04/2024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3323470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884280-777C-4B5B-8C4F-A08AD27739C0}" type="datetimeFigureOut">
              <a:rPr lang="en-GB" smtClean="0"/>
              <a:t>18/04/2024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105159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E884280-777C-4B5B-8C4F-A08AD27739C0}" type="datetimeFigureOut">
              <a:rPr lang="en-GB" smtClean="0"/>
              <a:t>18/04/2024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3696901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E884280-777C-4B5B-8C4F-A08AD27739C0}" type="datetimeFigureOut">
              <a:rPr lang="en-GB" smtClean="0"/>
              <a:t>18/04/2024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2131785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E884280-777C-4B5B-8C4F-A08AD27739C0}" type="datetimeFigureOut">
              <a:rPr lang="en-GB" smtClean="0"/>
              <a:t>18/04/2024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117680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884280-777C-4B5B-8C4F-A08AD27739C0}" type="datetimeFigureOut">
              <a:rPr lang="en-GB" smtClean="0"/>
              <a:t>18/04/2024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241195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884280-777C-4B5B-8C4F-A08AD27739C0}" type="datetimeFigureOut">
              <a:rPr lang="en-GB" smtClean="0"/>
              <a:t>18/04/2024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1538697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884280-777C-4B5B-8C4F-A08AD27739C0}" type="datetimeFigureOut">
              <a:rPr lang="en-GB" smtClean="0"/>
              <a:t>18/04/2024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1486010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E884280-777C-4B5B-8C4F-A08AD27739C0}" type="datetimeFigureOut">
              <a:rPr lang="en-GB" smtClean="0"/>
              <a:t>18/04/2024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147225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E884280-777C-4B5B-8C4F-A08AD27739C0}" type="datetimeFigureOut">
              <a:rPr lang="en-GB" smtClean="0"/>
              <a:t>18/04/2024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2FF79A-1216-42E9-B7C0-7573440ECA7E}" type="slidenum">
              <a:rPr lang="en-GB" smtClean="0"/>
              <a:t>‹#›</a:t>
            </a:fld>
            <a:endParaRPr lang="en-GB"/>
          </a:p>
        </p:txBody>
      </p:sp>
    </p:spTree>
    <p:extLst>
      <p:ext uri="{BB962C8B-B14F-4D97-AF65-F5344CB8AC3E}">
        <p14:creationId xmlns:p14="http://schemas.microsoft.com/office/powerpoint/2010/main" val="352297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884280-777C-4B5B-8C4F-A08AD27739C0}" type="datetimeFigureOut">
              <a:rPr lang="en-GB" smtClean="0"/>
              <a:t>18/04/2024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2FF79A-1216-42E9-B7C0-7573440ECA7E}" type="slidenum">
              <a:rPr lang="en-GB" smtClean="0"/>
              <a:t>‹#›</a:t>
            </a:fld>
            <a:endParaRPr lang="en-GB"/>
          </a:p>
        </p:txBody>
      </p:sp>
    </p:spTree>
    <p:extLst>
      <p:ext uri="{BB962C8B-B14F-4D97-AF65-F5344CB8AC3E}">
        <p14:creationId xmlns:p14="http://schemas.microsoft.com/office/powerpoint/2010/main" val="511679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b="1" dirty="0"/>
              <a:t>Diodes</a:t>
            </a:r>
            <a:br>
              <a:rPr lang="en-GB" b="1" dirty="0"/>
            </a:br>
            <a:endParaRPr lang="en-GB" b="1" dirty="0"/>
          </a:p>
        </p:txBody>
      </p:sp>
      <p:sp>
        <p:nvSpPr>
          <p:cNvPr id="5" name="Content Placeholder 4"/>
          <p:cNvSpPr>
            <a:spLocks noGrp="1"/>
          </p:cNvSpPr>
          <p:nvPr>
            <p:ph idx="1"/>
          </p:nvPr>
        </p:nvSpPr>
        <p:spPr/>
        <p:txBody>
          <a:bodyPr/>
          <a:lstStyle/>
          <a:p>
            <a:pPr marL="0" indent="0">
              <a:buNone/>
            </a:pPr>
            <a:r>
              <a:rPr lang="en-GB" dirty="0"/>
              <a:t>A diode is a two-terminal electronic component that conducts electricity primarily in one direction. It has high resistance on one end and low resistance on the other </a:t>
            </a:r>
            <a:r>
              <a:rPr lang="en-GB" dirty="0" smtClean="0"/>
              <a:t>end.</a:t>
            </a:r>
          </a:p>
          <a:p>
            <a:pPr marL="0" indent="0">
              <a:buNone/>
            </a:pPr>
            <a:endParaRPr lang="en-GB" dirty="0"/>
          </a:p>
          <a:p>
            <a:pPr marL="0" indent="0">
              <a:buNone/>
            </a:pPr>
            <a:endParaRPr lang="en-GB" dirty="0" smtClean="0"/>
          </a:p>
          <a:p>
            <a:pPr marL="0" indent="0">
              <a:buNone/>
            </a:pPr>
            <a:endParaRPr lang="en-GB" dirty="0"/>
          </a:p>
        </p:txBody>
      </p:sp>
      <p:sp>
        <p:nvSpPr>
          <p:cNvPr id="6" name="Rectangle 3"/>
          <p:cNvSpPr txBox="1">
            <a:spLocks noChangeArrowheads="1"/>
          </p:cNvSpPr>
          <p:nvPr/>
        </p:nvSpPr>
        <p:spPr>
          <a:xfrm>
            <a:off x="703730" y="5289457"/>
            <a:ext cx="10282518"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Diodes are essentially one-way current gates.</a:t>
            </a:r>
            <a:endParaRPr lang="en-US" altLang="en-US" dirty="0"/>
          </a:p>
          <a:p>
            <a:r>
              <a:rPr lang="en-GB" dirty="0"/>
              <a:t>Diodes are used to protect circuits by limiting the voltage and to also transform AC into DC</a:t>
            </a:r>
          </a:p>
          <a:p>
            <a:endParaRPr lang="en-US" altLang="en-US"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3668" t="15547" r="2215" b="7529"/>
          <a:stretch/>
        </p:blipFill>
        <p:spPr>
          <a:xfrm>
            <a:off x="3213847" y="3072777"/>
            <a:ext cx="4128247" cy="1624543"/>
          </a:xfrm>
          <a:prstGeom prst="rect">
            <a:avLst/>
          </a:prstGeom>
        </p:spPr>
      </p:pic>
    </p:spTree>
    <p:extLst>
      <p:ext uri="{BB962C8B-B14F-4D97-AF65-F5344CB8AC3E}">
        <p14:creationId xmlns:p14="http://schemas.microsoft.com/office/powerpoint/2010/main" val="38216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b="1" dirty="0"/>
              <a:t>Diodes</a:t>
            </a:r>
            <a:r>
              <a:rPr lang="en-GB" dirty="0"/>
              <a:t/>
            </a:r>
            <a:br>
              <a:rPr lang="en-GB" dirty="0"/>
            </a:br>
            <a:endParaRPr lang="en-GB" dirty="0"/>
          </a:p>
        </p:txBody>
      </p:sp>
      <p:sp>
        <p:nvSpPr>
          <p:cNvPr id="7" name="Rectangle 3"/>
          <p:cNvSpPr txBox="1">
            <a:spLocks noChangeArrowheads="1"/>
          </p:cNvSpPr>
          <p:nvPr/>
        </p:nvSpPr>
        <p:spPr>
          <a:xfrm>
            <a:off x="569194" y="1690688"/>
            <a:ext cx="10524629"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AC provides a means for us to distribute electrical power, but most devices actually </a:t>
            </a:r>
            <a:r>
              <a:rPr lang="en-US" altLang="en-US" i="1" dirty="0" smtClean="0"/>
              <a:t>want</a:t>
            </a:r>
            <a:r>
              <a:rPr lang="en-US" altLang="en-US" dirty="0" smtClean="0"/>
              <a:t> DC</a:t>
            </a:r>
          </a:p>
          <a:p>
            <a:pPr lvl="1"/>
            <a:r>
              <a:rPr lang="en-US" altLang="en-US" dirty="0" smtClean="0"/>
              <a:t>bulbs, toasters, heaters, fans don’t care: plug straight in</a:t>
            </a:r>
          </a:p>
          <a:p>
            <a:pPr lvl="1"/>
            <a:r>
              <a:rPr lang="en-US" altLang="en-US" dirty="0" smtClean="0"/>
              <a:t>sophisticated devices care because they have </a:t>
            </a:r>
            <a:r>
              <a:rPr lang="en-US" altLang="en-US" dirty="0" smtClean="0">
                <a:solidFill>
                  <a:schemeClr val="accent2"/>
                </a:solidFill>
              </a:rPr>
              <a:t>diodes</a:t>
            </a:r>
            <a:r>
              <a:rPr lang="en-US" altLang="en-US" dirty="0" smtClean="0"/>
              <a:t> and </a:t>
            </a:r>
            <a:r>
              <a:rPr lang="en-US" altLang="en-US" dirty="0" smtClean="0">
                <a:solidFill>
                  <a:schemeClr val="accent2"/>
                </a:solidFill>
              </a:rPr>
              <a:t>transistors</a:t>
            </a:r>
            <a:r>
              <a:rPr lang="en-US" altLang="en-US" dirty="0" smtClean="0"/>
              <a:t> that require a certain </a:t>
            </a:r>
            <a:r>
              <a:rPr lang="en-US" altLang="en-US" dirty="0" smtClean="0">
                <a:solidFill>
                  <a:schemeClr val="folHlink"/>
                </a:solidFill>
              </a:rPr>
              <a:t>polarity.</a:t>
            </a:r>
            <a:endParaRPr lang="en-US" altLang="en-US" dirty="0" smtClean="0"/>
          </a:p>
          <a:p>
            <a:pPr lvl="2"/>
            <a:r>
              <a:rPr lang="en-US" altLang="en-US" dirty="0" smtClean="0"/>
              <a:t>rather than oscillating polarity derived from AC</a:t>
            </a:r>
          </a:p>
          <a:p>
            <a:pPr lvl="2"/>
            <a:r>
              <a:rPr lang="en-US" altLang="en-US" dirty="0" smtClean="0"/>
              <a:t>this is why battery orientation matters in most electronics</a:t>
            </a:r>
          </a:p>
          <a:p>
            <a:r>
              <a:rPr lang="en-US" altLang="en-US" dirty="0" smtClean="0"/>
              <a:t>Use diodes to “rectify” AC signal</a:t>
            </a:r>
          </a:p>
          <a:p>
            <a:r>
              <a:rPr lang="en-US" altLang="en-US" dirty="0" smtClean="0"/>
              <a:t>Simplest rectifier uses one diode:</a:t>
            </a:r>
            <a:endParaRPr lang="en-US" altLang="en-US" dirty="0"/>
          </a:p>
        </p:txBody>
      </p:sp>
      <p:grpSp>
        <p:nvGrpSpPr>
          <p:cNvPr id="8" name="Group 29"/>
          <p:cNvGrpSpPr>
            <a:grpSpLocks/>
          </p:cNvGrpSpPr>
          <p:nvPr/>
        </p:nvGrpSpPr>
        <p:grpSpPr bwMode="auto">
          <a:xfrm>
            <a:off x="5831508" y="5273488"/>
            <a:ext cx="1482725" cy="1257300"/>
            <a:chOff x="794" y="3000"/>
            <a:chExt cx="934" cy="792"/>
          </a:xfrm>
        </p:grpSpPr>
        <p:grpSp>
          <p:nvGrpSpPr>
            <p:cNvPr id="9" name="Group 7"/>
            <p:cNvGrpSpPr>
              <a:grpSpLocks/>
            </p:cNvGrpSpPr>
            <p:nvPr/>
          </p:nvGrpSpPr>
          <p:grpSpPr bwMode="auto">
            <a:xfrm>
              <a:off x="794" y="3312"/>
              <a:ext cx="240" cy="240"/>
              <a:chOff x="768" y="3312"/>
              <a:chExt cx="240" cy="240"/>
            </a:xfrm>
          </p:grpSpPr>
          <p:sp>
            <p:nvSpPr>
              <p:cNvPr id="27" name="Oval 4"/>
              <p:cNvSpPr>
                <a:spLocks noChangeArrowheads="1"/>
              </p:cNvSpPr>
              <p:nvPr/>
            </p:nvSpPr>
            <p:spPr bwMode="auto">
              <a:xfrm>
                <a:off x="768" y="3312"/>
                <a:ext cx="240" cy="240"/>
              </a:xfrm>
              <a:prstGeom prst="ellipse">
                <a:avLst/>
              </a:prstGeom>
              <a:solidFill>
                <a:schemeClr val="accent1"/>
              </a:solidFill>
              <a:ln w="9525">
                <a:solidFill>
                  <a:srgbClr val="000000"/>
                </a:solidFill>
                <a:round/>
                <a:headEnd/>
                <a:tailEnd/>
              </a:ln>
            </p:spPr>
            <p:txBody>
              <a:bodyPr wrap="none" anchor="ctr"/>
              <a:lstStyle/>
              <a:p>
                <a:endParaRPr lang="en-GB"/>
              </a:p>
            </p:txBody>
          </p:sp>
          <p:sp>
            <p:nvSpPr>
              <p:cNvPr id="28" name="Freeform 6"/>
              <p:cNvSpPr>
                <a:spLocks/>
              </p:cNvSpPr>
              <p:nvPr/>
            </p:nvSpPr>
            <p:spPr bwMode="auto">
              <a:xfrm>
                <a:off x="794" y="3385"/>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Lst>
                <a:ahLst/>
                <a:cxnLst>
                  <a:cxn ang="0">
                    <a:pos x="T0" y="T1"/>
                  </a:cxn>
                  <a:cxn ang="0">
                    <a:pos x="T2" y="T3"/>
                  </a:cxn>
                  <a:cxn ang="0">
                    <a:pos x="T4" y="T5"/>
                  </a:cxn>
                  <a:cxn ang="0">
                    <a:pos x="T6" y="T7"/>
                  </a:cxn>
                  <a:cxn ang="0">
                    <a:pos x="T8" y="T9"/>
                  </a:cxn>
                </a:cxnLst>
                <a:rect l="0" t="0" r="r" b="b"/>
                <a:pathLst>
                  <a:path w="192" h="96">
                    <a:moveTo>
                      <a:pt x="0" y="48"/>
                    </a:moveTo>
                    <a:cubicBezTo>
                      <a:pt x="16" y="24"/>
                      <a:pt x="32" y="0"/>
                      <a:pt x="48" y="0"/>
                    </a:cubicBezTo>
                    <a:cubicBezTo>
                      <a:pt x="64" y="0"/>
                      <a:pt x="80" y="32"/>
                      <a:pt x="96" y="48"/>
                    </a:cubicBezTo>
                    <a:cubicBezTo>
                      <a:pt x="112" y="64"/>
                      <a:pt x="128" y="96"/>
                      <a:pt x="144" y="96"/>
                    </a:cubicBezTo>
                    <a:cubicBezTo>
                      <a:pt x="160" y="96"/>
                      <a:pt x="184" y="56"/>
                      <a:pt x="192" y="48"/>
                    </a:cubicBezTo>
                  </a:path>
                </a:pathLst>
              </a:custGeom>
              <a:noFill/>
              <a:ln w="9525">
                <a:solidFill>
                  <a:srgbClr val="00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grpSp>
        <p:sp>
          <p:nvSpPr>
            <p:cNvPr id="10" name="Line 8"/>
            <p:cNvSpPr>
              <a:spLocks noChangeShapeType="1"/>
            </p:cNvSpPr>
            <p:nvPr/>
          </p:nvSpPr>
          <p:spPr bwMode="auto">
            <a:xfrm flipV="1">
              <a:off x="912" y="3072"/>
              <a:ext cx="0" cy="2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 name="Line 9"/>
            <p:cNvSpPr>
              <a:spLocks noChangeShapeType="1"/>
            </p:cNvSpPr>
            <p:nvPr/>
          </p:nvSpPr>
          <p:spPr bwMode="auto">
            <a:xfrm flipV="1">
              <a:off x="912" y="3552"/>
              <a:ext cx="0" cy="2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12" name="Group 21"/>
            <p:cNvGrpSpPr>
              <a:grpSpLocks/>
            </p:cNvGrpSpPr>
            <p:nvPr/>
          </p:nvGrpSpPr>
          <p:grpSpPr bwMode="auto">
            <a:xfrm>
              <a:off x="1632" y="3264"/>
              <a:ext cx="96" cy="336"/>
              <a:chOff x="1104" y="3264"/>
              <a:chExt cx="96" cy="336"/>
            </a:xfrm>
          </p:grpSpPr>
          <p:sp>
            <p:nvSpPr>
              <p:cNvPr id="20" name="Line 12"/>
              <p:cNvSpPr>
                <a:spLocks noChangeShapeType="1"/>
              </p:cNvSpPr>
              <p:nvPr/>
            </p:nvSpPr>
            <p:spPr bwMode="auto">
              <a:xfrm>
                <a:off x="1152" y="3264"/>
                <a:ext cx="48"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1" name="Line 13"/>
              <p:cNvSpPr>
                <a:spLocks noChangeShapeType="1"/>
              </p:cNvSpPr>
              <p:nvPr/>
            </p:nvSpPr>
            <p:spPr bwMode="auto">
              <a:xfrm flipH="1">
                <a:off x="1104" y="3312"/>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2" name="Line 14"/>
              <p:cNvSpPr>
                <a:spLocks noChangeShapeType="1"/>
              </p:cNvSpPr>
              <p:nvPr/>
            </p:nvSpPr>
            <p:spPr bwMode="auto">
              <a:xfrm>
                <a:off x="1104" y="3360"/>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3" name="Line 15"/>
              <p:cNvSpPr>
                <a:spLocks noChangeShapeType="1"/>
              </p:cNvSpPr>
              <p:nvPr/>
            </p:nvSpPr>
            <p:spPr bwMode="auto">
              <a:xfrm flipH="1">
                <a:off x="1104" y="3408"/>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4" name="Line 16"/>
              <p:cNvSpPr>
                <a:spLocks noChangeShapeType="1"/>
              </p:cNvSpPr>
              <p:nvPr/>
            </p:nvSpPr>
            <p:spPr bwMode="auto">
              <a:xfrm>
                <a:off x="1104" y="3456"/>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5" name="Line 17"/>
              <p:cNvSpPr>
                <a:spLocks noChangeShapeType="1"/>
              </p:cNvSpPr>
              <p:nvPr/>
            </p:nvSpPr>
            <p:spPr bwMode="auto">
              <a:xfrm flipH="1">
                <a:off x="1104" y="3504"/>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6" name="Line 18"/>
              <p:cNvSpPr>
                <a:spLocks noChangeShapeType="1"/>
              </p:cNvSpPr>
              <p:nvPr/>
            </p:nvSpPr>
            <p:spPr bwMode="auto">
              <a:xfrm>
                <a:off x="1104" y="3552"/>
                <a:ext cx="48"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13" name="Line 19"/>
            <p:cNvSpPr>
              <a:spLocks noChangeShapeType="1"/>
            </p:cNvSpPr>
            <p:nvPr/>
          </p:nvSpPr>
          <p:spPr bwMode="auto">
            <a:xfrm flipV="1">
              <a:off x="1680" y="3072"/>
              <a:ext cx="0" cy="19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 name="Line 20"/>
            <p:cNvSpPr>
              <a:spLocks noChangeShapeType="1"/>
            </p:cNvSpPr>
            <p:nvPr/>
          </p:nvSpPr>
          <p:spPr bwMode="auto">
            <a:xfrm>
              <a:off x="1680" y="3600"/>
              <a:ext cx="0" cy="19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15" name="Group 26"/>
            <p:cNvGrpSpPr>
              <a:grpSpLocks/>
            </p:cNvGrpSpPr>
            <p:nvPr/>
          </p:nvGrpSpPr>
          <p:grpSpPr bwMode="auto">
            <a:xfrm>
              <a:off x="912" y="3000"/>
              <a:ext cx="768" cy="145"/>
              <a:chOff x="912" y="3023"/>
              <a:chExt cx="768" cy="145"/>
            </a:xfrm>
          </p:grpSpPr>
          <p:sp>
            <p:nvSpPr>
              <p:cNvPr id="17" name="Line 23"/>
              <p:cNvSpPr>
                <a:spLocks noChangeShapeType="1"/>
              </p:cNvSpPr>
              <p:nvPr/>
            </p:nvSpPr>
            <p:spPr bwMode="auto">
              <a:xfrm rot="16200000" flipV="1">
                <a:off x="1296" y="2712"/>
                <a:ext cx="0" cy="76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8" name="AutoShape 24"/>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headEnd/>
                <a:tailEnd/>
              </a:ln>
            </p:spPr>
            <p:txBody>
              <a:bodyPr wrap="none" anchor="ctr"/>
              <a:lstStyle/>
              <a:p>
                <a:endParaRPr lang="en-GB"/>
              </a:p>
            </p:txBody>
          </p:sp>
          <p:sp>
            <p:nvSpPr>
              <p:cNvPr id="19" name="Line 25"/>
              <p:cNvSpPr>
                <a:spLocks noChangeShapeType="1"/>
              </p:cNvSpPr>
              <p:nvPr/>
            </p:nvSpPr>
            <p:spPr bwMode="auto">
              <a:xfrm rot="16200000" flipV="1">
                <a:off x="1271" y="3095"/>
                <a:ext cx="144"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16" name="Line 27"/>
            <p:cNvSpPr>
              <a:spLocks noChangeShapeType="1"/>
            </p:cNvSpPr>
            <p:nvPr/>
          </p:nvSpPr>
          <p:spPr bwMode="auto">
            <a:xfrm>
              <a:off x="912" y="3792"/>
              <a:ext cx="768"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29" name="Line 34"/>
          <p:cNvSpPr>
            <a:spLocks noChangeShapeType="1"/>
          </p:cNvSpPr>
          <p:nvPr/>
        </p:nvSpPr>
        <p:spPr bwMode="auto">
          <a:xfrm>
            <a:off x="7941761" y="47781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0" name="Line 35"/>
          <p:cNvSpPr>
            <a:spLocks noChangeShapeType="1"/>
          </p:cNvSpPr>
          <p:nvPr/>
        </p:nvSpPr>
        <p:spPr bwMode="auto">
          <a:xfrm>
            <a:off x="7941761" y="5159188"/>
            <a:ext cx="2895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2" name="Line 57"/>
          <p:cNvSpPr>
            <a:spLocks noChangeShapeType="1"/>
          </p:cNvSpPr>
          <p:nvPr/>
        </p:nvSpPr>
        <p:spPr bwMode="auto">
          <a:xfrm>
            <a:off x="7941761" y="6149788"/>
            <a:ext cx="2895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3" name="Group 2"/>
          <p:cNvGrpSpPr/>
          <p:nvPr/>
        </p:nvGrpSpPr>
        <p:grpSpPr>
          <a:xfrm>
            <a:off x="7789361" y="5768788"/>
            <a:ext cx="3048000" cy="762000"/>
            <a:chOff x="7789361" y="5768788"/>
            <a:chExt cx="3048000" cy="762000"/>
          </a:xfrm>
        </p:grpSpPr>
        <p:sp>
          <p:nvSpPr>
            <p:cNvPr id="31" name="Line 56"/>
            <p:cNvSpPr>
              <a:spLocks noChangeShapeType="1"/>
            </p:cNvSpPr>
            <p:nvPr/>
          </p:nvSpPr>
          <p:spPr bwMode="auto">
            <a:xfrm>
              <a:off x="7941761" y="57687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33" name="Group 55"/>
            <p:cNvGrpSpPr>
              <a:grpSpLocks/>
            </p:cNvGrpSpPr>
            <p:nvPr/>
          </p:nvGrpSpPr>
          <p:grpSpPr bwMode="auto">
            <a:xfrm>
              <a:off x="7789361" y="5768788"/>
              <a:ext cx="3048000" cy="381000"/>
              <a:chOff x="3216" y="3408"/>
              <a:chExt cx="1920" cy="240"/>
            </a:xfrm>
          </p:grpSpPr>
          <p:sp>
            <p:nvSpPr>
              <p:cNvPr id="34" name="Freeform 49"/>
              <p:cNvSpPr>
                <a:spLocks/>
              </p:cNvSpPr>
              <p:nvPr/>
            </p:nvSpPr>
            <p:spPr bwMode="auto">
              <a:xfrm>
                <a:off x="3312" y="3408"/>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rgbClr val="00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sp>
            <p:nvSpPr>
              <p:cNvPr id="35" name="Freeform 50"/>
              <p:cNvSpPr>
                <a:spLocks/>
              </p:cNvSpPr>
              <p:nvPr/>
            </p:nvSpPr>
            <p:spPr bwMode="auto">
              <a:xfrm>
                <a:off x="4272" y="3408"/>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rgbClr val="00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sp>
            <p:nvSpPr>
              <p:cNvPr id="36" name="Line 51"/>
              <p:cNvSpPr>
                <a:spLocks noChangeShapeType="1"/>
              </p:cNvSpPr>
              <p:nvPr/>
            </p:nvSpPr>
            <p:spPr bwMode="auto">
              <a:xfrm>
                <a:off x="3792" y="3648"/>
                <a:ext cx="48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7" name="Line 52"/>
              <p:cNvSpPr>
                <a:spLocks noChangeShapeType="1"/>
              </p:cNvSpPr>
              <p:nvPr/>
            </p:nvSpPr>
            <p:spPr bwMode="auto">
              <a:xfrm flipH="1">
                <a:off x="3216" y="3648"/>
                <a:ext cx="96"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8" name="Line 53"/>
              <p:cNvSpPr>
                <a:spLocks noChangeShapeType="1"/>
              </p:cNvSpPr>
              <p:nvPr/>
            </p:nvSpPr>
            <p:spPr bwMode="auto">
              <a:xfrm>
                <a:off x="4752" y="3648"/>
                <a:ext cx="384"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grpSp>
      <p:sp>
        <p:nvSpPr>
          <p:cNvPr id="39" name="Text Box 58"/>
          <p:cNvSpPr txBox="1">
            <a:spLocks noChangeArrowheads="1"/>
          </p:cNvSpPr>
          <p:nvPr/>
        </p:nvSpPr>
        <p:spPr bwMode="auto">
          <a:xfrm>
            <a:off x="8418011" y="4533713"/>
            <a:ext cx="1336675"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en-US" sz="1600">
                <a:solidFill>
                  <a:schemeClr val="hlink"/>
                </a:solidFill>
              </a:rPr>
              <a:t>input voltage</a:t>
            </a:r>
          </a:p>
        </p:txBody>
      </p:sp>
      <p:sp>
        <p:nvSpPr>
          <p:cNvPr id="40" name="Text Box 59"/>
          <p:cNvSpPr txBox="1">
            <a:spLocks noChangeArrowheads="1"/>
          </p:cNvSpPr>
          <p:nvPr/>
        </p:nvSpPr>
        <p:spPr bwMode="auto">
          <a:xfrm>
            <a:off x="8044949" y="6194238"/>
            <a:ext cx="2047875"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en-US" sz="1600">
                <a:solidFill>
                  <a:srgbClr val="000000"/>
                </a:solidFill>
              </a:rPr>
              <a:t>voltage seen by load</a:t>
            </a:r>
          </a:p>
        </p:txBody>
      </p:sp>
      <p:grpSp>
        <p:nvGrpSpPr>
          <p:cNvPr id="41" name="Group 54"/>
          <p:cNvGrpSpPr>
            <a:grpSpLocks/>
          </p:cNvGrpSpPr>
          <p:nvPr/>
        </p:nvGrpSpPr>
        <p:grpSpPr bwMode="auto">
          <a:xfrm>
            <a:off x="7941761" y="4778188"/>
            <a:ext cx="3048000" cy="762000"/>
            <a:chOff x="3312" y="3072"/>
            <a:chExt cx="1920" cy="480"/>
          </a:xfrm>
        </p:grpSpPr>
        <p:sp>
          <p:nvSpPr>
            <p:cNvPr id="42" name="Freeform 45"/>
            <p:cNvSpPr>
              <a:spLocks/>
            </p:cNvSpPr>
            <p:nvPr/>
          </p:nvSpPr>
          <p:spPr bwMode="auto">
            <a:xfrm flipV="1">
              <a:off x="3792" y="3312"/>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chemeClr val="hlink"/>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sp>
          <p:nvSpPr>
            <p:cNvPr id="43" name="Freeform 46"/>
            <p:cNvSpPr>
              <a:spLocks/>
            </p:cNvSpPr>
            <p:nvPr/>
          </p:nvSpPr>
          <p:spPr bwMode="auto">
            <a:xfrm>
              <a:off x="3312" y="3072"/>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chemeClr val="hlink"/>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sp>
          <p:nvSpPr>
            <p:cNvPr id="44" name="Freeform 47"/>
            <p:cNvSpPr>
              <a:spLocks/>
            </p:cNvSpPr>
            <p:nvPr/>
          </p:nvSpPr>
          <p:spPr bwMode="auto">
            <a:xfrm>
              <a:off x="4272" y="3072"/>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chemeClr val="hlink"/>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sp>
          <p:nvSpPr>
            <p:cNvPr id="45" name="Freeform 48"/>
            <p:cNvSpPr>
              <a:spLocks/>
            </p:cNvSpPr>
            <p:nvPr/>
          </p:nvSpPr>
          <p:spPr bwMode="auto">
            <a:xfrm flipV="1">
              <a:off x="4752" y="3312"/>
              <a:ext cx="480" cy="240"/>
            </a:xfrm>
            <a:custGeom>
              <a:avLst/>
              <a:gdLst>
                <a:gd name="T0" fmla="*/ 0 w 480"/>
                <a:gd name="T1" fmla="*/ 240 h 240"/>
                <a:gd name="T2" fmla="*/ 240 w 480"/>
                <a:gd name="T3" fmla="*/ 0 h 240"/>
                <a:gd name="T4" fmla="*/ 480 w 480"/>
                <a:gd name="T5" fmla="*/ 240 h 240"/>
              </a:gdLst>
              <a:ahLst/>
              <a:cxnLst>
                <a:cxn ang="0">
                  <a:pos x="T0" y="T1"/>
                </a:cxn>
                <a:cxn ang="0">
                  <a:pos x="T2" y="T3"/>
                </a:cxn>
                <a:cxn ang="0">
                  <a:pos x="T4" y="T5"/>
                </a:cxn>
              </a:cxnLst>
              <a:rect l="0" t="0" r="r" b="b"/>
              <a:pathLst>
                <a:path w="480" h="240">
                  <a:moveTo>
                    <a:pt x="0" y="240"/>
                  </a:moveTo>
                  <a:cubicBezTo>
                    <a:pt x="80" y="120"/>
                    <a:pt x="160" y="0"/>
                    <a:pt x="240" y="0"/>
                  </a:cubicBezTo>
                  <a:cubicBezTo>
                    <a:pt x="320" y="0"/>
                    <a:pt x="400" y="120"/>
                    <a:pt x="480" y="240"/>
                  </a:cubicBezTo>
                </a:path>
              </a:pathLst>
            </a:custGeom>
            <a:noFill/>
            <a:ln w="15875">
              <a:solidFill>
                <a:schemeClr val="hlink"/>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GB"/>
            </a:p>
          </p:txBody>
        </p:sp>
      </p:grpSp>
    </p:spTree>
    <p:extLst>
      <p:ext uri="{BB962C8B-B14F-4D97-AF65-F5344CB8AC3E}">
        <p14:creationId xmlns:p14="http://schemas.microsoft.com/office/powerpoint/2010/main" val="324204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b="1" dirty="0"/>
              <a:t>Diodes</a:t>
            </a:r>
            <a:br>
              <a:rPr lang="en-GB" b="1" dirty="0"/>
            </a:br>
            <a:endParaRPr lang="en-GB" b="1" dirty="0"/>
          </a:p>
        </p:txBody>
      </p:sp>
      <p:sp>
        <p:nvSpPr>
          <p:cNvPr id="7" name="Rectangle 3"/>
          <p:cNvSpPr txBox="1">
            <a:spLocks noChangeArrowheads="1"/>
          </p:cNvSpPr>
          <p:nvPr/>
        </p:nvSpPr>
        <p:spPr>
          <a:xfrm>
            <a:off x="569194" y="1690688"/>
            <a:ext cx="10524629"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P-N junction diode includes two layers of semiconductors. One layer of the semiconductor material is </a:t>
            </a:r>
            <a:r>
              <a:rPr lang="en-GB" dirty="0" smtClean="0"/>
              <a:t>fixed </a:t>
            </a:r>
            <a:r>
              <a:rPr lang="en-GB" dirty="0"/>
              <a:t>with P-type material and the other layer with N-type material. The combination of these both P and N-type layers form a junction known as the P-N </a:t>
            </a:r>
            <a:r>
              <a:rPr lang="en-GB" dirty="0" smtClean="0"/>
              <a:t>junction.</a:t>
            </a:r>
          </a:p>
          <a:p>
            <a:endParaRPr lang="en-GB" dirty="0" smtClean="0"/>
          </a:p>
          <a:p>
            <a:endParaRPr lang="en-GB" dirty="0"/>
          </a:p>
          <a:p>
            <a:endParaRPr lang="en-GB" dirty="0" smtClean="0"/>
          </a:p>
          <a:p>
            <a:endParaRPr lang="en-GB" dirty="0" smtClean="0"/>
          </a:p>
          <a:p>
            <a:r>
              <a:rPr lang="en-GB" dirty="0" smtClean="0"/>
              <a:t>A </a:t>
            </a:r>
            <a:r>
              <a:rPr lang="en-GB" dirty="0"/>
              <a:t>p-n junction diode is a basic semiconductor device that controls the flow of electric current in a circuit. It has a positive (p) side and a negative (n) </a:t>
            </a:r>
            <a:r>
              <a:rPr lang="en-GB" dirty="0" smtClean="0"/>
              <a:t>side.</a:t>
            </a:r>
            <a:endParaRPr lang="en-US" alt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5149" y="3594986"/>
            <a:ext cx="5245474" cy="1757504"/>
          </a:xfrm>
          <a:prstGeom prst="rect">
            <a:avLst/>
          </a:prstGeom>
        </p:spPr>
      </p:pic>
    </p:spTree>
    <p:extLst>
      <p:ext uri="{BB962C8B-B14F-4D97-AF65-F5344CB8AC3E}">
        <p14:creationId xmlns:p14="http://schemas.microsoft.com/office/powerpoint/2010/main" val="316921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Diode </a:t>
            </a:r>
            <a:r>
              <a:rPr lang="en-GB" b="1" dirty="0" smtClean="0"/>
              <a:t>Construction</a:t>
            </a:r>
            <a:r>
              <a:rPr lang="en-GB" b="1" dirty="0"/>
              <a:t/>
            </a:r>
            <a:br>
              <a:rPr lang="en-GB" b="1" dirty="0"/>
            </a:br>
            <a:endParaRPr lang="en-GB" b="1" dirty="0"/>
          </a:p>
        </p:txBody>
      </p:sp>
      <p:sp>
        <p:nvSpPr>
          <p:cNvPr id="5" name="Content Placeholder 4"/>
          <p:cNvSpPr>
            <a:spLocks noGrp="1"/>
          </p:cNvSpPr>
          <p:nvPr>
            <p:ph idx="1"/>
          </p:nvPr>
        </p:nvSpPr>
        <p:spPr/>
        <p:txBody>
          <a:bodyPr/>
          <a:lstStyle/>
          <a:p>
            <a:pPr marL="0" indent="0">
              <a:buNone/>
            </a:pPr>
            <a:r>
              <a:rPr lang="en-GB" dirty="0"/>
              <a:t>Diodes can be made of either of the two semiconductor materials, silicon and germanium. When the anode voltage is more positive than the cathode voltage, the diode is said to be forward-biased, and it conducts readily with a relatively low-voltage drop. Likewise, when the cathode voltage is more positive than the anode, the diode is said to be </a:t>
            </a:r>
            <a:r>
              <a:rPr lang="en-GB" dirty="0" smtClean="0"/>
              <a:t>reverse-biased.</a:t>
            </a:r>
            <a:endParaRPr lang="en-GB" dirty="0"/>
          </a:p>
        </p:txBody>
      </p:sp>
    </p:spTree>
    <p:extLst>
      <p:ext uri="{BB962C8B-B14F-4D97-AF65-F5344CB8AC3E}">
        <p14:creationId xmlns:p14="http://schemas.microsoft.com/office/powerpoint/2010/main" val="318245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Types of Diodes</a:t>
            </a:r>
          </a:p>
        </p:txBody>
      </p:sp>
      <p:sp>
        <p:nvSpPr>
          <p:cNvPr id="5" name="Content Placeholder 4"/>
          <p:cNvSpPr>
            <a:spLocks noGrp="1"/>
          </p:cNvSpPr>
          <p:nvPr>
            <p:ph idx="1"/>
          </p:nvPr>
        </p:nvSpPr>
        <p:spPr/>
        <p:txBody>
          <a:bodyPr/>
          <a:lstStyle/>
          <a:p>
            <a:r>
              <a:rPr lang="en-GB" dirty="0" smtClean="0"/>
              <a:t>Light </a:t>
            </a:r>
            <a:r>
              <a:rPr lang="en-GB" dirty="0"/>
              <a:t>Emitting Diode</a:t>
            </a:r>
          </a:p>
          <a:p>
            <a:r>
              <a:rPr lang="en-GB" dirty="0"/>
              <a:t>Laser diode</a:t>
            </a:r>
          </a:p>
          <a:p>
            <a:r>
              <a:rPr lang="en-GB" dirty="0" smtClean="0"/>
              <a:t>Zener </a:t>
            </a:r>
            <a:r>
              <a:rPr lang="en-GB" dirty="0"/>
              <a:t>diode</a:t>
            </a:r>
          </a:p>
          <a:p>
            <a:r>
              <a:rPr lang="en-GB" dirty="0" err="1" smtClean="0"/>
              <a:t>Schottky</a:t>
            </a:r>
            <a:r>
              <a:rPr lang="en-GB" dirty="0" smtClean="0"/>
              <a:t> </a:t>
            </a:r>
            <a:r>
              <a:rPr lang="en-GB" dirty="0"/>
              <a:t>diode</a:t>
            </a:r>
          </a:p>
          <a:p>
            <a:r>
              <a:rPr lang="en-GB" dirty="0"/>
              <a:t>Photodiode</a:t>
            </a:r>
          </a:p>
          <a:p>
            <a:r>
              <a:rPr lang="en-GB" dirty="0"/>
              <a:t>PN junction diode</a:t>
            </a:r>
          </a:p>
          <a:p>
            <a:pPr marL="0" indent="0">
              <a:buNone/>
            </a:pPr>
            <a:endParaRPr lang="en-GB" dirty="0"/>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1635" t="4510" r="1584" b="2156"/>
          <a:stretch/>
        </p:blipFill>
        <p:spPr>
          <a:xfrm>
            <a:off x="5419164" y="1936376"/>
            <a:ext cx="4300177" cy="3254188"/>
          </a:xfrm>
          <a:prstGeom prst="rect">
            <a:avLst/>
          </a:prstGeom>
        </p:spPr>
      </p:pic>
    </p:spTree>
    <p:extLst>
      <p:ext uri="{BB962C8B-B14F-4D97-AF65-F5344CB8AC3E}">
        <p14:creationId xmlns:p14="http://schemas.microsoft.com/office/powerpoint/2010/main" val="153168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Light Emitting Diode (LED)</a:t>
            </a:r>
          </a:p>
        </p:txBody>
      </p:sp>
      <p:sp>
        <p:nvSpPr>
          <p:cNvPr id="5" name="Content Placeholder 4"/>
          <p:cNvSpPr>
            <a:spLocks noGrp="1"/>
          </p:cNvSpPr>
          <p:nvPr>
            <p:ph idx="1"/>
          </p:nvPr>
        </p:nvSpPr>
        <p:spPr/>
        <p:txBody>
          <a:bodyPr/>
          <a:lstStyle/>
          <a:p>
            <a:pPr marL="0" indent="0">
              <a:buNone/>
            </a:pPr>
            <a:r>
              <a:rPr lang="en-GB" dirty="0"/>
              <a:t>When an electric current between the electrodes passes through this diode, light is produced. In other words, light is generated when a sufficient amount of forwarding current passes through it. In many diodes, this light generated is not visible as there are frequency levels that do not allow visibility.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4576" y="4218454"/>
            <a:ext cx="3305175" cy="226695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262" y="4580404"/>
            <a:ext cx="2962275" cy="1543050"/>
          </a:xfrm>
          <a:prstGeom prst="rect">
            <a:avLst/>
          </a:prstGeom>
        </p:spPr>
      </p:pic>
    </p:spTree>
    <p:extLst>
      <p:ext uri="{BB962C8B-B14F-4D97-AF65-F5344CB8AC3E}">
        <p14:creationId xmlns:p14="http://schemas.microsoft.com/office/powerpoint/2010/main" val="399898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Laser Diode</a:t>
            </a:r>
          </a:p>
        </p:txBody>
      </p:sp>
      <p:sp>
        <p:nvSpPr>
          <p:cNvPr id="5" name="Content Placeholder 4"/>
          <p:cNvSpPr>
            <a:spLocks noGrp="1"/>
          </p:cNvSpPr>
          <p:nvPr>
            <p:ph idx="1"/>
          </p:nvPr>
        </p:nvSpPr>
        <p:spPr/>
        <p:txBody>
          <a:bodyPr/>
          <a:lstStyle/>
          <a:p>
            <a:pPr marL="0" indent="0">
              <a:buNone/>
            </a:pPr>
            <a:r>
              <a:rPr lang="en-GB" dirty="0"/>
              <a:t>A laser diode (or diode laser) is a semiconductor device that undergoes stimulating emission to emit coherent </a:t>
            </a:r>
            <a:r>
              <a:rPr lang="en-GB" dirty="0" smtClean="0"/>
              <a:t>light.</a:t>
            </a:r>
          </a:p>
          <a:p>
            <a:pPr marL="0" indent="0">
              <a:buNone/>
            </a:pPr>
            <a:r>
              <a:rPr lang="en-GB" dirty="0"/>
              <a:t>t is highly used in CD drives, DVDs and laser devices. These are costly when compared to LEDs and are cheaper when compared to other laser generators. Limited life is the only drawback of these diodes.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046" y="4726360"/>
            <a:ext cx="2076450" cy="1762125"/>
          </a:xfrm>
          <a:prstGeom prst="rect">
            <a:avLst/>
          </a:prstGeom>
        </p:spPr>
      </p:pic>
    </p:spTree>
    <p:extLst>
      <p:ext uri="{BB962C8B-B14F-4D97-AF65-F5344CB8AC3E}">
        <p14:creationId xmlns:p14="http://schemas.microsoft.com/office/powerpoint/2010/main" val="156755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Zener Diode</a:t>
            </a:r>
          </a:p>
        </p:txBody>
      </p:sp>
      <p:sp>
        <p:nvSpPr>
          <p:cNvPr id="5" name="Content Placeholder 4"/>
          <p:cNvSpPr>
            <a:spLocks noGrp="1"/>
          </p:cNvSpPr>
          <p:nvPr>
            <p:ph idx="1"/>
          </p:nvPr>
        </p:nvSpPr>
        <p:spPr/>
        <p:txBody>
          <a:bodyPr/>
          <a:lstStyle/>
          <a:p>
            <a:pPr marL="0" indent="0">
              <a:buNone/>
            </a:pPr>
            <a:r>
              <a:rPr lang="en-GB" dirty="0"/>
              <a:t>It is the most useful type of diode as it can provide a stable reference voltage. These are operated in reverse bias and break down on the arrival of a certain voltage. If current passing through the resistor is limited, a stable voltage is generated. Zener diodes are widely used in power supplies to provide a reference voltage.</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3363" t="29247" r="4107" b="10786"/>
          <a:stretch/>
        </p:blipFill>
        <p:spPr>
          <a:xfrm>
            <a:off x="2635624" y="4491318"/>
            <a:ext cx="5150224" cy="1869141"/>
          </a:xfrm>
          <a:prstGeom prst="rect">
            <a:avLst/>
          </a:prstGeom>
        </p:spPr>
      </p:pic>
    </p:spTree>
    <p:extLst>
      <p:ext uri="{BB962C8B-B14F-4D97-AF65-F5344CB8AC3E}">
        <p14:creationId xmlns:p14="http://schemas.microsoft.com/office/powerpoint/2010/main" val="360519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Photodiode</a:t>
            </a:r>
          </a:p>
        </p:txBody>
      </p:sp>
      <p:sp>
        <p:nvSpPr>
          <p:cNvPr id="5" name="Content Placeholder 4"/>
          <p:cNvSpPr>
            <a:spLocks noGrp="1"/>
          </p:cNvSpPr>
          <p:nvPr>
            <p:ph idx="1"/>
          </p:nvPr>
        </p:nvSpPr>
        <p:spPr/>
        <p:txBody>
          <a:bodyPr>
            <a:normAutofit/>
          </a:bodyPr>
          <a:lstStyle/>
          <a:p>
            <a:pPr marL="0" indent="0">
              <a:buNone/>
            </a:pPr>
            <a:r>
              <a:rPr lang="en-GB" dirty="0"/>
              <a:t>A photodiode is a PN-junction diode that consumes light energy to produce an electric current. They are also called a photo-detector, a light detector, and a </a:t>
            </a:r>
            <a:r>
              <a:rPr lang="en-GB" dirty="0" smtClean="0"/>
              <a:t>photo-sensor.</a:t>
            </a:r>
          </a:p>
          <a:p>
            <a:pPr marL="0" indent="0">
              <a:buNone/>
            </a:pPr>
            <a:r>
              <a:rPr lang="en-GB" dirty="0" smtClean="0"/>
              <a:t>A </a:t>
            </a:r>
            <a:r>
              <a:rPr lang="en-GB" dirty="0"/>
              <a:t>photo-diode can identify even a small amount of current flow resulting from the light. </a:t>
            </a:r>
            <a:endParaRPr lang="en-GB" dirty="0" smtClean="0"/>
          </a:p>
          <a:p>
            <a:pPr marL="0" indent="0">
              <a:buNone/>
            </a:pPr>
            <a:r>
              <a:rPr lang="en-GB" dirty="0" smtClean="0"/>
              <a:t>These </a:t>
            </a:r>
            <a:r>
              <a:rPr lang="en-GB" dirty="0"/>
              <a:t>are very helpful in the detection of the light. This is a reverse bias diode and used in solar cells and photometers. </a:t>
            </a:r>
            <a:endParaRPr lang="en-GB" dirty="0" smtClean="0"/>
          </a:p>
          <a:p>
            <a:pPr marL="0" indent="0">
              <a:buNone/>
            </a:pPr>
            <a:endParaRPr lang="en-GB"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44002" y="4761309"/>
            <a:ext cx="1864775" cy="1948774"/>
          </a:xfrm>
          <a:prstGeom prst="rect">
            <a:avLst/>
          </a:prstGeom>
        </p:spPr>
      </p:pic>
    </p:spTree>
    <p:extLst>
      <p:ext uri="{BB962C8B-B14F-4D97-AF65-F5344CB8AC3E}">
        <p14:creationId xmlns:p14="http://schemas.microsoft.com/office/powerpoint/2010/main" val="421384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P-N Junction Diode</a:t>
            </a:r>
          </a:p>
        </p:txBody>
      </p:sp>
      <p:sp>
        <p:nvSpPr>
          <p:cNvPr id="5" name="Content Placeholder 4"/>
          <p:cNvSpPr>
            <a:spLocks noGrp="1"/>
          </p:cNvSpPr>
          <p:nvPr>
            <p:ph idx="1"/>
          </p:nvPr>
        </p:nvSpPr>
        <p:spPr/>
        <p:txBody>
          <a:bodyPr/>
          <a:lstStyle/>
          <a:p>
            <a:pPr marL="0" indent="0">
              <a:buNone/>
            </a:pPr>
            <a:r>
              <a:rPr lang="en-GB" dirty="0"/>
              <a:t>The P-N junction diode is also known as rectifier diodes. These diodes are used for the rectification process and are made up of semiconductor material. The P-N junction diode includes two layers of semiconductors. </a:t>
            </a:r>
            <a:endParaRPr lang="en-GB" dirty="0" smtClean="0"/>
          </a:p>
          <a:p>
            <a:pPr marL="0" indent="0">
              <a:buNone/>
            </a:pPr>
            <a:r>
              <a:rPr lang="en-GB" dirty="0" smtClean="0"/>
              <a:t>One </a:t>
            </a:r>
            <a:r>
              <a:rPr lang="en-GB" dirty="0"/>
              <a:t>layer of the semiconductor material is </a:t>
            </a:r>
            <a:r>
              <a:rPr lang="en-GB" dirty="0" smtClean="0"/>
              <a:t>fixed </a:t>
            </a:r>
            <a:r>
              <a:rPr lang="en-GB" dirty="0"/>
              <a:t>with P-type material and the other layer with N-type material. The combination of these both P and N-type layers form a junction known as the P-N junction. Hence, the name P-N junction diode.</a:t>
            </a:r>
          </a:p>
        </p:txBody>
      </p:sp>
      <p:sp>
        <p:nvSpPr>
          <p:cNvPr id="2" name="Rectangle 1"/>
          <p:cNvSpPr/>
          <p:nvPr/>
        </p:nvSpPr>
        <p:spPr>
          <a:xfrm>
            <a:off x="838200" y="5388570"/>
            <a:ext cx="10416988" cy="954107"/>
          </a:xfrm>
          <a:prstGeom prst="rect">
            <a:avLst/>
          </a:prstGeom>
        </p:spPr>
        <p:txBody>
          <a:bodyPr wrap="square">
            <a:spAutoFit/>
          </a:bodyPr>
          <a:lstStyle/>
          <a:p>
            <a:r>
              <a:rPr lang="en-GB" sz="2800" dirty="0"/>
              <a:t>P-N junction diode allows the current to flow in the forward direction and blocks the flow of current in the reverse </a:t>
            </a:r>
            <a:r>
              <a:rPr lang="en-GB" sz="2800" dirty="0" smtClean="0"/>
              <a:t>direction.</a:t>
            </a:r>
            <a:endParaRPr lang="en-GB" sz="2800" dirty="0"/>
          </a:p>
        </p:txBody>
      </p:sp>
    </p:spTree>
    <p:extLst>
      <p:ext uri="{BB962C8B-B14F-4D97-AF65-F5344CB8AC3E}">
        <p14:creationId xmlns:p14="http://schemas.microsoft.com/office/powerpoint/2010/main" val="79812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Characteristics of Diode</a:t>
            </a: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582" y="2211222"/>
            <a:ext cx="5275489" cy="4740907"/>
          </a:xfrm>
        </p:spPr>
      </p:pic>
      <p:sp>
        <p:nvSpPr>
          <p:cNvPr id="3" name="Rectangle 2"/>
          <p:cNvSpPr/>
          <p:nvPr/>
        </p:nvSpPr>
        <p:spPr>
          <a:xfrm>
            <a:off x="573741" y="1690688"/>
            <a:ext cx="8933330" cy="1815882"/>
          </a:xfrm>
          <a:prstGeom prst="rect">
            <a:avLst/>
          </a:prstGeom>
        </p:spPr>
        <p:txBody>
          <a:bodyPr wrap="square">
            <a:spAutoFit/>
          </a:bodyPr>
          <a:lstStyle/>
          <a:p>
            <a:r>
              <a:rPr lang="en-GB" sz="2800" dirty="0"/>
              <a:t>The following are the characteristics of the diode:</a:t>
            </a:r>
          </a:p>
          <a:p>
            <a:pPr>
              <a:buFont typeface="Arial" panose="020B0604020202020204" pitchFamily="34" charset="0"/>
              <a:buChar char="•"/>
            </a:pPr>
            <a:r>
              <a:rPr lang="en-GB" sz="2800" dirty="0"/>
              <a:t>Forward-biased diode</a:t>
            </a:r>
          </a:p>
          <a:p>
            <a:pPr>
              <a:buFont typeface="Arial" panose="020B0604020202020204" pitchFamily="34" charset="0"/>
              <a:buChar char="•"/>
            </a:pPr>
            <a:r>
              <a:rPr lang="en-GB" sz="2800" dirty="0"/>
              <a:t>Reverse-biased diode</a:t>
            </a:r>
          </a:p>
          <a:p>
            <a:pPr>
              <a:buFont typeface="Arial" panose="020B0604020202020204" pitchFamily="34" charset="0"/>
              <a:buChar char="•"/>
            </a:pPr>
            <a:r>
              <a:rPr lang="en-GB" sz="2800" dirty="0"/>
              <a:t>Zero biased diode</a:t>
            </a:r>
          </a:p>
        </p:txBody>
      </p:sp>
    </p:spTree>
    <p:extLst>
      <p:ext uri="{BB962C8B-B14F-4D97-AF65-F5344CB8AC3E}">
        <p14:creationId xmlns:p14="http://schemas.microsoft.com/office/powerpoint/2010/main" val="134996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Characteristics of Diode</a:t>
            </a:r>
          </a:p>
        </p:txBody>
      </p:sp>
      <p:pic>
        <p:nvPicPr>
          <p:cNvPr id="6" name="Picture 5"/>
          <p:cNvPicPr>
            <a:picLocks noChangeAspect="1"/>
          </p:cNvPicPr>
          <p:nvPr/>
        </p:nvPicPr>
        <p:blipFill rotWithShape="1">
          <a:blip r:embed="rId2"/>
          <a:srcRect l="18309" t="28865" r="21030" b="5272"/>
          <a:stretch/>
        </p:blipFill>
        <p:spPr>
          <a:xfrm>
            <a:off x="1732429" y="1381528"/>
            <a:ext cx="8971430" cy="5476472"/>
          </a:xfrm>
          <a:prstGeom prst="rect">
            <a:avLst/>
          </a:prstGeom>
        </p:spPr>
      </p:pic>
    </p:spTree>
    <p:extLst>
      <p:ext uri="{BB962C8B-B14F-4D97-AF65-F5344CB8AC3E}">
        <p14:creationId xmlns:p14="http://schemas.microsoft.com/office/powerpoint/2010/main" val="4581715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Characteristics of Diode</a:t>
            </a:r>
          </a:p>
        </p:txBody>
      </p:sp>
      <p:pic>
        <p:nvPicPr>
          <p:cNvPr id="2" name="Picture 1"/>
          <p:cNvPicPr>
            <a:picLocks noChangeAspect="1"/>
          </p:cNvPicPr>
          <p:nvPr/>
        </p:nvPicPr>
        <p:blipFill rotWithShape="1">
          <a:blip r:embed="rId2"/>
          <a:srcRect l="22389" t="25110" r="26213" b="8190"/>
          <a:stretch/>
        </p:blipFill>
        <p:spPr>
          <a:xfrm>
            <a:off x="2124635" y="1404632"/>
            <a:ext cx="7474323" cy="5453368"/>
          </a:xfrm>
          <a:prstGeom prst="rect">
            <a:avLst/>
          </a:prstGeom>
        </p:spPr>
      </p:pic>
    </p:spTree>
    <p:extLst>
      <p:ext uri="{BB962C8B-B14F-4D97-AF65-F5344CB8AC3E}">
        <p14:creationId xmlns:p14="http://schemas.microsoft.com/office/powerpoint/2010/main" val="4599366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Characteristics of Diode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677" y="1567372"/>
            <a:ext cx="9880600" cy="4967899"/>
          </a:xfrm>
          <a:prstGeom prst="rect">
            <a:avLst/>
          </a:prstGeom>
        </p:spPr>
      </p:pic>
    </p:spTree>
    <p:extLst>
      <p:ext uri="{BB962C8B-B14F-4D97-AF65-F5344CB8AC3E}">
        <p14:creationId xmlns:p14="http://schemas.microsoft.com/office/powerpoint/2010/main" val="4240445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Forward-biased Diode</a:t>
            </a:r>
          </a:p>
        </p:txBody>
      </p:sp>
      <p:sp>
        <p:nvSpPr>
          <p:cNvPr id="5" name="Content Placeholder 4"/>
          <p:cNvSpPr>
            <a:spLocks noGrp="1"/>
          </p:cNvSpPr>
          <p:nvPr>
            <p:ph idx="1"/>
          </p:nvPr>
        </p:nvSpPr>
        <p:spPr/>
        <p:txBody>
          <a:bodyPr/>
          <a:lstStyle/>
          <a:p>
            <a:pPr marL="0" indent="0">
              <a:buNone/>
            </a:pPr>
            <a:r>
              <a:rPr lang="en-GB" dirty="0"/>
              <a:t>There is a small drop of voltage across the diode when the diode is forward-biased and the current is conducting. For silicon diodes, the forward voltage is 690mV and for germanium, 300mV is the forward voltage. The potential energy across the p-type material is positive and across the n-type material, the potential energy is negative.</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1919" r="55274"/>
          <a:stretch/>
        </p:blipFill>
        <p:spPr>
          <a:xfrm>
            <a:off x="4194736" y="4074460"/>
            <a:ext cx="2811182" cy="2783540"/>
          </a:xfrm>
          <a:prstGeom prst="rect">
            <a:avLst/>
          </a:prstGeom>
        </p:spPr>
      </p:pic>
    </p:spTree>
    <p:extLst>
      <p:ext uri="{BB962C8B-B14F-4D97-AF65-F5344CB8AC3E}">
        <p14:creationId xmlns:p14="http://schemas.microsoft.com/office/powerpoint/2010/main" val="398693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Reverse-biased Diode</a:t>
            </a:r>
          </a:p>
        </p:txBody>
      </p:sp>
      <p:sp>
        <p:nvSpPr>
          <p:cNvPr id="5" name="Content Placeholder 4"/>
          <p:cNvSpPr>
            <a:spLocks noGrp="1"/>
          </p:cNvSpPr>
          <p:nvPr>
            <p:ph idx="1"/>
          </p:nvPr>
        </p:nvSpPr>
        <p:spPr/>
        <p:txBody>
          <a:bodyPr/>
          <a:lstStyle/>
          <a:p>
            <a:pPr marL="0" indent="0">
              <a:buNone/>
            </a:pPr>
            <a:r>
              <a:rPr lang="en-GB" dirty="0"/>
              <a:t>A diode is said to be reverse-biased when the battery’s voltage is dropped completely. For silicon diodes, the reverse current is -20μA and for germanium, -50μA is the reverse current.  The potential energy across the p-type material is negative and across the n-type material, the potential energy is positive.</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61834" t="12410"/>
          <a:stretch/>
        </p:blipFill>
        <p:spPr>
          <a:xfrm>
            <a:off x="4182036" y="4222376"/>
            <a:ext cx="2284132" cy="2635624"/>
          </a:xfrm>
          <a:prstGeom prst="rect">
            <a:avLst/>
          </a:prstGeom>
        </p:spPr>
      </p:pic>
    </p:spTree>
    <p:extLst>
      <p:ext uri="{BB962C8B-B14F-4D97-AF65-F5344CB8AC3E}">
        <p14:creationId xmlns:p14="http://schemas.microsoft.com/office/powerpoint/2010/main" val="278465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Zero-biased Diode</a:t>
            </a:r>
          </a:p>
        </p:txBody>
      </p:sp>
      <p:sp>
        <p:nvSpPr>
          <p:cNvPr id="5" name="Content Placeholder 4"/>
          <p:cNvSpPr>
            <a:spLocks noGrp="1"/>
          </p:cNvSpPr>
          <p:nvPr>
            <p:ph idx="1"/>
          </p:nvPr>
        </p:nvSpPr>
        <p:spPr/>
        <p:txBody>
          <a:bodyPr/>
          <a:lstStyle/>
          <a:p>
            <a:pPr marL="0" indent="0">
              <a:buNone/>
            </a:pPr>
            <a:r>
              <a:rPr lang="en-GB" dirty="0"/>
              <a:t>When the diode is zero-biased, the voltage potential across the diode is zero.</a:t>
            </a:r>
          </a:p>
        </p:txBody>
      </p:sp>
    </p:spTree>
    <p:extLst>
      <p:ext uri="{BB962C8B-B14F-4D97-AF65-F5344CB8AC3E}">
        <p14:creationId xmlns:p14="http://schemas.microsoft.com/office/powerpoint/2010/main" val="387538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a:t>Diode Applications</a:t>
            </a:r>
          </a:p>
        </p:txBody>
      </p:sp>
      <p:sp>
        <p:nvSpPr>
          <p:cNvPr id="5" name="Content Placeholder 4"/>
          <p:cNvSpPr>
            <a:spLocks noGrp="1"/>
          </p:cNvSpPr>
          <p:nvPr>
            <p:ph idx="1"/>
          </p:nvPr>
        </p:nvSpPr>
        <p:spPr/>
        <p:txBody>
          <a:bodyPr/>
          <a:lstStyle/>
          <a:p>
            <a:pPr marL="0" indent="0">
              <a:buNone/>
            </a:pPr>
            <a:r>
              <a:rPr lang="en-GB" dirty="0"/>
              <a:t>Following are the applications and uses of the diode:</a:t>
            </a:r>
          </a:p>
          <a:p>
            <a:r>
              <a:rPr lang="en-GB" dirty="0"/>
              <a:t>Diodes as a rectifier</a:t>
            </a:r>
          </a:p>
          <a:p>
            <a:r>
              <a:rPr lang="en-GB" dirty="0" smtClean="0"/>
              <a:t>Diodes </a:t>
            </a:r>
            <a:r>
              <a:rPr lang="en-GB" dirty="0"/>
              <a:t>in logical gates</a:t>
            </a:r>
          </a:p>
          <a:p>
            <a:r>
              <a:rPr lang="en-GB" dirty="0"/>
              <a:t>Diodes in reverse current protection</a:t>
            </a:r>
          </a:p>
          <a:p>
            <a:pPr marL="0" indent="0">
              <a:buNone/>
            </a:pPr>
            <a:endParaRPr lang="en-GB" dirty="0"/>
          </a:p>
        </p:txBody>
      </p:sp>
    </p:spTree>
    <p:extLst>
      <p:ext uri="{BB962C8B-B14F-4D97-AF65-F5344CB8AC3E}">
        <p14:creationId xmlns:p14="http://schemas.microsoft.com/office/powerpoint/2010/main" val="149634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b="1" dirty="0" smtClean="0"/>
              <a:t>Rectifier</a:t>
            </a:r>
            <a:endParaRPr lang="en-GB" b="1" dirty="0"/>
          </a:p>
        </p:txBody>
      </p:sp>
      <p:sp>
        <p:nvSpPr>
          <p:cNvPr id="5" name="Content Placeholder 4"/>
          <p:cNvSpPr>
            <a:spLocks noGrp="1"/>
          </p:cNvSpPr>
          <p:nvPr>
            <p:ph idx="1"/>
          </p:nvPr>
        </p:nvSpPr>
        <p:spPr>
          <a:xfrm>
            <a:off x="533400" y="1690688"/>
            <a:ext cx="10515600" cy="4351338"/>
          </a:xfrm>
        </p:spPr>
        <p:txBody>
          <a:bodyPr>
            <a:normAutofit fontScale="92500" lnSpcReduction="10000"/>
          </a:bodyPr>
          <a:lstStyle/>
          <a:p>
            <a:pPr marL="0" indent="0">
              <a:buNone/>
            </a:pPr>
            <a:r>
              <a:rPr lang="en-GB" dirty="0" smtClean="0"/>
              <a:t>A rectifier is an device which convert alternative Current AC into direct current DC , this process is called rectification.</a:t>
            </a:r>
          </a:p>
          <a:p>
            <a:pPr marL="0" indent="0">
              <a:buNone/>
            </a:pPr>
            <a:endParaRPr lang="en-GB" dirty="0"/>
          </a:p>
          <a:p>
            <a:pPr marL="0" indent="0">
              <a:buNone/>
            </a:pPr>
            <a:r>
              <a:rPr lang="en-GB" dirty="0" smtClean="0"/>
              <a:t>Half wave rectification : it is the simplest type of rectification , which is made with just one diode.</a:t>
            </a:r>
          </a:p>
          <a:p>
            <a:pPr marL="0" indent="0">
              <a:buNone/>
            </a:pPr>
            <a:endParaRPr lang="en-GB" dirty="0"/>
          </a:p>
          <a:p>
            <a:pPr marL="571500" indent="-571500">
              <a:buFont typeface="+mj-lt"/>
              <a:buAutoNum type="romanUcPeriod"/>
            </a:pPr>
            <a:r>
              <a:rPr lang="en-GB" dirty="0" smtClean="0"/>
              <a:t>When the voltage of the alternating current is positive the diode become forward-biased and current flow through it. </a:t>
            </a:r>
          </a:p>
          <a:p>
            <a:pPr marL="571500" indent="-571500">
              <a:buFont typeface="+mj-lt"/>
              <a:buAutoNum type="romanUcPeriod"/>
            </a:pPr>
            <a:endParaRPr lang="en-GB" dirty="0"/>
          </a:p>
          <a:p>
            <a:pPr marL="571500" indent="-571500">
              <a:buFont typeface="+mj-lt"/>
              <a:buAutoNum type="romanUcPeriod"/>
            </a:pPr>
            <a:r>
              <a:rPr lang="en-GB" dirty="0" smtClean="0"/>
              <a:t>When the voltage is negative , the diode is reverse-</a:t>
            </a:r>
            <a:r>
              <a:rPr lang="en-GB" dirty="0" err="1" smtClean="0"/>
              <a:t>baised</a:t>
            </a:r>
            <a:r>
              <a:rPr lang="en-GB" dirty="0" smtClean="0"/>
              <a:t> and the current stop.</a:t>
            </a:r>
            <a:endParaRPr lang="en-GB" dirty="0"/>
          </a:p>
        </p:txBody>
      </p:sp>
      <p:pic>
        <p:nvPicPr>
          <p:cNvPr id="6" name="Picture 5" descr="10-diode-its-types-its-application-10-638.jpg"/>
          <p:cNvPicPr>
            <a:picLocks noChangeAspect="1"/>
          </p:cNvPicPr>
          <p:nvPr/>
        </p:nvPicPr>
        <p:blipFill rotWithShape="1">
          <a:blip r:embed="rId2"/>
          <a:srcRect l="60963" t="55686"/>
          <a:stretch/>
        </p:blipFill>
        <p:spPr>
          <a:xfrm>
            <a:off x="9523370" y="4585446"/>
            <a:ext cx="2495535" cy="2124635"/>
          </a:xfrm>
          <a:prstGeom prst="rect">
            <a:avLst/>
          </a:prstGeom>
        </p:spPr>
      </p:pic>
    </p:spTree>
    <p:extLst>
      <p:ext uri="{BB962C8B-B14F-4D97-AF65-F5344CB8AC3E}">
        <p14:creationId xmlns:p14="http://schemas.microsoft.com/office/powerpoint/2010/main" val="410823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736</TotalTime>
  <Words>696</Words>
  <Application>Microsoft Office PowerPoint</Application>
  <PresentationFormat>Widescreen</PresentationFormat>
  <Paragraphs>73</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Diodes </vt:lpstr>
      <vt:lpstr>Diodes </vt:lpstr>
      <vt:lpstr>Diodes </vt:lpstr>
      <vt:lpstr>Diode Construction </vt:lpstr>
      <vt:lpstr>Types of Diodes</vt:lpstr>
      <vt:lpstr>Light Emitting Diode (LED)</vt:lpstr>
      <vt:lpstr>Laser Diode</vt:lpstr>
      <vt:lpstr>Zener Diode</vt:lpstr>
      <vt:lpstr>Photodiode</vt:lpstr>
      <vt:lpstr>P-N Junction Diode</vt:lpstr>
      <vt:lpstr>Characteristics of Diode</vt:lpstr>
      <vt:lpstr>Characteristics of Diode</vt:lpstr>
      <vt:lpstr>Characteristics of Diode</vt:lpstr>
      <vt:lpstr>Characteristics of Diode</vt:lpstr>
      <vt:lpstr>Forward-biased Diode</vt:lpstr>
      <vt:lpstr>Reverse-biased Diode</vt:lpstr>
      <vt:lpstr>Zero-biased Diode</vt:lpstr>
      <vt:lpstr>Diode Applications</vt:lpstr>
      <vt:lpstr>Rectifier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Diodes</dc:title>
  <dc:creator>farhan ahmed</dc:creator>
  <cp:lastModifiedBy>farhan ahmed</cp:lastModifiedBy>
  <cp:revision>17</cp:revision>
  <dcterms:created xsi:type="dcterms:W3CDTF">2024-04-17T18:47:00Z</dcterms:created>
  <dcterms:modified xsi:type="dcterms:W3CDTF">2024-04-18T07:06:04Z</dcterms:modified>
</cp:coreProperties>
</file>