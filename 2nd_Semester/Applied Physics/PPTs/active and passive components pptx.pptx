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5" autoAdjust="0"/>
    <p:restoredTop sz="94660"/>
  </p:normalViewPr>
  <p:slideViewPr>
    <p:cSldViewPr snapToGrid="0">
      <p:cViewPr varScale="1">
        <p:scale>
          <a:sx n="71" d="100"/>
          <a:sy n="71" d="100"/>
        </p:scale>
        <p:origin x="9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50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17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97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84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9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39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16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48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50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07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6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DDB92-8892-40E8-B5ED-B4FC59C2900D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7FF78-8F75-4275-8321-EDF621F8D9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90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44" y="50006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b="1" dirty="0">
                <a:latin typeface="Arial Black" panose="020B0A04020102020204" pitchFamily="34" charset="0"/>
              </a:rPr>
              <a:t>Electronics Components</a:t>
            </a:r>
            <a:br>
              <a:rPr lang="en-GB" sz="4000" b="1" dirty="0">
                <a:latin typeface="Arial Black" panose="020B0A04020102020204" pitchFamily="34" charset="0"/>
              </a:rPr>
            </a:br>
            <a:r>
              <a:rPr lang="en-GB" sz="3600" b="1" dirty="0"/>
              <a:t/>
            </a:r>
            <a:br>
              <a:rPr lang="en-GB" sz="3600" b="1" dirty="0"/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 smtClean="0"/>
              <a:t>Applied Physics</a:t>
            </a:r>
          </a:p>
          <a:p>
            <a:pPr marL="0" indent="0" algn="ctr">
              <a:buNone/>
            </a:pPr>
            <a:r>
              <a:rPr lang="en-GB" sz="4000" dirty="0" smtClean="0"/>
              <a:t>BSCS-II</a:t>
            </a:r>
          </a:p>
        </p:txBody>
      </p:sp>
    </p:spTree>
    <p:extLst>
      <p:ext uri="{BB962C8B-B14F-4D97-AF65-F5344CB8AC3E}">
        <p14:creationId xmlns:p14="http://schemas.microsoft.com/office/powerpoint/2010/main" val="197767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9032" y="1452589"/>
            <a:ext cx="3345864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sz="2400" b="1" dirty="0" smtClean="0"/>
              <a:t>Electronics Components</a:t>
            </a:r>
            <a:endParaRPr lang="en-GB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983591" y="3241901"/>
            <a:ext cx="2671565" cy="46166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en-GB" sz="2400" b="1" dirty="0" smtClean="0"/>
              <a:t>Active </a:t>
            </a:r>
            <a:r>
              <a:rPr lang="en-GB" sz="2400" b="1" dirty="0"/>
              <a:t>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2747" y="3179369"/>
            <a:ext cx="2806602" cy="461665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en-GB" sz="2400" b="1" dirty="0" smtClean="0"/>
              <a:t>Passive Components</a:t>
            </a:r>
            <a:endParaRPr lang="en-GB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345405" y="464473"/>
            <a:ext cx="112970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0" i="0" dirty="0" smtClean="0">
                <a:solidFill>
                  <a:srgbClr val="222222"/>
                </a:solidFill>
                <a:effectLst/>
                <a:latin typeface="Nunito Sans"/>
              </a:rPr>
              <a:t>The active and passive components are differentiated on various factors like the nature of the source, its functions, power gain, controlling the flow of current.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665332" y="4051665"/>
            <a:ext cx="27303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i="0" dirty="0" smtClean="0">
                <a:solidFill>
                  <a:schemeClr val="accent6"/>
                </a:solidFill>
                <a:effectLst/>
                <a:latin typeface="Nunito Sans"/>
              </a:rPr>
              <a:t>Active components deliver power or energy to the circuit.</a:t>
            </a:r>
            <a:endParaRPr lang="en-GB" sz="2000" b="1" dirty="0">
              <a:solidFill>
                <a:schemeClr val="accent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2747" y="4064851"/>
            <a:ext cx="29209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i="0" dirty="0" smtClean="0">
                <a:solidFill>
                  <a:srgbClr val="7030A0"/>
                </a:solidFill>
                <a:effectLst/>
                <a:latin typeface="Nunito Sans"/>
              </a:rPr>
              <a:t>Passive elements utilizes power or energy from the circuit.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5332" y="5420607"/>
            <a:ext cx="24829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6"/>
                </a:solidFill>
                <a:latin typeface="Nunito Sans"/>
              </a:rPr>
              <a:t>They require an external source for the operations.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2747" y="5109434"/>
            <a:ext cx="22065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Nunito Sans"/>
              </a:rPr>
              <a:t>They do not require any external source for the operations.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052294" y="1914254"/>
            <a:ext cx="1970467" cy="12651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666704" y="1914254"/>
            <a:ext cx="2086378" cy="12651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6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676264"/>
              </p:ext>
            </p:extLst>
          </p:nvPr>
        </p:nvGraphicFramePr>
        <p:xfrm>
          <a:off x="695460" y="679176"/>
          <a:ext cx="9879774" cy="5497787"/>
        </p:xfrm>
        <a:graphic>
          <a:graphicData uri="http://schemas.openxmlformats.org/drawingml/2006/table">
            <a:tbl>
              <a:tblPr/>
              <a:tblGrid>
                <a:gridCol w="3293258"/>
                <a:gridCol w="3293258"/>
                <a:gridCol w="3293258"/>
              </a:tblGrid>
              <a:tr h="46149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b="1" dirty="0">
                          <a:effectLst/>
                        </a:rPr>
                        <a:t>BASIS</a:t>
                      </a:r>
                    </a:p>
                  </a:txBody>
                  <a:tcPr marL="39702" marR="39702" marT="39702" marB="39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b="1" dirty="0">
                          <a:solidFill>
                            <a:schemeClr val="accent6"/>
                          </a:solidFill>
                          <a:effectLst/>
                        </a:rPr>
                        <a:t>ACTIVE COMPONENTS</a:t>
                      </a:r>
                    </a:p>
                  </a:txBody>
                  <a:tcPr marL="39702" marR="39702" marT="39702" marB="39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PASSIVE COMPONENT</a:t>
                      </a:r>
                    </a:p>
                  </a:txBody>
                  <a:tcPr marL="39702" marR="39702" marT="39702" marB="39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</a:tr>
              <a:tr h="82266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effectLst/>
                        </a:rPr>
                        <a:t>Nature of source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chemeClr val="accent6"/>
                          </a:solidFill>
                          <a:effectLst/>
                        </a:rPr>
                        <a:t>Active components deliver power or energy to the circuit.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Passive elements utilizes power or energy from the circuit.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207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>
                          <a:effectLst/>
                        </a:rPr>
                        <a:t>Examples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 b="1" dirty="0">
                          <a:solidFill>
                            <a:schemeClr val="accent6"/>
                          </a:solidFill>
                          <a:effectLst/>
                        </a:rPr>
                        <a:t>Diodes, Transistors</a:t>
                      </a:r>
                      <a:r>
                        <a:rPr lang="fr-FR" sz="1800" b="1" dirty="0" smtClean="0">
                          <a:solidFill>
                            <a:schemeClr val="accent6"/>
                          </a:solidFill>
                          <a:effectLst/>
                        </a:rPr>
                        <a:t>, </a:t>
                      </a:r>
                      <a:r>
                        <a:rPr lang="fr-FR" sz="1800" b="1" dirty="0">
                          <a:solidFill>
                            <a:schemeClr val="accent6"/>
                          </a:solidFill>
                          <a:effectLst/>
                        </a:rPr>
                        <a:t>Integrated circuits etc.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Resistor, Capacitor, Inductor etc.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82266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effectLst/>
                        </a:rPr>
                        <a:t>Function of the component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chemeClr val="accent6"/>
                          </a:solidFill>
                          <a:effectLst/>
                        </a:rPr>
                        <a:t>Devices which produce energy in the form of voltage or current.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Devices which stores energy in the form of voltage or current.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207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>
                          <a:effectLst/>
                        </a:rPr>
                        <a:t>Power Gain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chemeClr val="accent6"/>
                          </a:solidFill>
                          <a:effectLst/>
                        </a:rPr>
                        <a:t>They are capable of providing power gain.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They are incapable of providing power gain.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82266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>
                          <a:effectLst/>
                        </a:rPr>
                        <a:t>Flow of current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chemeClr val="accent6"/>
                          </a:solidFill>
                          <a:effectLst/>
                        </a:rPr>
                        <a:t>Active components can control the flow of current.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Passive components cannot control the flow of the current.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207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>
                          <a:effectLst/>
                        </a:rPr>
                        <a:t>Requirement of external source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chemeClr val="accent6"/>
                          </a:solidFill>
                          <a:effectLst/>
                        </a:rPr>
                        <a:t>They require an external source for the operations.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They do not require any external source for the operations.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64207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>
                          <a:effectLst/>
                        </a:rPr>
                        <a:t>Nature of energy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chemeClr val="accent6"/>
                          </a:solidFill>
                          <a:effectLst/>
                        </a:rPr>
                        <a:t>Active components are energy donor.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</a:rPr>
                        <a:t>Passive components are energy acceptor.</a:t>
                      </a:r>
                    </a:p>
                  </a:txBody>
                  <a:tcPr marL="39702" marR="39702" marT="39702" marB="3970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8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6470" y="550217"/>
            <a:ext cx="2671565" cy="46166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en-GB" sz="2400" b="1" dirty="0" smtClean="0"/>
              <a:t>Active </a:t>
            </a:r>
            <a:r>
              <a:rPr lang="en-GB" sz="2400" b="1" dirty="0"/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626" y="1722783"/>
            <a:ext cx="108005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 smtClean="0"/>
              <a:t>It has Ability / capacity to provide power (source) to the circuit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 smtClean="0"/>
              <a:t>It also control (limit) current flowing in circuit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 smtClean="0"/>
              <a:t>Power gain / Amplification. 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2050" name="Picture 2" descr="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1114" r="4462" b="29278"/>
          <a:stretch/>
        </p:blipFill>
        <p:spPr bwMode="auto">
          <a:xfrm>
            <a:off x="2097740" y="3579460"/>
            <a:ext cx="7113496" cy="267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68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6416" y="621699"/>
            <a:ext cx="2806602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en-GB" sz="2400" b="1" dirty="0" smtClean="0"/>
              <a:t>Passive Components</a:t>
            </a:r>
            <a:endParaRPr lang="en-GB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26416" y="1364974"/>
            <a:ext cx="1080052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 smtClean="0"/>
              <a:t>It has Ability to Dissolve/absorb or store power which is follow circuit.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 smtClean="0"/>
              <a:t>It has no need of extra source 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 smtClean="0"/>
              <a:t>It hasn’t ability to amplify or power gain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 smtClean="0"/>
              <a:t>It can only receive energy.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r>
              <a:rPr lang="en-GB" sz="2400" dirty="0" smtClean="0"/>
              <a:t>.</a:t>
            </a:r>
            <a:endParaRPr lang="en-GB" sz="2400" dirty="0"/>
          </a:p>
        </p:txBody>
      </p:sp>
      <p:pic>
        <p:nvPicPr>
          <p:cNvPr id="1026" name="Picture 2" descr="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" t="3734" r="2819" b="28641"/>
          <a:stretch/>
        </p:blipFill>
        <p:spPr bwMode="auto">
          <a:xfrm>
            <a:off x="2030505" y="3886200"/>
            <a:ext cx="6441141" cy="260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21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3839</TotalTime>
  <Words>301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Nunito Sans</vt:lpstr>
      <vt:lpstr>Office Theme</vt:lpstr>
      <vt:lpstr>Electronics Components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farhan ahmed</dc:creator>
  <cp:lastModifiedBy>farhan ahmed</cp:lastModifiedBy>
  <cp:revision>14</cp:revision>
  <dcterms:created xsi:type="dcterms:W3CDTF">2023-02-10T08:10:53Z</dcterms:created>
  <dcterms:modified xsi:type="dcterms:W3CDTF">2024-01-18T18:21:43Z</dcterms:modified>
</cp:coreProperties>
</file>