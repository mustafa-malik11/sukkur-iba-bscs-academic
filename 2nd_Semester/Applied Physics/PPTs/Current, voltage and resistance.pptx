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3" r:id="rId8"/>
    <p:sldId id="264" r:id="rId9"/>
    <p:sldId id="271" r:id="rId10"/>
    <p:sldId id="272" r:id="rId11"/>
    <p:sldId id="267" r:id="rId12"/>
    <p:sldId id="268" r:id="rId13"/>
    <p:sldId id="269" r:id="rId14"/>
    <p:sldId id="270" r:id="rId15"/>
    <p:sldId id="273" r:id="rId16"/>
    <p:sldId id="274"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74C3002C-78D9-4EB0-8510-38EA81807156}" type="datetimeFigureOut">
              <a:rPr lang="en-GB" smtClean="0"/>
              <a:t>25/01/2024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DE2DFB1-1BB9-4E5E-8FD2-C9A93A036216}" type="slidenum">
              <a:rPr lang="en-GB" smtClean="0"/>
              <a:t>‹#›</a:t>
            </a:fld>
            <a:endParaRPr lang="en-GB"/>
          </a:p>
        </p:txBody>
      </p:sp>
    </p:spTree>
    <p:extLst>
      <p:ext uri="{BB962C8B-B14F-4D97-AF65-F5344CB8AC3E}">
        <p14:creationId xmlns:p14="http://schemas.microsoft.com/office/powerpoint/2010/main" val="1958149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74C3002C-78D9-4EB0-8510-38EA81807156}" type="datetimeFigureOut">
              <a:rPr lang="en-GB" smtClean="0"/>
              <a:t>25/01/2024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DE2DFB1-1BB9-4E5E-8FD2-C9A93A036216}" type="slidenum">
              <a:rPr lang="en-GB" smtClean="0"/>
              <a:t>‹#›</a:t>
            </a:fld>
            <a:endParaRPr lang="en-GB"/>
          </a:p>
        </p:txBody>
      </p:sp>
    </p:spTree>
    <p:extLst>
      <p:ext uri="{BB962C8B-B14F-4D97-AF65-F5344CB8AC3E}">
        <p14:creationId xmlns:p14="http://schemas.microsoft.com/office/powerpoint/2010/main" val="2352893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4C3002C-78D9-4EB0-8510-38EA81807156}" type="datetimeFigureOut">
              <a:rPr lang="en-GB" smtClean="0"/>
              <a:t>25/01/2024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DE2DFB1-1BB9-4E5E-8FD2-C9A93A036216}" type="slidenum">
              <a:rPr lang="en-GB" smtClean="0"/>
              <a:t>‹#›</a:t>
            </a:fld>
            <a:endParaRPr lang="en-GB"/>
          </a:p>
        </p:txBody>
      </p:sp>
    </p:spTree>
    <p:extLst>
      <p:ext uri="{BB962C8B-B14F-4D97-AF65-F5344CB8AC3E}">
        <p14:creationId xmlns:p14="http://schemas.microsoft.com/office/powerpoint/2010/main" val="1187055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74C3002C-78D9-4EB0-8510-38EA81807156}" type="datetimeFigureOut">
              <a:rPr lang="en-GB" smtClean="0"/>
              <a:t>25/01/2024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DE2DFB1-1BB9-4E5E-8FD2-C9A93A036216}" type="slidenum">
              <a:rPr lang="en-GB" smtClean="0"/>
              <a:t>‹#›</a:t>
            </a:fld>
            <a:endParaRPr lang="en-GB"/>
          </a:p>
        </p:txBody>
      </p:sp>
    </p:spTree>
    <p:extLst>
      <p:ext uri="{BB962C8B-B14F-4D97-AF65-F5344CB8AC3E}">
        <p14:creationId xmlns:p14="http://schemas.microsoft.com/office/powerpoint/2010/main" val="845698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74C3002C-78D9-4EB0-8510-38EA81807156}" type="datetimeFigureOut">
              <a:rPr lang="en-GB" smtClean="0"/>
              <a:t>25/01/2024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DE2DFB1-1BB9-4E5E-8FD2-C9A93A036216}" type="slidenum">
              <a:rPr lang="en-GB" smtClean="0"/>
              <a:t>‹#›</a:t>
            </a:fld>
            <a:endParaRPr lang="en-GB"/>
          </a:p>
        </p:txBody>
      </p:sp>
    </p:spTree>
    <p:extLst>
      <p:ext uri="{BB962C8B-B14F-4D97-AF65-F5344CB8AC3E}">
        <p14:creationId xmlns:p14="http://schemas.microsoft.com/office/powerpoint/2010/main" val="4126014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74C3002C-78D9-4EB0-8510-38EA81807156}" type="datetimeFigureOut">
              <a:rPr lang="en-GB" smtClean="0"/>
              <a:t>25/01/2024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DE2DFB1-1BB9-4E5E-8FD2-C9A93A036216}" type="slidenum">
              <a:rPr lang="en-GB" smtClean="0"/>
              <a:t>‹#›</a:t>
            </a:fld>
            <a:endParaRPr lang="en-GB"/>
          </a:p>
        </p:txBody>
      </p:sp>
    </p:spTree>
    <p:extLst>
      <p:ext uri="{BB962C8B-B14F-4D97-AF65-F5344CB8AC3E}">
        <p14:creationId xmlns:p14="http://schemas.microsoft.com/office/powerpoint/2010/main" val="3968283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C3002C-78D9-4EB0-8510-38EA81807156}" type="datetimeFigureOut">
              <a:rPr lang="en-GB" smtClean="0"/>
              <a:t>25/01/2024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DE2DFB1-1BB9-4E5E-8FD2-C9A93A036216}" type="slidenum">
              <a:rPr lang="en-GB" smtClean="0"/>
              <a:t>‹#›</a:t>
            </a:fld>
            <a:endParaRPr lang="en-GB"/>
          </a:p>
        </p:txBody>
      </p:sp>
    </p:spTree>
    <p:extLst>
      <p:ext uri="{BB962C8B-B14F-4D97-AF65-F5344CB8AC3E}">
        <p14:creationId xmlns:p14="http://schemas.microsoft.com/office/powerpoint/2010/main" val="4132849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4C3002C-78D9-4EB0-8510-38EA81807156}" type="datetimeFigureOut">
              <a:rPr lang="en-GB" smtClean="0"/>
              <a:t>25/01/2024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DE2DFB1-1BB9-4E5E-8FD2-C9A93A036216}" type="slidenum">
              <a:rPr lang="en-GB" smtClean="0"/>
              <a:t>‹#›</a:t>
            </a:fld>
            <a:endParaRPr lang="en-GB"/>
          </a:p>
        </p:txBody>
      </p:sp>
    </p:spTree>
    <p:extLst>
      <p:ext uri="{BB962C8B-B14F-4D97-AF65-F5344CB8AC3E}">
        <p14:creationId xmlns:p14="http://schemas.microsoft.com/office/powerpoint/2010/main" val="1504968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4C3002C-78D9-4EB0-8510-38EA81807156}" type="datetimeFigureOut">
              <a:rPr lang="en-GB" smtClean="0"/>
              <a:t>25/01/2024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DE2DFB1-1BB9-4E5E-8FD2-C9A93A036216}" type="slidenum">
              <a:rPr lang="en-GB" smtClean="0"/>
              <a:t>‹#›</a:t>
            </a:fld>
            <a:endParaRPr lang="en-GB"/>
          </a:p>
        </p:txBody>
      </p:sp>
    </p:spTree>
    <p:extLst>
      <p:ext uri="{BB962C8B-B14F-4D97-AF65-F5344CB8AC3E}">
        <p14:creationId xmlns:p14="http://schemas.microsoft.com/office/powerpoint/2010/main" val="1830642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74C3002C-78D9-4EB0-8510-38EA81807156}" type="datetimeFigureOut">
              <a:rPr lang="en-GB" smtClean="0"/>
              <a:t>25/01/2024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DE2DFB1-1BB9-4E5E-8FD2-C9A93A036216}" type="slidenum">
              <a:rPr lang="en-GB" smtClean="0"/>
              <a:t>‹#›</a:t>
            </a:fld>
            <a:endParaRPr lang="en-GB"/>
          </a:p>
        </p:txBody>
      </p:sp>
    </p:spTree>
    <p:extLst>
      <p:ext uri="{BB962C8B-B14F-4D97-AF65-F5344CB8AC3E}">
        <p14:creationId xmlns:p14="http://schemas.microsoft.com/office/powerpoint/2010/main" val="1291306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74C3002C-78D9-4EB0-8510-38EA81807156}" type="datetimeFigureOut">
              <a:rPr lang="en-GB" smtClean="0"/>
              <a:t>25/01/2024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DE2DFB1-1BB9-4E5E-8FD2-C9A93A036216}" type="slidenum">
              <a:rPr lang="en-GB" smtClean="0"/>
              <a:t>‹#›</a:t>
            </a:fld>
            <a:endParaRPr lang="en-GB"/>
          </a:p>
        </p:txBody>
      </p:sp>
    </p:spTree>
    <p:extLst>
      <p:ext uri="{BB962C8B-B14F-4D97-AF65-F5344CB8AC3E}">
        <p14:creationId xmlns:p14="http://schemas.microsoft.com/office/powerpoint/2010/main" val="4027322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C3002C-78D9-4EB0-8510-38EA81807156}" type="datetimeFigureOut">
              <a:rPr lang="en-GB" smtClean="0"/>
              <a:t>25/01/2024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E2DFB1-1BB9-4E5E-8FD2-C9A93A036216}" type="slidenum">
              <a:rPr lang="en-GB" smtClean="0"/>
              <a:t>‹#›</a:t>
            </a:fld>
            <a:endParaRPr lang="en-GB"/>
          </a:p>
        </p:txBody>
      </p:sp>
    </p:spTree>
    <p:extLst>
      <p:ext uri="{BB962C8B-B14F-4D97-AF65-F5344CB8AC3E}">
        <p14:creationId xmlns:p14="http://schemas.microsoft.com/office/powerpoint/2010/main" val="23342882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8882" y="1969528"/>
            <a:ext cx="10134600" cy="2387600"/>
          </a:xfrm>
        </p:spPr>
        <p:txBody>
          <a:bodyPr/>
          <a:lstStyle/>
          <a:p>
            <a:r>
              <a:rPr lang="en-GB" b="1" dirty="0">
                <a:solidFill>
                  <a:schemeClr val="accent1">
                    <a:lumMod val="75000"/>
                  </a:schemeClr>
                </a:solidFill>
              </a:rPr>
              <a:t>Current, voltage and resistance</a:t>
            </a:r>
            <a:endParaRPr lang="en-GB" dirty="0">
              <a:solidFill>
                <a:schemeClr val="accent1">
                  <a:lumMod val="75000"/>
                </a:schemeClr>
              </a:solidFill>
            </a:endParaRPr>
          </a:p>
        </p:txBody>
      </p:sp>
    </p:spTree>
    <p:extLst>
      <p:ext uri="{BB962C8B-B14F-4D97-AF65-F5344CB8AC3E}">
        <p14:creationId xmlns:p14="http://schemas.microsoft.com/office/powerpoint/2010/main" val="33735480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400" b="1" dirty="0" smtClean="0">
                <a:solidFill>
                  <a:schemeClr val="accent1">
                    <a:lumMod val="75000"/>
                  </a:schemeClr>
                </a:solidFill>
                <a:latin typeface="Arial" panose="020B0604020202020204" pitchFamily="34" charset="0"/>
                <a:ea typeface="+mn-ea"/>
                <a:cs typeface="Arial" panose="020B0604020202020204" pitchFamily="34" charset="0"/>
              </a:rPr>
              <a:t>Electrical </a:t>
            </a:r>
            <a:r>
              <a:rPr lang="en-GB" sz="2400" b="1" dirty="0">
                <a:solidFill>
                  <a:schemeClr val="accent1">
                    <a:lumMod val="75000"/>
                  </a:schemeClr>
                </a:solidFill>
                <a:latin typeface="Arial" panose="020B0604020202020204" pitchFamily="34" charset="0"/>
                <a:ea typeface="+mn-ea"/>
                <a:cs typeface="Arial" panose="020B0604020202020204" pitchFamily="34" charset="0"/>
              </a:rPr>
              <a:t>circuits</a:t>
            </a:r>
          </a:p>
        </p:txBody>
      </p:sp>
      <p:sp>
        <p:nvSpPr>
          <p:cNvPr id="4" name="Rectangle 3"/>
          <p:cNvSpPr/>
          <p:nvPr/>
        </p:nvSpPr>
        <p:spPr>
          <a:xfrm>
            <a:off x="246530" y="2087940"/>
            <a:ext cx="10515600" cy="4154984"/>
          </a:xfrm>
          <a:prstGeom prst="rect">
            <a:avLst/>
          </a:prstGeom>
        </p:spPr>
        <p:txBody>
          <a:bodyPr wrap="square">
            <a:spAutoFit/>
          </a:bodyPr>
          <a:lstStyle/>
          <a:p>
            <a:r>
              <a:rPr lang="en-GB" sz="2400" b="0" i="0" dirty="0" smtClean="0">
                <a:solidFill>
                  <a:srgbClr val="000000"/>
                </a:solidFill>
                <a:effectLst/>
                <a:latin typeface="Arial" panose="020B0604020202020204" pitchFamily="34" charset="0"/>
              </a:rPr>
              <a:t>In electrical circuits there are three factors that need to be considered when discussing the transfer of electrical energy within a circuit.</a:t>
            </a:r>
          </a:p>
          <a:p>
            <a:endParaRPr lang="en-GB" sz="2400" dirty="0">
              <a:solidFill>
                <a:srgbClr val="000000"/>
              </a:solidFill>
              <a:latin typeface="Arial" panose="020B0604020202020204" pitchFamily="34" charset="0"/>
            </a:endParaRPr>
          </a:p>
          <a:p>
            <a:endParaRPr lang="en-GB" sz="2400" b="0" i="0" dirty="0" smtClean="0">
              <a:solidFill>
                <a:srgbClr val="000000"/>
              </a:solidFill>
              <a:effectLst/>
              <a:latin typeface="Arial" panose="020B0604020202020204" pitchFamily="34" charset="0"/>
            </a:endParaRPr>
          </a:p>
          <a:p>
            <a:pPr>
              <a:buFont typeface="+mj-lt"/>
              <a:buAutoNum type="arabicPeriod"/>
            </a:pPr>
            <a:r>
              <a:rPr lang="en-GB" sz="2400" b="1" i="0" dirty="0" smtClean="0">
                <a:solidFill>
                  <a:srgbClr val="000000"/>
                </a:solidFill>
                <a:effectLst/>
                <a:latin typeface="Arial" panose="020B0604020202020204" pitchFamily="34" charset="0"/>
              </a:rPr>
              <a:t>Current: I </a:t>
            </a:r>
            <a:r>
              <a:rPr lang="en-GB" sz="2400" b="0" i="0" dirty="0" smtClean="0">
                <a:solidFill>
                  <a:srgbClr val="000000"/>
                </a:solidFill>
                <a:effectLst/>
                <a:latin typeface="Arial" panose="020B0604020202020204" pitchFamily="34" charset="0"/>
              </a:rPr>
              <a:t>- the rate at which electrons pass a point in a circuit.</a:t>
            </a:r>
            <a:br>
              <a:rPr lang="en-GB" sz="2400" b="0" i="0" dirty="0" smtClean="0">
                <a:solidFill>
                  <a:srgbClr val="000000"/>
                </a:solidFill>
                <a:effectLst/>
                <a:latin typeface="Arial" panose="020B0604020202020204" pitchFamily="34" charset="0"/>
              </a:rPr>
            </a:br>
            <a:endParaRPr lang="en-GB" sz="2400" b="0" i="0" dirty="0" smtClean="0">
              <a:solidFill>
                <a:srgbClr val="000000"/>
              </a:solidFill>
              <a:effectLst/>
              <a:latin typeface="Arial" panose="020B0604020202020204" pitchFamily="34" charset="0"/>
            </a:endParaRPr>
          </a:p>
          <a:p>
            <a:pPr>
              <a:buFont typeface="+mj-lt"/>
              <a:buAutoNum type="arabicPeriod"/>
            </a:pPr>
            <a:r>
              <a:rPr lang="en-GB" sz="2400" b="1" i="0" dirty="0" smtClean="0">
                <a:solidFill>
                  <a:srgbClr val="000000"/>
                </a:solidFill>
                <a:effectLst/>
                <a:latin typeface="Arial" panose="020B0604020202020204" pitchFamily="34" charset="0"/>
              </a:rPr>
              <a:t>Voltage: V </a:t>
            </a:r>
            <a:r>
              <a:rPr lang="en-GB" sz="2400" b="0" i="0" dirty="0" smtClean="0">
                <a:solidFill>
                  <a:srgbClr val="000000"/>
                </a:solidFill>
                <a:effectLst/>
                <a:latin typeface="Arial" panose="020B0604020202020204" pitchFamily="34" charset="0"/>
              </a:rPr>
              <a:t>- the electrical energy supplied to the electrons, produced by a   		  battery or mains electrical supply.</a:t>
            </a:r>
            <a:br>
              <a:rPr lang="en-GB" sz="2400" b="0" i="0" dirty="0" smtClean="0">
                <a:solidFill>
                  <a:srgbClr val="000000"/>
                </a:solidFill>
                <a:effectLst/>
                <a:latin typeface="Arial" panose="020B0604020202020204" pitchFamily="34" charset="0"/>
              </a:rPr>
            </a:br>
            <a:endParaRPr lang="en-GB" sz="2400" b="0" i="0" dirty="0" smtClean="0">
              <a:solidFill>
                <a:srgbClr val="000000"/>
              </a:solidFill>
              <a:effectLst/>
              <a:latin typeface="Arial" panose="020B0604020202020204" pitchFamily="34" charset="0"/>
            </a:endParaRPr>
          </a:p>
          <a:p>
            <a:pPr>
              <a:buFont typeface="+mj-lt"/>
              <a:buAutoNum type="arabicPeriod"/>
            </a:pPr>
            <a:r>
              <a:rPr lang="en-GB" sz="2400" b="1" i="0" dirty="0" smtClean="0">
                <a:solidFill>
                  <a:srgbClr val="000000"/>
                </a:solidFill>
                <a:effectLst/>
                <a:latin typeface="Arial" panose="020B0604020202020204" pitchFamily="34" charset="0"/>
              </a:rPr>
              <a:t>Resistance: R </a:t>
            </a:r>
            <a:r>
              <a:rPr lang="en-GB" sz="2400" b="0" i="0" dirty="0" smtClean="0">
                <a:solidFill>
                  <a:srgbClr val="000000"/>
                </a:solidFill>
                <a:effectLst/>
                <a:latin typeface="Arial" panose="020B0604020202020204" pitchFamily="34" charset="0"/>
              </a:rPr>
              <a:t>- the degree to which electron flow is impeded or slowed 			         down by the circuit itself.</a:t>
            </a:r>
            <a:endParaRPr lang="en-GB" sz="2400"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3317666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1365" y="1621745"/>
            <a:ext cx="11516098" cy="1938992"/>
          </a:xfrm>
          <a:prstGeom prst="rect">
            <a:avLst/>
          </a:prstGeom>
        </p:spPr>
        <p:txBody>
          <a:bodyPr wrap="square">
            <a:spAutoFit/>
          </a:bodyPr>
          <a:lstStyle/>
          <a:p>
            <a:r>
              <a:rPr lang="en-GB" sz="2400" b="0" i="0" dirty="0" smtClean="0">
                <a:solidFill>
                  <a:srgbClr val="000000"/>
                </a:solidFill>
                <a:effectLst/>
                <a:latin typeface="Arial" panose="020B0604020202020204" pitchFamily="34" charset="0"/>
              </a:rPr>
              <a:t>This is the rate at which electric charge passes a point in a circuit. </a:t>
            </a:r>
            <a:r>
              <a:rPr lang="en-GB" sz="2400" dirty="0">
                <a:solidFill>
                  <a:srgbClr val="000000"/>
                </a:solidFill>
                <a:latin typeface="Arial" panose="020B0604020202020204" pitchFamily="34" charset="0"/>
              </a:rPr>
              <a:t>The path an electric current </a:t>
            </a:r>
            <a:r>
              <a:rPr lang="en-GB" sz="2400" dirty="0" smtClean="0">
                <a:solidFill>
                  <a:srgbClr val="000000"/>
                </a:solidFill>
                <a:latin typeface="Arial" panose="020B0604020202020204" pitchFamily="34" charset="0"/>
              </a:rPr>
              <a:t>follows, </a:t>
            </a:r>
            <a:r>
              <a:rPr lang="en-GB" sz="2400" b="0" i="0" dirty="0" smtClean="0">
                <a:solidFill>
                  <a:srgbClr val="000000"/>
                </a:solidFill>
                <a:effectLst/>
                <a:latin typeface="Arial" panose="020B0604020202020204" pitchFamily="34" charset="0"/>
              </a:rPr>
              <a:t>measured in Amperes or Amps, with the symbol "A" for Amps. </a:t>
            </a:r>
          </a:p>
          <a:p>
            <a:endParaRPr lang="en-GB" sz="2400" dirty="0">
              <a:solidFill>
                <a:srgbClr val="000000"/>
              </a:solidFill>
              <a:latin typeface="Arial" panose="020B0604020202020204" pitchFamily="34" charset="0"/>
            </a:endParaRPr>
          </a:p>
          <a:p>
            <a:r>
              <a:rPr lang="en-GB" sz="2400" b="0" i="0" dirty="0" smtClean="0">
                <a:solidFill>
                  <a:srgbClr val="000000"/>
                </a:solidFill>
                <a:effectLst/>
                <a:latin typeface="Arial" panose="020B0604020202020204" pitchFamily="34" charset="0"/>
              </a:rPr>
              <a:t>Named after the Frenchman, Andre Marie Ampere (1775-1836)</a:t>
            </a:r>
            <a:endParaRPr lang="en-GB" sz="2400" dirty="0"/>
          </a:p>
        </p:txBody>
      </p:sp>
      <p:sp>
        <p:nvSpPr>
          <p:cNvPr id="6" name="Rectangle 5"/>
          <p:cNvSpPr/>
          <p:nvPr/>
        </p:nvSpPr>
        <p:spPr>
          <a:xfrm>
            <a:off x="161364" y="3502062"/>
            <a:ext cx="11228294" cy="1200329"/>
          </a:xfrm>
          <a:prstGeom prst="rect">
            <a:avLst/>
          </a:prstGeom>
        </p:spPr>
        <p:txBody>
          <a:bodyPr wrap="square">
            <a:spAutoFit/>
          </a:bodyPr>
          <a:lstStyle/>
          <a:p>
            <a:r>
              <a:rPr lang="en-GB" sz="2400" dirty="0">
                <a:solidFill>
                  <a:srgbClr val="000000"/>
                </a:solidFill>
                <a:latin typeface="Arial" panose="020B0604020202020204" pitchFamily="34" charset="0"/>
              </a:rPr>
              <a:t>Current is given the symbol </a:t>
            </a:r>
            <a:r>
              <a:rPr lang="en-GB" sz="2400" b="1" dirty="0">
                <a:solidFill>
                  <a:srgbClr val="000000"/>
                </a:solidFill>
                <a:latin typeface="Arial" panose="020B0604020202020204" pitchFamily="34" charset="0"/>
              </a:rPr>
              <a:t>I</a:t>
            </a:r>
            <a:r>
              <a:rPr lang="en-GB" sz="2400" dirty="0">
                <a:solidFill>
                  <a:srgbClr val="000000"/>
                </a:solidFill>
                <a:latin typeface="Arial" panose="020B0604020202020204" pitchFamily="34" charset="0"/>
              </a:rPr>
              <a:t> and is measured in </a:t>
            </a:r>
            <a:r>
              <a:rPr lang="en-GB" sz="2400" dirty="0" smtClean="0">
                <a:solidFill>
                  <a:srgbClr val="000000"/>
                </a:solidFill>
                <a:latin typeface="Arial" panose="020B0604020202020204" pitchFamily="34" charset="0"/>
              </a:rPr>
              <a:t>Amps, A</a:t>
            </a:r>
            <a:r>
              <a:rPr lang="en-GB" sz="2400" dirty="0">
                <a:solidFill>
                  <a:srgbClr val="000000"/>
                </a:solidFill>
                <a:latin typeface="Arial" panose="020B0604020202020204" pitchFamily="34" charset="0"/>
              </a:rPr>
              <a:t>. </a:t>
            </a:r>
            <a:endParaRPr lang="en-GB" sz="2400" dirty="0" smtClean="0">
              <a:solidFill>
                <a:srgbClr val="000000"/>
              </a:solidFill>
              <a:latin typeface="Arial" panose="020B0604020202020204" pitchFamily="34" charset="0"/>
            </a:endParaRPr>
          </a:p>
          <a:p>
            <a:endParaRPr lang="en-GB" sz="2400" dirty="0">
              <a:solidFill>
                <a:srgbClr val="000000"/>
              </a:solidFill>
              <a:latin typeface="Arial" panose="020B0604020202020204" pitchFamily="34" charset="0"/>
            </a:endParaRPr>
          </a:p>
          <a:p>
            <a:r>
              <a:rPr lang="en-GB" sz="2400" dirty="0" smtClean="0">
                <a:solidFill>
                  <a:srgbClr val="000000"/>
                </a:solidFill>
                <a:latin typeface="Arial" panose="020B0604020202020204" pitchFamily="34" charset="0"/>
              </a:rPr>
              <a:t>For </a:t>
            </a:r>
            <a:r>
              <a:rPr lang="en-GB" sz="2400" dirty="0">
                <a:solidFill>
                  <a:srgbClr val="000000"/>
                </a:solidFill>
                <a:latin typeface="Arial" panose="020B0604020202020204" pitchFamily="34" charset="0"/>
              </a:rPr>
              <a:t>example the current in the circuit, I is 3A.</a:t>
            </a:r>
          </a:p>
        </p:txBody>
      </p:sp>
      <p:sp>
        <p:nvSpPr>
          <p:cNvPr id="7" name="Rectangle 6"/>
          <p:cNvSpPr/>
          <p:nvPr/>
        </p:nvSpPr>
        <p:spPr>
          <a:xfrm>
            <a:off x="89460" y="4943108"/>
            <a:ext cx="11111753" cy="1477328"/>
          </a:xfrm>
          <a:prstGeom prst="rect">
            <a:avLst/>
          </a:prstGeom>
        </p:spPr>
        <p:txBody>
          <a:bodyPr wrap="square">
            <a:spAutoFit/>
          </a:bodyPr>
          <a:lstStyle/>
          <a:p>
            <a:r>
              <a:rPr lang="en-GB" sz="2400" dirty="0">
                <a:solidFill>
                  <a:srgbClr val="000000"/>
                </a:solidFill>
                <a:latin typeface="Arial" panose="020B0604020202020204" pitchFamily="34" charset="0"/>
              </a:rPr>
              <a:t>1 Amp, 1 coulomb of charge passes that point each second. </a:t>
            </a:r>
          </a:p>
          <a:p>
            <a:endParaRPr lang="en-GB" dirty="0">
              <a:solidFill>
                <a:srgbClr val="000000"/>
              </a:solidFill>
              <a:latin typeface="Arial" panose="020B0604020202020204" pitchFamily="34" charset="0"/>
            </a:endParaRPr>
          </a:p>
          <a:p>
            <a:r>
              <a:rPr lang="en-GB" sz="2400" dirty="0">
                <a:solidFill>
                  <a:srgbClr val="000000"/>
                </a:solidFill>
                <a:latin typeface="Arial" panose="020B0604020202020204" pitchFamily="34" charset="0"/>
              </a:rPr>
              <a:t>Equivalent of 6 250 000 000 000 000 000 (six thousand two hundred and fifty million billion) electrons passing each </a:t>
            </a:r>
            <a:r>
              <a:rPr lang="en-GB" sz="2400" dirty="0" smtClean="0">
                <a:solidFill>
                  <a:srgbClr val="000000"/>
                </a:solidFill>
                <a:latin typeface="Arial" panose="020B0604020202020204" pitchFamily="34" charset="0"/>
              </a:rPr>
              <a:t>second</a:t>
            </a:r>
            <a:r>
              <a:rPr lang="en-GB" sz="2400" dirty="0">
                <a:solidFill>
                  <a:srgbClr val="000000"/>
                </a:solidFill>
                <a:latin typeface="Arial" panose="020B0604020202020204" pitchFamily="34" charset="0"/>
              </a:rPr>
              <a:t>.</a:t>
            </a:r>
          </a:p>
        </p:txBody>
      </p:sp>
      <p:sp>
        <p:nvSpPr>
          <p:cNvPr id="2" name="Rectangle 1"/>
          <p:cNvSpPr/>
          <p:nvPr/>
        </p:nvSpPr>
        <p:spPr>
          <a:xfrm>
            <a:off x="291353" y="664757"/>
            <a:ext cx="6096000" cy="830997"/>
          </a:xfrm>
          <a:prstGeom prst="rect">
            <a:avLst/>
          </a:prstGeom>
        </p:spPr>
        <p:txBody>
          <a:bodyPr>
            <a:spAutoFit/>
          </a:bodyPr>
          <a:lstStyle/>
          <a:p>
            <a:r>
              <a:rPr lang="en-GB" sz="2400" b="1" i="0" dirty="0" smtClean="0">
                <a:solidFill>
                  <a:schemeClr val="accent1">
                    <a:lumMod val="75000"/>
                  </a:schemeClr>
                </a:solidFill>
                <a:effectLst/>
                <a:latin typeface="Arial" panose="020B0604020202020204" pitchFamily="34" charset="0"/>
                <a:cs typeface="Arial" panose="020B0604020202020204" pitchFamily="34" charset="0"/>
              </a:rPr>
              <a:t>Electric current</a:t>
            </a:r>
            <a:r>
              <a:rPr lang="en-GB" sz="2400" dirty="0" smtClean="0">
                <a:solidFill>
                  <a:schemeClr val="accent1">
                    <a:lumMod val="75000"/>
                  </a:schemeClr>
                </a:solidFill>
                <a:latin typeface="Arial" panose="020B0604020202020204" pitchFamily="34" charset="0"/>
                <a:cs typeface="Arial" panose="020B0604020202020204" pitchFamily="34" charset="0"/>
              </a:rPr>
              <a:t/>
            </a:r>
            <a:br>
              <a:rPr lang="en-GB" sz="2400" dirty="0" smtClean="0">
                <a:solidFill>
                  <a:schemeClr val="accent1">
                    <a:lumMod val="75000"/>
                  </a:schemeClr>
                </a:solidFill>
                <a:latin typeface="Arial" panose="020B0604020202020204" pitchFamily="34" charset="0"/>
                <a:cs typeface="Arial" panose="020B0604020202020204" pitchFamily="34" charset="0"/>
              </a:rPr>
            </a:br>
            <a:endParaRPr lang="en-GB" sz="2400" dirty="0">
              <a:solidFill>
                <a:schemeClr val="accent1">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77837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91353" y="664757"/>
            <a:ext cx="6096000" cy="461665"/>
          </a:xfrm>
          <a:prstGeom prst="rect">
            <a:avLst/>
          </a:prstGeom>
        </p:spPr>
        <p:txBody>
          <a:bodyPr>
            <a:spAutoFit/>
          </a:bodyPr>
          <a:lstStyle/>
          <a:p>
            <a:r>
              <a:rPr lang="en-GB" sz="2400" b="1" dirty="0" smtClean="0">
                <a:solidFill>
                  <a:schemeClr val="accent1">
                    <a:lumMod val="75000"/>
                  </a:schemeClr>
                </a:solidFill>
                <a:latin typeface="Arial" panose="020B0604020202020204" pitchFamily="34" charset="0"/>
                <a:cs typeface="Arial" panose="020B0604020202020204" pitchFamily="34" charset="0"/>
              </a:rPr>
              <a:t>Electric Conductor and Insulators</a:t>
            </a:r>
            <a:endParaRPr lang="en-GB" sz="2400" dirty="0">
              <a:solidFill>
                <a:schemeClr val="accent1">
                  <a:lumMod val="75000"/>
                </a:schemeClr>
              </a:solidFill>
              <a:latin typeface="Arial" panose="020B0604020202020204" pitchFamily="34" charset="0"/>
              <a:cs typeface="Arial" panose="020B0604020202020204" pitchFamily="34" charset="0"/>
            </a:endParaRPr>
          </a:p>
        </p:txBody>
      </p:sp>
      <p:sp>
        <p:nvSpPr>
          <p:cNvPr id="12" name="Rectangle 11"/>
          <p:cNvSpPr/>
          <p:nvPr/>
        </p:nvSpPr>
        <p:spPr>
          <a:xfrm>
            <a:off x="291353" y="1547323"/>
            <a:ext cx="10963835" cy="1200329"/>
          </a:xfrm>
          <a:prstGeom prst="rect">
            <a:avLst/>
          </a:prstGeom>
        </p:spPr>
        <p:txBody>
          <a:bodyPr wrap="square">
            <a:spAutoFit/>
          </a:bodyPr>
          <a:lstStyle/>
          <a:p>
            <a:r>
              <a:rPr lang="en-GB" sz="2400" b="0" i="0" dirty="0" smtClean="0">
                <a:solidFill>
                  <a:srgbClr val="000000"/>
                </a:solidFill>
                <a:effectLst/>
                <a:latin typeface="Arial" panose="020B0604020202020204" pitchFamily="34" charset="0"/>
              </a:rPr>
              <a:t>An </a:t>
            </a:r>
            <a:r>
              <a:rPr lang="en-GB" sz="2400" b="1" i="0" dirty="0" smtClean="0">
                <a:solidFill>
                  <a:srgbClr val="000000"/>
                </a:solidFill>
                <a:effectLst/>
                <a:latin typeface="Arial" panose="020B0604020202020204" pitchFamily="34" charset="0"/>
              </a:rPr>
              <a:t>electrical conductor </a:t>
            </a:r>
            <a:r>
              <a:rPr lang="en-GB" sz="2400" b="0" i="0" dirty="0" smtClean="0">
                <a:solidFill>
                  <a:srgbClr val="000000"/>
                </a:solidFill>
                <a:effectLst/>
                <a:latin typeface="Arial" panose="020B0604020202020204" pitchFamily="34" charset="0"/>
              </a:rPr>
              <a:t>is a material through which charge can flow easily.</a:t>
            </a:r>
          </a:p>
          <a:p>
            <a:r>
              <a:rPr lang="en-GB" sz="2400" b="0" i="0" dirty="0" smtClean="0">
                <a:solidFill>
                  <a:srgbClr val="000000"/>
                </a:solidFill>
                <a:effectLst/>
                <a:latin typeface="Arial" panose="020B0604020202020204" pitchFamily="34" charset="0"/>
              </a:rPr>
              <a:t>all metals, and the non-metal carbon. </a:t>
            </a:r>
            <a:endParaRPr lang="en-GB" sz="2400" dirty="0" smtClean="0">
              <a:solidFill>
                <a:srgbClr val="000000"/>
              </a:solidFill>
              <a:latin typeface="Arial" panose="020B0604020202020204" pitchFamily="34" charset="0"/>
            </a:endParaRPr>
          </a:p>
          <a:p>
            <a:endParaRPr lang="en-GB" sz="2400" b="0" i="0" dirty="0" smtClean="0">
              <a:solidFill>
                <a:srgbClr val="000000"/>
              </a:solidFill>
              <a:effectLst/>
              <a:latin typeface="Arial" panose="020B0604020202020204" pitchFamily="34" charset="0"/>
            </a:endParaRPr>
          </a:p>
        </p:txBody>
      </p:sp>
      <p:sp>
        <p:nvSpPr>
          <p:cNvPr id="13" name="Rectangle 12"/>
          <p:cNvSpPr/>
          <p:nvPr/>
        </p:nvSpPr>
        <p:spPr>
          <a:xfrm>
            <a:off x="197221" y="2783355"/>
            <a:ext cx="10963835" cy="461665"/>
          </a:xfrm>
          <a:prstGeom prst="rect">
            <a:avLst/>
          </a:prstGeom>
        </p:spPr>
        <p:txBody>
          <a:bodyPr wrap="square">
            <a:spAutoFit/>
          </a:bodyPr>
          <a:lstStyle/>
          <a:p>
            <a:r>
              <a:rPr lang="en-GB" sz="2400" b="0" i="0" dirty="0" smtClean="0">
                <a:solidFill>
                  <a:srgbClr val="000000"/>
                </a:solidFill>
                <a:effectLst/>
                <a:latin typeface="Arial" panose="020B0604020202020204" pitchFamily="34" charset="0"/>
              </a:rPr>
              <a:t>An </a:t>
            </a:r>
            <a:r>
              <a:rPr lang="en-GB" sz="2400" b="1" i="0" dirty="0" smtClean="0">
                <a:solidFill>
                  <a:srgbClr val="000000"/>
                </a:solidFill>
                <a:effectLst/>
                <a:latin typeface="Arial" panose="020B0604020202020204" pitchFamily="34" charset="0"/>
              </a:rPr>
              <a:t>electrical insulator </a:t>
            </a:r>
            <a:r>
              <a:rPr lang="en-GB" sz="2400" b="0" i="0" dirty="0" smtClean="0">
                <a:solidFill>
                  <a:srgbClr val="000000"/>
                </a:solidFill>
                <a:effectLst/>
                <a:latin typeface="Arial" panose="020B0604020202020204" pitchFamily="34" charset="0"/>
              </a:rPr>
              <a:t>is a material through which charge cannot flow easily.</a:t>
            </a:r>
          </a:p>
        </p:txBody>
      </p:sp>
      <p:sp>
        <p:nvSpPr>
          <p:cNvPr id="10" name="Rectangle 9"/>
          <p:cNvSpPr/>
          <p:nvPr/>
        </p:nvSpPr>
        <p:spPr>
          <a:xfrm>
            <a:off x="197221" y="3280723"/>
            <a:ext cx="10573871" cy="830997"/>
          </a:xfrm>
          <a:prstGeom prst="rect">
            <a:avLst/>
          </a:prstGeom>
        </p:spPr>
        <p:txBody>
          <a:bodyPr wrap="square">
            <a:spAutoFit/>
          </a:bodyPr>
          <a:lstStyle/>
          <a:p>
            <a:r>
              <a:rPr lang="en-GB" sz="2400" dirty="0">
                <a:solidFill>
                  <a:srgbClr val="000000"/>
                </a:solidFill>
                <a:latin typeface="Arial" panose="020B0604020202020204" pitchFamily="34" charset="0"/>
              </a:rPr>
              <a:t>other non-metals, and gases, do not allow current to flow, and are called electrical insulators</a:t>
            </a:r>
            <a:endParaRPr lang="en-GB" sz="2400" dirty="0">
              <a:solidFill>
                <a:srgbClr val="000000"/>
              </a:solidFill>
              <a:latin typeface="Arial" panose="020B0604020202020204" pitchFamily="34" charset="0"/>
            </a:endParaRP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1702" y="3981003"/>
            <a:ext cx="3334871" cy="2688625"/>
          </a:xfrm>
          <a:prstGeom prst="rect">
            <a:avLst/>
          </a:prstGeom>
        </p:spPr>
      </p:pic>
    </p:spTree>
    <p:extLst>
      <p:ext uri="{BB962C8B-B14F-4D97-AF65-F5344CB8AC3E}">
        <p14:creationId xmlns:p14="http://schemas.microsoft.com/office/powerpoint/2010/main" val="9782439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91353" y="664757"/>
            <a:ext cx="6096000" cy="461665"/>
          </a:xfrm>
          <a:prstGeom prst="rect">
            <a:avLst/>
          </a:prstGeom>
        </p:spPr>
        <p:txBody>
          <a:bodyPr>
            <a:spAutoFit/>
          </a:bodyPr>
          <a:lstStyle/>
          <a:p>
            <a:r>
              <a:rPr lang="en-GB" sz="2400" b="1" dirty="0" smtClean="0">
                <a:solidFill>
                  <a:schemeClr val="accent1">
                    <a:lumMod val="75000"/>
                  </a:schemeClr>
                </a:solidFill>
                <a:latin typeface="Arial" panose="020B0604020202020204" pitchFamily="34" charset="0"/>
                <a:cs typeface="Arial" panose="020B0604020202020204" pitchFamily="34" charset="0"/>
              </a:rPr>
              <a:t>Voltage</a:t>
            </a:r>
            <a:endParaRPr lang="en-GB" sz="2400" dirty="0">
              <a:solidFill>
                <a:schemeClr val="accent1">
                  <a:lumMod val="75000"/>
                </a:schemeClr>
              </a:solidFill>
              <a:latin typeface="Arial" panose="020B0604020202020204" pitchFamily="34" charset="0"/>
              <a:cs typeface="Arial" panose="020B0604020202020204" pitchFamily="34" charset="0"/>
            </a:endParaRPr>
          </a:p>
        </p:txBody>
      </p:sp>
      <p:sp>
        <p:nvSpPr>
          <p:cNvPr id="12" name="Rectangle 11"/>
          <p:cNvSpPr/>
          <p:nvPr/>
        </p:nvSpPr>
        <p:spPr>
          <a:xfrm>
            <a:off x="291353" y="1547323"/>
            <a:ext cx="10963835" cy="1200329"/>
          </a:xfrm>
          <a:prstGeom prst="rect">
            <a:avLst/>
          </a:prstGeom>
        </p:spPr>
        <p:txBody>
          <a:bodyPr wrap="square">
            <a:spAutoFit/>
          </a:bodyPr>
          <a:lstStyle/>
          <a:p>
            <a:r>
              <a:rPr lang="en-GB" sz="2400" b="1" dirty="0">
                <a:latin typeface="Arial" panose="020B0604020202020204" pitchFamily="34" charset="0"/>
                <a:cs typeface="Arial" panose="020B0604020202020204" pitchFamily="34" charset="0"/>
              </a:rPr>
              <a:t>Voltage</a:t>
            </a:r>
            <a:r>
              <a:rPr lang="en-GB" sz="2400" dirty="0">
                <a:latin typeface="Arial" panose="020B0604020202020204" pitchFamily="34" charset="0"/>
                <a:cs typeface="Arial" panose="020B0604020202020204" pitchFamily="34" charset="0"/>
              </a:rPr>
              <a:t> is the pressure from an electrical circuit's power source that pushes charged electrons (current) through a conducting loop, enabling them to do work such as illuminating a light.</a:t>
            </a:r>
            <a:endParaRPr lang="en-GB" sz="2400" b="0" i="0" dirty="0" smtClean="0">
              <a:solidFill>
                <a:srgbClr val="000000"/>
              </a:solidFill>
              <a:effectLst/>
              <a:latin typeface="Arial" panose="020B0604020202020204" pitchFamily="34" charset="0"/>
              <a:cs typeface="Arial" panose="020B0604020202020204" pitchFamily="34" charset="0"/>
            </a:endParaRPr>
          </a:p>
        </p:txBody>
      </p:sp>
      <p:sp>
        <p:nvSpPr>
          <p:cNvPr id="3" name="Rectangle 2"/>
          <p:cNvSpPr/>
          <p:nvPr/>
        </p:nvSpPr>
        <p:spPr>
          <a:xfrm>
            <a:off x="423366" y="4845895"/>
            <a:ext cx="10831822" cy="1200329"/>
          </a:xfrm>
          <a:prstGeom prst="rect">
            <a:avLst/>
          </a:prstGeom>
        </p:spPr>
        <p:txBody>
          <a:bodyPr wrap="square">
            <a:spAutoFit/>
          </a:bodyPr>
          <a:lstStyle/>
          <a:p>
            <a:r>
              <a:rPr lang="en-GB" b="0" i="0" dirty="0" smtClean="0">
                <a:solidFill>
                  <a:srgbClr val="212121"/>
                </a:solidFill>
                <a:effectLst/>
                <a:latin typeface="Helvetica" panose="020B0604020202020204" pitchFamily="34" charset="0"/>
              </a:rPr>
              <a:t> </a:t>
            </a:r>
            <a:r>
              <a:rPr lang="en-GB" sz="2400" b="1" dirty="0">
                <a:solidFill>
                  <a:srgbClr val="212121"/>
                </a:solidFill>
                <a:latin typeface="Arial" panose="020B0604020202020204" pitchFamily="34" charset="0"/>
                <a:cs typeface="Arial" panose="020B0604020202020204" pitchFamily="34" charset="0"/>
              </a:rPr>
              <a:t>V</a:t>
            </a:r>
            <a:r>
              <a:rPr lang="en-GB" sz="2400" b="1" i="0" dirty="0" smtClean="0">
                <a:solidFill>
                  <a:srgbClr val="212121"/>
                </a:solidFill>
                <a:effectLst/>
                <a:latin typeface="Arial" panose="020B0604020202020204" pitchFamily="34" charset="0"/>
                <a:cs typeface="Arial" panose="020B0604020202020204" pitchFamily="34" charset="0"/>
              </a:rPr>
              <a:t>oltage = pressure</a:t>
            </a:r>
            <a:r>
              <a:rPr lang="en-GB" sz="2400" b="0" i="0" dirty="0" smtClean="0">
                <a:solidFill>
                  <a:srgbClr val="212121"/>
                </a:solidFill>
                <a:effectLst/>
                <a:latin typeface="Arial" panose="020B0604020202020204" pitchFamily="34" charset="0"/>
                <a:cs typeface="Arial" panose="020B0604020202020204" pitchFamily="34" charset="0"/>
              </a:rPr>
              <a:t>, and it is measured in </a:t>
            </a:r>
            <a:r>
              <a:rPr lang="en-GB" sz="2400" b="1" i="0" dirty="0" smtClean="0">
                <a:solidFill>
                  <a:srgbClr val="212121"/>
                </a:solidFill>
                <a:effectLst/>
                <a:latin typeface="Arial" panose="020B0604020202020204" pitchFamily="34" charset="0"/>
                <a:cs typeface="Arial" panose="020B0604020202020204" pitchFamily="34" charset="0"/>
              </a:rPr>
              <a:t>volts</a:t>
            </a:r>
            <a:r>
              <a:rPr lang="en-GB" sz="2400" b="0" i="0" dirty="0" smtClean="0">
                <a:solidFill>
                  <a:srgbClr val="212121"/>
                </a:solidFill>
                <a:effectLst/>
                <a:latin typeface="Arial" panose="020B0604020202020204" pitchFamily="34" charset="0"/>
                <a:cs typeface="Arial" panose="020B0604020202020204" pitchFamily="34" charset="0"/>
              </a:rPr>
              <a:t> (V). The term recognizes Italian scientist  Alessandro Volta (1745-1827), inventor of today's household battery.</a:t>
            </a:r>
            <a:endParaRPr lang="en-GB" sz="2400" dirty="0">
              <a:latin typeface="Arial" panose="020B0604020202020204" pitchFamily="34" charset="0"/>
              <a:cs typeface="Arial" panose="020B0604020202020204" pitchFamily="34" charset="0"/>
            </a:endParaRPr>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20712" y="2869199"/>
            <a:ext cx="3627074" cy="1828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63712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91353" y="664757"/>
            <a:ext cx="6096000" cy="830997"/>
          </a:xfrm>
          <a:prstGeom prst="rect">
            <a:avLst/>
          </a:prstGeom>
        </p:spPr>
        <p:txBody>
          <a:bodyPr>
            <a:spAutoFit/>
          </a:bodyPr>
          <a:lstStyle/>
          <a:p>
            <a:r>
              <a:rPr lang="en-GB" sz="2400" b="1" dirty="0" smtClean="0">
                <a:solidFill>
                  <a:schemeClr val="accent1">
                    <a:lumMod val="75000"/>
                  </a:schemeClr>
                </a:solidFill>
                <a:latin typeface="Arial" panose="020B0604020202020204" pitchFamily="34" charset="0"/>
                <a:cs typeface="Arial" panose="020B0604020202020204" pitchFamily="34" charset="0"/>
              </a:rPr>
              <a:t>What </a:t>
            </a:r>
            <a:r>
              <a:rPr lang="en-GB" sz="2400" b="1" dirty="0">
                <a:solidFill>
                  <a:schemeClr val="accent1">
                    <a:lumMod val="75000"/>
                  </a:schemeClr>
                </a:solidFill>
                <a:latin typeface="Arial" panose="020B0604020202020204" pitchFamily="34" charset="0"/>
                <a:cs typeface="Arial" panose="020B0604020202020204" pitchFamily="34" charset="0"/>
              </a:rPr>
              <a:t>is potential difference</a:t>
            </a:r>
          </a:p>
          <a:p>
            <a:endParaRPr lang="en-GB" sz="2400" dirty="0">
              <a:latin typeface="Arial" panose="020B0604020202020204" pitchFamily="34" charset="0"/>
              <a:cs typeface="Arial" panose="020B0604020202020204" pitchFamily="34" charset="0"/>
            </a:endParaRPr>
          </a:p>
        </p:txBody>
      </p:sp>
      <p:sp>
        <p:nvSpPr>
          <p:cNvPr id="3" name="Rectangle 2"/>
          <p:cNvSpPr/>
          <p:nvPr/>
        </p:nvSpPr>
        <p:spPr>
          <a:xfrm>
            <a:off x="291353" y="1495754"/>
            <a:ext cx="10831822" cy="3785652"/>
          </a:xfrm>
          <a:prstGeom prst="rect">
            <a:avLst/>
          </a:prstGeom>
        </p:spPr>
        <p:txBody>
          <a:bodyPr wrap="square">
            <a:spAutoFit/>
          </a:bodyPr>
          <a:lstStyle/>
          <a:p>
            <a:r>
              <a:rPr lang="en-GB" sz="2400" dirty="0">
                <a:latin typeface="Arial" panose="020B0604020202020204" pitchFamily="34" charset="0"/>
                <a:cs typeface="Arial" panose="020B0604020202020204" pitchFamily="34" charset="0"/>
              </a:rPr>
              <a:t>Voltage and the term "potential difference" are often used interchangeably. </a:t>
            </a:r>
            <a:endParaRPr lang="en-GB" sz="2400" dirty="0" smtClean="0">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a:p>
            <a:r>
              <a:rPr lang="en-GB" sz="2400" dirty="0" smtClean="0">
                <a:latin typeface="Arial" panose="020B0604020202020204" pitchFamily="34" charset="0"/>
                <a:cs typeface="Arial" panose="020B0604020202020204" pitchFamily="34" charset="0"/>
              </a:rPr>
              <a:t>Potential </a:t>
            </a:r>
            <a:r>
              <a:rPr lang="en-GB" sz="2400" dirty="0">
                <a:latin typeface="Arial" panose="020B0604020202020204" pitchFamily="34" charset="0"/>
                <a:cs typeface="Arial" panose="020B0604020202020204" pitchFamily="34" charset="0"/>
              </a:rPr>
              <a:t>difference might be better defined as the potential energy difference between two points in a circuit. </a:t>
            </a:r>
            <a:endParaRPr lang="en-GB" sz="2400" dirty="0" smtClean="0">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a:p>
            <a:r>
              <a:rPr lang="en-GB" sz="2400" dirty="0" smtClean="0">
                <a:latin typeface="Arial" panose="020B0604020202020204" pitchFamily="34" charset="0"/>
                <a:cs typeface="Arial" panose="020B0604020202020204" pitchFamily="34" charset="0"/>
              </a:rPr>
              <a:t>The </a:t>
            </a:r>
            <a:r>
              <a:rPr lang="en-GB" sz="2400" dirty="0">
                <a:latin typeface="Arial" panose="020B0604020202020204" pitchFamily="34" charset="0"/>
                <a:cs typeface="Arial" panose="020B0604020202020204" pitchFamily="34" charset="0"/>
              </a:rPr>
              <a:t>amount of difference (expressed in volts) determines how much potential energy exists to move electrons from one specific point to another. </a:t>
            </a:r>
            <a:endParaRPr lang="en-GB" sz="2400" dirty="0" smtClean="0">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a:p>
            <a:r>
              <a:rPr lang="en-GB" sz="2400" dirty="0" smtClean="0">
                <a:latin typeface="Arial" panose="020B0604020202020204" pitchFamily="34" charset="0"/>
                <a:cs typeface="Arial" panose="020B0604020202020204" pitchFamily="34" charset="0"/>
              </a:rPr>
              <a:t>The </a:t>
            </a:r>
            <a:r>
              <a:rPr lang="en-GB" sz="2400" dirty="0">
                <a:latin typeface="Arial" panose="020B0604020202020204" pitchFamily="34" charset="0"/>
                <a:cs typeface="Arial" panose="020B0604020202020204" pitchFamily="34" charset="0"/>
              </a:rPr>
              <a:t>quantity identifies how much work, potentially, can be done through the circuit</a:t>
            </a:r>
            <a:r>
              <a:rPr lang="en-GB" sz="2400" dirty="0"/>
              <a:t>.</a:t>
            </a:r>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124699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91353" y="664757"/>
            <a:ext cx="6096000" cy="1200329"/>
          </a:xfrm>
          <a:prstGeom prst="rect">
            <a:avLst/>
          </a:prstGeom>
        </p:spPr>
        <p:txBody>
          <a:bodyPr>
            <a:spAutoFit/>
          </a:bodyPr>
          <a:lstStyle/>
          <a:p>
            <a:r>
              <a:rPr lang="en-GB" sz="2400" b="1" dirty="0" smtClean="0">
                <a:solidFill>
                  <a:schemeClr val="accent1">
                    <a:lumMod val="75000"/>
                  </a:schemeClr>
                </a:solidFill>
                <a:latin typeface="Arial" panose="020B0604020202020204" pitchFamily="34" charset="0"/>
                <a:cs typeface="Arial" panose="020B0604020202020204" pitchFamily="34" charset="0"/>
              </a:rPr>
              <a:t>What </a:t>
            </a:r>
            <a:r>
              <a:rPr lang="en-GB" sz="2400" b="1" dirty="0">
                <a:solidFill>
                  <a:schemeClr val="accent1">
                    <a:lumMod val="75000"/>
                  </a:schemeClr>
                </a:solidFill>
                <a:latin typeface="Arial" panose="020B0604020202020204" pitchFamily="34" charset="0"/>
                <a:cs typeface="Arial" panose="020B0604020202020204" pitchFamily="34" charset="0"/>
              </a:rPr>
              <a:t>is Ohm’s Law</a:t>
            </a:r>
          </a:p>
          <a:p>
            <a:endParaRPr lang="en-GB" sz="2400" b="1" dirty="0">
              <a:solidFill>
                <a:srgbClr val="3B5A6F"/>
              </a:solidFill>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p:txBody>
      </p:sp>
      <p:sp>
        <p:nvSpPr>
          <p:cNvPr id="3" name="Rectangle 2"/>
          <p:cNvSpPr/>
          <p:nvPr/>
        </p:nvSpPr>
        <p:spPr>
          <a:xfrm>
            <a:off x="291353" y="1495754"/>
            <a:ext cx="11205882" cy="4524315"/>
          </a:xfrm>
          <a:prstGeom prst="rect">
            <a:avLst/>
          </a:prstGeom>
        </p:spPr>
        <p:txBody>
          <a:bodyPr wrap="square">
            <a:spAutoFit/>
          </a:bodyPr>
          <a:lstStyle/>
          <a:p>
            <a:r>
              <a:rPr lang="en-GB" sz="2400" b="1" dirty="0"/>
              <a:t>Ohm's Law</a:t>
            </a:r>
            <a:r>
              <a:rPr lang="en-GB" sz="2400" dirty="0"/>
              <a:t> </a:t>
            </a:r>
            <a:r>
              <a:rPr lang="en-GB" sz="2400" dirty="0" smtClean="0"/>
              <a:t>states </a:t>
            </a:r>
            <a:r>
              <a:rPr lang="en-GB" sz="2400" dirty="0"/>
              <a:t>that the voltage V across a conductor of resistance R is proportional to the current I passing through the </a:t>
            </a:r>
            <a:r>
              <a:rPr lang="en-GB" sz="2400" dirty="0" smtClean="0"/>
              <a:t>resistor.</a:t>
            </a:r>
          </a:p>
          <a:p>
            <a:endParaRPr lang="en-GB" sz="2400" dirty="0"/>
          </a:p>
          <a:p>
            <a:r>
              <a:rPr lang="en-GB" sz="2400" dirty="0" smtClean="0"/>
              <a:t>The </a:t>
            </a:r>
            <a:r>
              <a:rPr lang="en-GB" sz="2400" dirty="0"/>
              <a:t>relationship is written </a:t>
            </a:r>
            <a:r>
              <a:rPr lang="en-GB" sz="2400" dirty="0" smtClean="0"/>
              <a:t>as   V </a:t>
            </a:r>
            <a:r>
              <a:rPr lang="en-GB" sz="2400" dirty="0"/>
              <a:t>= R I</a:t>
            </a:r>
          </a:p>
          <a:p>
            <a:endParaRPr lang="en-GB" sz="2400" dirty="0" smtClean="0"/>
          </a:p>
          <a:p>
            <a:endParaRPr lang="en-GB" sz="2400" dirty="0"/>
          </a:p>
          <a:p>
            <a:r>
              <a:rPr lang="en-GB" sz="2400" dirty="0" smtClean="0"/>
              <a:t>Formula </a:t>
            </a:r>
            <a:r>
              <a:rPr lang="en-GB" sz="2400" dirty="0"/>
              <a:t>used to calculate the relationship between voltage, current and resistance in an electrical circuit</a:t>
            </a:r>
            <a:r>
              <a:rPr lang="en-GB" sz="2400" dirty="0" smtClean="0"/>
              <a:t>.</a:t>
            </a:r>
            <a:endParaRPr lang="en-GB" sz="2400" dirty="0" smtClean="0">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a:p>
            <a:r>
              <a:rPr lang="en-GB" sz="2400" dirty="0"/>
              <a:t>The quantity identifies how much work, potentially, can be done through the circuit</a:t>
            </a:r>
            <a:r>
              <a:rPr lang="en-GB" sz="2400" dirty="0" smtClean="0"/>
              <a:t>. </a:t>
            </a:r>
          </a:p>
          <a:p>
            <a:endParaRPr lang="en-GB" sz="2400" dirty="0"/>
          </a:p>
          <a:p>
            <a:r>
              <a:rPr lang="en-GB" sz="2400" dirty="0"/>
              <a:t>Georg Simon Ohm, a German scientist </a:t>
            </a:r>
            <a:r>
              <a:rPr lang="en-GB" sz="2400" dirty="0" smtClean="0"/>
              <a:t> was </a:t>
            </a:r>
            <a:r>
              <a:rPr lang="en-GB" sz="2400" dirty="0"/>
              <a:t>the first to verify Ohm’s law </a:t>
            </a:r>
            <a:r>
              <a:rPr lang="en-GB" sz="2400" dirty="0" smtClean="0"/>
              <a:t>experimentally</a:t>
            </a:r>
            <a:r>
              <a:rPr lang="en-GB" sz="2400" dirty="0"/>
              <a:t>.</a:t>
            </a:r>
          </a:p>
        </p:txBody>
      </p:sp>
    </p:spTree>
    <p:extLst>
      <p:ext uri="{BB962C8B-B14F-4D97-AF65-F5344CB8AC3E}">
        <p14:creationId xmlns:p14="http://schemas.microsoft.com/office/powerpoint/2010/main" val="37636305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91353" y="664757"/>
            <a:ext cx="6096000" cy="1200329"/>
          </a:xfrm>
          <a:prstGeom prst="rect">
            <a:avLst/>
          </a:prstGeom>
        </p:spPr>
        <p:txBody>
          <a:bodyPr>
            <a:spAutoFit/>
          </a:bodyPr>
          <a:lstStyle/>
          <a:p>
            <a:r>
              <a:rPr lang="en-GB" sz="2400" b="1" dirty="0" smtClean="0">
                <a:solidFill>
                  <a:schemeClr val="accent1">
                    <a:lumMod val="75000"/>
                  </a:schemeClr>
                </a:solidFill>
                <a:latin typeface="Arial" panose="020B0604020202020204" pitchFamily="34" charset="0"/>
                <a:cs typeface="Arial" panose="020B0604020202020204" pitchFamily="34" charset="0"/>
              </a:rPr>
              <a:t>What </a:t>
            </a:r>
            <a:r>
              <a:rPr lang="en-GB" sz="2400" b="1" dirty="0">
                <a:solidFill>
                  <a:schemeClr val="accent1">
                    <a:lumMod val="75000"/>
                  </a:schemeClr>
                </a:solidFill>
                <a:latin typeface="Arial" panose="020B0604020202020204" pitchFamily="34" charset="0"/>
                <a:cs typeface="Arial" panose="020B0604020202020204" pitchFamily="34" charset="0"/>
              </a:rPr>
              <a:t>is Ohm’s Law</a:t>
            </a:r>
          </a:p>
          <a:p>
            <a:endParaRPr lang="en-GB" sz="2400" b="1" dirty="0">
              <a:solidFill>
                <a:srgbClr val="3B5A6F"/>
              </a:solidFill>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p:txBody>
      </p:sp>
      <p:sp>
        <p:nvSpPr>
          <p:cNvPr id="6" name="Rectangle 5"/>
          <p:cNvSpPr/>
          <p:nvPr/>
        </p:nvSpPr>
        <p:spPr>
          <a:xfrm>
            <a:off x="495086" y="1865086"/>
            <a:ext cx="10831822" cy="461665"/>
          </a:xfrm>
          <a:prstGeom prst="rect">
            <a:avLst/>
          </a:prstGeom>
        </p:spPr>
        <p:txBody>
          <a:bodyPr wrap="square">
            <a:spAutoFit/>
          </a:bodyPr>
          <a:lstStyle/>
          <a:p>
            <a:r>
              <a:rPr lang="en-GB" sz="2400" b="1" dirty="0" smtClean="0"/>
              <a:t>To Find out the voltage in electrical circuit by applying ohm’s law  </a:t>
            </a:r>
            <a:endParaRPr lang="en-GB" sz="2400" dirty="0">
              <a:latin typeface="Arial" panose="020B0604020202020204" pitchFamily="34" charset="0"/>
              <a:cs typeface="Arial" panose="020B0604020202020204" pitchFamily="34" charset="0"/>
            </a:endParaRPr>
          </a:p>
        </p:txBody>
      </p:sp>
      <p:sp>
        <p:nvSpPr>
          <p:cNvPr id="7" name="Rectangle 6"/>
          <p:cNvSpPr/>
          <p:nvPr/>
        </p:nvSpPr>
        <p:spPr>
          <a:xfrm>
            <a:off x="1100203" y="3527080"/>
            <a:ext cx="10831822" cy="1200329"/>
          </a:xfrm>
          <a:prstGeom prst="rect">
            <a:avLst/>
          </a:prstGeom>
        </p:spPr>
        <p:txBody>
          <a:bodyPr wrap="square">
            <a:spAutoFit/>
          </a:bodyPr>
          <a:lstStyle/>
          <a:p>
            <a:pPr algn="ctr"/>
            <a:r>
              <a:rPr lang="en-GB" sz="2400" b="1" dirty="0" smtClean="0"/>
              <a:t>V= </a:t>
            </a:r>
            <a:r>
              <a:rPr lang="en-GB" sz="2400" b="1" dirty="0" err="1" smtClean="0"/>
              <a:t>IxR</a:t>
            </a:r>
            <a:r>
              <a:rPr lang="en-GB" sz="2400" b="1" dirty="0" smtClean="0"/>
              <a:t> </a:t>
            </a:r>
          </a:p>
          <a:p>
            <a:endParaRPr lang="en-GB" sz="2400" b="1" dirty="0">
              <a:latin typeface="Arial" panose="020B0604020202020204" pitchFamily="34" charset="0"/>
              <a:cs typeface="Arial" panose="020B0604020202020204" pitchFamily="34" charset="0"/>
            </a:endParaRPr>
          </a:p>
          <a:p>
            <a:r>
              <a:rPr lang="en-GB" sz="2400" b="1" dirty="0" smtClean="0">
                <a:latin typeface="Arial" panose="020B0604020202020204" pitchFamily="34" charset="0"/>
                <a:cs typeface="Arial" panose="020B0604020202020204" pitchFamily="34" charset="0"/>
              </a:rPr>
              <a:t>Voltage (V)= Current (I) x Resistance (R).</a:t>
            </a:r>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15690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91353" y="664757"/>
            <a:ext cx="6096000" cy="1200329"/>
          </a:xfrm>
          <a:prstGeom prst="rect">
            <a:avLst/>
          </a:prstGeom>
        </p:spPr>
        <p:txBody>
          <a:bodyPr>
            <a:spAutoFit/>
          </a:bodyPr>
          <a:lstStyle/>
          <a:p>
            <a:r>
              <a:rPr lang="en-GB" sz="2400" b="1" dirty="0" smtClean="0">
                <a:solidFill>
                  <a:schemeClr val="accent1">
                    <a:lumMod val="75000"/>
                  </a:schemeClr>
                </a:solidFill>
                <a:latin typeface="Arial" panose="020B0604020202020204" pitchFamily="34" charset="0"/>
                <a:cs typeface="Arial" panose="020B0604020202020204" pitchFamily="34" charset="0"/>
              </a:rPr>
              <a:t>What </a:t>
            </a:r>
            <a:r>
              <a:rPr lang="en-GB" sz="2400" b="1" dirty="0">
                <a:solidFill>
                  <a:schemeClr val="accent1">
                    <a:lumMod val="75000"/>
                  </a:schemeClr>
                </a:solidFill>
                <a:latin typeface="Arial" panose="020B0604020202020204" pitchFamily="34" charset="0"/>
                <a:cs typeface="Arial" panose="020B0604020202020204" pitchFamily="34" charset="0"/>
              </a:rPr>
              <a:t>is Ohm’s Law</a:t>
            </a:r>
          </a:p>
          <a:p>
            <a:endParaRPr lang="en-GB" sz="2400" b="1" dirty="0">
              <a:solidFill>
                <a:srgbClr val="3B5A6F"/>
              </a:solidFill>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p:txBody>
      </p:sp>
      <p:sp>
        <p:nvSpPr>
          <p:cNvPr id="6" name="Rectangle 5"/>
          <p:cNvSpPr/>
          <p:nvPr/>
        </p:nvSpPr>
        <p:spPr>
          <a:xfrm>
            <a:off x="495086" y="1865086"/>
            <a:ext cx="10831822" cy="461665"/>
          </a:xfrm>
          <a:prstGeom prst="rect">
            <a:avLst/>
          </a:prstGeom>
        </p:spPr>
        <p:txBody>
          <a:bodyPr wrap="square">
            <a:spAutoFit/>
          </a:bodyPr>
          <a:lstStyle/>
          <a:p>
            <a:r>
              <a:rPr lang="en-GB" sz="2400" b="1" dirty="0" smtClean="0"/>
              <a:t>To Find out the current in electrical circuit by applying ohm’s law  </a:t>
            </a:r>
            <a:endParaRPr lang="en-GB" sz="2400" dirty="0">
              <a:latin typeface="Arial" panose="020B0604020202020204" pitchFamily="34" charset="0"/>
              <a:cs typeface="Arial" panose="020B0604020202020204" pitchFamily="34" charset="0"/>
            </a:endParaRPr>
          </a:p>
        </p:txBody>
      </p:sp>
      <p:sp>
        <p:nvSpPr>
          <p:cNvPr id="7" name="Rectangle 6"/>
          <p:cNvSpPr/>
          <p:nvPr/>
        </p:nvSpPr>
        <p:spPr>
          <a:xfrm>
            <a:off x="1100203" y="3527080"/>
            <a:ext cx="10831822" cy="1200329"/>
          </a:xfrm>
          <a:prstGeom prst="rect">
            <a:avLst/>
          </a:prstGeom>
        </p:spPr>
        <p:txBody>
          <a:bodyPr wrap="square">
            <a:spAutoFit/>
          </a:bodyPr>
          <a:lstStyle/>
          <a:p>
            <a:pPr algn="ctr"/>
            <a:r>
              <a:rPr lang="en-GB" sz="2400" b="1" dirty="0"/>
              <a:t>I</a:t>
            </a:r>
            <a:r>
              <a:rPr lang="en-GB" sz="2400" b="1" dirty="0" smtClean="0"/>
              <a:t>= V</a:t>
            </a:r>
            <a:r>
              <a:rPr lang="en-GB" sz="2400" b="1" dirty="0"/>
              <a:t>/</a:t>
            </a:r>
            <a:r>
              <a:rPr lang="en-GB" sz="2400" b="1" dirty="0" smtClean="0"/>
              <a:t>R </a:t>
            </a:r>
          </a:p>
          <a:p>
            <a:endParaRPr lang="en-GB" sz="2400" b="1" dirty="0">
              <a:latin typeface="Arial" panose="020B0604020202020204" pitchFamily="34" charset="0"/>
              <a:cs typeface="Arial" panose="020B0604020202020204" pitchFamily="34" charset="0"/>
            </a:endParaRPr>
          </a:p>
          <a:p>
            <a:r>
              <a:rPr lang="en-GB" sz="2400" b="1" dirty="0" smtClean="0">
                <a:latin typeface="Arial" panose="020B0604020202020204" pitchFamily="34" charset="0"/>
                <a:cs typeface="Arial" panose="020B0604020202020204" pitchFamily="34" charset="0"/>
              </a:rPr>
              <a:t>Current (I) = </a:t>
            </a:r>
            <a:r>
              <a:rPr lang="en-GB" sz="2400" b="1" dirty="0" smtClean="0">
                <a:latin typeface="Arial" panose="020B0604020202020204" pitchFamily="34" charset="0"/>
                <a:cs typeface="Arial" panose="020B0604020202020204" pitchFamily="34" charset="0"/>
              </a:rPr>
              <a:t>Voltage (V) / Resistance (R).</a:t>
            </a:r>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35104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91353" y="664757"/>
            <a:ext cx="6096000" cy="1200329"/>
          </a:xfrm>
          <a:prstGeom prst="rect">
            <a:avLst/>
          </a:prstGeom>
        </p:spPr>
        <p:txBody>
          <a:bodyPr>
            <a:spAutoFit/>
          </a:bodyPr>
          <a:lstStyle/>
          <a:p>
            <a:r>
              <a:rPr lang="en-GB" sz="2400" b="1" dirty="0" smtClean="0">
                <a:solidFill>
                  <a:srgbClr val="3B5A6F"/>
                </a:solidFill>
                <a:latin typeface="Arial" panose="020B0604020202020204" pitchFamily="34" charset="0"/>
                <a:cs typeface="Arial" panose="020B0604020202020204" pitchFamily="34" charset="0"/>
              </a:rPr>
              <a:t>What </a:t>
            </a:r>
            <a:r>
              <a:rPr lang="en-GB" sz="2400" b="1" dirty="0">
                <a:solidFill>
                  <a:srgbClr val="3B5A6F"/>
                </a:solidFill>
                <a:latin typeface="Arial" panose="020B0604020202020204" pitchFamily="34" charset="0"/>
                <a:cs typeface="Arial" panose="020B0604020202020204" pitchFamily="34" charset="0"/>
              </a:rPr>
              <a:t>is Ohm’s Law</a:t>
            </a:r>
          </a:p>
          <a:p>
            <a:endParaRPr lang="en-GB" sz="2400" b="1" dirty="0">
              <a:solidFill>
                <a:srgbClr val="3B5A6F"/>
              </a:solidFill>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p:txBody>
      </p:sp>
      <p:sp>
        <p:nvSpPr>
          <p:cNvPr id="6" name="Rectangle 5"/>
          <p:cNvSpPr/>
          <p:nvPr/>
        </p:nvSpPr>
        <p:spPr>
          <a:xfrm>
            <a:off x="495086" y="1865086"/>
            <a:ext cx="10831822" cy="461665"/>
          </a:xfrm>
          <a:prstGeom prst="rect">
            <a:avLst/>
          </a:prstGeom>
        </p:spPr>
        <p:txBody>
          <a:bodyPr wrap="square">
            <a:spAutoFit/>
          </a:bodyPr>
          <a:lstStyle/>
          <a:p>
            <a:r>
              <a:rPr lang="en-GB" sz="2400" b="1" dirty="0" smtClean="0"/>
              <a:t>To Find out the resistance in electrical circuit by applying ohm’s law  </a:t>
            </a:r>
            <a:endParaRPr lang="en-GB" sz="2400" dirty="0">
              <a:latin typeface="Arial" panose="020B0604020202020204" pitchFamily="34" charset="0"/>
              <a:cs typeface="Arial" panose="020B0604020202020204" pitchFamily="34" charset="0"/>
            </a:endParaRPr>
          </a:p>
        </p:txBody>
      </p:sp>
      <p:sp>
        <p:nvSpPr>
          <p:cNvPr id="7" name="Rectangle 6"/>
          <p:cNvSpPr/>
          <p:nvPr/>
        </p:nvSpPr>
        <p:spPr>
          <a:xfrm>
            <a:off x="1100203" y="3527080"/>
            <a:ext cx="10831822" cy="1200329"/>
          </a:xfrm>
          <a:prstGeom prst="rect">
            <a:avLst/>
          </a:prstGeom>
        </p:spPr>
        <p:txBody>
          <a:bodyPr wrap="square">
            <a:spAutoFit/>
          </a:bodyPr>
          <a:lstStyle/>
          <a:p>
            <a:pPr algn="ctr"/>
            <a:r>
              <a:rPr lang="en-GB" sz="2400" b="1" dirty="0" smtClean="0"/>
              <a:t>R= V/I</a:t>
            </a:r>
          </a:p>
          <a:p>
            <a:endParaRPr lang="en-GB" sz="2400" b="1" dirty="0">
              <a:latin typeface="Arial" panose="020B0604020202020204" pitchFamily="34" charset="0"/>
              <a:cs typeface="Arial" panose="020B0604020202020204" pitchFamily="34" charset="0"/>
            </a:endParaRPr>
          </a:p>
          <a:p>
            <a:r>
              <a:rPr lang="en-GB" sz="2400" b="1" dirty="0" smtClean="0">
                <a:latin typeface="Arial" panose="020B0604020202020204" pitchFamily="34" charset="0"/>
                <a:cs typeface="Arial" panose="020B0604020202020204" pitchFamily="34" charset="0"/>
              </a:rPr>
              <a:t>Resistance (R)= Voltage (V) / Current (I) =</a:t>
            </a:r>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15508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91352" y="664757"/>
            <a:ext cx="8798859" cy="1200329"/>
          </a:xfrm>
          <a:prstGeom prst="rect">
            <a:avLst/>
          </a:prstGeom>
        </p:spPr>
        <p:txBody>
          <a:bodyPr wrap="square">
            <a:spAutoFit/>
          </a:bodyPr>
          <a:lstStyle/>
          <a:p>
            <a:r>
              <a:rPr lang="en-GB" sz="2400" b="1" dirty="0" smtClean="0">
                <a:solidFill>
                  <a:schemeClr val="accent1">
                    <a:lumMod val="75000"/>
                  </a:schemeClr>
                </a:solidFill>
                <a:latin typeface="Arial" panose="020B0604020202020204" pitchFamily="34" charset="0"/>
                <a:cs typeface="Arial" panose="020B0604020202020204" pitchFamily="34" charset="0"/>
              </a:rPr>
              <a:t>Analysing </a:t>
            </a:r>
            <a:r>
              <a:rPr lang="en-GB" sz="2400" b="1" dirty="0">
                <a:solidFill>
                  <a:schemeClr val="accent1">
                    <a:lumMod val="75000"/>
                  </a:schemeClr>
                </a:solidFill>
                <a:latin typeface="Arial" panose="020B0604020202020204" pitchFamily="34" charset="0"/>
                <a:cs typeface="Arial" panose="020B0604020202020204" pitchFamily="34" charset="0"/>
              </a:rPr>
              <a:t>Simple Circuits with Ohm’s Law</a:t>
            </a:r>
          </a:p>
          <a:p>
            <a:endParaRPr lang="en-GB" sz="2400" b="1" dirty="0">
              <a:solidFill>
                <a:srgbClr val="3B5A6F"/>
              </a:solidFill>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p:txBody>
      </p:sp>
      <p:sp>
        <p:nvSpPr>
          <p:cNvPr id="3" name="Rectangle 2"/>
          <p:cNvSpPr/>
          <p:nvPr/>
        </p:nvSpPr>
        <p:spPr>
          <a:xfrm>
            <a:off x="291352" y="4212059"/>
            <a:ext cx="10831822" cy="2308324"/>
          </a:xfrm>
          <a:prstGeom prst="rect">
            <a:avLst/>
          </a:prstGeom>
        </p:spPr>
        <p:txBody>
          <a:bodyPr wrap="square">
            <a:spAutoFit/>
          </a:bodyPr>
          <a:lstStyle/>
          <a:p>
            <a:r>
              <a:rPr lang="en-GB" sz="2400" dirty="0" smtClean="0"/>
              <a:t>There </a:t>
            </a:r>
            <a:r>
              <a:rPr lang="en-GB" sz="2400" dirty="0"/>
              <a:t>is only one source of voltage (the battery, on the left</a:t>
            </a:r>
            <a:r>
              <a:rPr lang="en-GB" sz="2400" dirty="0" smtClean="0"/>
              <a:t>). </a:t>
            </a:r>
          </a:p>
          <a:p>
            <a:r>
              <a:rPr lang="en-GB" sz="2400" dirty="0" smtClean="0"/>
              <a:t>One </a:t>
            </a:r>
            <a:r>
              <a:rPr lang="en-GB" sz="2400" dirty="0"/>
              <a:t>source of resistance to current (the lamp, on the right). </a:t>
            </a:r>
            <a:endParaRPr lang="en-GB" sz="2400" dirty="0" smtClean="0"/>
          </a:p>
          <a:p>
            <a:endParaRPr lang="en-GB" sz="2400" dirty="0"/>
          </a:p>
          <a:p>
            <a:r>
              <a:rPr lang="en-GB" sz="2400" dirty="0" smtClean="0"/>
              <a:t>This </a:t>
            </a:r>
            <a:r>
              <a:rPr lang="en-GB" sz="2400" dirty="0"/>
              <a:t>makes it very easy to apply Ohm’s Law. If we know the values of any two of the three quantities (voltage, current, and resistance) in this circuit, we can use Ohm’s Law to determine the third</a:t>
            </a:r>
            <a:r>
              <a:rPr lang="en-GB" sz="2400" dirty="0" smtClean="0"/>
              <a:t>.</a:t>
            </a:r>
            <a:endParaRPr lang="en-GB" sz="2400"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rotWithShape="1">
          <a:blip r:embed="rId2"/>
          <a:srcRect l="21066" t="46077" r="42978" b="20574"/>
          <a:stretch/>
        </p:blipFill>
        <p:spPr>
          <a:xfrm>
            <a:off x="3065929" y="1452283"/>
            <a:ext cx="4383741" cy="2286000"/>
          </a:xfrm>
          <a:prstGeom prst="rect">
            <a:avLst/>
          </a:prstGeom>
        </p:spPr>
      </p:pic>
    </p:spTree>
    <p:extLst>
      <p:ext uri="{BB962C8B-B14F-4D97-AF65-F5344CB8AC3E}">
        <p14:creationId xmlns:p14="http://schemas.microsoft.com/office/powerpoint/2010/main" val="17231393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91352" y="664757"/>
            <a:ext cx="8798859" cy="1200329"/>
          </a:xfrm>
          <a:prstGeom prst="rect">
            <a:avLst/>
          </a:prstGeom>
        </p:spPr>
        <p:txBody>
          <a:bodyPr wrap="square">
            <a:spAutoFit/>
          </a:bodyPr>
          <a:lstStyle/>
          <a:p>
            <a:r>
              <a:rPr lang="en-GB" sz="2400" b="1" dirty="0" smtClean="0">
                <a:solidFill>
                  <a:schemeClr val="accent1">
                    <a:lumMod val="75000"/>
                  </a:schemeClr>
                </a:solidFill>
                <a:latin typeface="Arial" panose="020B0604020202020204" pitchFamily="34" charset="0"/>
                <a:cs typeface="Arial" panose="020B0604020202020204" pitchFamily="34" charset="0"/>
              </a:rPr>
              <a:t>Analysing </a:t>
            </a:r>
            <a:r>
              <a:rPr lang="en-GB" sz="2400" b="1" dirty="0">
                <a:solidFill>
                  <a:schemeClr val="accent1">
                    <a:lumMod val="75000"/>
                  </a:schemeClr>
                </a:solidFill>
                <a:latin typeface="Arial" panose="020B0604020202020204" pitchFamily="34" charset="0"/>
                <a:cs typeface="Arial" panose="020B0604020202020204" pitchFamily="34" charset="0"/>
              </a:rPr>
              <a:t>Simple Circuits with Ohm’s Law</a:t>
            </a:r>
          </a:p>
          <a:p>
            <a:endParaRPr lang="en-GB" sz="2400" b="1" dirty="0">
              <a:solidFill>
                <a:srgbClr val="3B5A6F"/>
              </a:solidFill>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p:txBody>
      </p:sp>
      <p:sp>
        <p:nvSpPr>
          <p:cNvPr id="3" name="Rectangle 2"/>
          <p:cNvSpPr/>
          <p:nvPr/>
        </p:nvSpPr>
        <p:spPr>
          <a:xfrm>
            <a:off x="291352" y="1371858"/>
            <a:ext cx="10831822" cy="1569660"/>
          </a:xfrm>
          <a:prstGeom prst="rect">
            <a:avLst/>
          </a:prstGeom>
        </p:spPr>
        <p:txBody>
          <a:bodyPr wrap="square">
            <a:spAutoFit/>
          </a:bodyPr>
          <a:lstStyle/>
          <a:p>
            <a:r>
              <a:rPr lang="en-GB" sz="2400" dirty="0"/>
              <a:t>In this first example, we will calculate the amount of current (I) in a circuit, given values of voltage (E) and resistance (R</a:t>
            </a:r>
            <a:r>
              <a:rPr lang="en-GB" sz="2400" dirty="0" smtClean="0"/>
              <a:t>):.</a:t>
            </a:r>
          </a:p>
          <a:p>
            <a:endParaRPr lang="en-GB" sz="2400" dirty="0"/>
          </a:p>
          <a:p>
            <a:r>
              <a:rPr lang="en-GB" sz="2400" dirty="0" smtClean="0"/>
              <a:t>.</a:t>
            </a:r>
            <a:endParaRPr lang="en-GB" sz="240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0655" y="2147095"/>
            <a:ext cx="4225929" cy="2685353"/>
          </a:xfrm>
          <a:prstGeom prst="rect">
            <a:avLst/>
          </a:prstGeom>
        </p:spPr>
      </p:pic>
      <p:sp>
        <p:nvSpPr>
          <p:cNvPr id="4" name="Rectangle 1"/>
          <p:cNvSpPr>
            <a:spLocks noChangeArrowheads="1"/>
          </p:cNvSpPr>
          <p:nvPr/>
        </p:nvSpPr>
        <p:spPr bwMode="auto">
          <a:xfrm>
            <a:off x="0" y="4832448"/>
            <a:ext cx="611141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0" eaLnBrk="1" fontAlgn="base" hangingPunct="1">
              <a:lnSpc>
                <a:spcPct val="100000"/>
              </a:lnSpc>
              <a:spcBef>
                <a:spcPct val="0"/>
              </a:spcBef>
              <a:spcAft>
                <a:spcPct val="0"/>
              </a:spcAft>
              <a:buClrTx/>
              <a:buSzTx/>
              <a:buFontTx/>
              <a:buNone/>
              <a:tabLst/>
            </a:pPr>
            <a:r>
              <a:rPr lang="en-US" altLang="en-US" sz="2400" dirty="0">
                <a:latin typeface="+mn-lt"/>
              </a:rPr>
              <a:t>What is the amount of current (I) in this circuit?</a:t>
            </a:r>
          </a:p>
          <a:p>
            <a:pPr marR="0" lvl="0" indent="0" eaLnBrk="1" fontAlgn="base" hangingPunct="1">
              <a:lnSpc>
                <a:spcPct val="100000"/>
              </a:lnSpc>
              <a:spcBef>
                <a:spcPct val="0"/>
              </a:spcBef>
              <a:spcAft>
                <a:spcPct val="0"/>
              </a:spcAft>
              <a:buClrTx/>
              <a:buSzTx/>
              <a:buFontTx/>
              <a:buNone/>
              <a:tabLst/>
            </a:pPr>
            <a:r>
              <a:rPr lang="en-US" altLang="en-US" sz="2400" dirty="0">
                <a:latin typeface="+mn-lt"/>
              </a:rPr>
              <a:t> </a:t>
            </a:r>
          </a:p>
          <a:p>
            <a:pPr marR="0" lvl="0" indent="0" eaLnBrk="1" fontAlgn="base" hangingPunct="1">
              <a:lnSpc>
                <a:spcPct val="100000"/>
              </a:lnSpc>
              <a:spcBef>
                <a:spcPct val="0"/>
              </a:spcBef>
              <a:spcAft>
                <a:spcPct val="0"/>
              </a:spcAft>
              <a:buClrTx/>
              <a:buSzTx/>
              <a:buFontTx/>
              <a:buNone/>
              <a:tabLst/>
            </a:pPr>
            <a:r>
              <a:rPr lang="en-US" altLang="en-US" sz="2400" dirty="0">
                <a:latin typeface="+mn-lt"/>
              </a:rPr>
              <a:t>  </a:t>
            </a:r>
          </a:p>
        </p:txBody>
      </p:sp>
      <p:pic>
        <p:nvPicPr>
          <p:cNvPr id="11266" name="Picture 2" descr="current flow equation circu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9434" y="4719559"/>
            <a:ext cx="3780024" cy="761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84100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91352" y="664757"/>
            <a:ext cx="8798859" cy="1200329"/>
          </a:xfrm>
          <a:prstGeom prst="rect">
            <a:avLst/>
          </a:prstGeom>
        </p:spPr>
        <p:txBody>
          <a:bodyPr wrap="square">
            <a:spAutoFit/>
          </a:bodyPr>
          <a:lstStyle/>
          <a:p>
            <a:r>
              <a:rPr lang="en-GB" sz="2400" b="1" dirty="0" smtClean="0">
                <a:solidFill>
                  <a:schemeClr val="accent1">
                    <a:lumMod val="75000"/>
                  </a:schemeClr>
                </a:solidFill>
                <a:latin typeface="Arial" panose="020B0604020202020204" pitchFamily="34" charset="0"/>
                <a:cs typeface="Arial" panose="020B0604020202020204" pitchFamily="34" charset="0"/>
              </a:rPr>
              <a:t>Analysing </a:t>
            </a:r>
            <a:r>
              <a:rPr lang="en-GB" sz="2400" b="1" dirty="0">
                <a:solidFill>
                  <a:schemeClr val="accent1">
                    <a:lumMod val="75000"/>
                  </a:schemeClr>
                </a:solidFill>
                <a:latin typeface="Arial" panose="020B0604020202020204" pitchFamily="34" charset="0"/>
                <a:cs typeface="Arial" panose="020B0604020202020204" pitchFamily="34" charset="0"/>
              </a:rPr>
              <a:t>Simple Circuits with Ohm’s Law</a:t>
            </a:r>
          </a:p>
          <a:p>
            <a:endParaRPr lang="en-GB" sz="2400" b="1" dirty="0">
              <a:solidFill>
                <a:srgbClr val="3B5A6F"/>
              </a:solidFill>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p:txBody>
      </p:sp>
      <p:sp>
        <p:nvSpPr>
          <p:cNvPr id="3" name="Rectangle 2"/>
          <p:cNvSpPr/>
          <p:nvPr/>
        </p:nvSpPr>
        <p:spPr>
          <a:xfrm>
            <a:off x="291352" y="1371858"/>
            <a:ext cx="10831822" cy="1569660"/>
          </a:xfrm>
          <a:prstGeom prst="rect">
            <a:avLst/>
          </a:prstGeom>
        </p:spPr>
        <p:txBody>
          <a:bodyPr wrap="square">
            <a:spAutoFit/>
          </a:bodyPr>
          <a:lstStyle/>
          <a:p>
            <a:r>
              <a:rPr lang="en-GB" sz="2400" dirty="0"/>
              <a:t>In this second example, we will calculate the amount of resistance (R) in a circuit, given values of voltage (E) and current (I</a:t>
            </a:r>
            <a:r>
              <a:rPr lang="en-GB" sz="2400" dirty="0" smtClean="0"/>
              <a:t>):.</a:t>
            </a:r>
          </a:p>
          <a:p>
            <a:endParaRPr lang="en-GB" sz="2400" dirty="0"/>
          </a:p>
          <a:p>
            <a:r>
              <a:rPr lang="en-GB" sz="2400" dirty="0" smtClean="0"/>
              <a:t>.</a:t>
            </a:r>
            <a:endParaRPr lang="en-GB" sz="2400"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94129" y="5220796"/>
            <a:ext cx="806586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GB" sz="2400" dirty="0" smtClean="0"/>
              <a:t>What </a:t>
            </a:r>
            <a:r>
              <a:rPr lang="en-GB" sz="2400" dirty="0"/>
              <a:t>is the amount of resistance (R) offered by the lamp?</a:t>
            </a:r>
          </a:p>
          <a:p>
            <a:r>
              <a:rPr lang="en-GB" sz="2400" dirty="0"/>
              <a:t> </a:t>
            </a:r>
          </a:p>
          <a:p>
            <a:pPr marR="0" lvl="0" indent="0" eaLnBrk="1" fontAlgn="base" hangingPunct="1">
              <a:lnSpc>
                <a:spcPct val="100000"/>
              </a:lnSpc>
              <a:spcBef>
                <a:spcPct val="0"/>
              </a:spcBef>
              <a:spcAft>
                <a:spcPct val="0"/>
              </a:spcAft>
              <a:buClrTx/>
              <a:buSzTx/>
              <a:buFontTx/>
              <a:buNone/>
              <a:tabLst/>
            </a:pPr>
            <a:r>
              <a:rPr lang="en-US" altLang="en-US" sz="2400" dirty="0">
                <a:latin typeface="+mn-lt"/>
              </a:rPr>
              <a:t> </a:t>
            </a:r>
          </a:p>
          <a:p>
            <a:pPr marR="0" lvl="0" indent="0" eaLnBrk="1" fontAlgn="base" hangingPunct="1">
              <a:lnSpc>
                <a:spcPct val="100000"/>
              </a:lnSpc>
              <a:spcBef>
                <a:spcPct val="0"/>
              </a:spcBef>
              <a:spcAft>
                <a:spcPct val="0"/>
              </a:spcAft>
              <a:buClrTx/>
              <a:buSzTx/>
              <a:buFontTx/>
              <a:buNone/>
              <a:tabLst/>
            </a:pPr>
            <a:r>
              <a:rPr lang="en-US" altLang="en-US" sz="2400" dirty="0">
                <a:latin typeface="+mn-lt"/>
              </a:rPr>
              <a:t>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5679" y="2408085"/>
            <a:ext cx="4379392" cy="2789655"/>
          </a:xfrm>
          <a:prstGeom prst="rect">
            <a:avLst/>
          </a:prstGeom>
        </p:spPr>
      </p:pic>
      <p:pic>
        <p:nvPicPr>
          <p:cNvPr id="6" name="Picture 5"/>
          <p:cNvPicPr>
            <a:picLocks noChangeAspect="1"/>
          </p:cNvPicPr>
          <p:nvPr/>
        </p:nvPicPr>
        <p:blipFill rotWithShape="1">
          <a:blip r:embed="rId3"/>
          <a:srcRect l="26911" t="56278" r="51250" b="30186"/>
          <a:stretch/>
        </p:blipFill>
        <p:spPr>
          <a:xfrm>
            <a:off x="7829098" y="4664307"/>
            <a:ext cx="3849003" cy="1341319"/>
          </a:xfrm>
          <a:prstGeom prst="rect">
            <a:avLst/>
          </a:prstGeom>
        </p:spPr>
      </p:pic>
    </p:spTree>
    <p:extLst>
      <p:ext uri="{BB962C8B-B14F-4D97-AF65-F5344CB8AC3E}">
        <p14:creationId xmlns:p14="http://schemas.microsoft.com/office/powerpoint/2010/main" val="20700638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91352" y="664757"/>
            <a:ext cx="8798859" cy="1200329"/>
          </a:xfrm>
          <a:prstGeom prst="rect">
            <a:avLst/>
          </a:prstGeom>
        </p:spPr>
        <p:txBody>
          <a:bodyPr wrap="square">
            <a:spAutoFit/>
          </a:bodyPr>
          <a:lstStyle/>
          <a:p>
            <a:r>
              <a:rPr lang="en-GB" sz="2400" b="1" dirty="0" smtClean="0">
                <a:solidFill>
                  <a:schemeClr val="accent1">
                    <a:lumMod val="75000"/>
                  </a:schemeClr>
                </a:solidFill>
                <a:latin typeface="Arial" panose="020B0604020202020204" pitchFamily="34" charset="0"/>
                <a:cs typeface="Arial" panose="020B0604020202020204" pitchFamily="34" charset="0"/>
              </a:rPr>
              <a:t>Analysing </a:t>
            </a:r>
            <a:r>
              <a:rPr lang="en-GB" sz="2400" b="1" dirty="0">
                <a:solidFill>
                  <a:schemeClr val="accent1">
                    <a:lumMod val="75000"/>
                  </a:schemeClr>
                </a:solidFill>
                <a:latin typeface="Arial" panose="020B0604020202020204" pitchFamily="34" charset="0"/>
                <a:cs typeface="Arial" panose="020B0604020202020204" pitchFamily="34" charset="0"/>
              </a:rPr>
              <a:t>Simple Circuits with Ohm’s Law</a:t>
            </a:r>
          </a:p>
          <a:p>
            <a:endParaRPr lang="en-GB" sz="2400" b="1" dirty="0">
              <a:solidFill>
                <a:srgbClr val="3B5A6F"/>
              </a:solidFill>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p:txBody>
      </p:sp>
      <p:sp>
        <p:nvSpPr>
          <p:cNvPr id="3" name="Rectangle 2"/>
          <p:cNvSpPr/>
          <p:nvPr/>
        </p:nvSpPr>
        <p:spPr>
          <a:xfrm>
            <a:off x="291352" y="1371858"/>
            <a:ext cx="10831822" cy="1569660"/>
          </a:xfrm>
          <a:prstGeom prst="rect">
            <a:avLst/>
          </a:prstGeom>
        </p:spPr>
        <p:txBody>
          <a:bodyPr wrap="square">
            <a:spAutoFit/>
          </a:bodyPr>
          <a:lstStyle/>
          <a:p>
            <a:r>
              <a:rPr lang="en-GB" sz="2400" dirty="0"/>
              <a:t>In the last example, we will calculate the amount of voltage supplied by a battery, given values of current (I) and resistance (R</a:t>
            </a:r>
            <a:r>
              <a:rPr lang="en-GB" sz="2400" dirty="0" smtClean="0"/>
              <a:t>):.</a:t>
            </a:r>
          </a:p>
          <a:p>
            <a:endParaRPr lang="en-GB" sz="2400" dirty="0"/>
          </a:p>
          <a:p>
            <a:r>
              <a:rPr lang="en-GB" sz="2400" dirty="0" smtClean="0"/>
              <a:t>.</a:t>
            </a:r>
            <a:endParaRPr lang="en-GB" sz="2400"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94129" y="5405461"/>
            <a:ext cx="773000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GB" sz="2400" dirty="0"/>
              <a:t>What is the amount of voltage provided by the battery? </a:t>
            </a:r>
          </a:p>
          <a:p>
            <a:pPr marR="0" lvl="0" indent="0" eaLnBrk="1" fontAlgn="base" hangingPunct="1">
              <a:lnSpc>
                <a:spcPct val="100000"/>
              </a:lnSpc>
              <a:spcBef>
                <a:spcPct val="0"/>
              </a:spcBef>
              <a:spcAft>
                <a:spcPct val="0"/>
              </a:spcAft>
              <a:buClrTx/>
              <a:buSzTx/>
              <a:buFontTx/>
              <a:buNone/>
              <a:tabLst/>
            </a:pPr>
            <a:r>
              <a:rPr lang="en-US" altLang="en-US" sz="2400" dirty="0">
                <a:latin typeface="+mn-lt"/>
              </a:rPr>
              <a:t> </a:t>
            </a:r>
          </a:p>
          <a:p>
            <a:pPr marR="0" lvl="0" indent="0" eaLnBrk="1" fontAlgn="base" hangingPunct="1">
              <a:lnSpc>
                <a:spcPct val="100000"/>
              </a:lnSpc>
              <a:spcBef>
                <a:spcPct val="0"/>
              </a:spcBef>
              <a:spcAft>
                <a:spcPct val="0"/>
              </a:spcAft>
              <a:buClrTx/>
              <a:buSzTx/>
              <a:buFontTx/>
              <a:buNone/>
              <a:tabLst/>
            </a:pPr>
            <a:r>
              <a:rPr lang="en-US" altLang="en-US" sz="2400" dirty="0">
                <a:latin typeface="+mn-lt"/>
              </a:rPr>
              <a:t>  </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5610" y="2421575"/>
            <a:ext cx="4142380" cy="2576805"/>
          </a:xfrm>
          <a:prstGeom prst="rect">
            <a:avLst/>
          </a:prstGeom>
        </p:spPr>
      </p:pic>
      <p:sp>
        <p:nvSpPr>
          <p:cNvPr id="8" name="AutoShape 2" descr="current-flow voltage battery equation"/>
          <p:cNvSpPr>
            <a:spLocks noChangeAspect="1" noChangeArrowheads="1"/>
          </p:cNvSpPr>
          <p:nvPr/>
        </p:nvSpPr>
        <p:spPr bwMode="auto">
          <a:xfrm>
            <a:off x="52388"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9" name="Picture 8"/>
          <p:cNvPicPr>
            <a:picLocks noChangeAspect="1"/>
          </p:cNvPicPr>
          <p:nvPr/>
        </p:nvPicPr>
        <p:blipFill rotWithShape="1">
          <a:blip r:embed="rId3"/>
          <a:srcRect l="27904" t="75503" r="52463" b="17435"/>
          <a:stretch/>
        </p:blipFill>
        <p:spPr>
          <a:xfrm>
            <a:off x="7301752" y="5648175"/>
            <a:ext cx="4122273" cy="833718"/>
          </a:xfrm>
          <a:prstGeom prst="rect">
            <a:avLst/>
          </a:prstGeom>
        </p:spPr>
      </p:pic>
    </p:spTree>
    <p:extLst>
      <p:ext uri="{BB962C8B-B14F-4D97-AF65-F5344CB8AC3E}">
        <p14:creationId xmlns:p14="http://schemas.microsoft.com/office/powerpoint/2010/main" val="34424514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91352" y="664757"/>
            <a:ext cx="8798859" cy="1200329"/>
          </a:xfrm>
          <a:prstGeom prst="rect">
            <a:avLst/>
          </a:prstGeom>
        </p:spPr>
        <p:txBody>
          <a:bodyPr wrap="square">
            <a:spAutoFit/>
          </a:bodyPr>
          <a:lstStyle/>
          <a:p>
            <a:r>
              <a:rPr lang="en-GB" sz="2400" b="1" dirty="0" smtClean="0">
                <a:solidFill>
                  <a:schemeClr val="accent1">
                    <a:lumMod val="75000"/>
                  </a:schemeClr>
                </a:solidFill>
                <a:latin typeface="Arial" panose="020B0604020202020204" pitchFamily="34" charset="0"/>
                <a:cs typeface="Arial" panose="020B0604020202020204" pitchFamily="34" charset="0"/>
              </a:rPr>
              <a:t>Series </a:t>
            </a:r>
            <a:r>
              <a:rPr lang="en-GB" sz="2400" b="1" dirty="0">
                <a:solidFill>
                  <a:schemeClr val="accent1">
                    <a:lumMod val="75000"/>
                  </a:schemeClr>
                </a:solidFill>
                <a:latin typeface="Arial" panose="020B0604020202020204" pitchFamily="34" charset="0"/>
                <a:cs typeface="Arial" panose="020B0604020202020204" pitchFamily="34" charset="0"/>
              </a:rPr>
              <a:t>and Parallel </a:t>
            </a:r>
            <a:r>
              <a:rPr lang="en-GB" sz="2400" b="1" dirty="0" smtClean="0">
                <a:solidFill>
                  <a:schemeClr val="accent1">
                    <a:lumMod val="75000"/>
                  </a:schemeClr>
                </a:solidFill>
                <a:latin typeface="Arial" panose="020B0604020202020204" pitchFamily="34" charset="0"/>
                <a:cs typeface="Arial" panose="020B0604020202020204" pitchFamily="34" charset="0"/>
              </a:rPr>
              <a:t>Circuits</a:t>
            </a:r>
            <a:endParaRPr lang="en-GB" sz="2400" b="1" dirty="0">
              <a:solidFill>
                <a:schemeClr val="accent1">
                  <a:lumMod val="75000"/>
                </a:schemeClr>
              </a:solidFill>
              <a:latin typeface="Arial" panose="020B0604020202020204" pitchFamily="34" charset="0"/>
              <a:cs typeface="Arial" panose="020B0604020202020204" pitchFamily="34" charset="0"/>
            </a:endParaRPr>
          </a:p>
          <a:p>
            <a:endParaRPr lang="en-GB" sz="2400" b="1" dirty="0">
              <a:solidFill>
                <a:srgbClr val="3B5A6F"/>
              </a:solidFill>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p:txBody>
      </p:sp>
      <p:sp>
        <p:nvSpPr>
          <p:cNvPr id="3" name="Rectangle 2"/>
          <p:cNvSpPr/>
          <p:nvPr/>
        </p:nvSpPr>
        <p:spPr>
          <a:xfrm>
            <a:off x="291352" y="1371858"/>
            <a:ext cx="10831822" cy="830997"/>
          </a:xfrm>
          <a:prstGeom prst="rect">
            <a:avLst/>
          </a:prstGeom>
        </p:spPr>
        <p:txBody>
          <a:bodyPr wrap="square">
            <a:spAutoFit/>
          </a:bodyPr>
          <a:lstStyle/>
          <a:p>
            <a:r>
              <a:rPr lang="en-GB" sz="2400" dirty="0" smtClean="0"/>
              <a:t>The </a:t>
            </a:r>
            <a:r>
              <a:rPr lang="en-GB" sz="2400" dirty="0"/>
              <a:t>definition of a series circuit is a circuit where the components are connected end-to-end in a line as illustrated in Figure</a:t>
            </a:r>
            <a:r>
              <a:rPr lang="en-GB" sz="2400" dirty="0" smtClean="0"/>
              <a:t>.</a:t>
            </a:r>
            <a:endParaRPr lang="en-GB" sz="2400" dirty="0">
              <a:latin typeface="Arial" panose="020B0604020202020204" pitchFamily="34" charset="0"/>
              <a:cs typeface="Arial" panose="020B0604020202020204" pitchFamily="34" charset="0"/>
            </a:endParaRPr>
          </a:p>
        </p:txBody>
      </p:sp>
      <p:sp>
        <p:nvSpPr>
          <p:cNvPr id="8" name="AutoShape 2" descr="current-flow voltage battery equation"/>
          <p:cNvSpPr>
            <a:spLocks noChangeAspect="1" noChangeArrowheads="1"/>
          </p:cNvSpPr>
          <p:nvPr/>
        </p:nvSpPr>
        <p:spPr bwMode="auto">
          <a:xfrm>
            <a:off x="52388"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4629" y="2084585"/>
            <a:ext cx="3603812" cy="2768410"/>
          </a:xfrm>
          <a:prstGeom prst="rect">
            <a:avLst/>
          </a:prstGeom>
        </p:spPr>
      </p:pic>
      <p:sp>
        <p:nvSpPr>
          <p:cNvPr id="10" name="Rectangle 9"/>
          <p:cNvSpPr/>
          <p:nvPr/>
        </p:nvSpPr>
        <p:spPr>
          <a:xfrm>
            <a:off x="204788" y="5661212"/>
            <a:ext cx="10831822" cy="830997"/>
          </a:xfrm>
          <a:prstGeom prst="rect">
            <a:avLst/>
          </a:prstGeom>
        </p:spPr>
        <p:txBody>
          <a:bodyPr wrap="square">
            <a:spAutoFit/>
          </a:bodyPr>
          <a:lstStyle/>
          <a:p>
            <a:r>
              <a:rPr lang="en-GB" sz="2400" b="1" dirty="0">
                <a:solidFill>
                  <a:schemeClr val="accent1">
                    <a:lumMod val="75000"/>
                  </a:schemeClr>
                </a:solidFill>
                <a:latin typeface="Arial" panose="020B0604020202020204" pitchFamily="34" charset="0"/>
                <a:cs typeface="Arial" panose="020B0604020202020204" pitchFamily="34" charset="0"/>
              </a:rPr>
              <a:t>Series Circuit is </a:t>
            </a:r>
          </a:p>
          <a:p>
            <a:r>
              <a:rPr lang="en-GB" sz="2400" dirty="0" smtClean="0">
                <a:latin typeface="Arial" panose="020B0604020202020204" pitchFamily="34" charset="0"/>
                <a:cs typeface="Arial" panose="020B0604020202020204" pitchFamily="34" charset="0"/>
              </a:rPr>
              <a:t>ONE Electrical Pathway </a:t>
            </a:r>
            <a:endParaRPr lang="en-GB" sz="2400" dirty="0" smtClean="0"/>
          </a:p>
        </p:txBody>
      </p:sp>
      <p:sp>
        <p:nvSpPr>
          <p:cNvPr id="12" name="Rectangle 11"/>
          <p:cNvSpPr/>
          <p:nvPr/>
        </p:nvSpPr>
        <p:spPr>
          <a:xfrm>
            <a:off x="204788" y="4734724"/>
            <a:ext cx="10831822" cy="830997"/>
          </a:xfrm>
          <a:prstGeom prst="rect">
            <a:avLst/>
          </a:prstGeom>
        </p:spPr>
        <p:txBody>
          <a:bodyPr wrap="square">
            <a:spAutoFit/>
          </a:bodyPr>
          <a:lstStyle/>
          <a:p>
            <a:r>
              <a:rPr lang="en-GB" sz="2400" dirty="0" smtClean="0"/>
              <a:t>Series </a:t>
            </a:r>
            <a:r>
              <a:rPr lang="en-GB" sz="2400" dirty="0"/>
              <a:t>circuit have the same current flowing through </a:t>
            </a:r>
            <a:r>
              <a:rPr lang="en-GB" sz="2400" dirty="0" smtClean="0"/>
              <a:t>all connected resistance, There  is only one path for </a:t>
            </a:r>
            <a:r>
              <a:rPr lang="en-GB" sz="2400" dirty="0"/>
              <a:t>the current to </a:t>
            </a:r>
            <a:r>
              <a:rPr lang="en-GB" sz="2400" dirty="0" smtClean="0"/>
              <a:t>flow.</a:t>
            </a:r>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35245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91352" y="664757"/>
            <a:ext cx="8798859" cy="1200329"/>
          </a:xfrm>
          <a:prstGeom prst="rect">
            <a:avLst/>
          </a:prstGeom>
        </p:spPr>
        <p:txBody>
          <a:bodyPr wrap="square">
            <a:spAutoFit/>
          </a:bodyPr>
          <a:lstStyle/>
          <a:p>
            <a:r>
              <a:rPr lang="en-GB" sz="2400" b="1" dirty="0" smtClean="0">
                <a:solidFill>
                  <a:schemeClr val="accent1">
                    <a:lumMod val="75000"/>
                  </a:schemeClr>
                </a:solidFill>
                <a:latin typeface="Arial" panose="020B0604020202020204" pitchFamily="34" charset="0"/>
                <a:cs typeface="Arial" panose="020B0604020202020204" pitchFamily="34" charset="0"/>
              </a:rPr>
              <a:t>Series </a:t>
            </a:r>
            <a:r>
              <a:rPr lang="en-GB" sz="2400" b="1" dirty="0">
                <a:solidFill>
                  <a:schemeClr val="accent1">
                    <a:lumMod val="75000"/>
                  </a:schemeClr>
                </a:solidFill>
                <a:latin typeface="Arial" panose="020B0604020202020204" pitchFamily="34" charset="0"/>
                <a:cs typeface="Arial" panose="020B0604020202020204" pitchFamily="34" charset="0"/>
              </a:rPr>
              <a:t>and Parallel </a:t>
            </a:r>
            <a:r>
              <a:rPr lang="en-GB" sz="2400" b="1" dirty="0" smtClean="0">
                <a:solidFill>
                  <a:schemeClr val="accent1">
                    <a:lumMod val="75000"/>
                  </a:schemeClr>
                </a:solidFill>
                <a:latin typeface="Arial" panose="020B0604020202020204" pitchFamily="34" charset="0"/>
                <a:cs typeface="Arial" panose="020B0604020202020204" pitchFamily="34" charset="0"/>
              </a:rPr>
              <a:t>Circuits</a:t>
            </a:r>
            <a:endParaRPr lang="en-GB" sz="2400" b="1" dirty="0">
              <a:solidFill>
                <a:schemeClr val="accent1">
                  <a:lumMod val="75000"/>
                </a:schemeClr>
              </a:solidFill>
              <a:latin typeface="Arial" panose="020B0604020202020204" pitchFamily="34" charset="0"/>
              <a:cs typeface="Arial" panose="020B0604020202020204" pitchFamily="34" charset="0"/>
            </a:endParaRPr>
          </a:p>
          <a:p>
            <a:endParaRPr lang="en-GB" sz="2400" b="1" dirty="0">
              <a:solidFill>
                <a:srgbClr val="3B5A6F"/>
              </a:solidFill>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p:txBody>
      </p:sp>
      <p:sp>
        <p:nvSpPr>
          <p:cNvPr id="3" name="Rectangle 2"/>
          <p:cNvSpPr/>
          <p:nvPr/>
        </p:nvSpPr>
        <p:spPr>
          <a:xfrm>
            <a:off x="291352" y="1371858"/>
            <a:ext cx="10831822" cy="830997"/>
          </a:xfrm>
          <a:prstGeom prst="rect">
            <a:avLst/>
          </a:prstGeom>
        </p:spPr>
        <p:txBody>
          <a:bodyPr wrap="square">
            <a:spAutoFit/>
          </a:bodyPr>
          <a:lstStyle/>
          <a:p>
            <a:r>
              <a:rPr lang="en-GB" sz="2400" dirty="0" smtClean="0"/>
              <a:t>Parallel </a:t>
            </a:r>
            <a:r>
              <a:rPr lang="en-GB" sz="2400" dirty="0"/>
              <a:t>circuit is a circuit where all components are connected across each other’s leads as shown in </a:t>
            </a:r>
            <a:r>
              <a:rPr lang="en-GB" sz="2400" dirty="0" smtClean="0"/>
              <a:t>Figure.</a:t>
            </a:r>
            <a:endParaRPr lang="en-GB" sz="2400" dirty="0">
              <a:latin typeface="Arial" panose="020B0604020202020204" pitchFamily="34" charset="0"/>
              <a:cs typeface="Arial" panose="020B0604020202020204" pitchFamily="34" charset="0"/>
            </a:endParaRPr>
          </a:p>
        </p:txBody>
      </p:sp>
      <p:sp>
        <p:nvSpPr>
          <p:cNvPr id="8" name="AutoShape 2" descr="current-flow voltage battery equation"/>
          <p:cNvSpPr>
            <a:spLocks noChangeAspect="1" noChangeArrowheads="1"/>
          </p:cNvSpPr>
          <p:nvPr/>
        </p:nvSpPr>
        <p:spPr bwMode="auto">
          <a:xfrm>
            <a:off x="52388"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 name="Rectangle 9"/>
          <p:cNvSpPr/>
          <p:nvPr/>
        </p:nvSpPr>
        <p:spPr>
          <a:xfrm>
            <a:off x="204788" y="5661212"/>
            <a:ext cx="10831822" cy="830997"/>
          </a:xfrm>
          <a:prstGeom prst="rect">
            <a:avLst/>
          </a:prstGeom>
        </p:spPr>
        <p:txBody>
          <a:bodyPr wrap="square">
            <a:spAutoFit/>
          </a:bodyPr>
          <a:lstStyle/>
          <a:p>
            <a:r>
              <a:rPr lang="en-GB" sz="2400" b="1" dirty="0" smtClean="0">
                <a:solidFill>
                  <a:schemeClr val="accent1">
                    <a:lumMod val="75000"/>
                  </a:schemeClr>
                </a:solidFill>
                <a:latin typeface="Arial" panose="020B0604020202020204" pitchFamily="34" charset="0"/>
                <a:cs typeface="Arial" panose="020B0604020202020204" pitchFamily="34" charset="0"/>
              </a:rPr>
              <a:t>Parallel </a:t>
            </a:r>
            <a:r>
              <a:rPr lang="en-GB" sz="2400" b="1" dirty="0">
                <a:solidFill>
                  <a:schemeClr val="accent1">
                    <a:lumMod val="75000"/>
                  </a:schemeClr>
                </a:solidFill>
                <a:latin typeface="Arial" panose="020B0604020202020204" pitchFamily="34" charset="0"/>
                <a:cs typeface="Arial" panose="020B0604020202020204" pitchFamily="34" charset="0"/>
              </a:rPr>
              <a:t>Circuit is </a:t>
            </a:r>
          </a:p>
          <a:p>
            <a:r>
              <a:rPr lang="en-GB" sz="2400" dirty="0" smtClean="0">
                <a:latin typeface="Arial" panose="020B0604020202020204" pitchFamily="34" charset="0"/>
                <a:cs typeface="Arial" panose="020B0604020202020204" pitchFamily="34" charset="0"/>
              </a:rPr>
              <a:t>Multiple Electrical Pathway </a:t>
            </a:r>
            <a:endParaRPr lang="en-GB" sz="2400" dirty="0" smtClean="0"/>
          </a:p>
        </p:txBody>
      </p:sp>
      <p:sp>
        <p:nvSpPr>
          <p:cNvPr id="12" name="Rectangle 11"/>
          <p:cNvSpPr/>
          <p:nvPr/>
        </p:nvSpPr>
        <p:spPr>
          <a:xfrm>
            <a:off x="204788" y="4734724"/>
            <a:ext cx="10831822" cy="830997"/>
          </a:xfrm>
          <a:prstGeom prst="rect">
            <a:avLst/>
          </a:prstGeom>
        </p:spPr>
        <p:txBody>
          <a:bodyPr wrap="square">
            <a:spAutoFit/>
          </a:bodyPr>
          <a:lstStyle/>
          <a:p>
            <a:r>
              <a:rPr lang="en-GB" sz="2400" dirty="0" smtClean="0"/>
              <a:t>In </a:t>
            </a:r>
            <a:r>
              <a:rPr lang="en-GB" sz="2400" dirty="0"/>
              <a:t>parallel circuit, there are </a:t>
            </a:r>
            <a:r>
              <a:rPr lang="en-GB" sz="2400" dirty="0" smtClean="0"/>
              <a:t>multiple two </a:t>
            </a:r>
            <a:r>
              <a:rPr lang="en-GB" sz="2400" dirty="0"/>
              <a:t>sets of electrically common points</a:t>
            </a:r>
            <a:r>
              <a:rPr lang="en-GB" sz="2400" dirty="0" smtClean="0"/>
              <a:t>.</a:t>
            </a:r>
            <a:r>
              <a:rPr lang="en-GB" sz="2400" dirty="0"/>
              <a:t> There are many paths for current flow, but only one voltage across all components.</a:t>
            </a:r>
            <a:endParaRPr lang="en-GB" sz="240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0007" y="1991524"/>
            <a:ext cx="3334511" cy="2743200"/>
          </a:xfrm>
          <a:prstGeom prst="rect">
            <a:avLst/>
          </a:prstGeom>
        </p:spPr>
      </p:pic>
    </p:spTree>
    <p:extLst>
      <p:ext uri="{BB962C8B-B14F-4D97-AF65-F5344CB8AC3E}">
        <p14:creationId xmlns:p14="http://schemas.microsoft.com/office/powerpoint/2010/main" val="25863495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91352" y="664757"/>
            <a:ext cx="8798859" cy="1200329"/>
          </a:xfrm>
          <a:prstGeom prst="rect">
            <a:avLst/>
          </a:prstGeom>
        </p:spPr>
        <p:txBody>
          <a:bodyPr wrap="square">
            <a:spAutoFit/>
          </a:bodyPr>
          <a:lstStyle/>
          <a:p>
            <a:r>
              <a:rPr lang="en-GB" sz="2400" b="1" dirty="0" smtClean="0">
                <a:solidFill>
                  <a:schemeClr val="accent1">
                    <a:lumMod val="75000"/>
                  </a:schemeClr>
                </a:solidFill>
                <a:latin typeface="Arial" panose="020B0604020202020204" pitchFamily="34" charset="0"/>
                <a:cs typeface="Arial" panose="020B0604020202020204" pitchFamily="34" charset="0"/>
              </a:rPr>
              <a:t>Parallel Circuits</a:t>
            </a:r>
            <a:endParaRPr lang="en-GB" sz="2400" b="1" dirty="0">
              <a:solidFill>
                <a:schemeClr val="accent1">
                  <a:lumMod val="75000"/>
                </a:schemeClr>
              </a:solidFill>
              <a:latin typeface="Arial" panose="020B0604020202020204" pitchFamily="34" charset="0"/>
              <a:cs typeface="Arial" panose="020B0604020202020204" pitchFamily="34" charset="0"/>
            </a:endParaRPr>
          </a:p>
          <a:p>
            <a:endParaRPr lang="en-GB" sz="2400" b="1" dirty="0">
              <a:solidFill>
                <a:srgbClr val="3B5A6F"/>
              </a:solidFill>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p:txBody>
      </p:sp>
      <p:sp>
        <p:nvSpPr>
          <p:cNvPr id="8" name="AutoShape 2" descr="current-flow voltage battery equation"/>
          <p:cNvSpPr>
            <a:spLocks noChangeAspect="1" noChangeArrowheads="1"/>
          </p:cNvSpPr>
          <p:nvPr/>
        </p:nvSpPr>
        <p:spPr bwMode="auto">
          <a:xfrm>
            <a:off x="52388"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4801" y="1944196"/>
            <a:ext cx="8350825" cy="2346764"/>
          </a:xfrm>
          <a:prstGeom prst="rect">
            <a:avLst/>
          </a:prstGeom>
        </p:spPr>
      </p:pic>
      <mc:AlternateContent xmlns:mc="http://schemas.openxmlformats.org/markup-compatibility/2006">
        <mc:Choice xmlns:a14="http://schemas.microsoft.com/office/drawing/2010/main" Requires="a14">
          <p:sp>
            <p:nvSpPr>
              <p:cNvPr id="5" name="TextBox 4"/>
              <p:cNvSpPr txBox="1"/>
              <p:nvPr/>
            </p:nvSpPr>
            <p:spPr>
              <a:xfrm>
                <a:off x="3092477" y="4412190"/>
                <a:ext cx="5092300" cy="615553"/>
              </a:xfrm>
              <a:prstGeom prst="rect">
                <a:avLst/>
              </a:prstGeom>
              <a:noFill/>
            </p:spPr>
            <p:txBody>
              <a:bodyPr wrap="square" lIns="0" tIns="0" rIns="0" bIns="0" rtlCol="0">
                <a:spAutoFit/>
              </a:bodyPr>
              <a:lstStyle/>
              <a:p>
                <a:r>
                  <a:rPr lang="en-GB" sz="4000" b="1" dirty="0" smtClean="0"/>
                  <a:t>R</a:t>
                </a:r>
                <a:r>
                  <a:rPr lang="en-GB" sz="4000" b="1" baseline="-25000" dirty="0" smtClean="0"/>
                  <a:t>total</a:t>
                </a:r>
                <a:r>
                  <a:rPr lang="en-GB" sz="2400" b="1" dirty="0" smtClean="0"/>
                  <a:t>  =</a:t>
                </a:r>
                <a14:m>
                  <m:oMath xmlns:m="http://schemas.openxmlformats.org/officeDocument/2006/math">
                    <m:f>
                      <m:fPr>
                        <m:ctrlPr>
                          <a:rPr lang="en-GB" sz="2400" b="1" i="1" smtClean="0">
                            <a:latin typeface="Cambria Math" panose="02040503050406030204" pitchFamily="18" charset="0"/>
                          </a:rPr>
                        </m:ctrlPr>
                      </m:fPr>
                      <m:num>
                        <m:r>
                          <a:rPr lang="en-GB" sz="2400" b="1" i="1" smtClean="0">
                            <a:latin typeface="Cambria Math" panose="02040503050406030204" pitchFamily="18" charset="0"/>
                          </a:rPr>
                          <m:t>𝟏</m:t>
                        </m:r>
                      </m:num>
                      <m:den>
                        <m:r>
                          <a:rPr lang="en-GB" sz="2400" b="1" i="1" smtClean="0">
                            <a:latin typeface="Cambria Math" panose="02040503050406030204" pitchFamily="18" charset="0"/>
                          </a:rPr>
                          <m:t>𝑹</m:t>
                        </m:r>
                        <m:r>
                          <a:rPr lang="en-GB" sz="2400" b="1" i="1" smtClean="0">
                            <a:latin typeface="Cambria Math" panose="02040503050406030204" pitchFamily="18" charset="0"/>
                          </a:rPr>
                          <m:t>𝟏</m:t>
                        </m:r>
                      </m:den>
                    </m:f>
                    <m:r>
                      <a:rPr lang="en-GB" sz="2400" b="1" i="1" smtClean="0">
                        <a:latin typeface="Cambria Math" panose="02040503050406030204" pitchFamily="18" charset="0"/>
                      </a:rPr>
                      <m:t>+</m:t>
                    </m:r>
                    <m:f>
                      <m:fPr>
                        <m:ctrlPr>
                          <a:rPr lang="en-GB" sz="2400" b="1" i="1" smtClean="0">
                            <a:latin typeface="Cambria Math" panose="02040503050406030204" pitchFamily="18" charset="0"/>
                          </a:rPr>
                        </m:ctrlPr>
                      </m:fPr>
                      <m:num>
                        <m:r>
                          <a:rPr lang="en-GB" sz="2400" b="1" i="1" smtClean="0">
                            <a:latin typeface="Cambria Math" panose="02040503050406030204" pitchFamily="18" charset="0"/>
                          </a:rPr>
                          <m:t>𝟏</m:t>
                        </m:r>
                      </m:num>
                      <m:den>
                        <m:r>
                          <a:rPr lang="en-GB" sz="2400" b="1" i="1" smtClean="0">
                            <a:latin typeface="Cambria Math" panose="02040503050406030204" pitchFamily="18" charset="0"/>
                          </a:rPr>
                          <m:t>𝑹</m:t>
                        </m:r>
                        <m:r>
                          <a:rPr lang="en-GB" sz="2400" b="1" i="1" smtClean="0">
                            <a:latin typeface="Cambria Math" panose="02040503050406030204" pitchFamily="18" charset="0"/>
                          </a:rPr>
                          <m:t>𝟐</m:t>
                        </m:r>
                      </m:den>
                    </m:f>
                    <m:r>
                      <a:rPr lang="en-GB" sz="2400" b="1" i="1" smtClean="0">
                        <a:latin typeface="Cambria Math" panose="02040503050406030204" pitchFamily="18" charset="0"/>
                      </a:rPr>
                      <m:t>+</m:t>
                    </m:r>
                    <m:f>
                      <m:fPr>
                        <m:ctrlPr>
                          <a:rPr lang="en-GB" sz="2400" b="1" i="1" smtClean="0">
                            <a:latin typeface="Cambria Math" panose="02040503050406030204" pitchFamily="18" charset="0"/>
                          </a:rPr>
                        </m:ctrlPr>
                      </m:fPr>
                      <m:num>
                        <m:r>
                          <a:rPr lang="en-GB" sz="2400" b="1" i="1" smtClean="0">
                            <a:latin typeface="Cambria Math" panose="02040503050406030204" pitchFamily="18" charset="0"/>
                          </a:rPr>
                          <m:t>𝟏</m:t>
                        </m:r>
                      </m:num>
                      <m:den>
                        <m:r>
                          <a:rPr lang="en-GB" sz="2400" b="1" i="1" smtClean="0">
                            <a:latin typeface="Cambria Math" panose="02040503050406030204" pitchFamily="18" charset="0"/>
                          </a:rPr>
                          <m:t>𝑹</m:t>
                        </m:r>
                        <m:r>
                          <a:rPr lang="en-GB" sz="2400" b="1" i="1" smtClean="0">
                            <a:latin typeface="Cambria Math" panose="02040503050406030204" pitchFamily="18" charset="0"/>
                          </a:rPr>
                          <m:t>𝟑</m:t>
                        </m:r>
                      </m:den>
                    </m:f>
                    <m:r>
                      <a:rPr lang="en-GB" sz="2400" b="1" i="1" smtClean="0">
                        <a:latin typeface="Cambria Math" panose="02040503050406030204" pitchFamily="18" charset="0"/>
                      </a:rPr>
                      <m:t>+</m:t>
                    </m:r>
                    <m:f>
                      <m:fPr>
                        <m:ctrlPr>
                          <a:rPr lang="en-GB" sz="2400" b="1" i="1" smtClean="0">
                            <a:latin typeface="Cambria Math" panose="02040503050406030204" pitchFamily="18" charset="0"/>
                          </a:rPr>
                        </m:ctrlPr>
                      </m:fPr>
                      <m:num>
                        <m:r>
                          <a:rPr lang="en-GB" sz="2400" b="1" i="1" smtClean="0">
                            <a:latin typeface="Cambria Math" panose="02040503050406030204" pitchFamily="18" charset="0"/>
                          </a:rPr>
                          <m:t>𝟏</m:t>
                        </m:r>
                      </m:num>
                      <m:den>
                        <m:r>
                          <a:rPr lang="en-GB" sz="2400" b="1" i="1" smtClean="0">
                            <a:latin typeface="Cambria Math" panose="02040503050406030204" pitchFamily="18" charset="0"/>
                          </a:rPr>
                          <m:t>𝑹</m:t>
                        </m:r>
                        <m:r>
                          <a:rPr lang="en-GB" sz="2400" b="1" i="1" smtClean="0">
                            <a:latin typeface="Cambria Math" panose="02040503050406030204" pitchFamily="18" charset="0"/>
                          </a:rPr>
                          <m:t>𝟒</m:t>
                        </m:r>
                      </m:den>
                    </m:f>
                  </m:oMath>
                </a14:m>
                <a:endParaRPr lang="en-GB" sz="2400" b="1" dirty="0"/>
              </a:p>
            </p:txBody>
          </p:sp>
        </mc:Choice>
        <mc:Fallback>
          <p:sp>
            <p:nvSpPr>
              <p:cNvPr id="5" name="TextBox 4"/>
              <p:cNvSpPr txBox="1">
                <a:spLocks noRot="1" noChangeAspect="1" noMove="1" noResize="1" noEditPoints="1" noAdjustHandles="1" noChangeArrowheads="1" noChangeShapeType="1" noTextEdit="1"/>
              </p:cNvSpPr>
              <p:nvPr/>
            </p:nvSpPr>
            <p:spPr>
              <a:xfrm>
                <a:off x="3092477" y="4412190"/>
                <a:ext cx="5092300" cy="615553"/>
              </a:xfrm>
              <a:prstGeom prst="rect">
                <a:avLst/>
              </a:prstGeom>
              <a:blipFill rotWithShape="0">
                <a:blip r:embed="rId3"/>
                <a:stretch>
                  <a:fillRect l="-5981" t="-28713" b="-45545"/>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1943364" y="5576432"/>
                <a:ext cx="4371864" cy="553998"/>
              </a:xfrm>
              <a:prstGeom prst="rect">
                <a:avLst/>
              </a:prstGeom>
              <a:noFill/>
            </p:spPr>
            <p:txBody>
              <a:bodyPr wrap="square" lIns="0" tIns="0" rIns="0" bIns="0" rtlCol="0">
                <a:spAutoFit/>
              </a:bodyPr>
              <a:lstStyle/>
              <a:p>
                <a:r>
                  <a:rPr lang="en-GB" sz="3600" b="1" dirty="0" smtClean="0"/>
                  <a:t>R</a:t>
                </a:r>
                <a:r>
                  <a:rPr lang="en-GB" sz="3600" b="1" baseline="-25000" dirty="0" smtClean="0"/>
                  <a:t>total</a:t>
                </a:r>
                <a:r>
                  <a:rPr lang="en-GB" sz="2000" b="1" dirty="0" smtClean="0"/>
                  <a:t>  =</a:t>
                </a:r>
                <a14:m>
                  <m:oMath xmlns:m="http://schemas.openxmlformats.org/officeDocument/2006/math">
                    <m:f>
                      <m:fPr>
                        <m:ctrlPr>
                          <a:rPr lang="en-GB" sz="2000" b="1" i="1" smtClean="0">
                            <a:latin typeface="Cambria Math" panose="02040503050406030204" pitchFamily="18" charset="0"/>
                          </a:rPr>
                        </m:ctrlPr>
                      </m:fPr>
                      <m:num>
                        <m:r>
                          <a:rPr lang="en-GB" sz="2000" b="1" i="1" smtClean="0">
                            <a:latin typeface="Cambria Math" panose="02040503050406030204" pitchFamily="18" charset="0"/>
                          </a:rPr>
                          <m:t>𝟏</m:t>
                        </m:r>
                      </m:num>
                      <m:den>
                        <m:r>
                          <a:rPr lang="en-GB" sz="2000" b="1" i="1" smtClean="0">
                            <a:latin typeface="Cambria Math" panose="02040503050406030204" pitchFamily="18" charset="0"/>
                          </a:rPr>
                          <m:t>𝟐𝟎</m:t>
                        </m:r>
                      </m:den>
                    </m:f>
                    <m:r>
                      <a:rPr lang="en-GB" sz="2000" b="1" i="1" smtClean="0">
                        <a:latin typeface="Cambria Math" panose="02040503050406030204" pitchFamily="18" charset="0"/>
                      </a:rPr>
                      <m:t>+</m:t>
                    </m:r>
                    <m:f>
                      <m:fPr>
                        <m:ctrlPr>
                          <a:rPr lang="en-GB" sz="2000" b="1" i="1" smtClean="0">
                            <a:latin typeface="Cambria Math" panose="02040503050406030204" pitchFamily="18" charset="0"/>
                          </a:rPr>
                        </m:ctrlPr>
                      </m:fPr>
                      <m:num>
                        <m:r>
                          <a:rPr lang="en-GB" sz="2000" b="1" i="1" smtClean="0">
                            <a:latin typeface="Cambria Math" panose="02040503050406030204" pitchFamily="18" charset="0"/>
                          </a:rPr>
                          <m:t>𝟏</m:t>
                        </m:r>
                      </m:num>
                      <m:den>
                        <m:r>
                          <a:rPr lang="en-GB" sz="2000" b="1" i="1" smtClean="0">
                            <a:latin typeface="Cambria Math" panose="02040503050406030204" pitchFamily="18" charset="0"/>
                          </a:rPr>
                          <m:t>𝟐𝟎</m:t>
                        </m:r>
                      </m:den>
                    </m:f>
                    <m:r>
                      <a:rPr lang="en-GB" sz="2000" b="1" i="1" smtClean="0">
                        <a:latin typeface="Cambria Math" panose="02040503050406030204" pitchFamily="18" charset="0"/>
                      </a:rPr>
                      <m:t>+</m:t>
                    </m:r>
                    <m:f>
                      <m:fPr>
                        <m:ctrlPr>
                          <a:rPr lang="en-GB" sz="2000" b="1" i="1" smtClean="0">
                            <a:latin typeface="Cambria Math" panose="02040503050406030204" pitchFamily="18" charset="0"/>
                          </a:rPr>
                        </m:ctrlPr>
                      </m:fPr>
                      <m:num>
                        <m:r>
                          <a:rPr lang="en-GB" sz="2000" b="1" i="1" smtClean="0">
                            <a:latin typeface="Cambria Math" panose="02040503050406030204" pitchFamily="18" charset="0"/>
                          </a:rPr>
                          <m:t>𝟏</m:t>
                        </m:r>
                      </m:num>
                      <m:den>
                        <m:r>
                          <a:rPr lang="en-GB" sz="2000" b="1" i="1" smtClean="0">
                            <a:latin typeface="Cambria Math" panose="02040503050406030204" pitchFamily="18" charset="0"/>
                          </a:rPr>
                          <m:t>𝟑𝟎</m:t>
                        </m:r>
                      </m:den>
                    </m:f>
                    <m:r>
                      <a:rPr lang="en-GB" sz="2000" b="1" i="1" smtClean="0">
                        <a:latin typeface="Cambria Math" panose="02040503050406030204" pitchFamily="18" charset="0"/>
                      </a:rPr>
                      <m:t>+</m:t>
                    </m:r>
                    <m:f>
                      <m:fPr>
                        <m:ctrlPr>
                          <a:rPr lang="en-GB" sz="2000" b="1" i="1" smtClean="0">
                            <a:latin typeface="Cambria Math" panose="02040503050406030204" pitchFamily="18" charset="0"/>
                          </a:rPr>
                        </m:ctrlPr>
                      </m:fPr>
                      <m:num>
                        <m:r>
                          <a:rPr lang="en-GB" sz="2000" b="1" i="1" smtClean="0">
                            <a:latin typeface="Cambria Math" panose="02040503050406030204" pitchFamily="18" charset="0"/>
                          </a:rPr>
                          <m:t>𝟏</m:t>
                        </m:r>
                      </m:num>
                      <m:den>
                        <m:r>
                          <a:rPr lang="en-GB" sz="2000" b="1" i="1" smtClean="0">
                            <a:latin typeface="Cambria Math" panose="02040503050406030204" pitchFamily="18" charset="0"/>
                          </a:rPr>
                          <m:t>𝟒𝟎</m:t>
                        </m:r>
                      </m:den>
                    </m:f>
                    <m:r>
                      <a:rPr lang="en-GB" sz="2000" b="1" i="1" smtClean="0">
                        <a:latin typeface="Cambria Math" panose="02040503050406030204" pitchFamily="18" charset="0"/>
                      </a:rPr>
                      <m:t>=</m:t>
                    </m:r>
                    <m:r>
                      <a:rPr lang="en-GB" sz="2000" b="1" i="1" smtClean="0">
                        <a:latin typeface="Cambria Math" panose="02040503050406030204" pitchFamily="18" charset="0"/>
                      </a:rPr>
                      <m:t>𝟎</m:t>
                    </m:r>
                    <m:r>
                      <a:rPr lang="en-GB" sz="2000" b="1" i="1" smtClean="0">
                        <a:latin typeface="Cambria Math" panose="02040503050406030204" pitchFamily="18" charset="0"/>
                      </a:rPr>
                      <m:t>.</m:t>
                    </m:r>
                    <m:r>
                      <a:rPr lang="en-GB" sz="2000" b="1" i="1" smtClean="0">
                        <a:latin typeface="Cambria Math" panose="02040503050406030204" pitchFamily="18" charset="0"/>
                      </a:rPr>
                      <m:t>𝟐𝟎𝟖</m:t>
                    </m:r>
                  </m:oMath>
                </a14:m>
                <a:endParaRPr lang="en-GB" sz="2000" b="1" dirty="0"/>
              </a:p>
            </p:txBody>
          </p:sp>
        </mc:Choice>
        <mc:Fallback>
          <p:sp>
            <p:nvSpPr>
              <p:cNvPr id="13" name="TextBox 12"/>
              <p:cNvSpPr txBox="1">
                <a:spLocks noRot="1" noChangeAspect="1" noMove="1" noResize="1" noEditPoints="1" noAdjustHandles="1" noChangeArrowheads="1" noChangeShapeType="1" noTextEdit="1"/>
              </p:cNvSpPr>
              <p:nvPr/>
            </p:nvSpPr>
            <p:spPr>
              <a:xfrm>
                <a:off x="1943364" y="5576432"/>
                <a:ext cx="4371864" cy="553998"/>
              </a:xfrm>
              <a:prstGeom prst="rect">
                <a:avLst/>
              </a:prstGeom>
              <a:blipFill rotWithShape="0">
                <a:blip r:embed="rId4"/>
                <a:stretch>
                  <a:fillRect l="-6416" t="-26374" b="-47253"/>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6412271" y="5576432"/>
                <a:ext cx="4371864" cy="553998"/>
              </a:xfrm>
              <a:prstGeom prst="rect">
                <a:avLst/>
              </a:prstGeom>
              <a:noFill/>
            </p:spPr>
            <p:txBody>
              <a:bodyPr wrap="square" lIns="0" tIns="0" rIns="0" bIns="0" rtlCol="0">
                <a:spAutoFit/>
              </a:bodyPr>
              <a:lstStyle/>
              <a:p>
                <a:r>
                  <a:rPr lang="en-GB" sz="3600" b="1" dirty="0" smtClean="0"/>
                  <a:t>R</a:t>
                </a:r>
                <a:r>
                  <a:rPr lang="en-GB" sz="3600" b="1" baseline="-25000" dirty="0" smtClean="0"/>
                  <a:t>total</a:t>
                </a:r>
                <a:r>
                  <a:rPr lang="en-GB" sz="2000" b="1" dirty="0" smtClean="0"/>
                  <a:t>  =</a:t>
                </a:r>
                <a14:m>
                  <m:oMath xmlns:m="http://schemas.openxmlformats.org/officeDocument/2006/math">
                    <m:f>
                      <m:fPr>
                        <m:ctrlPr>
                          <a:rPr lang="en-GB" sz="2000" b="1" i="1" smtClean="0">
                            <a:latin typeface="Cambria Math" panose="02040503050406030204" pitchFamily="18" charset="0"/>
                          </a:rPr>
                        </m:ctrlPr>
                      </m:fPr>
                      <m:num>
                        <m:r>
                          <a:rPr lang="en-GB" sz="2000" b="1" i="1" smtClean="0">
                            <a:latin typeface="Cambria Math" panose="02040503050406030204" pitchFamily="18" charset="0"/>
                          </a:rPr>
                          <m:t>𝟏</m:t>
                        </m:r>
                      </m:num>
                      <m:den>
                        <m:r>
                          <a:rPr lang="en-GB" sz="2000" b="1" i="1" smtClean="0">
                            <a:latin typeface="Cambria Math" panose="02040503050406030204" pitchFamily="18" charset="0"/>
                          </a:rPr>
                          <m:t>𝟎</m:t>
                        </m:r>
                        <m:r>
                          <a:rPr lang="en-GB" sz="2000" b="1" i="1" smtClean="0">
                            <a:latin typeface="Cambria Math" panose="02040503050406030204" pitchFamily="18" charset="0"/>
                          </a:rPr>
                          <m:t>.</m:t>
                        </m:r>
                        <m:r>
                          <a:rPr lang="en-GB" sz="2000" b="1" i="1" smtClean="0">
                            <a:latin typeface="Cambria Math" panose="02040503050406030204" pitchFamily="18" charset="0"/>
                          </a:rPr>
                          <m:t>𝟐𝟎𝟖</m:t>
                        </m:r>
                      </m:den>
                    </m:f>
                    <m:r>
                      <a:rPr lang="en-GB" sz="2000" b="1" i="1" smtClean="0">
                        <a:latin typeface="Cambria Math" panose="02040503050406030204" pitchFamily="18" charset="0"/>
                      </a:rPr>
                      <m:t>=</m:t>
                    </m:r>
                    <m:r>
                      <a:rPr lang="en-GB" sz="2000" b="1" i="1" smtClean="0">
                        <a:latin typeface="Cambria Math" panose="02040503050406030204" pitchFamily="18" charset="0"/>
                      </a:rPr>
                      <m:t>𝟒</m:t>
                    </m:r>
                    <m:r>
                      <a:rPr lang="en-GB" sz="2000" b="1" i="1" smtClean="0">
                        <a:latin typeface="Cambria Math" panose="02040503050406030204" pitchFamily="18" charset="0"/>
                      </a:rPr>
                      <m:t>.</m:t>
                    </m:r>
                    <m:r>
                      <a:rPr lang="en-GB" sz="2000" b="1" i="1" smtClean="0">
                        <a:latin typeface="Cambria Math" panose="02040503050406030204" pitchFamily="18" charset="0"/>
                      </a:rPr>
                      <m:t>𝟖</m:t>
                    </m:r>
                    <m:r>
                      <a:rPr lang="en-GB" sz="2000" b="1" i="1" smtClean="0">
                        <a:latin typeface="Cambria Math" panose="02040503050406030204" pitchFamily="18" charset="0"/>
                      </a:rPr>
                      <m:t> </m:t>
                    </m:r>
                  </m:oMath>
                </a14:m>
                <a:r>
                  <a:rPr lang="el-GR" sz="2000" b="1" dirty="0" smtClean="0"/>
                  <a:t>Ω</a:t>
                </a:r>
                <a:endParaRPr lang="en-GB" sz="2000" b="1" dirty="0"/>
              </a:p>
            </p:txBody>
          </p:sp>
        </mc:Choice>
        <mc:Fallback>
          <p:sp>
            <p:nvSpPr>
              <p:cNvPr id="14" name="TextBox 13"/>
              <p:cNvSpPr txBox="1">
                <a:spLocks noRot="1" noChangeAspect="1" noMove="1" noResize="1" noEditPoints="1" noAdjustHandles="1" noChangeArrowheads="1" noChangeShapeType="1" noTextEdit="1"/>
              </p:cNvSpPr>
              <p:nvPr/>
            </p:nvSpPr>
            <p:spPr>
              <a:xfrm>
                <a:off x="6412271" y="5576432"/>
                <a:ext cx="4371864" cy="553998"/>
              </a:xfrm>
              <a:prstGeom prst="rect">
                <a:avLst/>
              </a:prstGeom>
              <a:blipFill rotWithShape="0">
                <a:blip r:embed="rId5"/>
                <a:stretch>
                  <a:fillRect l="-6416" t="-26374" b="-47253"/>
                </a:stretch>
              </a:blipFill>
            </p:spPr>
            <p:txBody>
              <a:bodyPr/>
              <a:lstStyle/>
              <a:p>
                <a:r>
                  <a:rPr lang="en-GB">
                    <a:noFill/>
                  </a:rPr>
                  <a:t> </a:t>
                </a:r>
              </a:p>
            </p:txBody>
          </p:sp>
        </mc:Fallback>
      </mc:AlternateContent>
    </p:spTree>
    <p:extLst>
      <p:ext uri="{BB962C8B-B14F-4D97-AF65-F5344CB8AC3E}">
        <p14:creationId xmlns:p14="http://schemas.microsoft.com/office/powerpoint/2010/main" val="334762684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278</TotalTime>
  <Words>719</Words>
  <Application>Microsoft Office PowerPoint</Application>
  <PresentationFormat>Widescreen</PresentationFormat>
  <Paragraphs>101</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Cambria Math</vt:lpstr>
      <vt:lpstr>Helvetica</vt:lpstr>
      <vt:lpstr>Office Theme</vt:lpstr>
      <vt:lpstr>Current, voltage and resistance</vt:lpstr>
      <vt:lpstr>Electrical circuits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Current, voltage and resistance</dc:title>
  <dc:creator>farhan ahmed</dc:creator>
  <cp:lastModifiedBy>farhan ahmed</cp:lastModifiedBy>
  <cp:revision>26</cp:revision>
  <dcterms:created xsi:type="dcterms:W3CDTF">2024-01-25T05:33:15Z</dcterms:created>
  <dcterms:modified xsi:type="dcterms:W3CDTF">2024-01-25T10:11:20Z</dcterms:modified>
</cp:coreProperties>
</file>