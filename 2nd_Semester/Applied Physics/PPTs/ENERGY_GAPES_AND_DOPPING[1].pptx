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59" r:id="rId3"/>
    <p:sldId id="266" r:id="rId4"/>
    <p:sldId id="267" r:id="rId5"/>
    <p:sldId id="265" r:id="rId6"/>
    <p:sldId id="260" r:id="rId7"/>
    <p:sldId id="261" r:id="rId8"/>
    <p:sldId id="257" r:id="rId9"/>
    <p:sldId id="258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5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9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3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3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4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9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4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8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9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4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DC2AEE9-B8C4-4686-B58B-4ABD83F5980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ABB6BEA-3C43-4447-8840-A232873C1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48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8400" y="566009"/>
            <a:ext cx="11077199" cy="2971051"/>
          </a:xfrm>
        </p:spPr>
        <p:txBody>
          <a:bodyPr/>
          <a:lstStyle/>
          <a:p>
            <a:r>
              <a:rPr lang="en-US" dirty="0" smtClean="0"/>
              <a:t>ENERGY GAPES AND DOPPING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 Lakshmi </a:t>
            </a:r>
            <a:r>
              <a:rPr lang="en-US" dirty="0" err="1" smtClean="0"/>
              <a:t>hablani</a:t>
            </a:r>
            <a:r>
              <a:rPr lang="en-US" dirty="0" smtClean="0"/>
              <a:t> , </a:t>
            </a:r>
            <a:r>
              <a:rPr lang="en-US" dirty="0" err="1" smtClean="0"/>
              <a:t>bhoomika</a:t>
            </a:r>
            <a:r>
              <a:rPr lang="en-US" dirty="0" smtClean="0"/>
              <a:t> </a:t>
            </a:r>
            <a:r>
              <a:rPr lang="en-US" dirty="0" err="1" smtClean="0"/>
              <a:t>Sablani</a:t>
            </a:r>
            <a:r>
              <a:rPr lang="en-US" dirty="0" smtClean="0"/>
              <a:t> , </a:t>
            </a:r>
            <a:r>
              <a:rPr lang="en-US" dirty="0" err="1" smtClean="0"/>
              <a:t>bhawana</a:t>
            </a:r>
            <a:r>
              <a:rPr lang="en-US" dirty="0" smtClean="0"/>
              <a:t> </a:t>
            </a:r>
            <a:r>
              <a:rPr lang="en-US" dirty="0" err="1" smtClean="0"/>
              <a:t>navlani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53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INTRODUCTION: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3785" y="2795349"/>
            <a:ext cx="1209821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Semiconductors are materials with electrical conductivity between conductors and insulators.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smtClean="0">
                <a:latin typeface="Arial" panose="020B0604020202020204" pitchFamily="34" charset="0"/>
              </a:rPr>
              <a:t>those substances which do not conduct electricity at low temperature but on increasing the temperature it conducts electricity.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smtClean="0">
                <a:latin typeface="Arial" panose="020B0604020202020204" pitchFamily="34" charset="0"/>
              </a:rPr>
              <a:t> at low temperature it acts as a insulator.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smtClean="0">
                <a:latin typeface="Arial" panose="020B0604020202020204" pitchFamily="34" charset="0"/>
              </a:rPr>
              <a:t>at high temperature it acts </a:t>
            </a:r>
            <a:r>
              <a:rPr lang="en-US" altLang="en-US" sz="2400" dirty="0">
                <a:latin typeface="Arial" panose="020B0604020202020204" pitchFamily="34" charset="0"/>
              </a:rPr>
              <a:t>as a </a:t>
            </a:r>
            <a:r>
              <a:rPr lang="en-US" altLang="en-US" sz="2400" dirty="0" smtClean="0">
                <a:latin typeface="Arial" panose="020B0604020202020204" pitchFamily="34" charset="0"/>
              </a:rPr>
              <a:t>conductor. </a:t>
            </a:r>
            <a:endParaRPr lang="en-US" altLang="en-US" sz="24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Ex: silicon, germanium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etc.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91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SEMICONDUCTOR: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are two types of </a:t>
            </a:r>
            <a:r>
              <a:rPr lang="en-US" sz="2400" dirty="0" smtClean="0"/>
              <a:t>semiconductor: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Intrinsic </a:t>
            </a:r>
            <a:r>
              <a:rPr lang="en-US" sz="2400" dirty="0" smtClean="0"/>
              <a:t>semiconductor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Extrinsic semiconductor.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97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INSTRINSIC SEMICONDUCTOR: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intrinsic semiconductor</a:t>
            </a:r>
            <a:r>
              <a:rPr lang="en-US" sz="2000" dirty="0"/>
              <a:t> is a </a:t>
            </a:r>
            <a:r>
              <a:rPr lang="en-US" sz="2000" b="1" dirty="0"/>
              <a:t>pure</a:t>
            </a:r>
            <a:r>
              <a:rPr lang="en-US" sz="2000" dirty="0"/>
              <a:t> semiconductor material </a:t>
            </a:r>
            <a:r>
              <a:rPr lang="en-US" sz="2000" b="1" dirty="0"/>
              <a:t>without any doping or </a:t>
            </a:r>
            <a:r>
              <a:rPr lang="en-US" sz="2000" b="1" dirty="0" smtClean="0"/>
              <a:t>impurities</a:t>
            </a:r>
            <a:r>
              <a:rPr lang="en-US" sz="2000" b="1" dirty="0" smtClean="0"/>
              <a:t>.</a:t>
            </a:r>
            <a:endParaRPr lang="en-US" sz="2000" b="1" dirty="0" smtClean="0"/>
          </a:p>
          <a:p>
            <a:r>
              <a:rPr lang="it-IT" sz="2000" dirty="0"/>
              <a:t>Examples: </a:t>
            </a:r>
            <a:r>
              <a:rPr lang="it-IT" sz="2000" b="1" dirty="0"/>
              <a:t>Pure Silicon (Si)</a:t>
            </a:r>
            <a:r>
              <a:rPr lang="it-IT" sz="2000" dirty="0"/>
              <a:t> and </a:t>
            </a:r>
            <a:r>
              <a:rPr lang="it-IT" sz="2000" b="1" dirty="0"/>
              <a:t>Pure Germanium (Ge)</a:t>
            </a:r>
            <a:r>
              <a:rPr lang="it-IT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177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Extrinsic semiconductor: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extrinsic semiconductor</a:t>
            </a:r>
            <a:r>
              <a:rPr lang="en-US" sz="2000" dirty="0"/>
              <a:t> is a </a:t>
            </a:r>
            <a:r>
              <a:rPr lang="en-US" sz="2000" b="1" dirty="0"/>
              <a:t>doped semiconductor</a:t>
            </a:r>
            <a:r>
              <a:rPr lang="en-US" sz="2000" dirty="0"/>
              <a:t>, meaning a small amount of impurity has been added to a </a:t>
            </a:r>
            <a:r>
              <a:rPr lang="en-US" sz="2000" b="1" dirty="0"/>
              <a:t>pure (intrinsic) semiconductor</a:t>
            </a:r>
            <a:r>
              <a:rPr lang="en-US" sz="2000" dirty="0"/>
              <a:t> to </a:t>
            </a:r>
            <a:r>
              <a:rPr lang="en-US" sz="2000" b="1" dirty="0"/>
              <a:t>improve its conductivity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TWO TYPES OF EXTRINSIC SEMICONDUCTOR:</a:t>
            </a:r>
          </a:p>
          <a:p>
            <a:r>
              <a:rPr lang="en-US" sz="2000" dirty="0"/>
              <a:t>N</a:t>
            </a:r>
            <a:r>
              <a:rPr lang="en-US" sz="2000" dirty="0" smtClean="0"/>
              <a:t>-TYPE SEMICONDUCTOR</a:t>
            </a:r>
          </a:p>
          <a:p>
            <a:r>
              <a:rPr lang="en-US" sz="2000" dirty="0" smtClean="0"/>
              <a:t>P-TYPE SEMICONDUCTOR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999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N-TYPE: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Extra electrons = more charge carriers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Conductivity increases due to </a:t>
            </a:r>
            <a:r>
              <a:rPr lang="en-US" sz="2400" b="1" dirty="0"/>
              <a:t>free electrons</a:t>
            </a:r>
            <a:r>
              <a:rPr lang="en-US" sz="2400" dirty="0"/>
              <a:t> in conduction band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57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P-TYPE: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8712" y="3163379"/>
            <a:ext cx="113880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"holes"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valence band.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Electrons move by jumping into holes → current flows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81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GAPES: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latin typeface="Arial" panose="020B0604020202020204" pitchFamily="34" charset="0"/>
              </a:rPr>
              <a:t>energy gap</a:t>
            </a:r>
            <a:r>
              <a:rPr lang="en-US" altLang="en-US" dirty="0">
                <a:latin typeface="Arial" panose="020B0604020202020204" pitchFamily="34" charset="0"/>
              </a:rPr>
              <a:t> (or </a:t>
            </a:r>
            <a:r>
              <a:rPr lang="en-US" altLang="en-US" b="1" dirty="0">
                <a:latin typeface="Arial" panose="020B0604020202020204" pitchFamily="34" charset="0"/>
              </a:rPr>
              <a:t>band gap</a:t>
            </a:r>
            <a:r>
              <a:rPr lang="en-US" altLang="en-US" dirty="0">
                <a:latin typeface="Arial" panose="020B0604020202020204" pitchFamily="34" charset="0"/>
              </a:rPr>
              <a:t>) is the energy difference between</a:t>
            </a:r>
            <a:r>
              <a:rPr lang="en-US" altLang="en-US" dirty="0" smtClean="0">
                <a:latin typeface="Arial" panose="020B0604020202020204" pitchFamily="34" charset="0"/>
              </a:rPr>
              <a:t>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Valence Band</a:t>
            </a:r>
            <a:r>
              <a:rPr lang="en-US" altLang="en-US" dirty="0">
                <a:latin typeface="Arial" panose="020B0604020202020204" pitchFamily="34" charset="0"/>
              </a:rPr>
              <a:t> (filled with electrons)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Conduction Band</a:t>
            </a:r>
            <a:r>
              <a:rPr lang="en-US" altLang="en-US" dirty="0">
                <a:latin typeface="Arial" panose="020B0604020202020204" pitchFamily="34" charset="0"/>
              </a:rPr>
              <a:t> (where electrons can move freely</a:t>
            </a:r>
            <a:r>
              <a:rPr lang="en-US" altLang="en-US" dirty="0" smtClean="0">
                <a:latin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Electrons must gain energy to jump this gap and conduct </a:t>
            </a:r>
            <a:r>
              <a:rPr lang="en-US" altLang="en-US" dirty="0" smtClean="0">
                <a:latin typeface="Arial" panose="020B0604020202020204" pitchFamily="34" charset="0"/>
              </a:rPr>
              <a:t>electricity</a:t>
            </a: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If the gap is </a:t>
            </a:r>
            <a:r>
              <a:rPr lang="en-US" altLang="en-US" b="1" dirty="0">
                <a:latin typeface="Arial" panose="020B0604020202020204" pitchFamily="34" charset="0"/>
              </a:rPr>
              <a:t>large</a:t>
            </a:r>
            <a:r>
              <a:rPr lang="en-US" altLang="en-US" dirty="0">
                <a:latin typeface="Arial" panose="020B0604020202020204" pitchFamily="34" charset="0"/>
              </a:rPr>
              <a:t> → the material is an </a:t>
            </a:r>
            <a:r>
              <a:rPr lang="en-US" altLang="en-US" b="1" dirty="0">
                <a:latin typeface="Arial" panose="020B0604020202020204" pitchFamily="34" charset="0"/>
              </a:rPr>
              <a:t>insulator</a:t>
            </a:r>
            <a:r>
              <a:rPr lang="en-US" altLang="en-US" dirty="0">
                <a:latin typeface="Arial" panose="020B0604020202020204" pitchFamily="34" charset="0"/>
              </a:rPr>
              <a:t> (like rubber).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If the gap is </a:t>
            </a:r>
            <a:r>
              <a:rPr lang="en-US" altLang="en-US" b="1" dirty="0">
                <a:latin typeface="Arial" panose="020B0604020202020204" pitchFamily="34" charset="0"/>
              </a:rPr>
              <a:t>small</a:t>
            </a:r>
            <a:r>
              <a:rPr lang="en-US" altLang="en-US" dirty="0">
                <a:latin typeface="Arial" panose="020B0604020202020204" pitchFamily="34" charset="0"/>
              </a:rPr>
              <a:t> → the material is a </a:t>
            </a:r>
            <a:r>
              <a:rPr lang="en-US" altLang="en-US" b="1" dirty="0">
                <a:latin typeface="Arial" panose="020B0604020202020204" pitchFamily="34" charset="0"/>
              </a:rPr>
              <a:t>semiconductor</a:t>
            </a:r>
            <a:r>
              <a:rPr lang="en-US" altLang="en-US" dirty="0">
                <a:latin typeface="Arial" panose="020B0604020202020204" pitchFamily="34" charset="0"/>
              </a:rPr>
              <a:t> (like silicon).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If there is </a:t>
            </a:r>
            <a:r>
              <a:rPr lang="en-US" altLang="en-US" b="1" dirty="0">
                <a:latin typeface="Arial" panose="020B0604020202020204" pitchFamily="34" charset="0"/>
              </a:rPr>
              <a:t>no gap</a:t>
            </a:r>
            <a:r>
              <a:rPr lang="en-US" altLang="en-US" dirty="0">
                <a:latin typeface="Arial" panose="020B0604020202020204" pitchFamily="34" charset="0"/>
              </a:rPr>
              <a:t> → the material is a </a:t>
            </a:r>
            <a:r>
              <a:rPr lang="en-US" altLang="en-US" b="1" dirty="0">
                <a:latin typeface="Arial" panose="020B0604020202020204" pitchFamily="34" charset="0"/>
              </a:rPr>
              <a:t>conductor</a:t>
            </a:r>
            <a:r>
              <a:rPr lang="en-US" altLang="en-US" dirty="0">
                <a:latin typeface="Arial" panose="020B0604020202020204" pitchFamily="34" charset="0"/>
              </a:rPr>
              <a:t> (like copper).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5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DOPING: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Doping is the process of introducing impurities into a semiconductor </a:t>
            </a:r>
            <a:r>
              <a:rPr lang="en-US" dirty="0" smtClean="0"/>
              <a:t>material.</a:t>
            </a:r>
          </a:p>
          <a:p>
            <a:pPr marL="0" indent="0">
              <a:buNone/>
            </a:pPr>
            <a:r>
              <a:rPr lang="en-US" b="1" dirty="0"/>
              <a:t>doping</a:t>
            </a:r>
            <a:r>
              <a:rPr lang="en-US" dirty="0"/>
              <a:t> is the process of adding tiny amounts of certain elements (called dopants) to a pure semiconductor material, like silicon, to change its properties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Impurities like: phosphorous and boron.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506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DO DOPING: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Increase Electrical </a:t>
            </a:r>
            <a:r>
              <a:rPr lang="en-US" b="1" dirty="0" smtClean="0"/>
              <a:t>Conductivity</a:t>
            </a:r>
          </a:p>
          <a:p>
            <a:r>
              <a:rPr lang="en-US" dirty="0"/>
              <a:t>To Control the Type of Charge </a:t>
            </a:r>
            <a:r>
              <a:rPr lang="en-US" dirty="0" smtClean="0"/>
              <a:t>Carrier.</a:t>
            </a:r>
          </a:p>
          <a:p>
            <a:r>
              <a:rPr lang="en-US" b="1" dirty="0"/>
              <a:t>To Build Semiconductor </a:t>
            </a:r>
            <a:r>
              <a:rPr lang="en-US" b="1" dirty="0" smtClean="0"/>
              <a:t>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5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Energy gaps</a:t>
            </a:r>
            <a:r>
              <a:rPr lang="en-US" dirty="0"/>
              <a:t> are fundamental to understanding how materials conduct electricity.</a:t>
            </a:r>
          </a:p>
          <a:p>
            <a:r>
              <a:rPr lang="en-US" dirty="0"/>
              <a:t>They determine whether a material is a </a:t>
            </a:r>
            <a:r>
              <a:rPr lang="en-US" b="1" dirty="0"/>
              <a:t>conductor</a:t>
            </a:r>
            <a:r>
              <a:rPr lang="en-US" dirty="0"/>
              <a:t>, </a:t>
            </a:r>
            <a:r>
              <a:rPr lang="en-US" b="1" dirty="0"/>
              <a:t>semiconductor</a:t>
            </a:r>
            <a:r>
              <a:rPr lang="en-US" dirty="0"/>
              <a:t>, or </a:t>
            </a:r>
            <a:r>
              <a:rPr lang="en-US" b="1" dirty="0"/>
              <a:t>insulator</a:t>
            </a:r>
            <a:r>
              <a:rPr lang="en-US" dirty="0"/>
              <a:t>.</a:t>
            </a:r>
          </a:p>
          <a:p>
            <a:r>
              <a:rPr lang="en-US" dirty="0"/>
              <a:t>The size of the energy gap influences how easily electrons can move and generate current.</a:t>
            </a:r>
          </a:p>
          <a:p>
            <a:r>
              <a:rPr lang="en-US" b="1" dirty="0"/>
              <a:t>Doping</a:t>
            </a:r>
            <a:r>
              <a:rPr lang="en-US" dirty="0"/>
              <a:t> is the key technique that makes semiconductors </a:t>
            </a:r>
            <a:r>
              <a:rPr lang="en-US" b="1" dirty="0"/>
              <a:t>useful in electronics</a:t>
            </a:r>
            <a:r>
              <a:rPr lang="en-US" dirty="0"/>
              <a:t>.</a:t>
            </a:r>
          </a:p>
          <a:p>
            <a:r>
              <a:rPr lang="en-US" dirty="0"/>
              <a:t>By adding specific impurities, we can create </a:t>
            </a:r>
            <a:r>
              <a:rPr lang="en-US" b="1" dirty="0"/>
              <a:t>n-type</a:t>
            </a:r>
            <a:r>
              <a:rPr lang="en-US" dirty="0"/>
              <a:t> or </a:t>
            </a:r>
            <a:r>
              <a:rPr lang="en-US" b="1" dirty="0"/>
              <a:t>p-type</a:t>
            </a:r>
            <a:r>
              <a:rPr lang="en-US" dirty="0"/>
              <a:t> materials.</a:t>
            </a:r>
          </a:p>
          <a:p>
            <a:r>
              <a:rPr lang="en-US" dirty="0"/>
              <a:t>Doping enables the creation of critical components like </a:t>
            </a:r>
            <a:r>
              <a:rPr lang="en-US" b="1" dirty="0"/>
              <a:t>diodes, transistors, and integrated circuits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68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130" y="3191325"/>
            <a:ext cx="77525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/>
              <a:t>    </a:t>
            </a:r>
            <a:r>
              <a:rPr lang="en-US" sz="4800" b="1" dirty="0" smtClean="0"/>
              <a:t>Thanks for listening!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7184737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176</TotalTime>
  <Words>456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2</vt:lpstr>
      <vt:lpstr>Quotable</vt:lpstr>
      <vt:lpstr>ENERGY GAPES AND DOPPING</vt:lpstr>
      <vt:lpstr>INTRODUCTION: </vt:lpstr>
      <vt:lpstr>TYPES OF SEMICONDUCTOR:</vt:lpstr>
      <vt:lpstr>INSTRINSIC SEMICONDUCTOR:</vt:lpstr>
      <vt:lpstr>Extrinsic semiconductor:</vt:lpstr>
      <vt:lpstr>N-TYPE:</vt:lpstr>
      <vt:lpstr>P-TYPE:</vt:lpstr>
      <vt:lpstr>ENERGY GAPES:</vt:lpstr>
      <vt:lpstr> DOPING:</vt:lpstr>
      <vt:lpstr>WHY WE DO DOPING: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GAPES AND DOPPING</dc:title>
  <dc:creator>DELL</dc:creator>
  <cp:lastModifiedBy>SUNAINA</cp:lastModifiedBy>
  <cp:revision>19</cp:revision>
  <dcterms:created xsi:type="dcterms:W3CDTF">2025-04-21T05:05:39Z</dcterms:created>
  <dcterms:modified xsi:type="dcterms:W3CDTF">2025-04-21T08:36:45Z</dcterms:modified>
</cp:coreProperties>
</file>