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3" d="100"/>
          <a:sy n="103" d="100"/>
        </p:scale>
        <p:origin x="8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Torque on a Current Loop in Magnetic Field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Presented by: </a:t>
            </a:r>
            <a:r>
              <a:rPr dirty="0" err="1" smtClean="0">
                <a:solidFill>
                  <a:schemeClr val="tx2">
                    <a:lumMod val="75000"/>
                  </a:schemeClr>
                </a:solidFill>
              </a:rPr>
              <a:t>Sun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</a:rPr>
              <a:t>ai</a:t>
            </a:r>
            <a:r>
              <a:rPr dirty="0" err="1" smtClean="0">
                <a:solidFill>
                  <a:schemeClr val="tx2">
                    <a:lumMod val="75000"/>
                  </a:schemeClr>
                </a:solidFill>
              </a:rPr>
              <a:t>na</a:t>
            </a:r>
            <a:r>
              <a:rPr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dirty="0" err="1" smtClean="0">
                <a:solidFill>
                  <a:schemeClr val="tx2">
                    <a:lumMod val="75000"/>
                  </a:schemeClr>
                </a:solidFill>
              </a:rPr>
              <a:t>Mot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</a:rPr>
              <a:t>w</a:t>
            </a:r>
            <a:r>
              <a:rPr dirty="0" err="1" smtClean="0">
                <a:solidFill>
                  <a:schemeClr val="tx2">
                    <a:lumMod val="75000"/>
                  </a:schemeClr>
                </a:solidFill>
              </a:rPr>
              <a:t>ani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dirty="0" err="1">
                <a:solidFill>
                  <a:schemeClr val="tx2">
                    <a:lumMod val="75000"/>
                  </a:schemeClr>
                </a:solidFill>
              </a:rPr>
              <a:t>Jotika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75000"/>
                  </a:schemeClr>
                </a:solidFill>
              </a:rPr>
              <a:t>Hablani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dirty="0" err="1" smtClean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</a:rPr>
              <a:t>e</a:t>
            </a:r>
            <a:r>
              <a:rPr dirty="0" err="1" smtClean="0">
                <a:solidFill>
                  <a:schemeClr val="tx2">
                    <a:lumMod val="75000"/>
                  </a:schemeClr>
                </a:solidFill>
              </a:rPr>
              <a:t>ncy</a:t>
            </a:r>
            <a:r>
              <a:rPr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75000"/>
                  </a:schemeClr>
                </a:solidFill>
              </a:rPr>
              <a:t>Sonzai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✅ What is Torque?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dirty="0"/>
              <a:t>Torque is the force that causes rotation. Like opening a door </a:t>
            </a:r>
            <a:r>
              <a:rPr lang="en-US" dirty="0" smtClean="0"/>
              <a:t>.</a:t>
            </a:r>
          </a:p>
          <a:p>
            <a:pPr marL="0" indent="0">
              <a:buNone/>
              <a:defRPr sz="2000" b="1">
                <a:solidFill>
                  <a:srgbClr val="003366"/>
                </a:solidFill>
                <a:latin typeface="Calibri"/>
              </a:defRPr>
            </a:pPr>
            <a:endParaRPr lang="en-US" dirty="0"/>
          </a:p>
          <a:p>
            <a:pPr marL="0" indent="0">
              <a:buNone/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dirty="0"/>
              <a:t/>
            </a:r>
            <a:br>
              <a:rPr dirty="0"/>
            </a:br>
            <a:endParaRPr lang="en-US" dirty="0" smtClean="0"/>
          </a:p>
          <a:p>
            <a:pPr marL="0" indent="0">
              <a:buNone/>
              <a:defRPr sz="2000" b="1">
                <a:solidFill>
                  <a:srgbClr val="003366"/>
                </a:solidFill>
                <a:latin typeface="Calibri"/>
              </a:defRPr>
            </a:pPr>
            <a:endParaRPr lang="en-US" dirty="0"/>
          </a:p>
          <a:p>
            <a:pPr marL="0" indent="0">
              <a:buNone/>
              <a:defRPr sz="2000" b="1">
                <a:solidFill>
                  <a:srgbClr val="003366"/>
                </a:solidFill>
                <a:latin typeface="Calibri"/>
              </a:defRPr>
            </a:pPr>
            <a:endParaRPr lang="en-US" dirty="0" smtClean="0"/>
          </a:p>
          <a:p>
            <a:pPr marL="0" indent="0">
              <a:buNone/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dirty="0"/>
              <a:t/>
            </a:r>
            <a:br>
              <a:rPr dirty="0"/>
            </a:br>
            <a:r>
              <a:rPr dirty="0"/>
              <a:t>Right-Hand Rule:</a:t>
            </a:r>
            <a:br>
              <a:rPr dirty="0"/>
            </a:br>
            <a:r>
              <a:rPr dirty="0"/>
              <a:t>- </a:t>
            </a:r>
            <a:r>
              <a:rPr lang="en-US" dirty="0"/>
              <a:t>In torque on a current loop, the right-hand rule helps you find</a:t>
            </a:r>
            <a:r>
              <a:rPr lang="en-US" dirty="0" smtClean="0"/>
              <a:t>:</a:t>
            </a:r>
          </a:p>
          <a:p>
            <a:pPr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lang="en-US" dirty="0"/>
              <a:t>-</a:t>
            </a:r>
            <a:r>
              <a:rPr lang="en-US" dirty="0" smtClean="0"/>
              <a:t>Which </a:t>
            </a:r>
            <a:r>
              <a:rPr lang="en-US" dirty="0"/>
              <a:t>way the loop will </a:t>
            </a:r>
            <a:r>
              <a:rPr lang="en-US" dirty="0" smtClean="0"/>
              <a:t>rotate.</a:t>
            </a:r>
          </a:p>
          <a:p>
            <a:pPr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lang="en-US" dirty="0"/>
              <a:t>-</a:t>
            </a:r>
            <a:r>
              <a:rPr lang="en-US" dirty="0" smtClean="0"/>
              <a:t>Direction </a:t>
            </a:r>
            <a:r>
              <a:rPr lang="en-US" dirty="0"/>
              <a:t>of torque </a:t>
            </a:r>
            <a:r>
              <a:rPr lang="en-US" dirty="0" smtClean="0"/>
              <a:t>vector</a:t>
            </a:r>
          </a:p>
          <a:p>
            <a:pPr marL="0" indent="0">
              <a:buNone/>
              <a:defRPr sz="2000" b="1">
                <a:solidFill>
                  <a:srgbClr val="003366"/>
                </a:solidFill>
                <a:latin typeface="Calibri"/>
              </a:defRPr>
            </a:pPr>
            <a:endParaRPr dirty="0"/>
          </a:p>
          <a:p>
            <a:pPr>
              <a:defRPr sz="1800">
                <a:solidFill>
                  <a:srgbClr val="004C99"/>
                </a:solidFill>
                <a:latin typeface="Calibri"/>
              </a:defRPr>
            </a:pPr>
            <a:r>
              <a:rPr dirty="0"/>
              <a:t>Formula: τ = F × r</a:t>
            </a:r>
          </a:p>
          <a:p>
            <a:pPr>
              <a:defRPr sz="1800">
                <a:solidFill>
                  <a:srgbClr val="004C99"/>
                </a:solidFill>
                <a:latin typeface="Calibri"/>
              </a:defRPr>
            </a:pPr>
            <a:r>
              <a:rPr dirty="0"/>
              <a:t>τ = Torque</a:t>
            </a:r>
          </a:p>
          <a:p>
            <a:pPr>
              <a:defRPr sz="1800">
                <a:solidFill>
                  <a:srgbClr val="004C99"/>
                </a:solidFill>
                <a:latin typeface="Calibri"/>
              </a:defRPr>
            </a:pPr>
            <a:r>
              <a:rPr dirty="0"/>
              <a:t>F = Force</a:t>
            </a:r>
          </a:p>
          <a:p>
            <a:pPr>
              <a:defRPr sz="1800">
                <a:solidFill>
                  <a:srgbClr val="004C99"/>
                </a:solidFill>
                <a:latin typeface="Calibri"/>
              </a:defRPr>
            </a:pPr>
            <a:r>
              <a:rPr dirty="0"/>
              <a:t>r = Perpendicular distance</a:t>
            </a:r>
          </a:p>
          <a:p>
            <a:pPr>
              <a:defRPr sz="1800">
                <a:solidFill>
                  <a:srgbClr val="004C99"/>
                </a:solidFill>
                <a:latin typeface="Calibri"/>
              </a:defRPr>
            </a:pPr>
            <a:r>
              <a:rPr dirty="0"/>
              <a:t>Unit: Newton-meter (Nm)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181" y="5189078"/>
            <a:ext cx="2648308" cy="14026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010426"/>
            <a:ext cx="2644876" cy="1153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🔁 What is a Current Loop?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03366"/>
                </a:solidFill>
                <a:latin typeface="Calibri"/>
              </a:defRPr>
            </a:pPr>
            <a:r>
              <a:t>A wire shaped in a loop with electric current. It behaves like a tiny magnet.</a:t>
            </a:r>
          </a:p>
          <a:p>
            <a:pPr>
              <a:defRPr sz="1800">
                <a:solidFill>
                  <a:srgbClr val="004C99"/>
                </a:solidFill>
                <a:latin typeface="Calibri"/>
              </a:defRPr>
            </a:pPr>
            <a:r>
              <a:t>Easy line: A circle of wire where electricity flows and creates a magnetic effect.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What </a:t>
            </a:r>
            <a:r>
              <a:rPr dirty="0"/>
              <a:t>is Magnetic Field?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dirty="0"/>
              <a:t>An </a:t>
            </a:r>
            <a:r>
              <a:rPr dirty="0" smtClean="0"/>
              <a:t>area</a:t>
            </a:r>
            <a:r>
              <a:rPr lang="en-US" dirty="0" smtClean="0"/>
              <a:t> around a magnet</a:t>
            </a:r>
            <a:r>
              <a:rPr dirty="0" smtClean="0"/>
              <a:t> </a:t>
            </a:r>
            <a:r>
              <a:rPr dirty="0"/>
              <a:t>where magnetic </a:t>
            </a:r>
            <a:r>
              <a:rPr dirty="0" smtClean="0"/>
              <a:t>forces</a:t>
            </a:r>
            <a:r>
              <a:rPr lang="en-US" dirty="0"/>
              <a:t> </a:t>
            </a:r>
            <a:r>
              <a:rPr lang="en-US" dirty="0" smtClean="0"/>
              <a:t>can b felt</a:t>
            </a:r>
            <a:r>
              <a:rPr dirty="0" smtClean="0"/>
              <a:t>. </a:t>
            </a:r>
            <a:endParaRPr lang="en-US" dirty="0" smtClean="0"/>
          </a:p>
          <a:p>
            <a:pPr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dirty="0" smtClean="0"/>
              <a:t>The </a:t>
            </a:r>
            <a:r>
              <a:rPr dirty="0"/>
              <a:t>invisible area where magnets can pull or push things</a:t>
            </a:r>
            <a:r>
              <a:rPr dirty="0" smtClean="0"/>
              <a:t>.</a:t>
            </a:r>
            <a:endParaRPr lang="en-US" dirty="0"/>
          </a:p>
          <a:p>
            <a:pPr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lang="en-US" dirty="0" smtClean="0"/>
              <a:t>If a current-carrying wire is placed in a </a:t>
            </a:r>
            <a:r>
              <a:rPr lang="en-US" dirty="0"/>
              <a:t>m</a:t>
            </a:r>
            <a:r>
              <a:rPr lang="en-US" dirty="0" smtClean="0"/>
              <a:t>agnetic field, it experiences a force. </a:t>
            </a:r>
          </a:p>
          <a:p>
            <a:pPr>
              <a:defRPr sz="2000" b="1">
                <a:solidFill>
                  <a:srgbClr val="003366"/>
                </a:solidFill>
                <a:latin typeface="Calibri"/>
              </a:defRPr>
            </a:pPr>
            <a:endParaRPr lang="en-US" dirty="0"/>
          </a:p>
          <a:p>
            <a:pPr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Now the Main Part: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What Happens When You Put a Current Loop in a Magnetic Field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?</a:t>
            </a:r>
          </a:p>
          <a:p>
            <a:pPr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/>
              <a:t>When the </a:t>
            </a:r>
            <a:r>
              <a:rPr lang="en-US" dirty="0" smtClean="0"/>
              <a:t>loop </a:t>
            </a:r>
            <a:r>
              <a:rPr lang="en-US" dirty="0"/>
              <a:t>is placed in a magnetic field, each side of the loop feels a </a:t>
            </a:r>
            <a:r>
              <a:rPr lang="en-US" dirty="0" smtClean="0"/>
              <a:t>“magnetic force”. </a:t>
            </a:r>
            <a:r>
              <a:rPr lang="en-US" dirty="0"/>
              <a:t>These forces </a:t>
            </a:r>
            <a:r>
              <a:rPr lang="en-US" dirty="0" smtClean="0"/>
              <a:t>do </a:t>
            </a:r>
            <a:r>
              <a:rPr lang="en-US" dirty="0"/>
              <a:t>not cancel </a:t>
            </a:r>
            <a:r>
              <a:rPr lang="en-US" dirty="0" smtClean="0"/>
              <a:t>out— </a:t>
            </a:r>
            <a:r>
              <a:rPr lang="en-US" dirty="0"/>
              <a:t>instead, they create a </a:t>
            </a:r>
            <a:r>
              <a:rPr lang="en-US" u="sng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TORQUE</a:t>
            </a:r>
            <a:r>
              <a:rPr lang="en-US" dirty="0" smtClean="0"/>
              <a:t>. </a:t>
            </a:r>
            <a:r>
              <a:rPr lang="en-US" dirty="0"/>
              <a:t>This torque *tries to rotate the loop*.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Direction </a:t>
            </a:r>
            <a:r>
              <a:rPr dirty="0"/>
              <a:t>&amp; Maximum Torque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>
                <a:solidFill>
                  <a:srgbClr val="003366"/>
                </a:solidFill>
                <a:latin typeface="Calibri"/>
              </a:defRPr>
            </a:pPr>
            <a:endParaRPr lang="en-US" dirty="0" smtClean="0"/>
          </a:p>
          <a:p>
            <a:pPr marL="0" indent="0">
              <a:buNone/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dirty="0"/>
              <a:t/>
            </a:r>
            <a:br>
              <a:rPr dirty="0"/>
            </a:br>
            <a:r>
              <a:rPr lang="en-US" dirty="0"/>
              <a:t>Maximum Torque: When angle = 90° , because sin(90°) = </a:t>
            </a:r>
            <a:r>
              <a:rPr lang="en-US" dirty="0" smtClean="0"/>
              <a:t>1.</a:t>
            </a:r>
            <a:endParaRPr lang="en-US" dirty="0"/>
          </a:p>
          <a:p>
            <a:pPr marL="0" indent="0">
              <a:buNone/>
              <a:defRPr sz="2000" b="1">
                <a:solidFill>
                  <a:srgbClr val="003366"/>
                </a:solidFill>
                <a:latin typeface="Calibri"/>
              </a:defRPr>
            </a:pPr>
            <a:endParaRPr lang="en-US" dirty="0"/>
          </a:p>
          <a:p>
            <a:pPr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lang="en-US" dirty="0" smtClean="0"/>
              <a:t>Minimum Torque: When angle </a:t>
            </a:r>
            <a:r>
              <a:rPr lang="en-US" dirty="0"/>
              <a:t>=  0° or 180°, because sin(0° or 180°) = </a:t>
            </a:r>
            <a:r>
              <a:rPr lang="en-US" dirty="0" smtClean="0"/>
              <a:t>0.</a:t>
            </a:r>
          </a:p>
          <a:p>
            <a:pPr>
              <a:defRPr sz="1800">
                <a:solidFill>
                  <a:srgbClr val="004C99"/>
                </a:solidFill>
                <a:latin typeface="Calibri"/>
              </a:defRPr>
            </a:pPr>
            <a:r>
              <a:rPr sz="2000" dirty="0" smtClean="0">
                <a:solidFill>
                  <a:schemeClr val="tx2">
                    <a:lumMod val="75000"/>
                  </a:schemeClr>
                </a:solidFill>
              </a:rPr>
              <a:t>Torque </a:t>
            </a:r>
            <a:r>
              <a:rPr sz="2000" dirty="0">
                <a:solidFill>
                  <a:schemeClr val="tx2">
                    <a:lumMod val="75000"/>
                  </a:schemeClr>
                </a:solidFill>
              </a:rPr>
              <a:t>is strongest when the loop is perpendicular to the magnetic field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🔄 Torque on a Current Loop in Magnetic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03366"/>
                </a:solidFill>
                <a:latin typeface="Calibri"/>
              </a:defRPr>
            </a:pPr>
            <a:r>
              <a:t>Magnetic field pushes on the current loop, making it rotate. This rotation is called torque.</a:t>
            </a:r>
          </a:p>
          <a:p>
            <a:pPr>
              <a:defRPr sz="1800">
                <a:solidFill>
                  <a:srgbClr val="004C99"/>
                </a:solidFill>
                <a:latin typeface="Calibri"/>
              </a:defRPr>
            </a:pPr>
            <a:r>
              <a:t>Easy line: Magnetic field makes the loop spin like a motor!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2476">
              <a:srgbClr val="CEDCED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mtClean="0"/>
              <a:t>🧮 Formula </a:t>
            </a:r>
            <a:r>
              <a:rPr dirty="0"/>
              <a:t>for Torque on Current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03366"/>
                </a:solidFill>
                <a:latin typeface="Calibri"/>
              </a:defRPr>
            </a:pPr>
            <a:r>
              <a:t>Formula: τ = IAB sinθ</a:t>
            </a:r>
          </a:p>
          <a:p>
            <a:pPr>
              <a:defRPr sz="1800">
                <a:solidFill>
                  <a:srgbClr val="004C99"/>
                </a:solidFill>
                <a:latin typeface="Calibri"/>
              </a:defRPr>
            </a:pPr>
            <a:r>
              <a:t>I = Current (Amps)</a:t>
            </a:r>
          </a:p>
          <a:p>
            <a:pPr>
              <a:defRPr sz="1800">
                <a:solidFill>
                  <a:srgbClr val="004C99"/>
                </a:solidFill>
                <a:latin typeface="Calibri"/>
              </a:defRPr>
            </a:pPr>
            <a:r>
              <a:t>A = Area of loop (m²)</a:t>
            </a:r>
          </a:p>
          <a:p>
            <a:pPr>
              <a:defRPr sz="1800">
                <a:solidFill>
                  <a:srgbClr val="004C99"/>
                </a:solidFill>
                <a:latin typeface="Calibri"/>
              </a:defRPr>
            </a:pPr>
            <a:r>
              <a:t>B = Magnetic Field (Tesla)</a:t>
            </a:r>
          </a:p>
          <a:p>
            <a:pPr>
              <a:defRPr sz="1800">
                <a:solidFill>
                  <a:srgbClr val="004C99"/>
                </a:solidFill>
                <a:latin typeface="Calibri"/>
              </a:defRPr>
            </a:pPr>
            <a:r>
              <a:t>θ = Angle between loop and magnetic field</a:t>
            </a:r>
          </a:p>
          <a:p>
            <a:pPr>
              <a:defRPr sz="1800">
                <a:solidFill>
                  <a:srgbClr val="004C99"/>
                </a:solidFill>
                <a:latin typeface="Calibri"/>
              </a:defRPr>
            </a:pPr>
            <a:r>
              <a:t>Easy line: More current, bigger loop, or stronger field = more spin!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293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Torque on a Current Loop in Magnetic Field</vt:lpstr>
      <vt:lpstr>✅ What is Torque?</vt:lpstr>
      <vt:lpstr>🔁 What is a Current Loop?</vt:lpstr>
      <vt:lpstr>What is Magnetic Field?</vt:lpstr>
      <vt:lpstr>Direction &amp; Maximum Torque</vt:lpstr>
      <vt:lpstr>🔄 Torque on a Current Loop in Magnetic Field</vt:lpstr>
      <vt:lpstr>🧮 Formula for Torque on Current Loop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Torque on a Current Loop in Magnetic Field</dc:title>
  <dc:subject/>
  <dc:creator>STUDENT</dc:creator>
  <cp:keywords/>
  <dc:description>generated using python-pptx</dc:description>
  <cp:lastModifiedBy>SUNAINA</cp:lastModifiedBy>
  <cp:revision>6</cp:revision>
  <dcterms:created xsi:type="dcterms:W3CDTF">2013-01-27T09:14:16Z</dcterms:created>
  <dcterms:modified xsi:type="dcterms:W3CDTF">2025-04-21T05:45:24Z</dcterms:modified>
  <cp:category/>
</cp:coreProperties>
</file>