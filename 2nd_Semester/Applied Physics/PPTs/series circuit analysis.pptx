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96" r:id="rId4"/>
    <p:sldId id="268" r:id="rId5"/>
    <p:sldId id="262" r:id="rId6"/>
    <p:sldId id="300" r:id="rId7"/>
    <p:sldId id="299" r:id="rId8"/>
    <p:sldId id="298" r:id="rId9"/>
    <p:sldId id="301" r:id="rId10"/>
    <p:sldId id="302" r:id="rId11"/>
    <p:sldId id="263" r:id="rId12"/>
    <p:sldId id="303" r:id="rId13"/>
    <p:sldId id="304" r:id="rId14"/>
    <p:sldId id="305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9695483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sp>
        <p:nvSpPr>
          <p:cNvPr id="3" name="Rectangle 2"/>
          <p:cNvSpPr/>
          <p:nvPr/>
        </p:nvSpPr>
        <p:spPr>
          <a:xfrm>
            <a:off x="2555776" y="2708920"/>
            <a:ext cx="4058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 smtClean="0"/>
              <a:t>Series  Circuit Analysis </a:t>
            </a:r>
            <a:endParaRPr lang="en-GB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sp>
        <p:nvSpPr>
          <p:cNvPr id="3" name="TextBox 2"/>
          <p:cNvSpPr txBox="1"/>
          <p:nvPr/>
        </p:nvSpPr>
        <p:spPr>
          <a:xfrm>
            <a:off x="251520" y="1749450"/>
            <a:ext cx="5563895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There are three form of Ohm’s Law :</a:t>
            </a:r>
          </a:p>
          <a:p>
            <a:endParaRPr lang="en-GB" sz="2800" b="1" dirty="0"/>
          </a:p>
          <a:p>
            <a:endParaRPr lang="en-GB" sz="2800" b="1" dirty="0" smtClean="0"/>
          </a:p>
          <a:p>
            <a:endParaRPr lang="en-GB" sz="2800" b="1" dirty="0"/>
          </a:p>
          <a:p>
            <a:endParaRPr lang="en-GB" sz="2800" b="1" dirty="0" smtClean="0"/>
          </a:p>
          <a:p>
            <a:endParaRPr lang="en-GB" sz="2800" b="1" dirty="0"/>
          </a:p>
          <a:p>
            <a:endParaRPr lang="en-GB" sz="2800" b="1" dirty="0" smtClean="0"/>
          </a:p>
          <a:p>
            <a:r>
              <a:rPr lang="en-GB" sz="2800" b="1" dirty="0" smtClean="0"/>
              <a:t>Where : </a:t>
            </a:r>
          </a:p>
          <a:p>
            <a:r>
              <a:rPr lang="en-GB" sz="2800" b="1" dirty="0" smtClean="0"/>
              <a:t>I = Current </a:t>
            </a:r>
          </a:p>
          <a:p>
            <a:r>
              <a:rPr lang="en-GB" sz="2800" b="1" dirty="0" smtClean="0"/>
              <a:t>V= Voltage </a:t>
            </a:r>
          </a:p>
          <a:p>
            <a:r>
              <a:rPr lang="en-GB" sz="2800" b="1" dirty="0" smtClean="0"/>
              <a:t>R= Resistance 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476672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/>
              <a:t>Ohm’s Law Formula </a:t>
            </a:r>
            <a:endParaRPr lang="en-GB" sz="3600" b="1" dirty="0"/>
          </a:p>
        </p:txBody>
      </p:sp>
      <p:pic>
        <p:nvPicPr>
          <p:cNvPr id="1026" name="Picture 2" descr="A Simple Explanation Of Ohm's Law - Sam Vs. S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492896"/>
            <a:ext cx="4928821" cy="247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l="48037" t="31698" r="7077" b="26529"/>
          <a:stretch/>
        </p:blipFill>
        <p:spPr>
          <a:xfrm>
            <a:off x="1195929" y="3573016"/>
            <a:ext cx="4248472" cy="3055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9659" y="551723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I= V/R</a:t>
            </a:r>
            <a:endParaRPr lang="en-GB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372200" y="1886073"/>
            <a:ext cx="19442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12/3 =  4</a:t>
            </a:r>
          </a:p>
          <a:p>
            <a:r>
              <a:rPr lang="en-GB" sz="2400" b="1" dirty="0" smtClean="0"/>
              <a:t> </a:t>
            </a:r>
          </a:p>
          <a:p>
            <a:r>
              <a:rPr lang="en-GB" sz="2400" b="1" dirty="0" smtClean="0"/>
              <a:t>10/3=   3.3 A</a:t>
            </a:r>
            <a:endParaRPr lang="en-GB" sz="2400" b="1" dirty="0"/>
          </a:p>
          <a:p>
            <a:endParaRPr lang="en-GB" sz="2400" b="1" dirty="0" smtClean="0"/>
          </a:p>
          <a:p>
            <a:r>
              <a:rPr lang="en-GB" sz="2400" b="1" dirty="0" smtClean="0"/>
              <a:t>8/3=    2.6 A</a:t>
            </a:r>
          </a:p>
          <a:p>
            <a:endParaRPr lang="en-GB" sz="2400" b="1" dirty="0"/>
          </a:p>
          <a:p>
            <a:r>
              <a:rPr lang="en-GB" sz="2400" b="1" dirty="0" smtClean="0"/>
              <a:t>6/3=    2 A</a:t>
            </a:r>
          </a:p>
          <a:p>
            <a:endParaRPr lang="en-GB" sz="2400" b="1" dirty="0"/>
          </a:p>
          <a:p>
            <a:r>
              <a:rPr lang="en-GB" sz="2400" b="1" dirty="0" smtClean="0"/>
              <a:t>4/3=    1.33 A</a:t>
            </a:r>
          </a:p>
          <a:p>
            <a:endParaRPr lang="en-GB" sz="2400" b="1" dirty="0"/>
          </a:p>
          <a:p>
            <a:r>
              <a:rPr lang="en-GB" sz="2400" b="1" dirty="0" smtClean="0"/>
              <a:t>2/3=    0.6 A</a:t>
            </a:r>
            <a:endParaRPr lang="en-GB" sz="2400" b="1" dirty="0"/>
          </a:p>
          <a:p>
            <a:endParaRPr lang="en-GB" sz="2400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980728"/>
            <a:ext cx="4832841" cy="227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l="66151" t="39735" r="7862" b="27661"/>
          <a:stretch/>
        </p:blipFill>
        <p:spPr>
          <a:xfrm>
            <a:off x="971600" y="1124744"/>
            <a:ext cx="5400600" cy="5236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907704" y="1628800"/>
            <a:ext cx="4256088" cy="2001837"/>
            <a:chOff x="930" y="1243"/>
            <a:chExt cx="2681" cy="1261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930" y="1243"/>
              <a:ext cx="2681" cy="1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87" y="2017"/>
              <a:ext cx="3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</a:t>
              </a:r>
              <a:r>
                <a:rPr kumimoji="0" lang="en-US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= ?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014" y="2175"/>
              <a:ext cx="25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077" y="2239"/>
              <a:ext cx="12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014" y="2303"/>
              <a:ext cx="25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077" y="2366"/>
              <a:ext cx="12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140" y="2366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1140" y="2080"/>
              <a:ext cx="0" cy="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423" y="1264"/>
              <a:ext cx="263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412" y="1572"/>
              <a:ext cx="33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700" b="1" dirty="0" smtClean="0">
                  <a:solidFill>
                    <a:srgbClr val="000000"/>
                  </a:solidFill>
                </a:rPr>
                <a:t>2.0</a:t>
              </a:r>
              <a:r>
                <a:rPr kumimoji="0" lang="en-US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l-GR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Ω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2370" y="1455"/>
              <a:ext cx="284" cy="95"/>
            </a:xfrm>
            <a:custGeom>
              <a:avLst/>
              <a:gdLst>
                <a:gd name="T0" fmla="*/ 0 w 284"/>
                <a:gd name="T1" fmla="*/ 53 h 95"/>
                <a:gd name="T2" fmla="*/ 32 w 284"/>
                <a:gd name="T3" fmla="*/ 0 h 95"/>
                <a:gd name="T4" fmla="*/ 74 w 284"/>
                <a:gd name="T5" fmla="*/ 95 h 95"/>
                <a:gd name="T6" fmla="*/ 126 w 284"/>
                <a:gd name="T7" fmla="*/ 0 h 95"/>
                <a:gd name="T8" fmla="*/ 169 w 284"/>
                <a:gd name="T9" fmla="*/ 95 h 95"/>
                <a:gd name="T10" fmla="*/ 221 w 284"/>
                <a:gd name="T11" fmla="*/ 0 h 95"/>
                <a:gd name="T12" fmla="*/ 263 w 284"/>
                <a:gd name="T13" fmla="*/ 95 h 95"/>
                <a:gd name="T14" fmla="*/ 284 w 284"/>
                <a:gd name="T15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4" h="95">
                  <a:moveTo>
                    <a:pt x="0" y="53"/>
                  </a:moveTo>
                  <a:lnTo>
                    <a:pt x="32" y="0"/>
                  </a:lnTo>
                  <a:lnTo>
                    <a:pt x="74" y="95"/>
                  </a:lnTo>
                  <a:lnTo>
                    <a:pt x="126" y="0"/>
                  </a:lnTo>
                  <a:lnTo>
                    <a:pt x="169" y="95"/>
                  </a:lnTo>
                  <a:lnTo>
                    <a:pt x="221" y="0"/>
                  </a:lnTo>
                  <a:lnTo>
                    <a:pt x="263" y="95"/>
                  </a:lnTo>
                  <a:lnTo>
                    <a:pt x="284" y="5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654" y="1508"/>
              <a:ext cx="9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2276" y="1508"/>
              <a:ext cx="9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140" y="1508"/>
              <a:ext cx="1136" cy="572"/>
            </a:xfrm>
            <a:custGeom>
              <a:avLst/>
              <a:gdLst>
                <a:gd name="T0" fmla="*/ 1136 w 1136"/>
                <a:gd name="T1" fmla="*/ 0 h 572"/>
                <a:gd name="T2" fmla="*/ 0 w 1136"/>
                <a:gd name="T3" fmla="*/ 0 h 572"/>
                <a:gd name="T4" fmla="*/ 0 w 1136"/>
                <a:gd name="T5" fmla="*/ 572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6" h="572">
                  <a:moveTo>
                    <a:pt x="1136" y="0"/>
                  </a:moveTo>
                  <a:lnTo>
                    <a:pt x="0" y="0"/>
                  </a:lnTo>
                  <a:lnTo>
                    <a:pt x="0" y="572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140" y="1508"/>
              <a:ext cx="2460" cy="954"/>
            </a:xfrm>
            <a:custGeom>
              <a:avLst/>
              <a:gdLst>
                <a:gd name="T0" fmla="*/ 1609 w 2460"/>
                <a:gd name="T1" fmla="*/ 0 h 954"/>
                <a:gd name="T2" fmla="*/ 2460 w 2460"/>
                <a:gd name="T3" fmla="*/ 0 h 954"/>
                <a:gd name="T4" fmla="*/ 2460 w 2460"/>
                <a:gd name="T5" fmla="*/ 954 h 954"/>
                <a:gd name="T6" fmla="*/ 0 w 2460"/>
                <a:gd name="T7" fmla="*/ 954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0" h="954">
                  <a:moveTo>
                    <a:pt x="1609" y="0"/>
                  </a:moveTo>
                  <a:lnTo>
                    <a:pt x="2460" y="0"/>
                  </a:lnTo>
                  <a:lnTo>
                    <a:pt x="2460" y="954"/>
                  </a:lnTo>
                  <a:lnTo>
                    <a:pt x="0" y="954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46995" y="1119946"/>
            <a:ext cx="8158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Calculate the voltage if the current is 0.5 A and the resistance is 2.0  Ohms. 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258071" y="4437087"/>
            <a:ext cx="35222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I = 0.5</a:t>
            </a:r>
          </a:p>
          <a:p>
            <a:r>
              <a:rPr lang="en-GB" sz="2400" b="1" dirty="0" smtClean="0"/>
              <a:t>R= </a:t>
            </a:r>
            <a:r>
              <a:rPr lang="en-GB" sz="2400" b="1" dirty="0" smtClean="0"/>
              <a:t>2.0 </a:t>
            </a:r>
            <a:r>
              <a:rPr lang="en-GB" sz="2400" b="1" dirty="0" smtClean="0"/>
              <a:t>ohms </a:t>
            </a:r>
          </a:p>
          <a:p>
            <a:r>
              <a:rPr lang="en-GB" sz="2400" b="1" dirty="0" smtClean="0"/>
              <a:t>V=       I*R  </a:t>
            </a:r>
            <a:r>
              <a:rPr lang="en-GB" sz="2400" b="1" dirty="0" smtClean="0"/>
              <a:t>0.5*2.0 </a:t>
            </a:r>
            <a:r>
              <a:rPr lang="en-GB" sz="2400" b="1" dirty="0" smtClean="0"/>
              <a:t>= </a:t>
            </a:r>
            <a:r>
              <a:rPr lang="en-GB" sz="2400" b="1" dirty="0" smtClean="0"/>
              <a:t>1 Volt</a:t>
            </a:r>
            <a:endParaRPr lang="en-GB" sz="2400" b="1" dirty="0"/>
          </a:p>
        </p:txBody>
      </p:sp>
      <p:pic>
        <p:nvPicPr>
          <p:cNvPr id="23" name="Picture 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441" y="5637416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3131840" y="376624"/>
            <a:ext cx="714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Problem  1 </a:t>
            </a:r>
            <a:endParaRPr lang="en-GB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9525" t="23387" r="28738" b="34593"/>
          <a:stretch/>
        </p:blipFill>
        <p:spPr>
          <a:xfrm>
            <a:off x="1403648" y="1916832"/>
            <a:ext cx="6737547" cy="38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5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907704" y="1628800"/>
            <a:ext cx="4256088" cy="2001837"/>
            <a:chOff x="930" y="1243"/>
            <a:chExt cx="2681" cy="1261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930" y="1243"/>
              <a:ext cx="2681" cy="1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87" y="2017"/>
              <a:ext cx="51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</a:t>
              </a:r>
              <a:r>
                <a:rPr kumimoji="0" lang="en-US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= 1.2 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014" y="2175"/>
              <a:ext cx="25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077" y="2239"/>
              <a:ext cx="12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014" y="2303"/>
              <a:ext cx="25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077" y="2366"/>
              <a:ext cx="12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140" y="2366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1140" y="2080"/>
              <a:ext cx="0" cy="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423" y="1264"/>
              <a:ext cx="263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412" y="1572"/>
              <a:ext cx="33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700" b="1" dirty="0" smtClean="0">
                  <a:solidFill>
                    <a:srgbClr val="000000"/>
                  </a:solidFill>
                </a:rPr>
                <a:t>0.6</a:t>
              </a:r>
              <a:r>
                <a:rPr kumimoji="0" lang="en-US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l-GR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Ω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2370" y="1455"/>
              <a:ext cx="284" cy="95"/>
            </a:xfrm>
            <a:custGeom>
              <a:avLst/>
              <a:gdLst>
                <a:gd name="T0" fmla="*/ 0 w 284"/>
                <a:gd name="T1" fmla="*/ 53 h 95"/>
                <a:gd name="T2" fmla="*/ 32 w 284"/>
                <a:gd name="T3" fmla="*/ 0 h 95"/>
                <a:gd name="T4" fmla="*/ 74 w 284"/>
                <a:gd name="T5" fmla="*/ 95 h 95"/>
                <a:gd name="T6" fmla="*/ 126 w 284"/>
                <a:gd name="T7" fmla="*/ 0 h 95"/>
                <a:gd name="T8" fmla="*/ 169 w 284"/>
                <a:gd name="T9" fmla="*/ 95 h 95"/>
                <a:gd name="T10" fmla="*/ 221 w 284"/>
                <a:gd name="T11" fmla="*/ 0 h 95"/>
                <a:gd name="T12" fmla="*/ 263 w 284"/>
                <a:gd name="T13" fmla="*/ 95 h 95"/>
                <a:gd name="T14" fmla="*/ 284 w 284"/>
                <a:gd name="T15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4" h="95">
                  <a:moveTo>
                    <a:pt x="0" y="53"/>
                  </a:moveTo>
                  <a:lnTo>
                    <a:pt x="32" y="0"/>
                  </a:lnTo>
                  <a:lnTo>
                    <a:pt x="74" y="95"/>
                  </a:lnTo>
                  <a:lnTo>
                    <a:pt x="126" y="0"/>
                  </a:lnTo>
                  <a:lnTo>
                    <a:pt x="169" y="95"/>
                  </a:lnTo>
                  <a:lnTo>
                    <a:pt x="221" y="0"/>
                  </a:lnTo>
                  <a:lnTo>
                    <a:pt x="263" y="95"/>
                  </a:lnTo>
                  <a:lnTo>
                    <a:pt x="284" y="5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654" y="1508"/>
              <a:ext cx="9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2276" y="1508"/>
              <a:ext cx="9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140" y="1508"/>
              <a:ext cx="1136" cy="572"/>
            </a:xfrm>
            <a:custGeom>
              <a:avLst/>
              <a:gdLst>
                <a:gd name="T0" fmla="*/ 1136 w 1136"/>
                <a:gd name="T1" fmla="*/ 0 h 572"/>
                <a:gd name="T2" fmla="*/ 0 w 1136"/>
                <a:gd name="T3" fmla="*/ 0 h 572"/>
                <a:gd name="T4" fmla="*/ 0 w 1136"/>
                <a:gd name="T5" fmla="*/ 572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6" h="572">
                  <a:moveTo>
                    <a:pt x="1136" y="0"/>
                  </a:moveTo>
                  <a:lnTo>
                    <a:pt x="0" y="0"/>
                  </a:lnTo>
                  <a:lnTo>
                    <a:pt x="0" y="572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140" y="1508"/>
              <a:ext cx="2460" cy="954"/>
            </a:xfrm>
            <a:custGeom>
              <a:avLst/>
              <a:gdLst>
                <a:gd name="T0" fmla="*/ 1609 w 2460"/>
                <a:gd name="T1" fmla="*/ 0 h 954"/>
                <a:gd name="T2" fmla="*/ 2460 w 2460"/>
                <a:gd name="T3" fmla="*/ 0 h 954"/>
                <a:gd name="T4" fmla="*/ 2460 w 2460"/>
                <a:gd name="T5" fmla="*/ 954 h 954"/>
                <a:gd name="T6" fmla="*/ 0 w 2460"/>
                <a:gd name="T7" fmla="*/ 954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0" h="954">
                  <a:moveTo>
                    <a:pt x="1609" y="0"/>
                  </a:moveTo>
                  <a:lnTo>
                    <a:pt x="2460" y="0"/>
                  </a:lnTo>
                  <a:lnTo>
                    <a:pt x="2460" y="954"/>
                  </a:lnTo>
                  <a:lnTo>
                    <a:pt x="0" y="954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02007" y="1093752"/>
            <a:ext cx="7284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Calculate the Current   if the voltage is 1.2 V and resistance is 0.6 </a:t>
            </a:r>
            <a:r>
              <a:rPr lang="el-GR" sz="2000" b="1" dirty="0" smtClean="0"/>
              <a:t>Ω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258070" y="4437087"/>
            <a:ext cx="4330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V= 1.2 </a:t>
            </a:r>
          </a:p>
          <a:p>
            <a:r>
              <a:rPr lang="en-GB" sz="2400" b="1" dirty="0" smtClean="0"/>
              <a:t>R= 0.6 ohms </a:t>
            </a:r>
          </a:p>
          <a:p>
            <a:r>
              <a:rPr lang="en-GB" sz="2400" b="1" dirty="0" smtClean="0"/>
              <a:t>I </a:t>
            </a:r>
            <a:r>
              <a:rPr lang="en-GB" sz="2400" b="1" dirty="0"/>
              <a:t>=  </a:t>
            </a:r>
            <a:r>
              <a:rPr lang="en-GB" sz="2400" b="1" dirty="0" smtClean="0"/>
              <a:t>  1.2/0.6 =  2 A</a:t>
            </a:r>
            <a:endParaRPr lang="en-GB" sz="2400" b="1" dirty="0"/>
          </a:p>
          <a:p>
            <a:endParaRPr lang="en-GB" sz="2400" b="1" dirty="0"/>
          </a:p>
        </p:txBody>
      </p:sp>
      <p:pic>
        <p:nvPicPr>
          <p:cNvPr id="23" name="Picture 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441" y="5637416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3131840" y="376624"/>
            <a:ext cx="714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Problem  2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412775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7563" t="23812" r="30700" b="28566"/>
          <a:stretch/>
        </p:blipFill>
        <p:spPr>
          <a:xfrm>
            <a:off x="1835696" y="1988840"/>
            <a:ext cx="5400600" cy="346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2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412946" y="2300241"/>
            <a:ext cx="4454526" cy="2624137"/>
            <a:chOff x="794" y="1264"/>
            <a:chExt cx="2806" cy="1653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794" y="1656"/>
              <a:ext cx="2681" cy="1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87" y="2017"/>
              <a:ext cx="36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</a:t>
              </a:r>
              <a:r>
                <a:rPr kumimoji="0" lang="en-US" altLang="en-US" sz="1700" b="1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2.2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014" y="2175"/>
              <a:ext cx="25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077" y="2239"/>
              <a:ext cx="12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014" y="2303"/>
              <a:ext cx="25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077" y="2366"/>
              <a:ext cx="12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140" y="2366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1140" y="2080"/>
              <a:ext cx="0" cy="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423" y="1264"/>
              <a:ext cx="263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412" y="1572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?</a:t>
              </a: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2370" y="1455"/>
              <a:ext cx="284" cy="95"/>
            </a:xfrm>
            <a:custGeom>
              <a:avLst/>
              <a:gdLst>
                <a:gd name="T0" fmla="*/ 0 w 284"/>
                <a:gd name="T1" fmla="*/ 53 h 95"/>
                <a:gd name="T2" fmla="*/ 32 w 284"/>
                <a:gd name="T3" fmla="*/ 0 h 95"/>
                <a:gd name="T4" fmla="*/ 74 w 284"/>
                <a:gd name="T5" fmla="*/ 95 h 95"/>
                <a:gd name="T6" fmla="*/ 126 w 284"/>
                <a:gd name="T7" fmla="*/ 0 h 95"/>
                <a:gd name="T8" fmla="*/ 169 w 284"/>
                <a:gd name="T9" fmla="*/ 95 h 95"/>
                <a:gd name="T10" fmla="*/ 221 w 284"/>
                <a:gd name="T11" fmla="*/ 0 h 95"/>
                <a:gd name="T12" fmla="*/ 263 w 284"/>
                <a:gd name="T13" fmla="*/ 95 h 95"/>
                <a:gd name="T14" fmla="*/ 284 w 284"/>
                <a:gd name="T15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4" h="95">
                  <a:moveTo>
                    <a:pt x="0" y="53"/>
                  </a:moveTo>
                  <a:lnTo>
                    <a:pt x="32" y="0"/>
                  </a:lnTo>
                  <a:lnTo>
                    <a:pt x="74" y="95"/>
                  </a:lnTo>
                  <a:lnTo>
                    <a:pt x="126" y="0"/>
                  </a:lnTo>
                  <a:lnTo>
                    <a:pt x="169" y="95"/>
                  </a:lnTo>
                  <a:lnTo>
                    <a:pt x="221" y="0"/>
                  </a:lnTo>
                  <a:lnTo>
                    <a:pt x="263" y="95"/>
                  </a:lnTo>
                  <a:lnTo>
                    <a:pt x="284" y="5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654" y="1508"/>
              <a:ext cx="9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2276" y="1508"/>
              <a:ext cx="9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140" y="1508"/>
              <a:ext cx="1136" cy="572"/>
            </a:xfrm>
            <a:custGeom>
              <a:avLst/>
              <a:gdLst>
                <a:gd name="T0" fmla="*/ 1136 w 1136"/>
                <a:gd name="T1" fmla="*/ 0 h 572"/>
                <a:gd name="T2" fmla="*/ 0 w 1136"/>
                <a:gd name="T3" fmla="*/ 0 h 572"/>
                <a:gd name="T4" fmla="*/ 0 w 1136"/>
                <a:gd name="T5" fmla="*/ 572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6" h="572">
                  <a:moveTo>
                    <a:pt x="1136" y="0"/>
                  </a:moveTo>
                  <a:lnTo>
                    <a:pt x="0" y="0"/>
                  </a:lnTo>
                  <a:lnTo>
                    <a:pt x="0" y="572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140" y="1508"/>
              <a:ext cx="2460" cy="954"/>
            </a:xfrm>
            <a:custGeom>
              <a:avLst/>
              <a:gdLst>
                <a:gd name="T0" fmla="*/ 1609 w 2460"/>
                <a:gd name="T1" fmla="*/ 0 h 954"/>
                <a:gd name="T2" fmla="*/ 2460 w 2460"/>
                <a:gd name="T3" fmla="*/ 0 h 954"/>
                <a:gd name="T4" fmla="*/ 2460 w 2460"/>
                <a:gd name="T5" fmla="*/ 954 h 954"/>
                <a:gd name="T6" fmla="*/ 0 w 2460"/>
                <a:gd name="T7" fmla="*/ 954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0" h="954">
                  <a:moveTo>
                    <a:pt x="1609" y="0"/>
                  </a:moveTo>
                  <a:lnTo>
                    <a:pt x="2460" y="0"/>
                  </a:lnTo>
                  <a:lnTo>
                    <a:pt x="2460" y="954"/>
                  </a:lnTo>
                  <a:lnTo>
                    <a:pt x="0" y="954"/>
                  </a:lnTo>
                </a:path>
              </a:pathLst>
            </a:custGeom>
            <a:noFill/>
            <a:ln w="158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42034" y="1591332"/>
            <a:ext cx="7731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Calculate the resistance  if the current is 1.1. and the voltage is 2.2 volt. 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246238" y="5043512"/>
            <a:ext cx="278794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V=   2.2  </a:t>
            </a:r>
          </a:p>
          <a:p>
            <a:r>
              <a:rPr lang="en-GB" sz="2400" b="1" dirty="0" smtClean="0"/>
              <a:t>I = 1.1    </a:t>
            </a:r>
          </a:p>
          <a:p>
            <a:r>
              <a:rPr lang="en-GB" sz="2400" b="1" dirty="0" smtClean="0"/>
              <a:t>R</a:t>
            </a:r>
            <a:r>
              <a:rPr lang="en-GB" sz="2400" b="1" dirty="0"/>
              <a:t>=  </a:t>
            </a:r>
            <a:r>
              <a:rPr lang="en-GB" sz="2400" b="1" dirty="0" smtClean="0"/>
              <a:t>2.2/1.1 = 2 ohms</a:t>
            </a:r>
          </a:p>
          <a:p>
            <a:r>
              <a:rPr lang="en-GB" sz="2400" b="1" dirty="0" smtClean="0"/>
              <a:t> </a:t>
            </a:r>
            <a:endParaRPr lang="en-GB" sz="2400" b="1" dirty="0"/>
          </a:p>
          <a:p>
            <a:endParaRPr lang="en-GB" sz="2400" b="1" dirty="0"/>
          </a:p>
        </p:txBody>
      </p:sp>
      <p:pic>
        <p:nvPicPr>
          <p:cNvPr id="23" name="Picture 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441" y="5776685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3131840" y="376624"/>
            <a:ext cx="714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Problem 3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1116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5038" t="23387" r="38188" b="35994"/>
          <a:stretch/>
        </p:blipFill>
        <p:spPr>
          <a:xfrm>
            <a:off x="2195736" y="1196752"/>
            <a:ext cx="5040560" cy="429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9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3" name="Picture 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5373216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84068" y="23488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7 </a:t>
            </a:r>
            <a:r>
              <a:rPr lang="el-GR" sz="2400" b="1" dirty="0" smtClean="0"/>
              <a:t>Ω</a:t>
            </a:r>
            <a:endParaRPr lang="en-GB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148064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5 </a:t>
            </a:r>
            <a:r>
              <a:rPr lang="el-GR" sz="2400" b="1" dirty="0" smtClean="0"/>
              <a:t>Ω</a:t>
            </a:r>
            <a:endParaRPr lang="en-GB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148064" y="3140968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4 </a:t>
            </a:r>
            <a:r>
              <a:rPr lang="el-GR" sz="2400" b="1" dirty="0" smtClean="0"/>
              <a:t>Ω</a:t>
            </a:r>
            <a:endParaRPr lang="en-GB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148064" y="3573016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6 </a:t>
            </a:r>
            <a:r>
              <a:rPr lang="el-GR" sz="2400" b="1" dirty="0" smtClean="0"/>
              <a:t>Ω</a:t>
            </a:r>
            <a:endParaRPr lang="en-GB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55576" y="1586141"/>
            <a:ext cx="714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Solve for the resistance , R when V and I are given </a:t>
            </a:r>
            <a:endParaRPr lang="en-GB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43608" y="2322418"/>
            <a:ext cx="7140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V= 14V ,  I= 2A   R= ? </a:t>
            </a:r>
          </a:p>
          <a:p>
            <a:r>
              <a:rPr lang="en-GB" sz="2400" b="1" dirty="0"/>
              <a:t>V= </a:t>
            </a:r>
            <a:r>
              <a:rPr lang="en-GB" sz="2400" b="1" dirty="0" smtClean="0"/>
              <a:t>25V </a:t>
            </a:r>
            <a:r>
              <a:rPr lang="en-GB" sz="2400" b="1" dirty="0"/>
              <a:t>,  I= </a:t>
            </a:r>
            <a:r>
              <a:rPr lang="en-GB" sz="2400" b="1" dirty="0" smtClean="0"/>
              <a:t>5A   </a:t>
            </a:r>
            <a:r>
              <a:rPr lang="en-GB" sz="2400" b="1" dirty="0"/>
              <a:t>R= ? </a:t>
            </a:r>
          </a:p>
          <a:p>
            <a:r>
              <a:rPr lang="en-GB" sz="2400" b="1" dirty="0"/>
              <a:t>V= 6</a:t>
            </a:r>
            <a:r>
              <a:rPr lang="en-GB" sz="2400" b="1" dirty="0" smtClean="0"/>
              <a:t>V </a:t>
            </a:r>
            <a:r>
              <a:rPr lang="en-GB" sz="2400" b="1" dirty="0"/>
              <a:t>,  I= </a:t>
            </a:r>
            <a:r>
              <a:rPr lang="en-GB" sz="2400" b="1" dirty="0" smtClean="0"/>
              <a:t>1.5A   </a:t>
            </a:r>
            <a:r>
              <a:rPr lang="en-GB" sz="2400" b="1" dirty="0"/>
              <a:t>R= ? </a:t>
            </a:r>
          </a:p>
          <a:p>
            <a:r>
              <a:rPr lang="en-GB" sz="2400" b="1" dirty="0"/>
              <a:t>V= </a:t>
            </a:r>
            <a:r>
              <a:rPr lang="en-GB" sz="2400" b="1" dirty="0" smtClean="0"/>
              <a:t>24V </a:t>
            </a:r>
            <a:r>
              <a:rPr lang="en-GB" sz="2400" b="1" dirty="0"/>
              <a:t>,  I= </a:t>
            </a:r>
            <a:r>
              <a:rPr lang="en-GB" sz="2400" b="1" dirty="0" smtClean="0"/>
              <a:t>4A   </a:t>
            </a:r>
            <a:r>
              <a:rPr lang="en-GB" sz="2400" b="1" dirty="0"/>
              <a:t>R= ? </a:t>
            </a:r>
          </a:p>
          <a:p>
            <a:endParaRPr lang="en-GB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131840" y="376624"/>
            <a:ext cx="714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Problem  4 </a:t>
            </a:r>
            <a:endParaRPr lang="en-GB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983267" y="1874629"/>
            <a:ext cx="6253162" cy="3863976"/>
            <a:chOff x="755" y="942"/>
            <a:chExt cx="3939" cy="243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793" y="942"/>
              <a:ext cx="3901" cy="2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176" y="2483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755" y="2453"/>
              <a:ext cx="29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b="1" dirty="0" smtClean="0">
                  <a:solidFill>
                    <a:srgbClr val="000000"/>
                  </a:solidFill>
                </a:rPr>
                <a:t>12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883" y="2653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951" y="2721"/>
              <a:ext cx="1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883" y="2789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951" y="2857"/>
              <a:ext cx="1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019" y="2857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1019" y="2551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800" y="965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2789" y="1293"/>
              <a:ext cx="3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 </a:t>
              </a:r>
              <a:r>
                <a:rPr lang="el-GR" b="1" dirty="0" smtClean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2744" y="1169"/>
              <a:ext cx="304" cy="102"/>
            </a:xfrm>
            <a:custGeom>
              <a:avLst/>
              <a:gdLst>
                <a:gd name="T0" fmla="*/ 0 w 304"/>
                <a:gd name="T1" fmla="*/ 56 h 102"/>
                <a:gd name="T2" fmla="*/ 33 w 304"/>
                <a:gd name="T3" fmla="*/ 0 h 102"/>
                <a:gd name="T4" fmla="*/ 79 w 304"/>
                <a:gd name="T5" fmla="*/ 102 h 102"/>
                <a:gd name="T6" fmla="*/ 135 w 304"/>
                <a:gd name="T7" fmla="*/ 0 h 102"/>
                <a:gd name="T8" fmla="*/ 180 w 304"/>
                <a:gd name="T9" fmla="*/ 102 h 102"/>
                <a:gd name="T10" fmla="*/ 236 w 304"/>
                <a:gd name="T11" fmla="*/ 0 h 102"/>
                <a:gd name="T12" fmla="*/ 281 w 304"/>
                <a:gd name="T13" fmla="*/ 102 h 102"/>
                <a:gd name="T14" fmla="*/ 304 w 304"/>
                <a:gd name="T15" fmla="*/ 5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4" h="102">
                  <a:moveTo>
                    <a:pt x="0" y="56"/>
                  </a:moveTo>
                  <a:lnTo>
                    <a:pt x="33" y="0"/>
                  </a:lnTo>
                  <a:lnTo>
                    <a:pt x="79" y="102"/>
                  </a:lnTo>
                  <a:lnTo>
                    <a:pt x="135" y="0"/>
                  </a:lnTo>
                  <a:lnTo>
                    <a:pt x="180" y="102"/>
                  </a:lnTo>
                  <a:lnTo>
                    <a:pt x="236" y="0"/>
                  </a:lnTo>
                  <a:lnTo>
                    <a:pt x="281" y="102"/>
                  </a:lnTo>
                  <a:lnTo>
                    <a:pt x="304" y="5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048" y="1225"/>
              <a:ext cx="1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642" y="1225"/>
              <a:ext cx="1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4435" y="1406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R2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4435" y="1588"/>
              <a:ext cx="23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 </a:t>
              </a:r>
              <a:r>
                <a:rPr lang="el-GR" b="1" dirty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4311" y="1531"/>
              <a:ext cx="101" cy="306"/>
            </a:xfrm>
            <a:custGeom>
              <a:avLst/>
              <a:gdLst>
                <a:gd name="T0" fmla="*/ 56 w 101"/>
                <a:gd name="T1" fmla="*/ 306 h 306"/>
                <a:gd name="T2" fmla="*/ 0 w 101"/>
                <a:gd name="T3" fmla="*/ 272 h 306"/>
                <a:gd name="T4" fmla="*/ 101 w 101"/>
                <a:gd name="T5" fmla="*/ 227 h 306"/>
                <a:gd name="T6" fmla="*/ 0 w 101"/>
                <a:gd name="T7" fmla="*/ 170 h 306"/>
                <a:gd name="T8" fmla="*/ 101 w 101"/>
                <a:gd name="T9" fmla="*/ 125 h 306"/>
                <a:gd name="T10" fmla="*/ 0 w 101"/>
                <a:gd name="T11" fmla="*/ 68 h 306"/>
                <a:gd name="T12" fmla="*/ 101 w 101"/>
                <a:gd name="T13" fmla="*/ 23 h 306"/>
                <a:gd name="T14" fmla="*/ 56 w 101"/>
                <a:gd name="T15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306">
                  <a:moveTo>
                    <a:pt x="56" y="306"/>
                  </a:moveTo>
                  <a:lnTo>
                    <a:pt x="0" y="272"/>
                  </a:lnTo>
                  <a:lnTo>
                    <a:pt x="101" y="227"/>
                  </a:lnTo>
                  <a:lnTo>
                    <a:pt x="0" y="170"/>
                  </a:lnTo>
                  <a:lnTo>
                    <a:pt x="101" y="125"/>
                  </a:lnTo>
                  <a:lnTo>
                    <a:pt x="0" y="68"/>
                  </a:lnTo>
                  <a:lnTo>
                    <a:pt x="101" y="23"/>
                  </a:lnTo>
                  <a:lnTo>
                    <a:pt x="5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4367" y="1429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367" y="1837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800" y="2698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R3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789" y="3027"/>
              <a:ext cx="23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 </a:t>
              </a:r>
              <a:r>
                <a:rPr lang="el-GR" b="1" dirty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2744" y="2902"/>
              <a:ext cx="304" cy="102"/>
            </a:xfrm>
            <a:custGeom>
              <a:avLst/>
              <a:gdLst>
                <a:gd name="T0" fmla="*/ 0 w 304"/>
                <a:gd name="T1" fmla="*/ 57 h 102"/>
                <a:gd name="T2" fmla="*/ 33 w 304"/>
                <a:gd name="T3" fmla="*/ 0 h 102"/>
                <a:gd name="T4" fmla="*/ 79 w 304"/>
                <a:gd name="T5" fmla="*/ 102 h 102"/>
                <a:gd name="T6" fmla="*/ 135 w 304"/>
                <a:gd name="T7" fmla="*/ 0 h 102"/>
                <a:gd name="T8" fmla="*/ 180 w 304"/>
                <a:gd name="T9" fmla="*/ 102 h 102"/>
                <a:gd name="T10" fmla="*/ 236 w 304"/>
                <a:gd name="T11" fmla="*/ 0 h 102"/>
                <a:gd name="T12" fmla="*/ 281 w 304"/>
                <a:gd name="T13" fmla="*/ 102 h 102"/>
                <a:gd name="T14" fmla="*/ 304 w 304"/>
                <a:gd name="T15" fmla="*/ 5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4" h="102">
                  <a:moveTo>
                    <a:pt x="0" y="57"/>
                  </a:moveTo>
                  <a:lnTo>
                    <a:pt x="33" y="0"/>
                  </a:lnTo>
                  <a:lnTo>
                    <a:pt x="79" y="102"/>
                  </a:lnTo>
                  <a:lnTo>
                    <a:pt x="135" y="0"/>
                  </a:lnTo>
                  <a:lnTo>
                    <a:pt x="180" y="102"/>
                  </a:lnTo>
                  <a:lnTo>
                    <a:pt x="236" y="0"/>
                  </a:lnTo>
                  <a:lnTo>
                    <a:pt x="281" y="102"/>
                  </a:lnTo>
                  <a:lnTo>
                    <a:pt x="304" y="5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3048" y="2959"/>
              <a:ext cx="1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2642" y="2959"/>
              <a:ext cx="1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1019" y="1225"/>
              <a:ext cx="1623" cy="1326"/>
            </a:xfrm>
            <a:custGeom>
              <a:avLst/>
              <a:gdLst>
                <a:gd name="T0" fmla="*/ 1623 w 1623"/>
                <a:gd name="T1" fmla="*/ 0 h 1326"/>
                <a:gd name="T2" fmla="*/ 0 w 1623"/>
                <a:gd name="T3" fmla="*/ 0 h 1326"/>
                <a:gd name="T4" fmla="*/ 0 w 1623"/>
                <a:gd name="T5" fmla="*/ 1326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326">
                  <a:moveTo>
                    <a:pt x="1623" y="0"/>
                  </a:moveTo>
                  <a:lnTo>
                    <a:pt x="0" y="0"/>
                  </a:lnTo>
                  <a:lnTo>
                    <a:pt x="0" y="132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3149" y="1225"/>
              <a:ext cx="1218" cy="204"/>
            </a:xfrm>
            <a:custGeom>
              <a:avLst/>
              <a:gdLst>
                <a:gd name="T0" fmla="*/ 0 w 1218"/>
                <a:gd name="T1" fmla="*/ 0 h 204"/>
                <a:gd name="T2" fmla="*/ 1218 w 1218"/>
                <a:gd name="T3" fmla="*/ 0 h 204"/>
                <a:gd name="T4" fmla="*/ 1218 w 1218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204">
                  <a:moveTo>
                    <a:pt x="0" y="0"/>
                  </a:moveTo>
                  <a:lnTo>
                    <a:pt x="1218" y="0"/>
                  </a:lnTo>
                  <a:lnTo>
                    <a:pt x="1218" y="204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3149" y="1939"/>
              <a:ext cx="1218" cy="1020"/>
            </a:xfrm>
            <a:custGeom>
              <a:avLst/>
              <a:gdLst>
                <a:gd name="T0" fmla="*/ 1218 w 1218"/>
                <a:gd name="T1" fmla="*/ 0 h 1020"/>
                <a:gd name="T2" fmla="*/ 1218 w 1218"/>
                <a:gd name="T3" fmla="*/ 1020 h 1020"/>
                <a:gd name="T4" fmla="*/ 0 w 1218"/>
                <a:gd name="T5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1020">
                  <a:moveTo>
                    <a:pt x="1218" y="0"/>
                  </a:moveTo>
                  <a:lnTo>
                    <a:pt x="1218" y="1020"/>
                  </a:lnTo>
                  <a:lnTo>
                    <a:pt x="0" y="102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1019" y="2959"/>
              <a:ext cx="162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33" name="Picture 3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228" y="5733256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633783" y="1094480"/>
            <a:ext cx="7191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Find the Total Voltage as V</a:t>
            </a:r>
            <a:r>
              <a:rPr lang="en-GB" sz="2800" b="1" baseline="-25000" dirty="0" smtClean="0"/>
              <a:t>T</a:t>
            </a:r>
            <a:r>
              <a:rPr lang="en-GB" sz="2800" b="1" dirty="0" smtClean="0"/>
              <a:t> and Total Current I</a:t>
            </a:r>
            <a:r>
              <a:rPr lang="en-GB" sz="2800" b="1" baseline="-25000" dirty="0" smtClean="0"/>
              <a:t>T</a:t>
            </a:r>
            <a:endParaRPr lang="en-GB" sz="2800" b="1" baseline="-25000" dirty="0"/>
          </a:p>
        </p:txBody>
      </p:sp>
      <p:sp>
        <p:nvSpPr>
          <p:cNvPr id="35" name="TextBox 34"/>
          <p:cNvSpPr txBox="1"/>
          <p:nvPr/>
        </p:nvSpPr>
        <p:spPr>
          <a:xfrm>
            <a:off x="582871" y="5451436"/>
            <a:ext cx="36468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Total voltage = 12 V </a:t>
            </a:r>
          </a:p>
          <a:p>
            <a:r>
              <a:rPr lang="en-GB" sz="2000" b="1" dirty="0" smtClean="0"/>
              <a:t>Total Resistance=  9 </a:t>
            </a:r>
            <a:r>
              <a:rPr lang="el-GR" sz="2000" b="1" dirty="0" smtClean="0"/>
              <a:t>Ω</a:t>
            </a:r>
            <a:r>
              <a:rPr lang="en-GB" sz="2000" b="1" dirty="0" smtClean="0"/>
              <a:t> </a:t>
            </a:r>
          </a:p>
          <a:p>
            <a:r>
              <a:rPr lang="en-GB" sz="2000" b="1" dirty="0" smtClean="0"/>
              <a:t>Total Current  = V/I  12/9 =  1.3 A</a:t>
            </a:r>
            <a:endParaRPr lang="en-GB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3131840" y="376624"/>
            <a:ext cx="714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Problem 5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42754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1563624" y="1869280"/>
            <a:ext cx="6502399" cy="3863976"/>
            <a:chOff x="598" y="942"/>
            <a:chExt cx="4096" cy="243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793" y="942"/>
              <a:ext cx="3901" cy="2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176" y="2483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98" y="2386"/>
              <a:ext cx="42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b="1" dirty="0" smtClean="0">
                  <a:solidFill>
                    <a:srgbClr val="000000"/>
                  </a:solidFill>
                </a:rPr>
                <a:t>120 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883" y="2653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951" y="2721"/>
              <a:ext cx="1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883" y="2789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951" y="2857"/>
              <a:ext cx="1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019" y="2857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1019" y="2551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800" y="965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2789" y="1293"/>
              <a:ext cx="3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 smtClean="0">
                  <a:solidFill>
                    <a:srgbClr val="000000"/>
                  </a:solidFill>
                </a:rPr>
                <a:t>15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l-GR" b="1" dirty="0" smtClean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2744" y="1169"/>
              <a:ext cx="304" cy="102"/>
            </a:xfrm>
            <a:custGeom>
              <a:avLst/>
              <a:gdLst>
                <a:gd name="T0" fmla="*/ 0 w 304"/>
                <a:gd name="T1" fmla="*/ 56 h 102"/>
                <a:gd name="T2" fmla="*/ 33 w 304"/>
                <a:gd name="T3" fmla="*/ 0 h 102"/>
                <a:gd name="T4" fmla="*/ 79 w 304"/>
                <a:gd name="T5" fmla="*/ 102 h 102"/>
                <a:gd name="T6" fmla="*/ 135 w 304"/>
                <a:gd name="T7" fmla="*/ 0 h 102"/>
                <a:gd name="T8" fmla="*/ 180 w 304"/>
                <a:gd name="T9" fmla="*/ 102 h 102"/>
                <a:gd name="T10" fmla="*/ 236 w 304"/>
                <a:gd name="T11" fmla="*/ 0 h 102"/>
                <a:gd name="T12" fmla="*/ 281 w 304"/>
                <a:gd name="T13" fmla="*/ 102 h 102"/>
                <a:gd name="T14" fmla="*/ 304 w 304"/>
                <a:gd name="T15" fmla="*/ 5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4" h="102">
                  <a:moveTo>
                    <a:pt x="0" y="56"/>
                  </a:moveTo>
                  <a:lnTo>
                    <a:pt x="33" y="0"/>
                  </a:lnTo>
                  <a:lnTo>
                    <a:pt x="79" y="102"/>
                  </a:lnTo>
                  <a:lnTo>
                    <a:pt x="135" y="0"/>
                  </a:lnTo>
                  <a:lnTo>
                    <a:pt x="180" y="102"/>
                  </a:lnTo>
                  <a:lnTo>
                    <a:pt x="236" y="0"/>
                  </a:lnTo>
                  <a:lnTo>
                    <a:pt x="281" y="102"/>
                  </a:lnTo>
                  <a:lnTo>
                    <a:pt x="304" y="5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048" y="1225"/>
              <a:ext cx="1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642" y="1225"/>
              <a:ext cx="1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4435" y="1406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R2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4435" y="1588"/>
              <a:ext cx="23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>
                  <a:solidFill>
                    <a:srgbClr val="000000"/>
                  </a:solidFill>
                </a:rPr>
                <a:t>5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l-GR" b="1" dirty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4311" y="1531"/>
              <a:ext cx="101" cy="306"/>
            </a:xfrm>
            <a:custGeom>
              <a:avLst/>
              <a:gdLst>
                <a:gd name="T0" fmla="*/ 56 w 101"/>
                <a:gd name="T1" fmla="*/ 306 h 306"/>
                <a:gd name="T2" fmla="*/ 0 w 101"/>
                <a:gd name="T3" fmla="*/ 272 h 306"/>
                <a:gd name="T4" fmla="*/ 101 w 101"/>
                <a:gd name="T5" fmla="*/ 227 h 306"/>
                <a:gd name="T6" fmla="*/ 0 w 101"/>
                <a:gd name="T7" fmla="*/ 170 h 306"/>
                <a:gd name="T8" fmla="*/ 101 w 101"/>
                <a:gd name="T9" fmla="*/ 125 h 306"/>
                <a:gd name="T10" fmla="*/ 0 w 101"/>
                <a:gd name="T11" fmla="*/ 68 h 306"/>
                <a:gd name="T12" fmla="*/ 101 w 101"/>
                <a:gd name="T13" fmla="*/ 23 h 306"/>
                <a:gd name="T14" fmla="*/ 56 w 101"/>
                <a:gd name="T15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306">
                  <a:moveTo>
                    <a:pt x="56" y="306"/>
                  </a:moveTo>
                  <a:lnTo>
                    <a:pt x="0" y="272"/>
                  </a:lnTo>
                  <a:lnTo>
                    <a:pt x="101" y="227"/>
                  </a:lnTo>
                  <a:lnTo>
                    <a:pt x="0" y="170"/>
                  </a:lnTo>
                  <a:lnTo>
                    <a:pt x="101" y="125"/>
                  </a:lnTo>
                  <a:lnTo>
                    <a:pt x="0" y="68"/>
                  </a:lnTo>
                  <a:lnTo>
                    <a:pt x="101" y="23"/>
                  </a:lnTo>
                  <a:lnTo>
                    <a:pt x="5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4367" y="1429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367" y="1837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800" y="2698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R3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789" y="3027"/>
              <a:ext cx="314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 smtClean="0">
                  <a:solidFill>
                    <a:srgbClr val="000000"/>
                  </a:solidFill>
                </a:rPr>
                <a:t>20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l-GR" b="1" dirty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2744" y="2902"/>
              <a:ext cx="304" cy="102"/>
            </a:xfrm>
            <a:custGeom>
              <a:avLst/>
              <a:gdLst>
                <a:gd name="T0" fmla="*/ 0 w 304"/>
                <a:gd name="T1" fmla="*/ 57 h 102"/>
                <a:gd name="T2" fmla="*/ 33 w 304"/>
                <a:gd name="T3" fmla="*/ 0 h 102"/>
                <a:gd name="T4" fmla="*/ 79 w 304"/>
                <a:gd name="T5" fmla="*/ 102 h 102"/>
                <a:gd name="T6" fmla="*/ 135 w 304"/>
                <a:gd name="T7" fmla="*/ 0 h 102"/>
                <a:gd name="T8" fmla="*/ 180 w 304"/>
                <a:gd name="T9" fmla="*/ 102 h 102"/>
                <a:gd name="T10" fmla="*/ 236 w 304"/>
                <a:gd name="T11" fmla="*/ 0 h 102"/>
                <a:gd name="T12" fmla="*/ 281 w 304"/>
                <a:gd name="T13" fmla="*/ 102 h 102"/>
                <a:gd name="T14" fmla="*/ 304 w 304"/>
                <a:gd name="T15" fmla="*/ 5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4" h="102">
                  <a:moveTo>
                    <a:pt x="0" y="57"/>
                  </a:moveTo>
                  <a:lnTo>
                    <a:pt x="33" y="0"/>
                  </a:lnTo>
                  <a:lnTo>
                    <a:pt x="79" y="102"/>
                  </a:lnTo>
                  <a:lnTo>
                    <a:pt x="135" y="0"/>
                  </a:lnTo>
                  <a:lnTo>
                    <a:pt x="180" y="102"/>
                  </a:lnTo>
                  <a:lnTo>
                    <a:pt x="236" y="0"/>
                  </a:lnTo>
                  <a:lnTo>
                    <a:pt x="281" y="102"/>
                  </a:lnTo>
                  <a:lnTo>
                    <a:pt x="304" y="5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3048" y="2959"/>
              <a:ext cx="1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2642" y="2959"/>
              <a:ext cx="1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1019" y="1225"/>
              <a:ext cx="1623" cy="1326"/>
            </a:xfrm>
            <a:custGeom>
              <a:avLst/>
              <a:gdLst>
                <a:gd name="T0" fmla="*/ 1623 w 1623"/>
                <a:gd name="T1" fmla="*/ 0 h 1326"/>
                <a:gd name="T2" fmla="*/ 0 w 1623"/>
                <a:gd name="T3" fmla="*/ 0 h 1326"/>
                <a:gd name="T4" fmla="*/ 0 w 1623"/>
                <a:gd name="T5" fmla="*/ 1326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326">
                  <a:moveTo>
                    <a:pt x="1623" y="0"/>
                  </a:moveTo>
                  <a:lnTo>
                    <a:pt x="0" y="0"/>
                  </a:lnTo>
                  <a:lnTo>
                    <a:pt x="0" y="132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3149" y="1225"/>
              <a:ext cx="1218" cy="204"/>
            </a:xfrm>
            <a:custGeom>
              <a:avLst/>
              <a:gdLst>
                <a:gd name="T0" fmla="*/ 0 w 1218"/>
                <a:gd name="T1" fmla="*/ 0 h 204"/>
                <a:gd name="T2" fmla="*/ 1218 w 1218"/>
                <a:gd name="T3" fmla="*/ 0 h 204"/>
                <a:gd name="T4" fmla="*/ 1218 w 1218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204">
                  <a:moveTo>
                    <a:pt x="0" y="0"/>
                  </a:moveTo>
                  <a:lnTo>
                    <a:pt x="1218" y="0"/>
                  </a:lnTo>
                  <a:lnTo>
                    <a:pt x="1218" y="204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3149" y="1939"/>
              <a:ext cx="1218" cy="1020"/>
            </a:xfrm>
            <a:custGeom>
              <a:avLst/>
              <a:gdLst>
                <a:gd name="T0" fmla="*/ 1218 w 1218"/>
                <a:gd name="T1" fmla="*/ 0 h 1020"/>
                <a:gd name="T2" fmla="*/ 1218 w 1218"/>
                <a:gd name="T3" fmla="*/ 1020 h 1020"/>
                <a:gd name="T4" fmla="*/ 0 w 1218"/>
                <a:gd name="T5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1020">
                  <a:moveTo>
                    <a:pt x="1218" y="0"/>
                  </a:moveTo>
                  <a:lnTo>
                    <a:pt x="1218" y="1020"/>
                  </a:lnTo>
                  <a:lnTo>
                    <a:pt x="0" y="102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1019" y="2959"/>
              <a:ext cx="162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33" name="Picture 3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228" y="5733256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781786" y="435636"/>
            <a:ext cx="5291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Find the following in given circuit. </a:t>
            </a:r>
            <a:endParaRPr lang="en-GB" sz="2800" b="1" baseline="-25000" dirty="0"/>
          </a:p>
        </p:txBody>
      </p:sp>
      <p:sp>
        <p:nvSpPr>
          <p:cNvPr id="2" name="Rectangle 1"/>
          <p:cNvSpPr/>
          <p:nvPr/>
        </p:nvSpPr>
        <p:spPr>
          <a:xfrm>
            <a:off x="536366" y="5487816"/>
            <a:ext cx="135485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V1 =  45V</a:t>
            </a:r>
          </a:p>
          <a:p>
            <a:r>
              <a:rPr lang="en-GB" b="1" dirty="0" smtClean="0"/>
              <a:t>V2 =   15 V</a:t>
            </a:r>
          </a:p>
          <a:p>
            <a:r>
              <a:rPr lang="en-GB" b="1" dirty="0" smtClean="0"/>
              <a:t>V3 =   60 V </a:t>
            </a:r>
          </a:p>
          <a:p>
            <a:r>
              <a:rPr lang="en-GB" b="1" dirty="0"/>
              <a:t>V</a:t>
            </a:r>
            <a:r>
              <a:rPr lang="en-GB" b="1" baseline="-25000" dirty="0"/>
              <a:t>T</a:t>
            </a:r>
            <a:r>
              <a:rPr lang="en-GB" b="1" dirty="0"/>
              <a:t> = 120 V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73748" y="956278"/>
            <a:ext cx="4154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I</a:t>
            </a:r>
            <a:r>
              <a:rPr lang="en-GB" b="1" dirty="0" smtClean="0"/>
              <a:t>1 </a:t>
            </a:r>
          </a:p>
          <a:p>
            <a:r>
              <a:rPr lang="en-GB" b="1" dirty="0"/>
              <a:t>I</a:t>
            </a:r>
            <a:r>
              <a:rPr lang="en-GB" b="1" dirty="0" smtClean="0"/>
              <a:t>2</a:t>
            </a:r>
          </a:p>
          <a:p>
            <a:r>
              <a:rPr lang="en-GB" b="1" dirty="0"/>
              <a:t>I</a:t>
            </a:r>
            <a:r>
              <a:rPr lang="en-GB" b="1" dirty="0" smtClean="0"/>
              <a:t>3 </a:t>
            </a:r>
          </a:p>
          <a:p>
            <a:r>
              <a:rPr lang="en-GB" b="1" dirty="0"/>
              <a:t>I</a:t>
            </a:r>
            <a:r>
              <a:rPr lang="en-GB" b="1" baseline="-25000" dirty="0" smtClean="0"/>
              <a:t>T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3750" y="996842"/>
            <a:ext cx="4844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R</a:t>
            </a:r>
            <a:r>
              <a:rPr lang="en-GB" b="1" dirty="0" smtClean="0"/>
              <a:t>1 </a:t>
            </a:r>
          </a:p>
          <a:p>
            <a:r>
              <a:rPr lang="en-GB" b="1" dirty="0"/>
              <a:t>R</a:t>
            </a:r>
            <a:r>
              <a:rPr lang="en-GB" b="1" dirty="0" smtClean="0"/>
              <a:t>2</a:t>
            </a:r>
          </a:p>
          <a:p>
            <a:r>
              <a:rPr lang="en-GB" b="1" dirty="0"/>
              <a:t>R</a:t>
            </a:r>
            <a:r>
              <a:rPr lang="en-GB" b="1" dirty="0" smtClean="0"/>
              <a:t>3 </a:t>
            </a:r>
          </a:p>
          <a:p>
            <a:r>
              <a:rPr lang="en-GB" b="1" dirty="0"/>
              <a:t>R</a:t>
            </a:r>
            <a:r>
              <a:rPr lang="en-GB" b="1" baseline="-25000" dirty="0" smtClean="0"/>
              <a:t>T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0173" y="981455"/>
            <a:ext cx="49084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V1 </a:t>
            </a:r>
          </a:p>
          <a:p>
            <a:r>
              <a:rPr lang="en-GB" b="1" dirty="0" smtClean="0"/>
              <a:t>V2</a:t>
            </a:r>
          </a:p>
          <a:p>
            <a:r>
              <a:rPr lang="en-GB" b="1" dirty="0" smtClean="0"/>
              <a:t>V3 </a:t>
            </a:r>
          </a:p>
          <a:p>
            <a:r>
              <a:rPr lang="en-GB" b="1" dirty="0" smtClean="0"/>
              <a:t>V</a:t>
            </a:r>
            <a:r>
              <a:rPr lang="en-GB" b="1" baseline="-25000" dirty="0" smtClean="0"/>
              <a:t>T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6412" y="5468514"/>
            <a:ext cx="12115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R1= 15 </a:t>
            </a:r>
            <a:r>
              <a:rPr lang="el-GR" b="1" dirty="0"/>
              <a:t>Ω</a:t>
            </a:r>
            <a:r>
              <a:rPr lang="en-GB" b="1" dirty="0" smtClean="0"/>
              <a:t>  </a:t>
            </a:r>
          </a:p>
          <a:p>
            <a:r>
              <a:rPr lang="en-GB" b="1" dirty="0" smtClean="0"/>
              <a:t>R2 =  5 </a:t>
            </a:r>
            <a:r>
              <a:rPr lang="el-GR" b="1" dirty="0"/>
              <a:t>Ω</a:t>
            </a:r>
            <a:endParaRPr lang="en-GB" b="1" dirty="0" smtClean="0"/>
          </a:p>
          <a:p>
            <a:r>
              <a:rPr lang="en-GB" b="1" dirty="0" smtClean="0"/>
              <a:t>R3 = 20 </a:t>
            </a:r>
            <a:r>
              <a:rPr lang="el-GR" b="1" dirty="0"/>
              <a:t>Ω</a:t>
            </a:r>
            <a:r>
              <a:rPr lang="en-GB" b="1" dirty="0" smtClean="0"/>
              <a:t> </a:t>
            </a:r>
          </a:p>
          <a:p>
            <a:r>
              <a:rPr lang="en-GB" b="1" dirty="0"/>
              <a:t>R</a:t>
            </a:r>
            <a:r>
              <a:rPr lang="en-GB" b="1" baseline="-25000" dirty="0" smtClean="0"/>
              <a:t>T </a:t>
            </a:r>
            <a:r>
              <a:rPr lang="en-GB" b="1" dirty="0"/>
              <a:t>=   </a:t>
            </a:r>
            <a:r>
              <a:rPr lang="en-GB" b="1" dirty="0" smtClean="0"/>
              <a:t>40 </a:t>
            </a:r>
            <a:r>
              <a:rPr lang="el-GR" b="1" dirty="0"/>
              <a:t>Ω</a:t>
            </a:r>
            <a:endParaRPr lang="en-GB" b="1" dirty="0"/>
          </a:p>
        </p:txBody>
      </p:sp>
      <p:sp>
        <p:nvSpPr>
          <p:cNvPr id="40" name="Rectangle 39"/>
          <p:cNvSpPr/>
          <p:nvPr/>
        </p:nvSpPr>
        <p:spPr>
          <a:xfrm>
            <a:off x="3881506" y="5478835"/>
            <a:ext cx="99899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I1 =  3  A</a:t>
            </a:r>
          </a:p>
          <a:p>
            <a:r>
              <a:rPr lang="en-GB" b="1" dirty="0" smtClean="0"/>
              <a:t>I2 =  3  A</a:t>
            </a:r>
          </a:p>
          <a:p>
            <a:r>
              <a:rPr lang="en-GB" b="1" dirty="0"/>
              <a:t>I</a:t>
            </a:r>
            <a:r>
              <a:rPr lang="en-GB" b="1" dirty="0" smtClean="0"/>
              <a:t>3 =  3  A</a:t>
            </a:r>
          </a:p>
          <a:p>
            <a:r>
              <a:rPr lang="en-GB" b="1" baseline="-25000" dirty="0"/>
              <a:t>I</a:t>
            </a:r>
            <a:r>
              <a:rPr lang="en-GB" b="1" baseline="-25000" dirty="0"/>
              <a:t>T</a:t>
            </a:r>
            <a:r>
              <a:rPr lang="en-GB" b="1" dirty="0"/>
              <a:t>  </a:t>
            </a:r>
            <a:r>
              <a:rPr lang="en-GB" b="1" dirty="0" smtClean="0"/>
              <a:t>= 3  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9225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1563624" y="1869280"/>
            <a:ext cx="6589711" cy="3863976"/>
            <a:chOff x="598" y="942"/>
            <a:chExt cx="4151" cy="243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793" y="942"/>
              <a:ext cx="3901" cy="2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176" y="2483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98" y="2386"/>
              <a:ext cx="33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b="1" dirty="0">
                  <a:solidFill>
                    <a:srgbClr val="000000"/>
                  </a:solidFill>
                </a:rPr>
                <a:t>6</a:t>
              </a:r>
              <a:r>
                <a:rPr lang="en-US" altLang="en-US" b="1" dirty="0" smtClean="0">
                  <a:solidFill>
                    <a:srgbClr val="000000"/>
                  </a:solidFill>
                </a:rPr>
                <a:t>0 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883" y="2653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951" y="2721"/>
              <a:ext cx="1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883" y="2789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951" y="2857"/>
              <a:ext cx="1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019" y="2857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1019" y="2551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800" y="965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2789" y="1293"/>
              <a:ext cx="3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 smtClean="0">
                  <a:solidFill>
                    <a:srgbClr val="000000"/>
                  </a:solidFill>
                </a:rPr>
                <a:t>17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l-GR" b="1" dirty="0" smtClean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2744" y="1169"/>
              <a:ext cx="304" cy="102"/>
            </a:xfrm>
            <a:custGeom>
              <a:avLst/>
              <a:gdLst>
                <a:gd name="T0" fmla="*/ 0 w 304"/>
                <a:gd name="T1" fmla="*/ 56 h 102"/>
                <a:gd name="T2" fmla="*/ 33 w 304"/>
                <a:gd name="T3" fmla="*/ 0 h 102"/>
                <a:gd name="T4" fmla="*/ 79 w 304"/>
                <a:gd name="T5" fmla="*/ 102 h 102"/>
                <a:gd name="T6" fmla="*/ 135 w 304"/>
                <a:gd name="T7" fmla="*/ 0 h 102"/>
                <a:gd name="T8" fmla="*/ 180 w 304"/>
                <a:gd name="T9" fmla="*/ 102 h 102"/>
                <a:gd name="T10" fmla="*/ 236 w 304"/>
                <a:gd name="T11" fmla="*/ 0 h 102"/>
                <a:gd name="T12" fmla="*/ 281 w 304"/>
                <a:gd name="T13" fmla="*/ 102 h 102"/>
                <a:gd name="T14" fmla="*/ 304 w 304"/>
                <a:gd name="T15" fmla="*/ 5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4" h="102">
                  <a:moveTo>
                    <a:pt x="0" y="56"/>
                  </a:moveTo>
                  <a:lnTo>
                    <a:pt x="33" y="0"/>
                  </a:lnTo>
                  <a:lnTo>
                    <a:pt x="79" y="102"/>
                  </a:lnTo>
                  <a:lnTo>
                    <a:pt x="135" y="0"/>
                  </a:lnTo>
                  <a:lnTo>
                    <a:pt x="180" y="102"/>
                  </a:lnTo>
                  <a:lnTo>
                    <a:pt x="236" y="0"/>
                  </a:lnTo>
                  <a:lnTo>
                    <a:pt x="281" y="102"/>
                  </a:lnTo>
                  <a:lnTo>
                    <a:pt x="304" y="5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048" y="1225"/>
              <a:ext cx="1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642" y="1225"/>
              <a:ext cx="1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4435" y="1406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R2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4435" y="1588"/>
              <a:ext cx="314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 smtClean="0">
                  <a:solidFill>
                    <a:srgbClr val="000000"/>
                  </a:solidFill>
                </a:rPr>
                <a:t>12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l-GR" b="1" dirty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4311" y="1531"/>
              <a:ext cx="101" cy="306"/>
            </a:xfrm>
            <a:custGeom>
              <a:avLst/>
              <a:gdLst>
                <a:gd name="T0" fmla="*/ 56 w 101"/>
                <a:gd name="T1" fmla="*/ 306 h 306"/>
                <a:gd name="T2" fmla="*/ 0 w 101"/>
                <a:gd name="T3" fmla="*/ 272 h 306"/>
                <a:gd name="T4" fmla="*/ 101 w 101"/>
                <a:gd name="T5" fmla="*/ 227 h 306"/>
                <a:gd name="T6" fmla="*/ 0 w 101"/>
                <a:gd name="T7" fmla="*/ 170 h 306"/>
                <a:gd name="T8" fmla="*/ 101 w 101"/>
                <a:gd name="T9" fmla="*/ 125 h 306"/>
                <a:gd name="T10" fmla="*/ 0 w 101"/>
                <a:gd name="T11" fmla="*/ 68 h 306"/>
                <a:gd name="T12" fmla="*/ 101 w 101"/>
                <a:gd name="T13" fmla="*/ 23 h 306"/>
                <a:gd name="T14" fmla="*/ 56 w 101"/>
                <a:gd name="T15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306">
                  <a:moveTo>
                    <a:pt x="56" y="306"/>
                  </a:moveTo>
                  <a:lnTo>
                    <a:pt x="0" y="272"/>
                  </a:lnTo>
                  <a:lnTo>
                    <a:pt x="101" y="227"/>
                  </a:lnTo>
                  <a:lnTo>
                    <a:pt x="0" y="170"/>
                  </a:lnTo>
                  <a:lnTo>
                    <a:pt x="101" y="125"/>
                  </a:lnTo>
                  <a:lnTo>
                    <a:pt x="0" y="68"/>
                  </a:lnTo>
                  <a:lnTo>
                    <a:pt x="101" y="23"/>
                  </a:lnTo>
                  <a:lnTo>
                    <a:pt x="5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4367" y="1429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367" y="1837"/>
              <a:ext cx="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800" y="2698"/>
              <a:ext cx="25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R3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789" y="3027"/>
              <a:ext cx="30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b="1" dirty="0" smtClean="0">
                  <a:solidFill>
                    <a:srgbClr val="000000"/>
                  </a:solidFill>
                </a:rPr>
                <a:t>11</a:t>
              </a:r>
              <a:r>
                <a:rPr kumimoji="0" lang="en-US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l-GR" b="1" dirty="0"/>
                <a:t>Ω</a:t>
              </a:r>
              <a:endParaRPr lang="en-GB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2744" y="2902"/>
              <a:ext cx="304" cy="102"/>
            </a:xfrm>
            <a:custGeom>
              <a:avLst/>
              <a:gdLst>
                <a:gd name="T0" fmla="*/ 0 w 304"/>
                <a:gd name="T1" fmla="*/ 57 h 102"/>
                <a:gd name="T2" fmla="*/ 33 w 304"/>
                <a:gd name="T3" fmla="*/ 0 h 102"/>
                <a:gd name="T4" fmla="*/ 79 w 304"/>
                <a:gd name="T5" fmla="*/ 102 h 102"/>
                <a:gd name="T6" fmla="*/ 135 w 304"/>
                <a:gd name="T7" fmla="*/ 0 h 102"/>
                <a:gd name="T8" fmla="*/ 180 w 304"/>
                <a:gd name="T9" fmla="*/ 102 h 102"/>
                <a:gd name="T10" fmla="*/ 236 w 304"/>
                <a:gd name="T11" fmla="*/ 0 h 102"/>
                <a:gd name="T12" fmla="*/ 281 w 304"/>
                <a:gd name="T13" fmla="*/ 102 h 102"/>
                <a:gd name="T14" fmla="*/ 304 w 304"/>
                <a:gd name="T15" fmla="*/ 5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4" h="102">
                  <a:moveTo>
                    <a:pt x="0" y="57"/>
                  </a:moveTo>
                  <a:lnTo>
                    <a:pt x="33" y="0"/>
                  </a:lnTo>
                  <a:lnTo>
                    <a:pt x="79" y="102"/>
                  </a:lnTo>
                  <a:lnTo>
                    <a:pt x="135" y="0"/>
                  </a:lnTo>
                  <a:lnTo>
                    <a:pt x="180" y="102"/>
                  </a:lnTo>
                  <a:lnTo>
                    <a:pt x="236" y="0"/>
                  </a:lnTo>
                  <a:lnTo>
                    <a:pt x="281" y="102"/>
                  </a:lnTo>
                  <a:lnTo>
                    <a:pt x="304" y="5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3048" y="2959"/>
              <a:ext cx="1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2642" y="2959"/>
              <a:ext cx="1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1019" y="1225"/>
              <a:ext cx="1623" cy="1326"/>
            </a:xfrm>
            <a:custGeom>
              <a:avLst/>
              <a:gdLst>
                <a:gd name="T0" fmla="*/ 1623 w 1623"/>
                <a:gd name="T1" fmla="*/ 0 h 1326"/>
                <a:gd name="T2" fmla="*/ 0 w 1623"/>
                <a:gd name="T3" fmla="*/ 0 h 1326"/>
                <a:gd name="T4" fmla="*/ 0 w 1623"/>
                <a:gd name="T5" fmla="*/ 1326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326">
                  <a:moveTo>
                    <a:pt x="1623" y="0"/>
                  </a:moveTo>
                  <a:lnTo>
                    <a:pt x="0" y="0"/>
                  </a:lnTo>
                  <a:lnTo>
                    <a:pt x="0" y="132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3149" y="1225"/>
              <a:ext cx="1218" cy="204"/>
            </a:xfrm>
            <a:custGeom>
              <a:avLst/>
              <a:gdLst>
                <a:gd name="T0" fmla="*/ 0 w 1218"/>
                <a:gd name="T1" fmla="*/ 0 h 204"/>
                <a:gd name="T2" fmla="*/ 1218 w 1218"/>
                <a:gd name="T3" fmla="*/ 0 h 204"/>
                <a:gd name="T4" fmla="*/ 1218 w 1218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204">
                  <a:moveTo>
                    <a:pt x="0" y="0"/>
                  </a:moveTo>
                  <a:lnTo>
                    <a:pt x="1218" y="0"/>
                  </a:lnTo>
                  <a:lnTo>
                    <a:pt x="1218" y="204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3149" y="1939"/>
              <a:ext cx="1218" cy="1020"/>
            </a:xfrm>
            <a:custGeom>
              <a:avLst/>
              <a:gdLst>
                <a:gd name="T0" fmla="*/ 1218 w 1218"/>
                <a:gd name="T1" fmla="*/ 0 h 1020"/>
                <a:gd name="T2" fmla="*/ 1218 w 1218"/>
                <a:gd name="T3" fmla="*/ 1020 h 1020"/>
                <a:gd name="T4" fmla="*/ 0 w 1218"/>
                <a:gd name="T5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1020">
                  <a:moveTo>
                    <a:pt x="1218" y="0"/>
                  </a:moveTo>
                  <a:lnTo>
                    <a:pt x="1218" y="1020"/>
                  </a:lnTo>
                  <a:lnTo>
                    <a:pt x="0" y="102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1019" y="2959"/>
              <a:ext cx="162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33" name="Picture 32" descr="A Simple Explanation Of Ohm's Law - Sam Vs. S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228" y="5733256"/>
            <a:ext cx="1883591" cy="9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781786" y="435636"/>
            <a:ext cx="5291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Find the following in given circuit. </a:t>
            </a:r>
            <a:endParaRPr lang="en-GB" sz="2800" b="1" baseline="-25000" dirty="0"/>
          </a:p>
        </p:txBody>
      </p:sp>
      <p:sp>
        <p:nvSpPr>
          <p:cNvPr id="2" name="Rectangle 1"/>
          <p:cNvSpPr/>
          <p:nvPr/>
        </p:nvSpPr>
        <p:spPr>
          <a:xfrm>
            <a:off x="536366" y="5487816"/>
            <a:ext cx="14189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V1 =  25.5V</a:t>
            </a:r>
          </a:p>
          <a:p>
            <a:r>
              <a:rPr lang="en-GB" b="1" dirty="0" smtClean="0"/>
              <a:t>V2 =   18 V</a:t>
            </a:r>
          </a:p>
          <a:p>
            <a:r>
              <a:rPr lang="en-GB" b="1" dirty="0" smtClean="0"/>
              <a:t>V3 =   16.5 V </a:t>
            </a:r>
          </a:p>
          <a:p>
            <a:r>
              <a:rPr lang="en-GB" b="1" dirty="0"/>
              <a:t>V</a:t>
            </a:r>
            <a:r>
              <a:rPr lang="en-GB" b="1" baseline="-25000" dirty="0"/>
              <a:t>T</a:t>
            </a:r>
            <a:r>
              <a:rPr lang="en-GB" b="1" dirty="0"/>
              <a:t> = </a:t>
            </a:r>
            <a:r>
              <a:rPr lang="en-GB" b="1" dirty="0" smtClean="0"/>
              <a:t>60 </a:t>
            </a:r>
            <a:r>
              <a:rPr lang="en-GB" b="1" dirty="0"/>
              <a:t>V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73748" y="956278"/>
            <a:ext cx="4154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I</a:t>
            </a:r>
            <a:r>
              <a:rPr lang="en-GB" b="1" dirty="0" smtClean="0"/>
              <a:t>1 </a:t>
            </a:r>
          </a:p>
          <a:p>
            <a:r>
              <a:rPr lang="en-GB" b="1" dirty="0"/>
              <a:t>I</a:t>
            </a:r>
            <a:r>
              <a:rPr lang="en-GB" b="1" dirty="0" smtClean="0"/>
              <a:t>2</a:t>
            </a:r>
          </a:p>
          <a:p>
            <a:r>
              <a:rPr lang="en-GB" b="1" dirty="0"/>
              <a:t>I</a:t>
            </a:r>
            <a:r>
              <a:rPr lang="en-GB" b="1" dirty="0" smtClean="0"/>
              <a:t>3 </a:t>
            </a:r>
          </a:p>
          <a:p>
            <a:r>
              <a:rPr lang="en-GB" b="1" dirty="0"/>
              <a:t>I</a:t>
            </a:r>
            <a:r>
              <a:rPr lang="en-GB" b="1" baseline="-25000" dirty="0" smtClean="0"/>
              <a:t>T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3750" y="996842"/>
            <a:ext cx="4844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R</a:t>
            </a:r>
            <a:r>
              <a:rPr lang="en-GB" b="1" dirty="0" smtClean="0"/>
              <a:t>1 </a:t>
            </a:r>
          </a:p>
          <a:p>
            <a:r>
              <a:rPr lang="en-GB" b="1" dirty="0"/>
              <a:t>R</a:t>
            </a:r>
            <a:r>
              <a:rPr lang="en-GB" b="1" dirty="0" smtClean="0"/>
              <a:t>2</a:t>
            </a:r>
          </a:p>
          <a:p>
            <a:r>
              <a:rPr lang="en-GB" b="1" dirty="0"/>
              <a:t>R</a:t>
            </a:r>
            <a:r>
              <a:rPr lang="en-GB" b="1" dirty="0" smtClean="0"/>
              <a:t>3 </a:t>
            </a:r>
          </a:p>
          <a:p>
            <a:r>
              <a:rPr lang="en-GB" b="1" dirty="0"/>
              <a:t>R</a:t>
            </a:r>
            <a:r>
              <a:rPr lang="en-GB" b="1" baseline="-25000" dirty="0" smtClean="0"/>
              <a:t>T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0173" y="981455"/>
            <a:ext cx="49084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V1 </a:t>
            </a:r>
          </a:p>
          <a:p>
            <a:r>
              <a:rPr lang="en-GB" b="1" dirty="0" smtClean="0"/>
              <a:t>V2</a:t>
            </a:r>
          </a:p>
          <a:p>
            <a:r>
              <a:rPr lang="en-GB" b="1" dirty="0" smtClean="0"/>
              <a:t>V3 </a:t>
            </a:r>
          </a:p>
          <a:p>
            <a:r>
              <a:rPr lang="en-GB" b="1" dirty="0" smtClean="0"/>
              <a:t>V</a:t>
            </a:r>
            <a:r>
              <a:rPr lang="en-GB" b="1" baseline="-25000" dirty="0" smtClean="0"/>
              <a:t>T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6412" y="5468514"/>
            <a:ext cx="12115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R1= 17 </a:t>
            </a:r>
            <a:r>
              <a:rPr lang="el-GR" b="1" dirty="0"/>
              <a:t>Ω</a:t>
            </a:r>
            <a:r>
              <a:rPr lang="en-GB" b="1" dirty="0" smtClean="0"/>
              <a:t>  </a:t>
            </a:r>
          </a:p>
          <a:p>
            <a:r>
              <a:rPr lang="en-GB" b="1" dirty="0" smtClean="0"/>
              <a:t>R2 =  12 </a:t>
            </a:r>
            <a:r>
              <a:rPr lang="el-GR" b="1" dirty="0"/>
              <a:t>Ω</a:t>
            </a:r>
            <a:endParaRPr lang="en-GB" b="1" dirty="0" smtClean="0"/>
          </a:p>
          <a:p>
            <a:r>
              <a:rPr lang="en-GB" b="1" dirty="0" smtClean="0"/>
              <a:t>R3 = 11 </a:t>
            </a:r>
            <a:r>
              <a:rPr lang="el-GR" b="1" dirty="0"/>
              <a:t>Ω</a:t>
            </a:r>
            <a:r>
              <a:rPr lang="en-GB" b="1" dirty="0" smtClean="0"/>
              <a:t> </a:t>
            </a:r>
          </a:p>
          <a:p>
            <a:r>
              <a:rPr lang="en-GB" b="1" dirty="0"/>
              <a:t>R</a:t>
            </a:r>
            <a:r>
              <a:rPr lang="en-GB" b="1" baseline="-25000" dirty="0" smtClean="0"/>
              <a:t>T </a:t>
            </a:r>
            <a:r>
              <a:rPr lang="en-GB" b="1" dirty="0"/>
              <a:t>=   </a:t>
            </a:r>
            <a:r>
              <a:rPr lang="en-GB" b="1" dirty="0" smtClean="0"/>
              <a:t>40 </a:t>
            </a:r>
            <a:r>
              <a:rPr lang="el-GR" b="1" dirty="0"/>
              <a:t>Ω</a:t>
            </a:r>
            <a:endParaRPr lang="en-GB" b="1" dirty="0"/>
          </a:p>
        </p:txBody>
      </p:sp>
      <p:sp>
        <p:nvSpPr>
          <p:cNvPr id="40" name="Rectangle 39"/>
          <p:cNvSpPr/>
          <p:nvPr/>
        </p:nvSpPr>
        <p:spPr>
          <a:xfrm>
            <a:off x="3881506" y="5478835"/>
            <a:ext cx="11769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I1 =  1.5  A</a:t>
            </a:r>
          </a:p>
          <a:p>
            <a:r>
              <a:rPr lang="en-GB" b="1" dirty="0" smtClean="0"/>
              <a:t>I2 =  1.5  A</a:t>
            </a:r>
          </a:p>
          <a:p>
            <a:r>
              <a:rPr lang="en-GB" b="1" dirty="0"/>
              <a:t>I</a:t>
            </a:r>
            <a:r>
              <a:rPr lang="en-GB" b="1" dirty="0" smtClean="0"/>
              <a:t>3 =  1.5  A</a:t>
            </a:r>
          </a:p>
          <a:p>
            <a:r>
              <a:rPr lang="en-GB" b="1" dirty="0"/>
              <a:t>I</a:t>
            </a:r>
            <a:r>
              <a:rPr lang="en-GB" b="1" baseline="-25000" dirty="0"/>
              <a:t>T</a:t>
            </a:r>
            <a:r>
              <a:rPr lang="en-GB" b="1" dirty="0"/>
              <a:t>  </a:t>
            </a:r>
            <a:r>
              <a:rPr lang="en-GB" b="1" dirty="0" smtClean="0"/>
              <a:t>= 1.5  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7423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me74">
  <a:themeElements>
    <a:clrScheme name="Theme7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422</Words>
  <Application>Microsoft Office PowerPoint</Application>
  <PresentationFormat>On-screen Show (4:3)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Theme74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farhan ahmed</cp:lastModifiedBy>
  <cp:revision>22</cp:revision>
  <dcterms:created xsi:type="dcterms:W3CDTF">2024-02-14T19:22:38Z</dcterms:created>
  <dcterms:modified xsi:type="dcterms:W3CDTF">2024-02-15T09:36:31Z</dcterms:modified>
  <cp:category/>
</cp:coreProperties>
</file>