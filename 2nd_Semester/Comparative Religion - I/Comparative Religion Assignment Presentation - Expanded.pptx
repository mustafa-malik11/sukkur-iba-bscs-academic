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25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3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57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6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24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0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93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0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92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02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8602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42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3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22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6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07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Religious Rituals of Semitic Religions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A Comparative Analysis of Judaism, Christianity, and Islam</a:t>
            </a:r>
          </a:p>
          <a:p>
            <a:endParaRPr/>
          </a:p>
          <a:p>
            <a:r>
              <a:t>Sudaish Kumar</a:t>
            </a:r>
          </a:p>
          <a:p>
            <a:r>
              <a:t>Sukkur IBA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Introduction: Defining Ritual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Ritual is the 'grammar' of religion—structuring physical actions to express internal faith.</a:t>
            </a:r>
          </a:p>
          <a:p>
            <a:pPr>
              <a:spcBef>
                <a:spcPts val="1000"/>
              </a:spcBef>
            </a:pPr>
            <a:r>
              <a:t>They are not merely symbolic gestures but are viewed as divine commands.</a:t>
            </a:r>
          </a:p>
          <a:p>
            <a:pPr>
              <a:spcBef>
                <a:spcPts val="1000"/>
              </a:spcBef>
            </a:pPr>
            <a:r>
              <a:t>Rituals bridge the gap between an eternal Creator and a temporary, physical world.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 of the Covenant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three faiths are built on a 'Covenant' (a sacred relationship with God).</a:t>
            </a:r>
          </a:p>
          <a:p>
            <a:pPr>
              <a:spcBef>
                <a:spcPts val="1000"/>
              </a:spcBef>
            </a:pPr>
            <a:r>
              <a:t>Rituals serve to establish, maintain, and constantly renew that covenant.</a:t>
            </a:r>
          </a:p>
          <a:p>
            <a:pPr>
              <a:spcBef>
                <a:spcPts val="1000"/>
              </a:spcBef>
            </a:pPr>
            <a:r>
              <a:t>They translate abstract theological beliefs into physical human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the theological significance of initiation rituals.</a:t>
            </a:r>
          </a:p>
          <a:p>
            <a:pPr>
              <a:spcBef>
                <a:spcPts val="1000"/>
              </a:spcBef>
            </a:pPr>
            <a:r>
              <a:t>Examine how time is sanctified through prayer and rest.</a:t>
            </a:r>
          </a:p>
          <a:p>
            <a:pPr>
              <a:spcBef>
                <a:spcPts val="1000"/>
              </a:spcBef>
            </a:pPr>
            <a:r>
              <a:t>Evaluate the function of dietary and purification laws in daily life.</a:t>
            </a:r>
          </a:p>
          <a:p>
            <a:pPr>
              <a:spcBef>
                <a:spcPts val="1000"/>
              </a:spcBef>
            </a:pPr>
            <a:r>
              <a:t>Understand pilgrimage as a physical manifestation of faith.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How do initiation rituals (Brit Milah, Baptism, </a:t>
            </a:r>
            <a:r>
              <a:rPr lang="en-US" dirty="0"/>
              <a:t>Shahada</a:t>
            </a:r>
            <a:r>
              <a:rPr dirty="0"/>
              <a:t>) symbolize entry into a divine covenant?</a:t>
            </a:r>
          </a:p>
          <a:p>
            <a:pPr>
              <a:spcBef>
                <a:spcPts val="1000"/>
              </a:spcBef>
            </a:pPr>
            <a:r>
              <a:rPr dirty="0"/>
              <a:t>To what extent do dietary restrictions and purification reflect a shared emphasis on self-restraint and body sanctification?</a:t>
            </a:r>
          </a:p>
          <a:p>
            <a:pPr>
              <a:spcBef>
                <a:spcPts val="1000"/>
              </a:spcBef>
            </a:pPr>
            <a:r>
              <a:rPr dirty="0"/>
              <a:t>How does the practice of pilgrimage operate as both a personal journey and a powerful unifying mechanism?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While external manifestations of rituals (frequency, form, liturgy) diverge significantly across the faiths</a:t>
            </a:r>
            <a:r>
              <a:rPr lang="en-US" dirty="0"/>
              <a:t>, </a:t>
            </a:r>
            <a:r>
              <a:rPr dirty="0"/>
              <a:t>they share a fundamental teleological purpose: sanctifying human life through obedience to Divine Will.</a:t>
            </a:r>
          </a:p>
          <a:p>
            <a:pPr>
              <a:spcBef>
                <a:spcPts val="1000"/>
              </a:spcBef>
            </a:pPr>
            <a:r>
              <a:rPr dirty="0"/>
              <a:t>These structures underscore a common theological foundation, articulating unique but related covenants with God.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Initiation Rituals</a:t>
            </a:r>
          </a:p>
          <a:p>
            <a:r>
              <a:t>(Entering the Faith)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Jewish Initiation: Brit Milah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668508" cy="3836681"/>
          </a:xfrm>
        </p:spPr>
        <p:txBody>
          <a:bodyPr>
            <a:normAutofit lnSpcReduction="10000"/>
          </a:bodyPr>
          <a:lstStyle/>
          <a:p>
            <a:r>
              <a:rPr dirty="0"/>
              <a:t>The foundational ritual of circumcision (Genesis 17).</a:t>
            </a:r>
          </a:p>
          <a:p>
            <a:pPr>
              <a:spcBef>
                <a:spcPts val="1000"/>
              </a:spcBef>
            </a:pPr>
            <a:r>
              <a:rPr dirty="0"/>
              <a:t>A permanent, physical mark of belonging to the 'Chosen People'.</a:t>
            </a:r>
          </a:p>
          <a:p>
            <a:r>
              <a:rPr dirty="0"/>
              <a:t>A deeply communal event involving the family,</a:t>
            </a:r>
            <a:r>
              <a:rPr lang="en-US" i="1" dirty="0"/>
              <a:t> Sandek</a:t>
            </a:r>
            <a:r>
              <a:rPr lang="en-US" dirty="0"/>
              <a:t> (godfather), a </a:t>
            </a:r>
            <a:r>
              <a:rPr lang="en-US" i="1" dirty="0"/>
              <a:t>Mohel</a:t>
            </a:r>
            <a:r>
              <a:rPr lang="en-US" dirty="0"/>
              <a:t> (the circumciser), and is followed by a </a:t>
            </a:r>
            <a:r>
              <a:rPr lang="en-US" i="1" dirty="0" err="1"/>
              <a:t>Seudat</a:t>
            </a:r>
            <a:r>
              <a:rPr lang="en-US" i="1" dirty="0"/>
              <a:t> Mitzvah;</a:t>
            </a:r>
            <a:r>
              <a:rPr dirty="0"/>
              <a:t> a celebratory meal.</a:t>
            </a:r>
            <a:r>
              <a:rPr lang="en-US" dirty="0"/>
              <a:t>  </a:t>
            </a:r>
            <a:endParaRPr dirty="0"/>
          </a:p>
          <a:p>
            <a:pPr>
              <a:spcBef>
                <a:spcPts val="1000"/>
              </a:spcBef>
            </a:pPr>
            <a:r>
              <a:rPr dirty="0"/>
              <a:t>Signifies that the child's covenant is with both God and the Jewish community.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Initiation: Baptism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St. Paul shifted theology from physical marks to 'circumcision of the heart'.</a:t>
            </a:r>
          </a:p>
          <a:p>
            <a:pPr>
              <a:spcBef>
                <a:spcPts val="1000"/>
              </a:spcBef>
            </a:pPr>
            <a:r>
              <a:t>Universal initiation rite using water to signify cleansing and rebirth.</a:t>
            </a:r>
          </a:p>
          <a:p>
            <a:pPr>
              <a:spcBef>
                <a:spcPts val="1000"/>
              </a:spcBef>
            </a:pPr>
            <a:r>
              <a:t>Symbolizes the washing away of original sin through Christ.</a:t>
            </a:r>
          </a:p>
          <a:p>
            <a:pPr>
              <a:spcBef>
                <a:spcPts val="1000"/>
              </a:spcBef>
            </a:pPr>
            <a:r>
              <a:t>Fundamentally egalitarian: open to both men and women as a singular gateway into the Church.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Islamic Initiation: Shahada &amp; Khitan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Formal entry relies on a conscious, vocal declaration: The Shahada.</a:t>
            </a:r>
          </a:p>
          <a:p>
            <a:pPr>
              <a:spcBef>
                <a:spcPts val="1000"/>
              </a:spcBef>
            </a:pPr>
            <a:r>
              <a:t>Echoes Semitic roots through physical rites of childhood initiation.</a:t>
            </a:r>
          </a:p>
          <a:p>
            <a:pPr>
              <a:spcBef>
                <a:spcPts val="1000"/>
              </a:spcBef>
            </a:pPr>
            <a:r>
              <a:t>Khitan (male circumcision) is considered Fitrah (natural inclination) and a Sunnah (prophetic tradition).</a:t>
            </a:r>
          </a:p>
          <a:p>
            <a:pPr>
              <a:spcBef>
                <a:spcPts val="1000"/>
              </a:spcBef>
            </a:pPr>
            <a:r>
              <a:t>Aqiqa ceremony (sacrifice and charity) synthesizes spiritual declaration with community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Sacred Time</a:t>
            </a:r>
          </a:p>
          <a:p>
            <a:r>
              <a:t>(Structuring the Human Lifespan)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Jewish Sacred Time: Shabbat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absolute anchor of Jewish life, embedded in the Ten Commandments.</a:t>
            </a:r>
          </a:p>
          <a:p>
            <a:pPr>
              <a:spcBef>
                <a:spcPts val="1000"/>
              </a:spcBef>
            </a:pPr>
            <a:r>
              <a:t>Cessation of thirty-nine categories of labor from Friday sunset to Saturday sunset.</a:t>
            </a:r>
          </a:p>
          <a:p>
            <a:pPr>
              <a:spcBef>
                <a:spcPts val="1000"/>
              </a:spcBef>
            </a:pPr>
            <a:r>
              <a:t>An active imitation of God's rest following the creation of the universe.</a:t>
            </a:r>
          </a:p>
          <a:p>
            <a:pPr>
              <a:spcBef>
                <a:spcPts val="1000"/>
              </a:spcBef>
            </a:pPr>
            <a:r>
              <a:t>Steps entirely out of the economic, secular flow of time into a sacred dimension.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Sacred Time: Sunday &amp; Eucharist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Shifted to Sunday to explicitly commemorate the Resurrection of Jesus Christ.</a:t>
            </a:r>
          </a:p>
          <a:p>
            <a:pPr>
              <a:spcBef>
                <a:spcPts val="1000"/>
              </a:spcBef>
            </a:pPr>
            <a:r>
              <a:t>The central ritual is the Eucharist (Holy Communion).</a:t>
            </a:r>
          </a:p>
          <a:p>
            <a:pPr>
              <a:spcBef>
                <a:spcPts val="1000"/>
              </a:spcBef>
            </a:pPr>
            <a:r>
              <a:t>Consumption of bread and wine to physically internalize Christ’s sacrifice.</a:t>
            </a:r>
          </a:p>
          <a:p>
            <a:pPr>
              <a:spcBef>
                <a:spcPts val="1000"/>
              </a:spcBef>
            </a:pPr>
            <a:r>
              <a:t>A profound act of remembrance bridging a historical event with the present.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Islamic Sacred Time: Salat &amp; Jumu’ah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Prioritizes the continuous permeation of the sacred throughout every single day.</a:t>
            </a:r>
          </a:p>
          <a:p>
            <a:pPr>
              <a:spcBef>
                <a:spcPts val="1000"/>
              </a:spcBef>
            </a:pPr>
            <a:r>
              <a:t>Salat: Five mandatory daily prayers interrupting secular concerns.</a:t>
            </a:r>
          </a:p>
          <a:p>
            <a:pPr>
              <a:spcBef>
                <a:spcPts val="1000"/>
              </a:spcBef>
            </a:pPr>
            <a:r>
              <a:t>Physical postures (standing, bowing, prostrating) symbolize complete submission.</a:t>
            </a:r>
          </a:p>
          <a:p>
            <a:pPr>
              <a:spcBef>
                <a:spcPts val="1000"/>
              </a:spcBef>
            </a:pPr>
            <a:r>
              <a:t>Jumu’ah: Friday congregational prayer adding a communal axis and social equality.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Purification and Dietary Laws</a:t>
            </a:r>
          </a:p>
          <a:p>
            <a:r>
              <a:t>(The Physical Body in Everyday Life)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Jewish Purity: Mikvah &amp; Kashrut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Taharah (ritual purity) maintained through the Mikvah (ritual bath).</a:t>
            </a:r>
          </a:p>
          <a:p>
            <a:pPr>
              <a:spcBef>
                <a:spcPts val="1000"/>
              </a:spcBef>
            </a:pPr>
            <a:r>
              <a:t>Kashrut (Kosher): Strict dietary laws detailed in Leviticus (banning pork, shellfish).</a:t>
            </a:r>
          </a:p>
          <a:p>
            <a:pPr>
              <a:spcBef>
                <a:spcPts val="1000"/>
              </a:spcBef>
            </a:pPr>
            <a:r>
              <a:t>Requires Shechita: humane ritual slaughter.</a:t>
            </a:r>
          </a:p>
          <a:p>
            <a:pPr>
              <a:spcBef>
                <a:spcPts val="1000"/>
              </a:spcBef>
            </a:pPr>
            <a:r>
              <a:t>Transforms the mundane necessity of eating into a continuous ritual of mindfulness.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Islamic Purity: Wudu &amp; Halal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Taharah is an absolute prerequisite for prayer.</a:t>
            </a:r>
          </a:p>
          <a:p>
            <a:pPr>
              <a:spcBef>
                <a:spcPts val="1000"/>
              </a:spcBef>
            </a:pPr>
            <a:r>
              <a:t>Wudu: Structured physical ablution (washing hands, mouth, face, arms, feet).</a:t>
            </a:r>
          </a:p>
          <a:p>
            <a:pPr>
              <a:spcBef>
                <a:spcPts val="1000"/>
              </a:spcBef>
            </a:pPr>
            <a:r>
              <a:t>Halal dietary laws directly mirror the Kosher framework (forbidding swine, blood).</a:t>
            </a:r>
          </a:p>
          <a:p>
            <a:pPr>
              <a:spcBef>
                <a:spcPts val="1000"/>
              </a:spcBef>
            </a:pPr>
            <a:r>
              <a:t>Slaughter requires invoking God's name, cementing the theological premise of divine permission.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Discipline: Purity &amp; Fasting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Jesus’s teachings (Mark 7) shifted focus from external diet to internal moral purity.</a:t>
            </a:r>
          </a:p>
          <a:p>
            <a:pPr>
              <a:spcBef>
                <a:spcPts val="1000"/>
              </a:spcBef>
            </a:pPr>
            <a:r>
              <a:t>Mainstream Christianity largely abandoned strict dietary restrictions.</a:t>
            </a:r>
          </a:p>
          <a:p>
            <a:pPr>
              <a:spcBef>
                <a:spcPts val="1000"/>
              </a:spcBef>
            </a:pPr>
            <a:r>
              <a:t>Bodily discipline evolved into the ritual of Fasting.</a:t>
            </a:r>
          </a:p>
          <a:p>
            <a:pPr>
              <a:spcBef>
                <a:spcPts val="1000"/>
              </a:spcBef>
            </a:pPr>
            <a:r>
              <a:t>Observances like Lent involve intentional deprivation to cultivate spiritual repentance.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Pilgrimage</a:t>
            </a:r>
          </a:p>
          <a:p>
            <a:r>
              <a:t>(The Journey to the Divine)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Islamic Pilgrimage: The Hajj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of the Five Pillars of Islam, mandatory for every able Muslim.</a:t>
            </a:r>
          </a:p>
          <a:p>
            <a:pPr>
              <a:spcBef>
                <a:spcPts val="1000"/>
              </a:spcBef>
            </a:pPr>
            <a:r>
              <a:t>An overwhelmingly powerful display of global egalitarianism and unity.</a:t>
            </a:r>
          </a:p>
          <a:p>
            <a:pPr>
              <a:spcBef>
                <a:spcPts val="1000"/>
              </a:spcBef>
            </a:pPr>
            <a:r>
              <a:t>Pilgrims don the Ihram (identical white garments), stripping away wealth and class.</a:t>
            </a:r>
          </a:p>
          <a:p>
            <a:pPr>
              <a:spcBef>
                <a:spcPts val="1000"/>
              </a:spcBef>
            </a:pPr>
            <a:r>
              <a:t>Re-enacting the trials of Abraham and Hagar.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Jewish Pilgrimage: The Western 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Historically centralized around the ancient Temple during three major festivals.</a:t>
            </a:r>
          </a:p>
          <a:p>
            <a:pPr>
              <a:spcBef>
                <a:spcPts val="1000"/>
              </a:spcBef>
            </a:pPr>
            <a:r>
              <a:t>Following 70 CE, the tradition survives through connection to the Western Wall (Kotel).</a:t>
            </a:r>
          </a:p>
          <a:p>
            <a:pPr>
              <a:spcBef>
                <a:spcPts val="1000"/>
              </a:spcBef>
            </a:pPr>
            <a:r>
              <a:t>The holiest accessible site for Jewish prayer.</a:t>
            </a:r>
          </a:p>
          <a:p>
            <a:pPr>
              <a:spcBef>
                <a:spcPts val="1000"/>
              </a:spcBef>
            </a:pPr>
            <a:r>
              <a:t>Touching the stones and placing written prayers provides physical continuity to ancient history.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Christian Pilgrimage: The Holy Land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Not a mandated commandment, but a vital dimension of Christian piety.</a:t>
            </a:r>
          </a:p>
          <a:p>
            <a:pPr>
              <a:spcBef>
                <a:spcPts val="1000"/>
              </a:spcBef>
            </a:pPr>
            <a:r>
              <a:t>Gravitates toward the Holy Land to trace the final steps of Jesus (Via Dolorosa).</a:t>
            </a:r>
          </a:p>
          <a:p>
            <a:pPr>
              <a:spcBef>
                <a:spcPts val="1000"/>
              </a:spcBef>
            </a:pPr>
            <a:r>
              <a:t>Transforms abstract gospel narratives into visceral, tangible experiences.</a:t>
            </a:r>
          </a:p>
          <a:p>
            <a:pPr>
              <a:spcBef>
                <a:spcPts val="1000"/>
              </a:spcBef>
            </a:pPr>
            <a:r>
              <a:t>Highlights the inherent human desire to physically touch the sacred.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Key Dissimilarities</a:t>
            </a:r>
          </a:p>
          <a:p>
            <a:r>
              <a:t>(Divergent Theological Frameworks)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Dissimilarities in Ritual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Judaism (Halakha &amp; History): Rituals anchor the individual to the historical covenant and ethno-religious lineage (e.g., preserving national survival).</a:t>
            </a:r>
          </a:p>
          <a:p>
            <a:pPr>
              <a:spcBef>
                <a:spcPts val="1000"/>
              </a:spcBef>
            </a:pPr>
            <a:r>
              <a:t>Christianity (Sacraments &amp; Grace): Shifted from 'legalistic' acts to Sacraments that transmit divine grace, focusing on individual spiritual salvation.</a:t>
            </a:r>
          </a:p>
          <a:p>
            <a:pPr>
              <a:spcBef>
                <a:spcPts val="1000"/>
              </a:spcBef>
            </a:pPr>
            <a:r>
              <a:t>Islam (Ibadah &amp; Ummah): Rituals are universal acts of submission aimed at eradicating ethnic/national differences to forge a unified global community.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Paradox of Rituals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Rituals are the most visible markers of differentiation (Saturday vs. Sunday vs. Friday).</a:t>
            </a:r>
          </a:p>
          <a:p>
            <a:pPr>
              <a:spcBef>
                <a:spcPts val="1000"/>
              </a:spcBef>
            </a:pPr>
            <a:r>
              <a:t>Paradoxically, these exact same rituals serve as evidence of their shared theological DNA.</a:t>
            </a:r>
          </a:p>
          <a:p>
            <a:pPr>
              <a:spcBef>
                <a:spcPts val="1000"/>
              </a:spcBef>
            </a:pPr>
            <a:r>
              <a:t>Faith cannot exist purely in the abstract mind; it must be materialized through obedience.</a:t>
            </a:r>
          </a:p>
          <a:p>
            <a:pPr>
              <a:spcBef>
                <a:spcPts val="1000"/>
              </a:spcBef>
            </a:pPr>
            <a:r>
              <a:t>Ritual action temporarily bridges the human body and the physical world with the eternal sacred.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721</TotalTime>
  <Words>1159</Words>
  <Application>Microsoft Office PowerPoint</Application>
  <PresentationFormat>On-screen Show (4:3)</PresentationFormat>
  <Paragraphs>107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Tw Cen MT</vt:lpstr>
      <vt:lpstr>Circuit</vt:lpstr>
      <vt:lpstr>Religious Rituals of Semitic Religions</vt:lpstr>
      <vt:lpstr>Introduction: Defining Ritual</vt:lpstr>
      <vt:lpstr>The Concept of the Covenant</vt:lpstr>
      <vt:lpstr>Objectives of the Study</vt:lpstr>
      <vt:lpstr>Research Questions</vt:lpstr>
      <vt:lpstr>Research Hypothesis</vt:lpstr>
      <vt:lpstr>Section 1: Initiation Rituals (Entering the Faith)</vt:lpstr>
      <vt:lpstr>Jewish Initiation: Brit Milah</vt:lpstr>
      <vt:lpstr>Christian Initiation: Baptism</vt:lpstr>
      <vt:lpstr>Islamic Initiation: Shahada &amp; Khitan</vt:lpstr>
      <vt:lpstr>Section 2: Sacred Time (Structuring the Human Lifespan)</vt:lpstr>
      <vt:lpstr>Jewish Sacred Time: Shabbat</vt:lpstr>
      <vt:lpstr>Christian Sacred Time: Sunday &amp; Eucharist</vt:lpstr>
      <vt:lpstr>Islamic Sacred Time: Salat &amp; Jumu’ah</vt:lpstr>
      <vt:lpstr>Section 3: Purification and Dietary Laws (The Physical Body in Everyday Life)</vt:lpstr>
      <vt:lpstr>Jewish Purity: Mikvah &amp; Kashrut</vt:lpstr>
      <vt:lpstr>Islamic Purity: Wudu &amp; Halal</vt:lpstr>
      <vt:lpstr>Christian Discipline: Purity &amp; Fasting</vt:lpstr>
      <vt:lpstr>Section 4: Pilgrimage (The Journey to the Divine)</vt:lpstr>
      <vt:lpstr>Islamic Pilgrimage: The Hajj</vt:lpstr>
      <vt:lpstr>Jewish Pilgrimage: The Western Wall</vt:lpstr>
      <vt:lpstr>Christian Pilgrimage: The Holy Land</vt:lpstr>
      <vt:lpstr>Section 5: Key Dissimilarities (Divergent Theological Frameworks)</vt:lpstr>
      <vt:lpstr>Key Dissimilarities in Ritual Function</vt:lpstr>
      <vt:lpstr>Conclusion</vt:lpstr>
      <vt:lpstr>The Paradox of Rituals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Sudaish Katyara</cp:lastModifiedBy>
  <cp:revision>4</cp:revision>
  <dcterms:created xsi:type="dcterms:W3CDTF">2013-01-27T09:14:16Z</dcterms:created>
  <dcterms:modified xsi:type="dcterms:W3CDTF">2026-05-13T12:36:12Z</dcterms:modified>
  <cp:category/>
</cp:coreProperties>
</file>