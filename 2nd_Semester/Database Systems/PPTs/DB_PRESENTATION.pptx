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Arimo" panose="020B0604020202020204" charset="0"/>
      <p:regular r:id="rId27"/>
    </p:embeddedFont>
    <p:embeddedFont>
      <p:font typeface="Arimo Bold" panose="020B060402020202020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nva Sans" panose="020B0604020202020204" charset="0"/>
      <p:regular r:id="rId33"/>
    </p:embeddedFont>
    <p:embeddedFont>
      <p:font typeface="Canva Sans Bold" panose="020B0604020202020204" charset="0"/>
      <p:regular r:id="rId34"/>
    </p:embeddedFont>
    <p:embeddedFont>
      <p:font typeface="Monda" panose="020B0604020202020204" charset="0"/>
      <p:regular r:id="rId35"/>
    </p:embeddedFont>
    <p:embeddedFont>
      <p:font typeface="Monda Bold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22" autoAdjust="0"/>
  </p:normalViewPr>
  <p:slideViewPr>
    <p:cSldViewPr>
      <p:cViewPr varScale="1">
        <p:scale>
          <a:sx n="48" d="100"/>
          <a:sy n="48" d="100"/>
        </p:scale>
        <p:origin x="6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43480" y="3724644"/>
            <a:ext cx="12801040" cy="181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sz="106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94456" y="4444757"/>
            <a:ext cx="11699089" cy="363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5629" lvl="1" indent="-372815" algn="ctr">
              <a:lnSpc>
                <a:spcPts val="4835"/>
              </a:lnSpc>
              <a:buFont typeface="Arial"/>
              <a:buChar char="•"/>
            </a:pPr>
            <a:r>
              <a:rPr lang="en-US" sz="3453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The Relational Database Model is one of the most widely used ways to store and manage data.</a:t>
            </a:r>
          </a:p>
          <a:p>
            <a:pPr algn="ctr">
              <a:lnSpc>
                <a:spcPts val="4835"/>
              </a:lnSpc>
            </a:pPr>
            <a:endParaRPr lang="en-US" sz="3453" b="1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marL="745629" lvl="1" indent="-372815" algn="ctr">
              <a:lnSpc>
                <a:spcPts val="4835"/>
              </a:lnSpc>
              <a:buFont typeface="Arial"/>
              <a:buChar char="•"/>
            </a:pPr>
            <a:r>
              <a:rPr lang="en-US" sz="3453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 It was introduced by E.F. Codd in 1970, and it's based on the idea of organizing data into tables.</a:t>
            </a:r>
          </a:p>
          <a:p>
            <a:pPr algn="ctr">
              <a:lnSpc>
                <a:spcPts val="4835"/>
              </a:lnSpc>
            </a:pPr>
            <a:endParaRPr lang="en-US" sz="3453" b="1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81344" y="2934034"/>
            <a:ext cx="12925361" cy="805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51"/>
              </a:lnSpc>
            </a:pPr>
            <a:r>
              <a:rPr lang="en-US" sz="4679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INTODUCTION TO RELATIONAL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36074" y="2312186"/>
            <a:ext cx="11984806" cy="620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9115" lvl="1" indent="-419557" algn="l">
              <a:lnSpc>
                <a:spcPts val="5441"/>
              </a:lnSpc>
              <a:buFont typeface="Arial"/>
              <a:buChar char="•"/>
            </a:pPr>
            <a:r>
              <a:rPr lang="en-US" sz="3886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Theoretical frame work or Mathematical model which store data in tabular form.</a:t>
            </a:r>
          </a:p>
          <a:p>
            <a:pPr algn="l">
              <a:lnSpc>
                <a:spcPts val="5441"/>
              </a:lnSpc>
            </a:pPr>
            <a:endParaRPr lang="en-US" sz="3886" b="1" dirty="0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marL="839115" lvl="1" indent="-419557" algn="l">
              <a:lnSpc>
                <a:spcPts val="5441"/>
              </a:lnSpc>
              <a:buFont typeface="Arial"/>
              <a:buChar char="•"/>
            </a:pPr>
            <a:r>
              <a:rPr lang="en-US" sz="3886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 It introduced 12 sets of rules through mathematical models.</a:t>
            </a:r>
          </a:p>
          <a:p>
            <a:pPr algn="l">
              <a:lnSpc>
                <a:spcPts val="5441"/>
              </a:lnSpc>
            </a:pPr>
            <a:endParaRPr lang="en-US" sz="3886" b="1" dirty="0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marL="839115" lvl="1" indent="-419557" algn="l">
              <a:lnSpc>
                <a:spcPts val="5441"/>
              </a:lnSpc>
              <a:buFont typeface="Arial"/>
              <a:buChar char="•"/>
            </a:pPr>
            <a:r>
              <a:rPr lang="en-US" sz="3886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Two core models are relational Algebra and Relational Calculus.</a:t>
            </a:r>
          </a:p>
          <a:p>
            <a:pPr algn="l">
              <a:lnSpc>
                <a:spcPts val="5441"/>
              </a:lnSpc>
            </a:pPr>
            <a:endParaRPr lang="en-US" sz="3886" b="1" dirty="0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97046" y="1877969"/>
            <a:ext cx="11613121" cy="70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6"/>
              </a:lnSpc>
            </a:pPr>
            <a:r>
              <a:rPr lang="en-US" sz="4076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KEY COMPONENTS OF RELATIONAL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73226" y="3467650"/>
            <a:ext cx="324177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Attribute: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45495" y="4556089"/>
            <a:ext cx="11003905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Column of relation is also called attribute or field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73226" y="5512399"/>
            <a:ext cx="2174974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Tuple: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45495" y="6694769"/>
            <a:ext cx="9871325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Row of relation is also called record or tuple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73226" y="7679655"/>
            <a:ext cx="269795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Domain: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45495" y="8934767"/>
            <a:ext cx="7955905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One whole column is called 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079498" y="4617640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75841" y="-64241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1"/>
                </a:moveTo>
                <a:lnTo>
                  <a:pt x="9295205" y="5948931"/>
                </a:lnTo>
                <a:lnTo>
                  <a:pt x="9295205" y="0"/>
                </a:lnTo>
                <a:lnTo>
                  <a:pt x="0" y="0"/>
                </a:lnTo>
                <a:lnTo>
                  <a:pt x="0" y="5948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894808" y="2690632"/>
          <a:ext cx="10026073" cy="4905737"/>
        </p:xfrm>
        <a:graphic>
          <a:graphicData uri="http://schemas.openxmlformats.org/drawingml/2006/table">
            <a:tbl>
              <a:tblPr/>
              <a:tblGrid>
                <a:gridCol w="314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7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82336"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Student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Emp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39"/>
                        </a:lnSpc>
                        <a:defRPr/>
                      </a:pPr>
                      <a:r>
                        <a:rPr lang="en-US" sz="40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467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Stud_id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Emp_no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Dept_no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467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Stud_name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Emp_name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Dept_name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467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address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sal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-2331736" y="4856657"/>
            <a:ext cx="7937428" cy="1124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1"/>
              </a:lnSpc>
            </a:pPr>
            <a:r>
              <a:rPr lang="en-US" sz="6593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TUPLE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95385" y="326719"/>
            <a:ext cx="9024919" cy="12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6"/>
              </a:lnSpc>
            </a:pPr>
            <a:r>
              <a:rPr lang="en-US" sz="7497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ATTRIBUTE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6854418" y="1597331"/>
            <a:ext cx="603780" cy="1250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" name="AutoShape 11"/>
          <p:cNvSpPr/>
          <p:nvPr/>
        </p:nvSpPr>
        <p:spPr>
          <a:xfrm flipH="1" flipV="1">
            <a:off x="9497892" y="1597331"/>
            <a:ext cx="48139" cy="10933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AutoShape 12"/>
          <p:cNvSpPr/>
          <p:nvPr/>
        </p:nvSpPr>
        <p:spPr>
          <a:xfrm flipH="1" flipV="1">
            <a:off x="11995725" y="1597331"/>
            <a:ext cx="869794" cy="11140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AutoShape 13"/>
          <p:cNvSpPr/>
          <p:nvPr/>
        </p:nvSpPr>
        <p:spPr>
          <a:xfrm flipH="1">
            <a:off x="3371762" y="4584774"/>
            <a:ext cx="1523046" cy="3273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AutoShape 14"/>
          <p:cNvSpPr/>
          <p:nvPr/>
        </p:nvSpPr>
        <p:spPr>
          <a:xfrm flipH="1">
            <a:off x="3647687" y="5783507"/>
            <a:ext cx="124712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AutoShape 15"/>
          <p:cNvSpPr/>
          <p:nvPr/>
        </p:nvSpPr>
        <p:spPr>
          <a:xfrm flipH="1" flipV="1">
            <a:off x="3371762" y="6826755"/>
            <a:ext cx="1523046" cy="28871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680617" y="1953240"/>
            <a:ext cx="11417966" cy="1099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1"/>
              </a:lnSpc>
            </a:pPr>
            <a:r>
              <a:rPr lang="en-US" sz="649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RELATIONAL ALGEBRA</a:t>
            </a:r>
          </a:p>
        </p:txBody>
      </p:sp>
      <p:sp>
        <p:nvSpPr>
          <p:cNvPr id="8" name="Freeform 8"/>
          <p:cNvSpPr/>
          <p:nvPr/>
        </p:nvSpPr>
        <p:spPr>
          <a:xfrm>
            <a:off x="3387081" y="3752668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39658" y="3633677"/>
            <a:ext cx="8969841" cy="159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IT IS A  PROCEDURAL QUERY LANGUAGE MEANS HOW TO DO.</a:t>
            </a:r>
          </a:p>
          <a:p>
            <a:pPr algn="l">
              <a:lnSpc>
                <a:spcPts val="4267"/>
              </a:lnSpc>
            </a:pPr>
            <a:endParaRPr lang="en-US" sz="3048" b="1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3331292" y="7301556"/>
            <a:ext cx="622899" cy="690474"/>
          </a:xfrm>
          <a:custGeom>
            <a:avLst/>
            <a:gdLst/>
            <a:ahLst/>
            <a:cxnLst/>
            <a:rect l="l" t="t" r="r" b="b"/>
            <a:pathLst>
              <a:path w="622899" h="690474">
                <a:moveTo>
                  <a:pt x="0" y="0"/>
                </a:moveTo>
                <a:lnTo>
                  <a:pt x="622899" y="0"/>
                </a:lnTo>
                <a:lnTo>
                  <a:pt x="622899" y="690474"/>
                </a:lnTo>
                <a:lnTo>
                  <a:pt x="0" y="6904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974152" y="5177079"/>
            <a:ext cx="9027672" cy="1975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1"/>
              </a:lnSpc>
            </a:pPr>
            <a:r>
              <a:rPr lang="en-US" sz="2836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IT PROCESSES ONE OR MORE RELATIONS TO DEFINE ANOTHER RELATION  WITHOUT CHANGING ORIGINAL RELATIONS.</a:t>
            </a:r>
          </a:p>
          <a:p>
            <a:pPr algn="l">
              <a:lnSpc>
                <a:spcPts val="3971"/>
              </a:lnSpc>
            </a:pPr>
            <a:endParaRPr lang="en-US" sz="2836" b="1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39658" y="7244406"/>
            <a:ext cx="8110442" cy="109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9"/>
              </a:lnSpc>
            </a:pPr>
            <a:r>
              <a:rPr lang="en-US" sz="3178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RELATIONAL ALGEBRA GIVE AN OPERATORS WHICH PERFORM QUERY.</a:t>
            </a:r>
          </a:p>
        </p:txBody>
      </p:sp>
      <p:sp>
        <p:nvSpPr>
          <p:cNvPr id="13" name="Freeform 13"/>
          <p:cNvSpPr/>
          <p:nvPr/>
        </p:nvSpPr>
        <p:spPr>
          <a:xfrm>
            <a:off x="3367119" y="5247309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2" y="0"/>
                </a:lnTo>
                <a:lnTo>
                  <a:pt x="587072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92979" y="215935"/>
            <a:ext cx="11652804" cy="251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21"/>
              </a:lnSpc>
            </a:pPr>
            <a:r>
              <a:rPr lang="en-US" sz="7229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RELATIONAL ALGEBRA OPERATORS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6968" y="4973016"/>
            <a:ext cx="7417754" cy="297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9"/>
              </a:lnSpc>
            </a:pPr>
            <a:r>
              <a:rPr lang="en-US" sz="3406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1:Selection (σ) — Filter rows          Notation: σ_condition(Relation) Selects rows that satisfy a condition</a:t>
            </a:r>
          </a:p>
          <a:p>
            <a:pPr algn="l">
              <a:lnSpc>
                <a:spcPts val="4769"/>
              </a:lnSpc>
            </a:pPr>
            <a:endParaRPr lang="en-US" sz="3406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230583" y="4251607"/>
          <a:ext cx="7315200" cy="4295776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9331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075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295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07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Charlie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0972547" y="3292185"/>
            <a:ext cx="1831271" cy="68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404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357122" y="5761659"/>
          <a:ext cx="7315200" cy="3443197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2105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546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546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Charlie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7047123" y="4773930"/>
            <a:ext cx="2096877" cy="662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RESULT</a:t>
            </a:r>
          </a:p>
        </p:txBody>
      </p:sp>
      <p:sp>
        <p:nvSpPr>
          <p:cNvPr id="9" name="Freeform 9"/>
          <p:cNvSpPr/>
          <p:nvPr/>
        </p:nvSpPr>
        <p:spPr>
          <a:xfrm>
            <a:off x="4662224" y="703320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2" y="0"/>
                </a:lnTo>
                <a:lnTo>
                  <a:pt x="587072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249296" y="1974484"/>
            <a:ext cx="7789409" cy="180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5"/>
              </a:lnSpc>
              <a:spcBef>
                <a:spcPct val="0"/>
              </a:spcBef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SELECT * </a:t>
            </a:r>
          </a:p>
          <a:p>
            <a:pPr algn="ctr">
              <a:lnSpc>
                <a:spcPts val="4835"/>
              </a:lnSpc>
              <a:spcBef>
                <a:spcPct val="0"/>
              </a:spcBef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FROM EMPLOYEE</a:t>
            </a:r>
          </a:p>
          <a:p>
            <a:pPr algn="ctr">
              <a:lnSpc>
                <a:spcPts val="4835"/>
              </a:lnSpc>
              <a:spcBef>
                <a:spcPct val="0"/>
              </a:spcBef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WHERE Dept = 'IT';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4879" y="537527"/>
            <a:ext cx="345318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1629" y="5247309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667828" y="4213597"/>
          <a:ext cx="7315200" cy="4498046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0009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67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67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67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Charlie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028700" y="5182148"/>
            <a:ext cx="7084360" cy="283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2: Projection (π) — Choose columns</a:t>
            </a:r>
          </a:p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Notation: π_columnNames(Relation)</a:t>
            </a:r>
          </a:p>
          <a:p>
            <a:pPr algn="l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Selects specific columns.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85749" y="3092160"/>
            <a:ext cx="1831271" cy="68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404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507429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1"/>
                </a:moveTo>
                <a:lnTo>
                  <a:pt x="9295205" y="5948931"/>
                </a:lnTo>
                <a:lnTo>
                  <a:pt x="9295205" y="0"/>
                </a:lnTo>
                <a:lnTo>
                  <a:pt x="0" y="0"/>
                </a:lnTo>
                <a:lnTo>
                  <a:pt x="0" y="5948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335432" y="1079768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111751" y="5143500"/>
          <a:ext cx="7315200" cy="4526621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8761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620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62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620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Charlie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6364854" y="4101183"/>
            <a:ext cx="2017145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RESULT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96274" y="2121053"/>
            <a:ext cx="4095452" cy="111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5"/>
              </a:lnSpc>
              <a:spcBef>
                <a:spcPct val="0"/>
              </a:spcBef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SELECT Name, Dept </a:t>
            </a:r>
          </a:p>
          <a:p>
            <a:pPr algn="ctr">
              <a:lnSpc>
                <a:spcPts val="4555"/>
              </a:lnSpc>
              <a:spcBef>
                <a:spcPct val="0"/>
              </a:spcBef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FROM EMPLOYEE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10820" y="843433"/>
            <a:ext cx="329445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condition: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796563" y="467239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1"/>
                </a:lnTo>
                <a:lnTo>
                  <a:pt x="0" y="650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028700" y="4354745"/>
          <a:ext cx="7315200" cy="468144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8410">
                <a:tc gridSpan="3"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Employee_USA: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Employee_USA: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Employee_USA: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410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31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31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6731098" y="256764"/>
            <a:ext cx="7084360" cy="397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3:Union (∪) — Combine rows from two tables (no duplicates)</a:t>
            </a:r>
          </a:p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Notation: Relation1 ∪ Relation2</a:t>
            </a:r>
          </a:p>
          <a:p>
            <a:pPr algn="l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Combines rows from both relations.</a:t>
            </a:r>
          </a:p>
          <a:p>
            <a:pPr algn="l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984186" y="3543019"/>
            <a:ext cx="1831271" cy="68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404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INPUT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880100" y="6831245"/>
          <a:ext cx="2463800" cy="1121524"/>
        </p:xfrm>
        <a:graphic>
          <a:graphicData uri="http://schemas.openxmlformats.org/drawingml/2006/table">
            <a:tbl>
              <a:tblPr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2152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8700694" y="4354745"/>
          <a:ext cx="7400757" cy="4670137"/>
        </p:xfrm>
        <a:graphic>
          <a:graphicData uri="http://schemas.openxmlformats.org/drawingml/2006/table">
            <a:tbl>
              <a:tblPr/>
              <a:tblGrid>
                <a:gridCol w="2466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2554">
                <a:tc gridSpan="3"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Employee_UK: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Employee_UK: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Employee_UK: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435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457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57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Charlie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3958778" y="3676239"/>
            <a:ext cx="1455043" cy="58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5"/>
              </a:lnSpc>
              <a:spcBef>
                <a:spcPct val="0"/>
              </a:spcBef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572177" y="1169785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357122" y="5039691"/>
          <a:ext cx="7315200" cy="4526621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8761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620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62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62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Charlie	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7178902" y="4090877"/>
            <a:ext cx="1767203" cy="595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RESULT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35641" y="933450"/>
            <a:ext cx="329445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condition: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14603" y="2206168"/>
            <a:ext cx="8344644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select * from Employee_USA union select * from Employee_UK.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375990" y="410089"/>
            <a:ext cx="7084360" cy="168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4:Set Difference (−) — Find rows in one table but not in the other</a:t>
            </a:r>
          </a:p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Notation: Relation1 − Relation2.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264903" y="3214014"/>
          <a:ext cx="7315200" cy="6791144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6500">
                <a:tc gridSpan="3"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6500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536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9536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9536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Charlie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9536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Freeform 9"/>
          <p:cNvSpPr/>
          <p:nvPr/>
        </p:nvSpPr>
        <p:spPr>
          <a:xfrm>
            <a:off x="5452547" y="467239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2" y="0"/>
                </a:lnTo>
                <a:lnTo>
                  <a:pt x="587072" y="650761"/>
                </a:lnTo>
                <a:lnTo>
                  <a:pt x="0" y="650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9144000" y="3213235"/>
          <a:ext cx="7315199" cy="5707720"/>
        </p:xfrm>
        <a:graphic>
          <a:graphicData uri="http://schemas.openxmlformats.org/drawingml/2006/table">
            <a:tbl>
              <a:tblPr/>
              <a:tblGrid>
                <a:gridCol w="2373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1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7804">
                <a:tc gridSpan="3"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Employee_IT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7804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070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70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070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Charlie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4457230" y="2449174"/>
            <a:ext cx="1737069" cy="764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6"/>
              </a:lnSpc>
            </a:pPr>
            <a:r>
              <a:rPr lang="en-US" sz="4397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38442" y="2449174"/>
            <a:ext cx="1792328" cy="732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48"/>
              </a:lnSpc>
            </a:pPr>
            <a:r>
              <a:rPr lang="en-US" sz="4392" b="1" dirty="0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922503" y="1141966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2" y="0"/>
                </a:lnTo>
                <a:lnTo>
                  <a:pt x="587072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395400" y="2206168"/>
            <a:ext cx="7407445" cy="6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2"/>
              </a:lnSpc>
            </a:pPr>
            <a:r>
              <a:rPr lang="en-US" sz="360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Employee_All−Employee_IT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896488" y="5247309"/>
          <a:ext cx="7315200" cy="3414623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3325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64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64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104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Diana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6718268" y="4014702"/>
            <a:ext cx="1942539" cy="613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RESULT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04243" y="976173"/>
            <a:ext cx="740744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Condition: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659986" y="467239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1"/>
                </a:lnTo>
                <a:lnTo>
                  <a:pt x="0" y="650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17360" y="410089"/>
            <a:ext cx="7084360" cy="226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5:Cartesian Product (×) — Combine every row of one table with every row of another</a:t>
            </a:r>
          </a:p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Notation: Relation1 × Relation2.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14201" y="3058063"/>
            <a:ext cx="1831271" cy="68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404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INPUT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264903" y="4111158"/>
          <a:ext cx="7315200" cy="4576673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8645">
                <a:tc gridSpan="2"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Department: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Department: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2990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DeptID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DeptName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519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519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264903" y="4111158"/>
          <a:ext cx="7315200" cy="4576673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8645">
                <a:tc gridSpan="2"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Department: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Department: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2990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DeptID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DeptName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519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519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9672237" y="4111158"/>
          <a:ext cx="7315200" cy="460524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6602">
                <a:tc gridSpan="2"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Location: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Location: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722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LocID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46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New York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46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London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4006868" y="3058063"/>
            <a:ext cx="1831271" cy="68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404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659986" y="467239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1"/>
                </a:lnTo>
                <a:lnTo>
                  <a:pt x="0" y="650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157300" y="1670439"/>
            <a:ext cx="7763580" cy="63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765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Department×Location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864129" y="3826621"/>
          <a:ext cx="9221441" cy="5629096"/>
        </p:xfrm>
        <a:graphic>
          <a:graphicData uri="http://schemas.openxmlformats.org/drawingml/2006/table">
            <a:tbl>
              <a:tblPr/>
              <a:tblGrid>
                <a:gridCol w="2074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5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2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9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65868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DeptID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DeptName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LocID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 b="1">
                          <a:solidFill>
                            <a:srgbClr val="000000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City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807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New York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080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London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80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New York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080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London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7472362" y="2937095"/>
            <a:ext cx="1976438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RESULT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26391" y="301447"/>
            <a:ext cx="776358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Condition: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659986" y="467239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1"/>
                </a:lnTo>
                <a:lnTo>
                  <a:pt x="0" y="650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17360" y="410089"/>
            <a:ext cx="7084360" cy="283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6:Intersection gives you the common rows that exist in both tables.</a:t>
            </a:r>
          </a:p>
          <a:p>
            <a:pPr algn="l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Notation: Relation1 ∩ Relation2.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14201" y="3058063"/>
            <a:ext cx="1831271" cy="68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404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INPUT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848123" y="3746816"/>
          <a:ext cx="8148759" cy="6401259"/>
        </p:xfrm>
        <a:graphic>
          <a:graphicData uri="http://schemas.openxmlformats.org/drawingml/2006/table">
            <a:tbl>
              <a:tblPr/>
              <a:tblGrid>
                <a:gridCol w="2716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6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4828">
                <a:tc gridSpan="3"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Employee_ProjectA: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Employee_ProjectA: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Employee_ProjectA: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0021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4656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Alice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0877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102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0877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Charlie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672237" y="3746816"/>
          <a:ext cx="6938769" cy="4595723"/>
        </p:xfrm>
        <a:graphic>
          <a:graphicData uri="http://schemas.openxmlformats.org/drawingml/2006/table">
            <a:tbl>
              <a:tblPr/>
              <a:tblGrid>
                <a:gridCol w="213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7811">
                <a:tc gridSpan="3"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Employee_ProjectB: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Employee_ProjectB: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Employee_ProjectB: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2950"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48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48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4006868" y="3058063"/>
            <a:ext cx="1831271" cy="68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404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148235" y="1099242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1"/>
                </a:lnTo>
                <a:lnTo>
                  <a:pt x="0" y="650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15789" y="2467998"/>
            <a:ext cx="8874842" cy="59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6"/>
              </a:lnSpc>
            </a:pPr>
            <a:r>
              <a:rPr lang="en-US" sz="3525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Employee_ProjectA∩Employee_ProjectB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10812" y="4699649"/>
            <a:ext cx="1771187" cy="596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RESULT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148235" y="6044733"/>
          <a:ext cx="6596795" cy="2254999"/>
        </p:xfrm>
        <a:graphic>
          <a:graphicData uri="http://schemas.openxmlformats.org/drawingml/2006/table">
            <a:tbl>
              <a:tblPr/>
              <a:tblGrid>
                <a:gridCol w="1938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2955">
                <a:tc>
                  <a:txBody>
                    <a:bodyPr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04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Bob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da"/>
                          <a:ea typeface="Monda"/>
                          <a:cs typeface="Monda"/>
                          <a:sym typeface="Monda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5339184" y="933450"/>
            <a:ext cx="339030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Condition: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335432" y="1028700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922503" y="952500"/>
            <a:ext cx="8694509" cy="197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7:Join is a way to combine two or more tables based on a related column between them.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84962" y="3863572"/>
            <a:ext cx="514528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 of Join: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59476" y="5381942"/>
            <a:ext cx="4008124" cy="1313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 algn="ctr">
              <a:lnSpc>
                <a:spcPts val="5319"/>
              </a:lnSpc>
              <a:buAutoNum type="arabicPeriod"/>
            </a:pPr>
            <a:r>
              <a:rPr lang="en-US" sz="37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Inner Join</a:t>
            </a:r>
          </a:p>
          <a:p>
            <a:pPr marL="820417" lvl="1" indent="-410209" algn="ctr">
              <a:lnSpc>
                <a:spcPts val="5319"/>
              </a:lnSpc>
              <a:buAutoNum type="arabicPeriod"/>
            </a:pPr>
            <a:r>
              <a:rPr lang="en-US" sz="3799" dirty="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Outer  Join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20003" y="798801"/>
            <a:ext cx="11652804" cy="123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21"/>
              </a:lnSpc>
            </a:pPr>
            <a:r>
              <a:rPr lang="en-US" sz="7229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RELATIONAL CALCULUS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20003" y="2685997"/>
            <a:ext cx="11998756" cy="2638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5"/>
              </a:lnSpc>
            </a:pPr>
            <a:r>
              <a:rPr lang="en-US" sz="37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It is non-procedural query language means what to do or what you want.</a:t>
            </a:r>
          </a:p>
          <a:p>
            <a:pPr algn="l">
              <a:lnSpc>
                <a:spcPts val="5255"/>
              </a:lnSpc>
            </a:pPr>
            <a:endParaRPr lang="en-US" sz="37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5255"/>
              </a:lnSpc>
            </a:pPr>
            <a:endParaRPr lang="en-US" sz="37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2455071" y="2752672"/>
            <a:ext cx="619280" cy="686463"/>
          </a:xfrm>
          <a:custGeom>
            <a:avLst/>
            <a:gdLst/>
            <a:ahLst/>
            <a:cxnLst/>
            <a:rect l="l" t="t" r="r" b="b"/>
            <a:pathLst>
              <a:path w="619280" h="686463">
                <a:moveTo>
                  <a:pt x="0" y="0"/>
                </a:moveTo>
                <a:lnTo>
                  <a:pt x="619280" y="0"/>
                </a:lnTo>
                <a:lnTo>
                  <a:pt x="619280" y="686463"/>
                </a:lnTo>
                <a:lnTo>
                  <a:pt x="0" y="686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38848" y="5370740"/>
            <a:ext cx="4561952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Example: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67119" y="6577361"/>
            <a:ext cx="10301288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I want all students who scored above 50.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57602" y="4186950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32547" y="1467730"/>
            <a:ext cx="10422906" cy="927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3"/>
              </a:lnSpc>
            </a:pPr>
            <a:r>
              <a:rPr lang="en-US" sz="5474" b="1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Relational Calculus Operator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38209" y="4120275"/>
            <a:ext cx="7560106" cy="2638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5"/>
              </a:lnSpc>
              <a:spcBef>
                <a:spcPct val="0"/>
              </a:spcBef>
            </a:pPr>
            <a:r>
              <a:rPr lang="en-US" sz="37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Universal Quantifiers.</a:t>
            </a:r>
          </a:p>
          <a:p>
            <a:pPr algn="ctr">
              <a:lnSpc>
                <a:spcPts val="5255"/>
              </a:lnSpc>
              <a:spcBef>
                <a:spcPct val="0"/>
              </a:spcBef>
            </a:pPr>
            <a:endParaRPr lang="en-US" sz="37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algn="ctr">
              <a:lnSpc>
                <a:spcPts val="5255"/>
              </a:lnSpc>
              <a:spcBef>
                <a:spcPct val="0"/>
              </a:spcBef>
            </a:pPr>
            <a:endParaRPr lang="en-US" sz="37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algn="ctr">
              <a:lnSpc>
                <a:spcPts val="5255"/>
              </a:lnSpc>
              <a:spcBef>
                <a:spcPct val="0"/>
              </a:spcBef>
            </a:pPr>
            <a:r>
              <a:rPr lang="en-US" sz="37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Existential Quantifiers.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57602" y="6107849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75851" y="3745579"/>
            <a:ext cx="8537938" cy="310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5"/>
              </a:lnSpc>
            </a:pPr>
            <a:r>
              <a:rPr lang="en-US" sz="3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This means the condition must be true.</a:t>
            </a:r>
          </a:p>
          <a:p>
            <a:pPr algn="l">
              <a:lnSpc>
                <a:spcPts val="4555"/>
              </a:lnSpc>
            </a:pPr>
            <a:endParaRPr lang="en-US" sz="35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5255"/>
              </a:lnSpc>
            </a:pPr>
            <a:r>
              <a:rPr lang="en-US" sz="3753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Example:</a:t>
            </a:r>
          </a:p>
          <a:p>
            <a:pPr algn="l">
              <a:lnSpc>
                <a:spcPts val="4975"/>
              </a:lnSpc>
            </a:pPr>
            <a:r>
              <a:rPr lang="en-US" sz="3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For every course, the student has taken it.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79159" y="1323037"/>
            <a:ext cx="11192154" cy="949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9"/>
              </a:lnSpc>
            </a:pPr>
            <a:r>
              <a:rPr lang="en-US" sz="5570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UNIVERSAL QUANTIFIER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75851" y="3745579"/>
            <a:ext cx="8537938" cy="3729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5"/>
              </a:lnSpc>
            </a:pPr>
            <a:r>
              <a:rPr lang="en-US" sz="3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This means at least one value satisfies a condition.</a:t>
            </a:r>
          </a:p>
          <a:p>
            <a:pPr algn="l">
              <a:lnSpc>
                <a:spcPts val="4555"/>
              </a:lnSpc>
            </a:pPr>
            <a:endParaRPr lang="en-US" sz="35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5255"/>
              </a:lnSpc>
            </a:pPr>
            <a:r>
              <a:rPr lang="en-US" sz="3753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Example:</a:t>
            </a:r>
          </a:p>
          <a:p>
            <a:pPr algn="l">
              <a:lnSpc>
                <a:spcPts val="4975"/>
              </a:lnSpc>
            </a:pPr>
            <a:r>
              <a:rPr lang="en-US" sz="3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There is a course, that the student has taken.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67119" y="1523062"/>
            <a:ext cx="11192154" cy="949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9"/>
              </a:lnSpc>
            </a:pPr>
            <a:r>
              <a:rPr lang="en-US" sz="5570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EXISTENTIAL QUANTIFIER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67119" y="2168068"/>
            <a:ext cx="11699089" cy="158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74"/>
              </a:lnSpc>
            </a:pPr>
            <a:r>
              <a:rPr lang="en-US" sz="5553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Advantages of Relational model</a:t>
            </a:r>
          </a:p>
          <a:p>
            <a:pPr algn="ctr">
              <a:lnSpc>
                <a:spcPts val="4835"/>
              </a:lnSpc>
            </a:pPr>
            <a:endParaRPr lang="en-US" sz="5553" b="1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38209" y="4259495"/>
            <a:ext cx="12115701" cy="347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69471" lvl="1" indent="-534735" algn="ctr">
              <a:lnSpc>
                <a:spcPts val="6934"/>
              </a:lnSpc>
              <a:buFont typeface="Arial"/>
              <a:buChar char="•"/>
            </a:pPr>
            <a:r>
              <a:rPr lang="en-US" sz="4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Simplicity.</a:t>
            </a:r>
          </a:p>
          <a:p>
            <a:pPr marL="1069471" lvl="1" indent="-534735" algn="ctr">
              <a:lnSpc>
                <a:spcPts val="6934"/>
              </a:lnSpc>
              <a:buFont typeface="Arial"/>
              <a:buChar char="•"/>
            </a:pPr>
            <a:r>
              <a:rPr lang="en-US" sz="4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provides Security.</a:t>
            </a:r>
          </a:p>
          <a:p>
            <a:pPr marL="1069471" lvl="1" indent="-534735" algn="ctr">
              <a:lnSpc>
                <a:spcPts val="6934"/>
              </a:lnSpc>
              <a:buFont typeface="Arial"/>
              <a:buChar char="•"/>
            </a:pPr>
            <a:r>
              <a:rPr lang="en-US" sz="4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Avoids Data Redundancy.</a:t>
            </a:r>
          </a:p>
          <a:p>
            <a:pPr marL="1069471" lvl="1" indent="-534735" algn="ctr">
              <a:lnSpc>
                <a:spcPts val="6934"/>
              </a:lnSpc>
              <a:buFont typeface="Arial"/>
              <a:buChar char="•"/>
            </a:pPr>
            <a:r>
              <a:rPr lang="en-US" sz="4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Supports Powerful Query Languages.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43480" y="4136923"/>
            <a:ext cx="12801040" cy="181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sz="106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737</Words>
  <Application>Microsoft Office PowerPoint</Application>
  <PresentationFormat>Custom</PresentationFormat>
  <Paragraphs>294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Canva Sans Bold</vt:lpstr>
      <vt:lpstr>Calibri</vt:lpstr>
      <vt:lpstr>Monda</vt:lpstr>
      <vt:lpstr>Arimo</vt:lpstr>
      <vt:lpstr>Canva Sans</vt:lpstr>
      <vt:lpstr>Monda Bold</vt:lpstr>
      <vt:lpstr>Arimo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Elegant Presentation</dc:title>
  <dc:creator>Nency Sonzai</dc:creator>
  <cp:lastModifiedBy>Ghulam Mustafa</cp:lastModifiedBy>
  <cp:revision>5</cp:revision>
  <dcterms:created xsi:type="dcterms:W3CDTF">2006-08-16T00:00:00Z</dcterms:created>
  <dcterms:modified xsi:type="dcterms:W3CDTF">2026-08-02T21:18:21Z</dcterms:modified>
  <dc:identifier>DAGmlqqPqf0</dc:identifier>
</cp:coreProperties>
</file>