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8" r:id="rId4"/>
    <p:sldId id="266" r:id="rId5"/>
    <p:sldId id="264" r:id="rId6"/>
    <p:sldId id="263" r:id="rId7"/>
    <p:sldId id="281" r:id="rId8"/>
    <p:sldId id="282" r:id="rId9"/>
    <p:sldId id="260" r:id="rId10"/>
    <p:sldId id="267" r:id="rId11"/>
    <p:sldId id="268" r:id="rId12"/>
    <p:sldId id="271" r:id="rId13"/>
    <p:sldId id="270" r:id="rId14"/>
    <p:sldId id="272" r:id="rId15"/>
    <p:sldId id="273" r:id="rId16"/>
    <p:sldId id="274" r:id="rId17"/>
    <p:sldId id="275" r:id="rId18"/>
    <p:sldId id="280" r:id="rId19"/>
    <p:sldId id="277" r:id="rId20"/>
    <p:sldId id="278" r:id="rId21"/>
    <p:sldId id="279" r:id="rId22"/>
    <p:sldId id="259" r:id="rId23"/>
    <p:sldId id="265" r:id="rId24"/>
  </p:sldIdLst>
  <p:sldSz cx="18288000" cy="10287000"/>
  <p:notesSz cx="6858000" cy="9144000"/>
  <p:embeddedFontLst>
    <p:embeddedFont>
      <p:font typeface="Algerian" panose="04020705040A02060702" pitchFamily="82" charset="0"/>
      <p:regular r:id="rId26"/>
    </p:embeddedFont>
    <p:embeddedFont>
      <p:font typeface="Arial Rounded MT Bold" panose="020F0704030504030204" pitchFamily="34" charset="0"/>
      <p:regular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entaur" panose="02030504050205020304" pitchFamily="18" charset="0"/>
      <p:regular r:id="rId32"/>
    </p:embeddedFont>
    <p:embeddedFont>
      <p:font typeface="Cooper Black" panose="0208090404030B020404" pitchFamily="18" charset="0"/>
      <p:regular r:id="rId33"/>
    </p:embeddedFont>
    <p:embeddedFont>
      <p:font typeface="Felix Titling" panose="04060505060202020A04" pitchFamily="82" charset="0"/>
      <p:regular r:id="rId34"/>
    </p:embeddedFont>
    <p:embeddedFont>
      <p:font typeface="Franklin Gothic Demi" panose="020B0703020102020204" pitchFamily="34" charset="0"/>
      <p:regular r:id="rId35"/>
      <p:italic r:id="rId36"/>
    </p:embeddedFont>
    <p:embeddedFont>
      <p:font typeface="Franklin Gothic Demi Cond" panose="020B0706030402020204" pitchFamily="34" charset="0"/>
      <p:regular r:id="rId37"/>
    </p:embeddedFont>
    <p:embeddedFont>
      <p:font typeface="Freestyle Script" panose="030804020302050B0404" pitchFamily="66" charset="0"/>
      <p:regular r:id="rId38"/>
    </p:embeddedFont>
    <p:embeddedFont>
      <p:font typeface="Nunito Sans" pitchFamily="2" charset="0"/>
      <p:regular r:id="rId39"/>
      <p:bold r:id="rId40"/>
      <p:italic r:id="rId41"/>
      <p:boldItalic r:id="rId42"/>
    </p:embeddedFont>
    <p:embeddedFont>
      <p:font typeface="Tw Cen MT" panose="020B0602020104020603" pitchFamily="34" charset="0"/>
      <p:regular r:id="rId43"/>
      <p:bold r:id="rId44"/>
      <p:italic r:id="rId45"/>
      <p:boldItalic r:id="rId46"/>
    </p:embeddedFont>
    <p:embeddedFont>
      <p:font typeface="Tw Cen MT Condensed" panose="020B0606020104020203" pitchFamily="34" charset="0"/>
      <p:regular r:id="rId47"/>
      <p:bold r:id="rId48"/>
    </p:embeddedFont>
    <p:embeddedFont>
      <p:font typeface="Wingdings 3" panose="05040102010807070707" pitchFamily="18" charset="2"/>
      <p:regular r:id="rId4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font" Target="fonts/font22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font" Target="fonts/font20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font" Target="fonts/font23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font" Target="fonts/font21.fntdata"/><Relationship Id="rId20" Type="http://schemas.openxmlformats.org/officeDocument/2006/relationships/slide" Target="slides/slide19.xml"/><Relationship Id="rId41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font" Target="fonts/font2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09E366-4299-46D7-A051-D99B0BA2769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CDE32-043D-4517-AC80-F2A70DA49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15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0CDE32-043D-4517-AC80-F2A70DA496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270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0CDE32-043D-4517-AC80-F2A70DA4969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320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"/>
            <a:ext cx="18288000" cy="6858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2" y="1"/>
            <a:ext cx="18288000" cy="6858002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440206"/>
            <a:ext cx="11658600" cy="2194560"/>
          </a:xfrm>
        </p:spPr>
        <p:txBody>
          <a:bodyPr anchor="ctr">
            <a:normAutofit/>
          </a:bodyPr>
          <a:lstStyle>
            <a:lvl1pPr algn="r">
              <a:defRPr sz="75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15900" y="7440206"/>
            <a:ext cx="4800600" cy="219456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7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685800" indent="0" algn="ctr">
              <a:buNone/>
              <a:defRPr sz="27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700"/>
            </a:lvl4pPr>
            <a:lvl5pPr marL="2743200" indent="0" algn="ctr">
              <a:buNone/>
              <a:defRPr sz="2700"/>
            </a:lvl5pPr>
            <a:lvl6pPr marL="3429000" indent="0" algn="ctr">
              <a:buNone/>
              <a:defRPr sz="2700"/>
            </a:lvl6pPr>
            <a:lvl7pPr marL="4114800" indent="0" algn="ctr">
              <a:buNone/>
              <a:defRPr sz="2700"/>
            </a:lvl7pPr>
            <a:lvl8pPr marL="4800600" indent="0" algn="ctr">
              <a:buNone/>
              <a:defRPr sz="2700"/>
            </a:lvl8pPr>
            <a:lvl9pPr marL="5486400" indent="0" algn="ctr">
              <a:buNone/>
              <a:defRPr sz="27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2580265" y="7896159"/>
            <a:ext cx="0" cy="1371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487353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44968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8288000" cy="685800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2" y="1"/>
            <a:ext cx="18288000" cy="6858002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440206"/>
            <a:ext cx="11658600" cy="2194560"/>
          </a:xfrm>
        </p:spPr>
        <p:txBody>
          <a:bodyPr anchor="ctr">
            <a:normAutofit/>
          </a:bodyPr>
          <a:lstStyle>
            <a:lvl1pPr algn="r">
              <a:defRPr sz="7500" b="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15900" y="7440206"/>
            <a:ext cx="4800600" cy="219456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2580265" y="7896159"/>
            <a:ext cx="0" cy="1371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00663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6192" y="877824"/>
            <a:ext cx="14580108" cy="22494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6191" y="3429000"/>
            <a:ext cx="713232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83980" y="3429000"/>
            <a:ext cx="713232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82503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6192" y="3269454"/>
            <a:ext cx="7132320" cy="123444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3450" b="0" cap="none" baseline="0">
                <a:solidFill>
                  <a:schemeClr val="accent1"/>
                </a:solidFill>
                <a:latin typeface="+mn-lt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6192" y="4451682"/>
            <a:ext cx="7132320" cy="5012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986332" y="3269454"/>
            <a:ext cx="7132320" cy="123444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345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marL="0" lvl="0" indent="0" algn="l" defTabSz="1371600" rtl="0" eaLnBrk="1" latinLnBrk="0" hangingPunct="1">
              <a:lnSpc>
                <a:spcPct val="90000"/>
              </a:lnSpc>
              <a:spcBef>
                <a:spcPts val="27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986332" y="4451682"/>
            <a:ext cx="7132320" cy="5012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1582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30623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956373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536192" y="707264"/>
            <a:ext cx="6583680" cy="260604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0" y="1234440"/>
            <a:ext cx="8517636" cy="7776972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6192" y="3386259"/>
            <a:ext cx="6583680" cy="564344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900"/>
              </a:spcBef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578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440207"/>
            <a:ext cx="11658600" cy="2194560"/>
          </a:xfrm>
        </p:spPr>
        <p:txBody>
          <a:bodyPr anchor="ctr">
            <a:normAutofit/>
          </a:bodyPr>
          <a:lstStyle>
            <a:lvl1pPr algn="r">
              <a:defRPr sz="75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2"/>
            <a:ext cx="18283428" cy="6858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5900" y="7440207"/>
            <a:ext cx="4800600" cy="219456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2580265" y="7896159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114781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947775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2" y="1143000"/>
            <a:ext cx="3943350" cy="81153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901" y="1143000"/>
            <a:ext cx="11372850" cy="8115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5087600" y="88895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171000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6192" y="877824"/>
            <a:ext cx="14580108" cy="2249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6193" y="3429000"/>
            <a:ext cx="14580110" cy="603504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36194" y="9706056"/>
            <a:ext cx="3231215" cy="411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4399" y="9706056"/>
            <a:ext cx="8852189" cy="411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56000" y="9706056"/>
            <a:ext cx="1460501" cy="411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1143000" y="1239486"/>
            <a:ext cx="0" cy="1371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110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ipe/>
  </p:transition>
  <p:txStyles>
    <p:titleStyle>
      <a:lvl1pPr algn="l" defTabSz="1371600" rtl="0" eaLnBrk="1" latinLnBrk="0" hangingPunct="1">
        <a:lnSpc>
          <a:spcPct val="80000"/>
        </a:lnSpc>
        <a:spcBef>
          <a:spcPct val="0"/>
        </a:spcBef>
        <a:buNone/>
        <a:defRPr sz="7500" kern="1200" cap="all" spc="15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1371600" rtl="0" eaLnBrk="1" latinLnBrk="0" hangingPunct="1">
        <a:lnSpc>
          <a:spcPct val="90000"/>
        </a:lnSpc>
        <a:spcBef>
          <a:spcPts val="1800"/>
        </a:spcBef>
        <a:spcAft>
          <a:spcPts val="3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397764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1165860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1591056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1824228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2043684" indent="-20574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 3" pitchFamily="18" charset="2"/>
        <a:buChar char="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80905" y="6684681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9" y="0"/>
                </a:lnTo>
                <a:lnTo>
                  <a:pt x="8424069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636847" y="-4619865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47800" y="2590581"/>
            <a:ext cx="13977369" cy="7694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000"/>
              </a:lnSpc>
            </a:pPr>
            <a:r>
              <a:rPr lang="en-US" sz="20000" dirty="0">
                <a:solidFill>
                  <a:srgbClr val="051D40"/>
                </a:solidFill>
                <a:latin typeface="Freestyle Script" panose="030804020302050B0404" pitchFamily="66" charset="0"/>
                <a:ea typeface="Genty"/>
                <a:cs typeface="Genty"/>
                <a:sym typeface="Genty"/>
              </a:rPr>
              <a:t>Normalization in DBMS</a:t>
            </a:r>
          </a:p>
          <a:p>
            <a:pPr algn="ctr">
              <a:lnSpc>
                <a:spcPts val="20000"/>
              </a:lnSpc>
            </a:pPr>
            <a:endParaRPr lang="en-US" sz="20000" dirty="0">
              <a:solidFill>
                <a:srgbClr val="051D40"/>
              </a:solidFill>
              <a:latin typeface="Freestyle Script" panose="030804020302050B0404" pitchFamily="66" charset="0"/>
              <a:ea typeface="Genty"/>
              <a:cs typeface="Genty"/>
              <a:sym typeface="Genty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75966" y="736768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318391" y="-5319997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675287" y="2324100"/>
            <a:ext cx="10384637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 dirty="0">
                <a:solidFill>
                  <a:srgbClr val="051D40"/>
                </a:solidFill>
                <a:latin typeface="Franklin Gothic Demi Cond" panose="020B0706030402020204" pitchFamily="34" charset="0"/>
                <a:ea typeface="Genty"/>
                <a:cs typeface="Genty"/>
                <a:sym typeface="Genty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69442" y="4233188"/>
            <a:ext cx="12276926" cy="161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40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Normalization is a way to organize data in database to make it more efficient and reduce repetition (redundancy).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536066" y="1257300"/>
            <a:ext cx="13143678" cy="6521687"/>
            <a:chOff x="0" y="0"/>
            <a:chExt cx="2019912" cy="1704556"/>
          </a:xfrm>
        </p:grpSpPr>
        <p:sp>
          <p:nvSpPr>
            <p:cNvPr id="7" name="Freeform 6"/>
            <p:cNvSpPr/>
            <p:nvPr/>
          </p:nvSpPr>
          <p:spPr>
            <a:xfrm>
              <a:off x="0" y="0"/>
              <a:ext cx="2019912" cy="1704556"/>
            </a:xfrm>
            <a:custGeom>
              <a:avLst/>
              <a:gdLst/>
              <a:ahLst/>
              <a:cxnLst/>
              <a:rect l="l" t="t" r="r" b="b"/>
              <a:pathLst>
                <a:path w="2019912" h="1704556">
                  <a:moveTo>
                    <a:pt x="67253" y="0"/>
                  </a:moveTo>
                  <a:lnTo>
                    <a:pt x="1952659" y="0"/>
                  </a:lnTo>
                  <a:cubicBezTo>
                    <a:pt x="1989802" y="0"/>
                    <a:pt x="2019912" y="30110"/>
                    <a:pt x="2019912" y="67253"/>
                  </a:cubicBezTo>
                  <a:lnTo>
                    <a:pt x="2019912" y="1637303"/>
                  </a:lnTo>
                  <a:cubicBezTo>
                    <a:pt x="2019912" y="1674446"/>
                    <a:pt x="1989802" y="1704556"/>
                    <a:pt x="1952659" y="1704556"/>
                  </a:cubicBezTo>
                  <a:lnTo>
                    <a:pt x="67253" y="1704556"/>
                  </a:lnTo>
                  <a:cubicBezTo>
                    <a:pt x="30110" y="1704556"/>
                    <a:pt x="0" y="1674446"/>
                    <a:pt x="0" y="1637303"/>
                  </a:cubicBezTo>
                  <a:lnTo>
                    <a:pt x="0" y="67253"/>
                  </a:lnTo>
                  <a:cubicBezTo>
                    <a:pt x="0" y="30110"/>
                    <a:pt x="30110" y="0"/>
                    <a:pt x="672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B1D4E0"/>
              </a:solidFill>
              <a:prstDash val="solid"/>
              <a:round/>
            </a:ln>
          </p:spPr>
        </p:sp>
        <p:sp>
          <p:nvSpPr>
            <p:cNvPr id="8" name="TextBox 7"/>
            <p:cNvSpPr txBox="1"/>
            <p:nvPr/>
          </p:nvSpPr>
          <p:spPr>
            <a:xfrm>
              <a:off x="0" y="-38100"/>
              <a:ext cx="2019912" cy="1742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66107" y="8611375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505200" y="-5241569"/>
            <a:ext cx="7766021" cy="7756313"/>
          </a:xfrm>
          <a:custGeom>
            <a:avLst/>
            <a:gdLst/>
            <a:ahLst/>
            <a:cxnLst/>
            <a:rect l="l" t="t" r="r" b="b"/>
            <a:pathLst>
              <a:path w="7766021" h="7756313">
                <a:moveTo>
                  <a:pt x="0" y="0"/>
                </a:moveTo>
                <a:lnTo>
                  <a:pt x="7766021" y="0"/>
                </a:lnTo>
                <a:lnTo>
                  <a:pt x="7766021" y="7756313"/>
                </a:lnTo>
                <a:lnTo>
                  <a:pt x="0" y="7756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18537" y="827424"/>
            <a:ext cx="16850919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8800" dirty="0">
                <a:solidFill>
                  <a:srgbClr val="051D40"/>
                </a:solidFill>
                <a:latin typeface="Franklin Gothic Demi" panose="020B0703020102020204" pitchFamily="34" charset="0"/>
                <a:ea typeface="Genty"/>
                <a:cs typeface="Genty"/>
                <a:sym typeface="Genty"/>
              </a:rPr>
              <a:t>Real life example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46212" y="2736437"/>
            <a:ext cx="15595567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36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Suppose we have a table with customer information and order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396975"/>
              </p:ext>
            </p:extLst>
          </p:nvPr>
        </p:nvGraphicFramePr>
        <p:xfrm>
          <a:off x="3771895" y="3881172"/>
          <a:ext cx="10744200" cy="412407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686050">
                  <a:extLst>
                    <a:ext uri="{9D8B030D-6E8A-4147-A177-3AD203B41FA5}">
                      <a16:colId xmlns:a16="http://schemas.microsoft.com/office/drawing/2014/main" val="3818390189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3830838142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229062522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1973261200"/>
                    </a:ext>
                  </a:extLst>
                </a:gridCol>
              </a:tblGrid>
              <a:tr h="937812">
                <a:tc>
                  <a:txBody>
                    <a:bodyPr/>
                    <a:lstStyle/>
                    <a:p>
                      <a:r>
                        <a:rPr lang="en-US" sz="4000" dirty="0"/>
                        <a:t>Customer</a:t>
                      </a:r>
                      <a:r>
                        <a:rPr lang="en-US" sz="4000" baseline="0" dirty="0"/>
                        <a:t> ID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Order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Order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1272"/>
                  </a:ext>
                </a:extLst>
              </a:tr>
              <a:tr h="937812">
                <a:tc>
                  <a:txBody>
                    <a:bodyPr/>
                    <a:lstStyle/>
                    <a:p>
                      <a:r>
                        <a:rPr lang="en-US" sz="4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baseline="0" dirty="0"/>
                        <a:t>Vineeta 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1/3/2025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69542"/>
                  </a:ext>
                </a:extLst>
              </a:tr>
              <a:tr h="937812">
                <a:tc>
                  <a:txBody>
                    <a:bodyPr/>
                    <a:lstStyle/>
                    <a:p>
                      <a:r>
                        <a:rPr lang="en-US" sz="4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Vineeta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15/3/2025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896197"/>
                  </a:ext>
                </a:extLst>
              </a:tr>
              <a:tr h="937812">
                <a:tc>
                  <a:txBody>
                    <a:bodyPr/>
                    <a:lstStyle/>
                    <a:p>
                      <a:r>
                        <a:rPr lang="en-US" sz="4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Nirmla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21/2/2025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43927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49200" y="8675294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657600" y="-4722821"/>
            <a:ext cx="7766021" cy="7756313"/>
          </a:xfrm>
          <a:custGeom>
            <a:avLst/>
            <a:gdLst/>
            <a:ahLst/>
            <a:cxnLst/>
            <a:rect l="l" t="t" r="r" b="b"/>
            <a:pathLst>
              <a:path w="7766021" h="7756313">
                <a:moveTo>
                  <a:pt x="0" y="0"/>
                </a:moveTo>
                <a:lnTo>
                  <a:pt x="7766021" y="0"/>
                </a:lnTo>
                <a:lnTo>
                  <a:pt x="7766021" y="7756313"/>
                </a:lnTo>
                <a:lnTo>
                  <a:pt x="0" y="7756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72073" y="300692"/>
            <a:ext cx="16850919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8800" dirty="0">
                <a:solidFill>
                  <a:srgbClr val="051D40"/>
                </a:solidFill>
                <a:latin typeface="Franklin Gothic Demi" panose="020B0703020102020204" pitchFamily="34" charset="0"/>
                <a:ea typeface="Genty"/>
                <a:cs typeface="Genty"/>
                <a:sym typeface="Genty"/>
              </a:rPr>
              <a:t>Real life example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70542" y="2196024"/>
            <a:ext cx="15595567" cy="573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44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Normalized tables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397076"/>
              </p:ext>
            </p:extLst>
          </p:nvPr>
        </p:nvGraphicFramePr>
        <p:xfrm>
          <a:off x="1219200" y="3895148"/>
          <a:ext cx="6400800" cy="281343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3818390189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830838142"/>
                    </a:ext>
                  </a:extLst>
                </a:gridCol>
              </a:tblGrid>
              <a:tr h="937812">
                <a:tc>
                  <a:txBody>
                    <a:bodyPr/>
                    <a:lstStyle/>
                    <a:p>
                      <a:r>
                        <a:rPr lang="en-US" sz="3600" dirty="0"/>
                        <a:t>Customer</a:t>
                      </a:r>
                      <a:r>
                        <a:rPr lang="en-US" sz="3600" baseline="0" dirty="0"/>
                        <a:t> ID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Name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1272"/>
                  </a:ext>
                </a:extLst>
              </a:tr>
              <a:tr h="937812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Vineeta </a:t>
                      </a:r>
                      <a:endParaRPr 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69542"/>
                  </a:ext>
                </a:extLst>
              </a:tr>
              <a:tr h="937812">
                <a:tc>
                  <a:txBody>
                    <a:bodyPr/>
                    <a:lstStyle/>
                    <a:p>
                      <a:r>
                        <a:rPr lang="en-US" sz="3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Nirmla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43927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878804"/>
              </p:ext>
            </p:extLst>
          </p:nvPr>
        </p:nvGraphicFramePr>
        <p:xfrm>
          <a:off x="10287000" y="3881721"/>
          <a:ext cx="7219950" cy="4262739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406650">
                  <a:extLst>
                    <a:ext uri="{9D8B030D-6E8A-4147-A177-3AD203B41FA5}">
                      <a16:colId xmlns:a16="http://schemas.microsoft.com/office/drawing/2014/main" val="3319907956"/>
                    </a:ext>
                  </a:extLst>
                </a:gridCol>
                <a:gridCol w="2406650">
                  <a:extLst>
                    <a:ext uri="{9D8B030D-6E8A-4147-A177-3AD203B41FA5}">
                      <a16:colId xmlns:a16="http://schemas.microsoft.com/office/drawing/2014/main" val="2942050629"/>
                    </a:ext>
                  </a:extLst>
                </a:gridCol>
                <a:gridCol w="2406650">
                  <a:extLst>
                    <a:ext uri="{9D8B030D-6E8A-4147-A177-3AD203B41FA5}">
                      <a16:colId xmlns:a16="http://schemas.microsoft.com/office/drawing/2014/main" val="1601739248"/>
                    </a:ext>
                  </a:extLst>
                </a:gridCol>
              </a:tblGrid>
              <a:tr h="882945">
                <a:tc>
                  <a:txBody>
                    <a:bodyPr/>
                    <a:lstStyle/>
                    <a:p>
                      <a:r>
                        <a:rPr lang="en-US" sz="3600" dirty="0"/>
                        <a:t>Customer</a:t>
                      </a:r>
                      <a:r>
                        <a:rPr lang="en-US" sz="3600" baseline="0" dirty="0"/>
                        <a:t> ID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Order 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Order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282250"/>
                  </a:ext>
                </a:extLst>
              </a:tr>
              <a:tr h="696579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1/3/2025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911883"/>
                  </a:ext>
                </a:extLst>
              </a:tr>
              <a:tr h="696579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15/3/2025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913355"/>
                  </a:ext>
                </a:extLst>
              </a:tr>
              <a:tr h="696579">
                <a:tc>
                  <a:txBody>
                    <a:bodyPr/>
                    <a:lstStyle/>
                    <a:p>
                      <a:r>
                        <a:rPr lang="en-US" sz="3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21/2/2025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41501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057400" y="2716098"/>
            <a:ext cx="3682418" cy="6347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36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Customer table 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15800" y="2719945"/>
            <a:ext cx="2820003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36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Order table </a:t>
            </a:r>
          </a:p>
        </p:txBody>
      </p:sp>
    </p:spTree>
    <p:extLst>
      <p:ext uri="{BB962C8B-B14F-4D97-AF65-F5344CB8AC3E}">
        <p14:creationId xmlns:p14="http://schemas.microsoft.com/office/powerpoint/2010/main" val="22251220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5"/>
          <p:cNvGrpSpPr/>
          <p:nvPr/>
        </p:nvGrpSpPr>
        <p:grpSpPr>
          <a:xfrm>
            <a:off x="2362200" y="1790700"/>
            <a:ext cx="12649200" cy="6605919"/>
            <a:chOff x="0" y="0"/>
            <a:chExt cx="1537717" cy="1177043"/>
          </a:xfrm>
        </p:grpSpPr>
        <p:sp>
          <p:nvSpPr>
            <p:cNvPr id="10" name="Freeform 16"/>
            <p:cNvSpPr/>
            <p:nvPr/>
          </p:nvSpPr>
          <p:spPr>
            <a:xfrm>
              <a:off x="0" y="0"/>
              <a:ext cx="1537717" cy="1177043"/>
            </a:xfrm>
            <a:custGeom>
              <a:avLst/>
              <a:gdLst/>
              <a:ahLst/>
              <a:cxnLst/>
              <a:rect l="l" t="t" r="r" b="b"/>
              <a:pathLst>
                <a:path w="1537717" h="1177043">
                  <a:moveTo>
                    <a:pt x="74720" y="0"/>
                  </a:moveTo>
                  <a:lnTo>
                    <a:pt x="1462997" y="0"/>
                  </a:lnTo>
                  <a:cubicBezTo>
                    <a:pt x="1504264" y="0"/>
                    <a:pt x="1537717" y="33454"/>
                    <a:pt x="1537717" y="74720"/>
                  </a:cubicBezTo>
                  <a:lnTo>
                    <a:pt x="1537717" y="1102322"/>
                  </a:lnTo>
                  <a:cubicBezTo>
                    <a:pt x="1537717" y="1122139"/>
                    <a:pt x="1529845" y="1141145"/>
                    <a:pt x="1515832" y="1155158"/>
                  </a:cubicBezTo>
                  <a:cubicBezTo>
                    <a:pt x="1501819" y="1169170"/>
                    <a:pt x="1482814" y="1177043"/>
                    <a:pt x="1462997" y="1177043"/>
                  </a:cubicBezTo>
                  <a:lnTo>
                    <a:pt x="74720" y="1177043"/>
                  </a:lnTo>
                  <a:cubicBezTo>
                    <a:pt x="54903" y="1177043"/>
                    <a:pt x="35898" y="1169170"/>
                    <a:pt x="21885" y="1155158"/>
                  </a:cubicBezTo>
                  <a:cubicBezTo>
                    <a:pt x="7872" y="1141145"/>
                    <a:pt x="0" y="1122139"/>
                    <a:pt x="0" y="1102322"/>
                  </a:cubicBezTo>
                  <a:lnTo>
                    <a:pt x="0" y="74720"/>
                  </a:lnTo>
                  <a:cubicBezTo>
                    <a:pt x="0" y="54903"/>
                    <a:pt x="7872" y="35898"/>
                    <a:pt x="21885" y="21885"/>
                  </a:cubicBezTo>
                  <a:cubicBezTo>
                    <a:pt x="35898" y="7872"/>
                    <a:pt x="54903" y="0"/>
                    <a:pt x="74720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11" name="TextBox 17"/>
            <p:cNvSpPr txBox="1"/>
            <p:nvPr/>
          </p:nvSpPr>
          <p:spPr>
            <a:xfrm>
              <a:off x="0" y="-38100"/>
              <a:ext cx="1537717" cy="1215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Freeform 2"/>
          <p:cNvSpPr/>
          <p:nvPr/>
        </p:nvSpPr>
        <p:spPr>
          <a:xfrm>
            <a:off x="11966107" y="8611375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041621" y="-5710942"/>
            <a:ext cx="7766021" cy="7756313"/>
          </a:xfrm>
          <a:custGeom>
            <a:avLst/>
            <a:gdLst/>
            <a:ahLst/>
            <a:cxnLst/>
            <a:rect l="l" t="t" r="r" b="b"/>
            <a:pathLst>
              <a:path w="7766021" h="7756313">
                <a:moveTo>
                  <a:pt x="0" y="0"/>
                </a:moveTo>
                <a:lnTo>
                  <a:pt x="7766021" y="0"/>
                </a:lnTo>
                <a:lnTo>
                  <a:pt x="7766021" y="7756313"/>
                </a:lnTo>
                <a:lnTo>
                  <a:pt x="0" y="7756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733800" y="2300043"/>
            <a:ext cx="10384637" cy="159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1500" dirty="0">
                <a:solidFill>
                  <a:srgbClr val="051D40"/>
                </a:solidFill>
                <a:latin typeface="Algerian" panose="04020705040A02060702" pitchFamily="82" charset="0"/>
                <a:ea typeface="Genty"/>
                <a:cs typeface="Genty"/>
                <a:sym typeface="Genty"/>
              </a:rPr>
              <a:t>Keys in DBMS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24400" y="4241650"/>
            <a:ext cx="8860637" cy="1096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40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A key is a set of attributes that uniquely identify a record in a 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275760" y="5829300"/>
            <a:ext cx="365035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3200" dirty="0">
                <a:solidFill>
                  <a:srgbClr val="051D40"/>
                </a:solidFill>
                <a:latin typeface="Nunito Sans"/>
                <a:sym typeface="Nunito Sans"/>
              </a:rPr>
              <a:t>Primary key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200" dirty="0">
                <a:solidFill>
                  <a:srgbClr val="051D40"/>
                </a:solidFill>
                <a:latin typeface="Nunito Sans"/>
                <a:sym typeface="Nunito Sans"/>
              </a:rPr>
              <a:t>Composite key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200" dirty="0">
                <a:solidFill>
                  <a:srgbClr val="051D40"/>
                </a:solidFill>
                <a:latin typeface="Nunito Sans"/>
                <a:sym typeface="Nunito Sans"/>
              </a:rPr>
              <a:t>Foreign key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94637" y="6624573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883011" y="-4427660"/>
            <a:ext cx="7766021" cy="7756313"/>
          </a:xfrm>
          <a:custGeom>
            <a:avLst/>
            <a:gdLst/>
            <a:ahLst/>
            <a:cxnLst/>
            <a:rect l="l" t="t" r="r" b="b"/>
            <a:pathLst>
              <a:path w="7766021" h="7756313">
                <a:moveTo>
                  <a:pt x="0" y="0"/>
                </a:moveTo>
                <a:lnTo>
                  <a:pt x="7766021" y="0"/>
                </a:lnTo>
                <a:lnTo>
                  <a:pt x="7766021" y="7756313"/>
                </a:lnTo>
                <a:lnTo>
                  <a:pt x="0" y="7756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810000" y="1028700"/>
            <a:ext cx="10384637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 dirty="0">
                <a:solidFill>
                  <a:srgbClr val="051D40"/>
                </a:solidFill>
                <a:latin typeface="Arial Rounded MT Bold" panose="020F0704030504030204" pitchFamily="34" charset="0"/>
                <a:ea typeface="Genty"/>
                <a:cs typeface="Genty"/>
                <a:sym typeface="Genty"/>
              </a:rPr>
              <a:t>Keys function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86457" y="3467100"/>
            <a:ext cx="4314143" cy="1084524"/>
            <a:chOff x="0" y="0"/>
            <a:chExt cx="1537717" cy="11770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7717" cy="1177043"/>
            </a:xfrm>
            <a:custGeom>
              <a:avLst/>
              <a:gdLst/>
              <a:ahLst/>
              <a:cxnLst/>
              <a:rect l="l" t="t" r="r" b="b"/>
              <a:pathLst>
                <a:path w="1537717" h="1177043">
                  <a:moveTo>
                    <a:pt x="74720" y="0"/>
                  </a:moveTo>
                  <a:lnTo>
                    <a:pt x="1462997" y="0"/>
                  </a:lnTo>
                  <a:cubicBezTo>
                    <a:pt x="1504264" y="0"/>
                    <a:pt x="1537717" y="33454"/>
                    <a:pt x="1537717" y="74720"/>
                  </a:cubicBezTo>
                  <a:lnTo>
                    <a:pt x="1537717" y="1102322"/>
                  </a:lnTo>
                  <a:cubicBezTo>
                    <a:pt x="1537717" y="1122139"/>
                    <a:pt x="1529845" y="1141145"/>
                    <a:pt x="1515832" y="1155158"/>
                  </a:cubicBezTo>
                  <a:cubicBezTo>
                    <a:pt x="1501819" y="1169170"/>
                    <a:pt x="1482814" y="1177043"/>
                    <a:pt x="1462997" y="1177043"/>
                  </a:cubicBezTo>
                  <a:lnTo>
                    <a:pt x="74720" y="1177043"/>
                  </a:lnTo>
                  <a:cubicBezTo>
                    <a:pt x="54903" y="1177043"/>
                    <a:pt x="35898" y="1169170"/>
                    <a:pt x="21885" y="1155158"/>
                  </a:cubicBezTo>
                  <a:cubicBezTo>
                    <a:pt x="7872" y="1141145"/>
                    <a:pt x="0" y="1122139"/>
                    <a:pt x="0" y="1102322"/>
                  </a:cubicBezTo>
                  <a:lnTo>
                    <a:pt x="0" y="74720"/>
                  </a:lnTo>
                  <a:cubicBezTo>
                    <a:pt x="0" y="54903"/>
                    <a:pt x="7872" y="35898"/>
                    <a:pt x="21885" y="21885"/>
                  </a:cubicBezTo>
                  <a:cubicBezTo>
                    <a:pt x="35898" y="7872"/>
                    <a:pt x="54903" y="0"/>
                    <a:pt x="74720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37717" cy="1215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168223" y="3596603"/>
            <a:ext cx="8524651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A primary key is a Uniquely identifier for each record  in a table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9566" y="3768123"/>
            <a:ext cx="4699349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5"/>
              </a:lnSpc>
            </a:pPr>
            <a:r>
              <a:rPr lang="en-US" sz="4525" dirty="0">
                <a:solidFill>
                  <a:srgbClr val="051D40"/>
                </a:solidFill>
                <a:latin typeface="Arial Rounded MT Bold" panose="020F0704030504030204" pitchFamily="34" charset="0"/>
                <a:ea typeface="Genty"/>
                <a:cs typeface="Genty"/>
                <a:sym typeface="Genty"/>
              </a:rPr>
              <a:t>Primary key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947948"/>
              </p:ext>
            </p:extLst>
          </p:nvPr>
        </p:nvGraphicFramePr>
        <p:xfrm>
          <a:off x="3022863" y="5825107"/>
          <a:ext cx="11148328" cy="344209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87082">
                  <a:extLst>
                    <a:ext uri="{9D8B030D-6E8A-4147-A177-3AD203B41FA5}">
                      <a16:colId xmlns:a16="http://schemas.microsoft.com/office/drawing/2014/main" val="1866016019"/>
                    </a:ext>
                  </a:extLst>
                </a:gridCol>
                <a:gridCol w="2787082">
                  <a:extLst>
                    <a:ext uri="{9D8B030D-6E8A-4147-A177-3AD203B41FA5}">
                      <a16:colId xmlns:a16="http://schemas.microsoft.com/office/drawing/2014/main" val="2319116335"/>
                    </a:ext>
                  </a:extLst>
                </a:gridCol>
                <a:gridCol w="2787082">
                  <a:extLst>
                    <a:ext uri="{9D8B030D-6E8A-4147-A177-3AD203B41FA5}">
                      <a16:colId xmlns:a16="http://schemas.microsoft.com/office/drawing/2014/main" val="5082876"/>
                    </a:ext>
                  </a:extLst>
                </a:gridCol>
                <a:gridCol w="2787082">
                  <a:extLst>
                    <a:ext uri="{9D8B030D-6E8A-4147-A177-3AD203B41FA5}">
                      <a16:colId xmlns:a16="http://schemas.microsoft.com/office/drawing/2014/main" val="3125801225"/>
                    </a:ext>
                  </a:extLst>
                </a:gridCol>
              </a:tblGrid>
              <a:tr h="860523">
                <a:tc>
                  <a:txBody>
                    <a:bodyPr/>
                    <a:lstStyle/>
                    <a:p>
                      <a:r>
                        <a:rPr lang="en-US" sz="3600" dirty="0"/>
                        <a:t>Roll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Address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phone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61427"/>
                  </a:ext>
                </a:extLst>
              </a:tr>
              <a:tr h="860523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Simran</a:t>
                      </a:r>
                      <a:r>
                        <a:rPr lang="en-US" sz="3600" baseline="0" dirty="0"/>
                        <a:t> 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Karachi</a:t>
                      </a:r>
                      <a:r>
                        <a:rPr lang="en-US" sz="3600" baseline="0" dirty="0"/>
                        <a:t> 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8877….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220789"/>
                  </a:ext>
                </a:extLst>
              </a:tr>
              <a:tr h="860523">
                <a:tc>
                  <a:txBody>
                    <a:bodyPr/>
                    <a:lstStyle/>
                    <a:p>
                      <a:r>
                        <a:rPr lang="en-US" sz="3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Simran</a:t>
                      </a:r>
                      <a:r>
                        <a:rPr lang="en-US" sz="3600" baseline="0" dirty="0"/>
                        <a:t> 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Sukkur</a:t>
                      </a:r>
                      <a:r>
                        <a:rPr lang="en-US" sz="3600" baseline="0" dirty="0"/>
                        <a:t> 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9865…..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212706"/>
                  </a:ext>
                </a:extLst>
              </a:tr>
              <a:tr h="860523">
                <a:tc>
                  <a:txBody>
                    <a:bodyPr/>
                    <a:lstStyle/>
                    <a:p>
                      <a:r>
                        <a:rPr lang="en-US" sz="3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Dua</a:t>
                      </a:r>
                      <a:r>
                        <a:rPr lang="en-US" sz="3600" baseline="0" dirty="0"/>
                        <a:t> 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Lahore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7089…..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366581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547427" y="4877399"/>
            <a:ext cx="409919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051D40"/>
                </a:solidFill>
                <a:latin typeface="Nunito Sans"/>
                <a:sym typeface="Nunito Sans"/>
              </a:rPr>
              <a:t>Student table</a:t>
            </a:r>
            <a:endParaRPr lang="en-US" sz="4800" b="1" dirty="0"/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75966" y="750570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883011" y="-4610100"/>
            <a:ext cx="7766021" cy="7756313"/>
          </a:xfrm>
          <a:custGeom>
            <a:avLst/>
            <a:gdLst/>
            <a:ahLst/>
            <a:cxnLst/>
            <a:rect l="l" t="t" r="r" b="b"/>
            <a:pathLst>
              <a:path w="7766021" h="7756313">
                <a:moveTo>
                  <a:pt x="0" y="0"/>
                </a:moveTo>
                <a:lnTo>
                  <a:pt x="7766021" y="0"/>
                </a:lnTo>
                <a:lnTo>
                  <a:pt x="7766021" y="7756313"/>
                </a:lnTo>
                <a:lnTo>
                  <a:pt x="0" y="7756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038600" y="1257300"/>
            <a:ext cx="10384637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 dirty="0">
                <a:solidFill>
                  <a:srgbClr val="051D40"/>
                </a:solidFill>
                <a:latin typeface="Arial Rounded MT Bold" panose="020F0704030504030204" pitchFamily="34" charset="0"/>
                <a:ea typeface="Genty"/>
                <a:cs typeface="Genty"/>
                <a:sym typeface="Genty"/>
              </a:rPr>
              <a:t>Keys function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4083" y="3846703"/>
            <a:ext cx="5013317" cy="1031901"/>
            <a:chOff x="0" y="0"/>
            <a:chExt cx="1537717" cy="11770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7717" cy="1177043"/>
            </a:xfrm>
            <a:custGeom>
              <a:avLst/>
              <a:gdLst/>
              <a:ahLst/>
              <a:cxnLst/>
              <a:rect l="l" t="t" r="r" b="b"/>
              <a:pathLst>
                <a:path w="1537717" h="1177043">
                  <a:moveTo>
                    <a:pt x="74720" y="0"/>
                  </a:moveTo>
                  <a:lnTo>
                    <a:pt x="1462997" y="0"/>
                  </a:lnTo>
                  <a:cubicBezTo>
                    <a:pt x="1504264" y="0"/>
                    <a:pt x="1537717" y="33454"/>
                    <a:pt x="1537717" y="74720"/>
                  </a:cubicBezTo>
                  <a:lnTo>
                    <a:pt x="1537717" y="1102322"/>
                  </a:lnTo>
                  <a:cubicBezTo>
                    <a:pt x="1537717" y="1122139"/>
                    <a:pt x="1529845" y="1141145"/>
                    <a:pt x="1515832" y="1155158"/>
                  </a:cubicBezTo>
                  <a:cubicBezTo>
                    <a:pt x="1501819" y="1169170"/>
                    <a:pt x="1482814" y="1177043"/>
                    <a:pt x="1462997" y="1177043"/>
                  </a:cubicBezTo>
                  <a:lnTo>
                    <a:pt x="74720" y="1177043"/>
                  </a:lnTo>
                  <a:cubicBezTo>
                    <a:pt x="54903" y="1177043"/>
                    <a:pt x="35898" y="1169170"/>
                    <a:pt x="21885" y="1155158"/>
                  </a:cubicBezTo>
                  <a:cubicBezTo>
                    <a:pt x="7872" y="1141145"/>
                    <a:pt x="0" y="1122139"/>
                    <a:pt x="0" y="1102322"/>
                  </a:cubicBezTo>
                  <a:lnTo>
                    <a:pt x="0" y="74720"/>
                  </a:lnTo>
                  <a:cubicBezTo>
                    <a:pt x="0" y="54903"/>
                    <a:pt x="7872" y="35898"/>
                    <a:pt x="21885" y="21885"/>
                  </a:cubicBezTo>
                  <a:cubicBezTo>
                    <a:pt x="35898" y="7872"/>
                    <a:pt x="54903" y="0"/>
                    <a:pt x="74720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37717" cy="1215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403507" y="3846703"/>
            <a:ext cx="111252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A composite key is a combination of multiple attributes that uniquely identify a record in a table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4083" y="4051753"/>
            <a:ext cx="4699349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5"/>
              </a:lnSpc>
            </a:pPr>
            <a:r>
              <a:rPr lang="en-US" sz="4525" dirty="0">
                <a:solidFill>
                  <a:srgbClr val="051D40"/>
                </a:solidFill>
                <a:latin typeface="Arial Rounded MT Bold" panose="020F0704030504030204" pitchFamily="34" charset="0"/>
                <a:ea typeface="Genty"/>
                <a:cs typeface="Genty"/>
                <a:sym typeface="Genty"/>
              </a:rPr>
              <a:t>Composite key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774933"/>
              </p:ext>
            </p:extLst>
          </p:nvPr>
        </p:nvGraphicFramePr>
        <p:xfrm>
          <a:off x="3197895" y="6339599"/>
          <a:ext cx="11148328" cy="344209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87082">
                  <a:extLst>
                    <a:ext uri="{9D8B030D-6E8A-4147-A177-3AD203B41FA5}">
                      <a16:colId xmlns:a16="http://schemas.microsoft.com/office/drawing/2014/main" val="1866016019"/>
                    </a:ext>
                  </a:extLst>
                </a:gridCol>
                <a:gridCol w="2787082">
                  <a:extLst>
                    <a:ext uri="{9D8B030D-6E8A-4147-A177-3AD203B41FA5}">
                      <a16:colId xmlns:a16="http://schemas.microsoft.com/office/drawing/2014/main" val="2319116335"/>
                    </a:ext>
                  </a:extLst>
                </a:gridCol>
                <a:gridCol w="2787082">
                  <a:extLst>
                    <a:ext uri="{9D8B030D-6E8A-4147-A177-3AD203B41FA5}">
                      <a16:colId xmlns:a16="http://schemas.microsoft.com/office/drawing/2014/main" val="5082876"/>
                    </a:ext>
                  </a:extLst>
                </a:gridCol>
                <a:gridCol w="2787082">
                  <a:extLst>
                    <a:ext uri="{9D8B030D-6E8A-4147-A177-3AD203B41FA5}">
                      <a16:colId xmlns:a16="http://schemas.microsoft.com/office/drawing/2014/main" val="3125801225"/>
                    </a:ext>
                  </a:extLst>
                </a:gridCol>
              </a:tblGrid>
              <a:tr h="860523">
                <a:tc>
                  <a:txBody>
                    <a:bodyPr/>
                    <a:lstStyle/>
                    <a:p>
                      <a:r>
                        <a:rPr lang="en-US" sz="3600" dirty="0"/>
                        <a:t>Roll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Address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phone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61427"/>
                  </a:ext>
                </a:extLst>
              </a:tr>
              <a:tr h="860523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Simran</a:t>
                      </a:r>
                      <a:r>
                        <a:rPr lang="en-US" sz="3600" baseline="0" dirty="0"/>
                        <a:t> 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Karachi</a:t>
                      </a:r>
                      <a:r>
                        <a:rPr lang="en-US" sz="3600" baseline="0" dirty="0"/>
                        <a:t> 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8877….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220789"/>
                  </a:ext>
                </a:extLst>
              </a:tr>
              <a:tr h="860523">
                <a:tc>
                  <a:txBody>
                    <a:bodyPr/>
                    <a:lstStyle/>
                    <a:p>
                      <a:r>
                        <a:rPr lang="en-US" sz="3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Simran</a:t>
                      </a:r>
                      <a:r>
                        <a:rPr lang="en-US" sz="3600" baseline="0" dirty="0"/>
                        <a:t> 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Sukkur</a:t>
                      </a:r>
                      <a:r>
                        <a:rPr lang="en-US" sz="3600" baseline="0" dirty="0"/>
                        <a:t> 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9865…..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212706"/>
                  </a:ext>
                </a:extLst>
              </a:tr>
              <a:tr h="860523">
                <a:tc>
                  <a:txBody>
                    <a:bodyPr/>
                    <a:lstStyle/>
                    <a:p>
                      <a:r>
                        <a:rPr lang="en-US" sz="3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Dua</a:t>
                      </a:r>
                      <a:r>
                        <a:rPr lang="en-US" sz="3600" baseline="0" dirty="0"/>
                        <a:t> 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Lahore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7089…..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366581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506728" y="5522313"/>
            <a:ext cx="344838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051D40"/>
                </a:solidFill>
                <a:latin typeface="Nunito Sans"/>
                <a:sym typeface="Nunito Sans"/>
              </a:rPr>
              <a:t>Student table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06286646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05031" y="6080231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128540" y="-5551259"/>
            <a:ext cx="7766021" cy="7756313"/>
          </a:xfrm>
          <a:custGeom>
            <a:avLst/>
            <a:gdLst/>
            <a:ahLst/>
            <a:cxnLst/>
            <a:rect l="l" t="t" r="r" b="b"/>
            <a:pathLst>
              <a:path w="7766021" h="7756313">
                <a:moveTo>
                  <a:pt x="0" y="0"/>
                </a:moveTo>
                <a:lnTo>
                  <a:pt x="7766021" y="0"/>
                </a:lnTo>
                <a:lnTo>
                  <a:pt x="7766021" y="7756313"/>
                </a:lnTo>
                <a:lnTo>
                  <a:pt x="0" y="7756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373234" y="682799"/>
            <a:ext cx="10384637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 dirty="0">
                <a:solidFill>
                  <a:srgbClr val="051D40"/>
                </a:solidFill>
                <a:latin typeface="Arial Rounded MT Bold" panose="020F0704030504030204" pitchFamily="34" charset="0"/>
                <a:ea typeface="Genty"/>
                <a:cs typeface="Genty"/>
                <a:sym typeface="Genty"/>
              </a:rPr>
              <a:t>Keys function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91966" y="2705100"/>
            <a:ext cx="4284834" cy="1219200"/>
            <a:chOff x="0" y="0"/>
            <a:chExt cx="1537717" cy="11770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7717" cy="1177043"/>
            </a:xfrm>
            <a:custGeom>
              <a:avLst/>
              <a:gdLst/>
              <a:ahLst/>
              <a:cxnLst/>
              <a:rect l="l" t="t" r="r" b="b"/>
              <a:pathLst>
                <a:path w="1537717" h="1177043">
                  <a:moveTo>
                    <a:pt x="74720" y="0"/>
                  </a:moveTo>
                  <a:lnTo>
                    <a:pt x="1462997" y="0"/>
                  </a:lnTo>
                  <a:cubicBezTo>
                    <a:pt x="1504264" y="0"/>
                    <a:pt x="1537717" y="33454"/>
                    <a:pt x="1537717" y="74720"/>
                  </a:cubicBezTo>
                  <a:lnTo>
                    <a:pt x="1537717" y="1102322"/>
                  </a:lnTo>
                  <a:cubicBezTo>
                    <a:pt x="1537717" y="1122139"/>
                    <a:pt x="1529845" y="1141145"/>
                    <a:pt x="1515832" y="1155158"/>
                  </a:cubicBezTo>
                  <a:cubicBezTo>
                    <a:pt x="1501819" y="1169170"/>
                    <a:pt x="1482814" y="1177043"/>
                    <a:pt x="1462997" y="1177043"/>
                  </a:cubicBezTo>
                  <a:lnTo>
                    <a:pt x="74720" y="1177043"/>
                  </a:lnTo>
                  <a:cubicBezTo>
                    <a:pt x="54903" y="1177043"/>
                    <a:pt x="35898" y="1169170"/>
                    <a:pt x="21885" y="1155158"/>
                  </a:cubicBezTo>
                  <a:cubicBezTo>
                    <a:pt x="7872" y="1141145"/>
                    <a:pt x="0" y="1122139"/>
                    <a:pt x="0" y="1102322"/>
                  </a:cubicBezTo>
                  <a:lnTo>
                    <a:pt x="0" y="74720"/>
                  </a:lnTo>
                  <a:cubicBezTo>
                    <a:pt x="0" y="54903"/>
                    <a:pt x="7872" y="35898"/>
                    <a:pt x="21885" y="21885"/>
                  </a:cubicBezTo>
                  <a:cubicBezTo>
                    <a:pt x="35898" y="7872"/>
                    <a:pt x="54903" y="0"/>
                    <a:pt x="74720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37717" cy="1215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197192" y="2740090"/>
            <a:ext cx="8524651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A foreign key is a key that references the primary key of another table.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9566" y="3005548"/>
            <a:ext cx="4699349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5"/>
              </a:lnSpc>
            </a:pPr>
            <a:r>
              <a:rPr lang="en-US" sz="4525" dirty="0">
                <a:solidFill>
                  <a:srgbClr val="051D40"/>
                </a:solidFill>
                <a:latin typeface="Arial Rounded MT Bold" panose="020F0704030504030204" pitchFamily="34" charset="0"/>
                <a:ea typeface="Genty"/>
                <a:cs typeface="Genty"/>
                <a:sym typeface="Genty"/>
              </a:rPr>
              <a:t>Foreign key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413137"/>
              </p:ext>
            </p:extLst>
          </p:nvPr>
        </p:nvGraphicFramePr>
        <p:xfrm>
          <a:off x="591966" y="5483409"/>
          <a:ext cx="8053803" cy="315224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4601">
                  <a:extLst>
                    <a:ext uri="{9D8B030D-6E8A-4147-A177-3AD203B41FA5}">
                      <a16:colId xmlns:a16="http://schemas.microsoft.com/office/drawing/2014/main" val="2268771584"/>
                    </a:ext>
                  </a:extLst>
                </a:gridCol>
                <a:gridCol w="2684601">
                  <a:extLst>
                    <a:ext uri="{9D8B030D-6E8A-4147-A177-3AD203B41FA5}">
                      <a16:colId xmlns:a16="http://schemas.microsoft.com/office/drawing/2014/main" val="2177726048"/>
                    </a:ext>
                  </a:extLst>
                </a:gridCol>
                <a:gridCol w="2684601">
                  <a:extLst>
                    <a:ext uri="{9D8B030D-6E8A-4147-A177-3AD203B41FA5}">
                      <a16:colId xmlns:a16="http://schemas.microsoft.com/office/drawing/2014/main" val="145554183"/>
                    </a:ext>
                  </a:extLst>
                </a:gridCol>
              </a:tblGrid>
              <a:tr h="920803">
                <a:tc>
                  <a:txBody>
                    <a:bodyPr/>
                    <a:lstStyle/>
                    <a:p>
                      <a:r>
                        <a:rPr lang="en-US" sz="4000" dirty="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Order date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662540"/>
                  </a:ext>
                </a:extLst>
              </a:tr>
              <a:tr h="920803">
                <a:tc>
                  <a:txBody>
                    <a:bodyPr/>
                    <a:lstStyle/>
                    <a:p>
                      <a:r>
                        <a:rPr lang="en-US" sz="4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24/2/2025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324719"/>
                  </a:ext>
                </a:extLst>
              </a:tr>
              <a:tr h="920803">
                <a:tc>
                  <a:txBody>
                    <a:bodyPr/>
                    <a:lstStyle/>
                    <a:p>
                      <a:r>
                        <a:rPr lang="en-US" sz="4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11/1/2025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746078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535502"/>
              </p:ext>
            </p:extLst>
          </p:nvPr>
        </p:nvGraphicFramePr>
        <p:xfrm>
          <a:off x="9144000" y="5232085"/>
          <a:ext cx="7162800" cy="40663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2854243500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3421796132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3332226070"/>
                    </a:ext>
                  </a:extLst>
                </a:gridCol>
              </a:tblGrid>
              <a:tr h="1016579">
                <a:tc>
                  <a:txBody>
                    <a:bodyPr/>
                    <a:lstStyle/>
                    <a:p>
                      <a:r>
                        <a:rPr lang="en-US" sz="4000" dirty="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Product</a:t>
                      </a:r>
                      <a:r>
                        <a:rPr lang="en-US" sz="4000" baseline="0" dirty="0"/>
                        <a:t> ID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Quantity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855131"/>
                  </a:ext>
                </a:extLst>
              </a:tr>
              <a:tr h="1016579">
                <a:tc>
                  <a:txBody>
                    <a:bodyPr/>
                    <a:lstStyle/>
                    <a:p>
                      <a:r>
                        <a:rPr lang="en-US" sz="4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025907"/>
                  </a:ext>
                </a:extLst>
              </a:tr>
              <a:tr h="1016579">
                <a:tc>
                  <a:txBody>
                    <a:bodyPr/>
                    <a:lstStyle/>
                    <a:p>
                      <a:r>
                        <a:rPr lang="en-US" sz="4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775981"/>
                  </a:ext>
                </a:extLst>
              </a:tr>
              <a:tr h="1016579">
                <a:tc>
                  <a:txBody>
                    <a:bodyPr/>
                    <a:lstStyle/>
                    <a:p>
                      <a:r>
                        <a:rPr lang="en-US" sz="4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39708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617877" y="4505184"/>
            <a:ext cx="358290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>
                <a:solidFill>
                  <a:srgbClr val="051D40"/>
                </a:solidFill>
                <a:latin typeface="Arial Rounded MT Bold" panose="020F0704030504030204" pitchFamily="34" charset="0"/>
                <a:sym typeface="Genty"/>
              </a:rPr>
              <a:t>Order table</a:t>
            </a:r>
            <a:endParaRPr lang="en-US" sz="4800" dirty="0"/>
          </a:p>
        </p:txBody>
      </p:sp>
      <p:sp>
        <p:nvSpPr>
          <p:cNvPr id="14" name="Rectangle 13"/>
          <p:cNvSpPr/>
          <p:nvPr/>
        </p:nvSpPr>
        <p:spPr>
          <a:xfrm>
            <a:off x="9829800" y="4381500"/>
            <a:ext cx="496898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rgbClr val="051D40"/>
                </a:solidFill>
                <a:latin typeface="Arial Rounded MT Bold" panose="020F0704030504030204" pitchFamily="34" charset="0"/>
                <a:sym typeface="Genty"/>
              </a:rPr>
              <a:t>Order detail table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89189006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2463" y="8026486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117857" y="-5651401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75032" y="637743"/>
            <a:ext cx="15533231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8000" dirty="0">
                <a:solidFill>
                  <a:srgbClr val="051D40"/>
                </a:solidFill>
                <a:latin typeface="Felix Titling" panose="04060505060202020A04" pitchFamily="82" charset="0"/>
                <a:ea typeface="Genty"/>
                <a:cs typeface="Genty"/>
                <a:sym typeface="Genty"/>
              </a:rPr>
              <a:t>Normalization rules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95400" y="2476500"/>
            <a:ext cx="6545742" cy="1348313"/>
            <a:chOff x="0" y="0"/>
            <a:chExt cx="1723982" cy="355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3982" cy="355111"/>
            </a:xfrm>
            <a:custGeom>
              <a:avLst/>
              <a:gdLst/>
              <a:ahLst/>
              <a:cxnLst/>
              <a:rect l="l" t="t" r="r" b="b"/>
              <a:pathLst>
                <a:path w="1723982" h="355111">
                  <a:moveTo>
                    <a:pt x="60320" y="0"/>
                  </a:moveTo>
                  <a:lnTo>
                    <a:pt x="1663662" y="0"/>
                  </a:lnTo>
                  <a:cubicBezTo>
                    <a:pt x="1696975" y="0"/>
                    <a:pt x="1723982" y="27006"/>
                    <a:pt x="1723982" y="60320"/>
                  </a:cubicBezTo>
                  <a:lnTo>
                    <a:pt x="1723982" y="294791"/>
                  </a:lnTo>
                  <a:cubicBezTo>
                    <a:pt x="1723982" y="310789"/>
                    <a:pt x="1717627" y="326132"/>
                    <a:pt x="1706314" y="337444"/>
                  </a:cubicBezTo>
                  <a:cubicBezTo>
                    <a:pt x="1695002" y="348756"/>
                    <a:pt x="1679660" y="355111"/>
                    <a:pt x="1663662" y="355111"/>
                  </a:cubicBezTo>
                  <a:lnTo>
                    <a:pt x="60320" y="355111"/>
                  </a:lnTo>
                  <a:cubicBezTo>
                    <a:pt x="27006" y="355111"/>
                    <a:pt x="0" y="328105"/>
                    <a:pt x="0" y="294791"/>
                  </a:cubicBezTo>
                  <a:lnTo>
                    <a:pt x="0" y="60320"/>
                  </a:lnTo>
                  <a:cubicBezTo>
                    <a:pt x="0" y="27006"/>
                    <a:pt x="27006" y="0"/>
                    <a:pt x="60320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23982" cy="393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969175" y="2760132"/>
            <a:ext cx="5258256" cy="71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36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First normal form (1NF)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172012" y="4328587"/>
            <a:ext cx="6545742" cy="1348313"/>
            <a:chOff x="0" y="0"/>
            <a:chExt cx="1723982" cy="3551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23982" cy="355111"/>
            </a:xfrm>
            <a:custGeom>
              <a:avLst/>
              <a:gdLst/>
              <a:ahLst/>
              <a:cxnLst/>
              <a:rect l="l" t="t" r="r" b="b"/>
              <a:pathLst>
                <a:path w="1723982" h="355111">
                  <a:moveTo>
                    <a:pt x="60320" y="0"/>
                  </a:moveTo>
                  <a:lnTo>
                    <a:pt x="1663662" y="0"/>
                  </a:lnTo>
                  <a:cubicBezTo>
                    <a:pt x="1696975" y="0"/>
                    <a:pt x="1723982" y="27006"/>
                    <a:pt x="1723982" y="60320"/>
                  </a:cubicBezTo>
                  <a:lnTo>
                    <a:pt x="1723982" y="294791"/>
                  </a:lnTo>
                  <a:cubicBezTo>
                    <a:pt x="1723982" y="310789"/>
                    <a:pt x="1717627" y="326132"/>
                    <a:pt x="1706314" y="337444"/>
                  </a:cubicBezTo>
                  <a:cubicBezTo>
                    <a:pt x="1695002" y="348756"/>
                    <a:pt x="1679660" y="355111"/>
                    <a:pt x="1663662" y="355111"/>
                  </a:cubicBezTo>
                  <a:lnTo>
                    <a:pt x="60320" y="355111"/>
                  </a:lnTo>
                  <a:cubicBezTo>
                    <a:pt x="27006" y="355111"/>
                    <a:pt x="0" y="328105"/>
                    <a:pt x="0" y="294791"/>
                  </a:cubicBezTo>
                  <a:lnTo>
                    <a:pt x="0" y="60320"/>
                  </a:lnTo>
                  <a:cubicBezTo>
                    <a:pt x="0" y="27006"/>
                    <a:pt x="27006" y="0"/>
                    <a:pt x="60320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723982" cy="393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785723" y="4580319"/>
            <a:ext cx="5258256" cy="71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36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Third normal form (3NF)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749871" y="2476500"/>
            <a:ext cx="6545742" cy="1348313"/>
            <a:chOff x="0" y="0"/>
            <a:chExt cx="1723982" cy="35511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23982" cy="355111"/>
            </a:xfrm>
            <a:custGeom>
              <a:avLst/>
              <a:gdLst/>
              <a:ahLst/>
              <a:cxnLst/>
              <a:rect l="l" t="t" r="r" b="b"/>
              <a:pathLst>
                <a:path w="1723982" h="355111">
                  <a:moveTo>
                    <a:pt x="60320" y="0"/>
                  </a:moveTo>
                  <a:lnTo>
                    <a:pt x="1663662" y="0"/>
                  </a:lnTo>
                  <a:cubicBezTo>
                    <a:pt x="1696975" y="0"/>
                    <a:pt x="1723982" y="27006"/>
                    <a:pt x="1723982" y="60320"/>
                  </a:cubicBezTo>
                  <a:lnTo>
                    <a:pt x="1723982" y="294791"/>
                  </a:lnTo>
                  <a:cubicBezTo>
                    <a:pt x="1723982" y="310789"/>
                    <a:pt x="1717627" y="326132"/>
                    <a:pt x="1706314" y="337444"/>
                  </a:cubicBezTo>
                  <a:cubicBezTo>
                    <a:pt x="1695002" y="348756"/>
                    <a:pt x="1679660" y="355111"/>
                    <a:pt x="1663662" y="355111"/>
                  </a:cubicBezTo>
                  <a:lnTo>
                    <a:pt x="60320" y="355111"/>
                  </a:lnTo>
                  <a:cubicBezTo>
                    <a:pt x="27006" y="355111"/>
                    <a:pt x="0" y="328105"/>
                    <a:pt x="0" y="294791"/>
                  </a:cubicBezTo>
                  <a:lnTo>
                    <a:pt x="0" y="60320"/>
                  </a:lnTo>
                  <a:cubicBezTo>
                    <a:pt x="0" y="27006"/>
                    <a:pt x="27006" y="0"/>
                    <a:pt x="60320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723982" cy="393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363582" y="2760132"/>
            <a:ext cx="5258256" cy="700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32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Second normal form (2NF)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742313" y="6067164"/>
            <a:ext cx="6545742" cy="1348313"/>
            <a:chOff x="0" y="0"/>
            <a:chExt cx="1723982" cy="35511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23982" cy="355111"/>
            </a:xfrm>
            <a:custGeom>
              <a:avLst/>
              <a:gdLst/>
              <a:ahLst/>
              <a:cxnLst/>
              <a:rect l="l" t="t" r="r" b="b"/>
              <a:pathLst>
                <a:path w="1723982" h="355111">
                  <a:moveTo>
                    <a:pt x="60320" y="0"/>
                  </a:moveTo>
                  <a:lnTo>
                    <a:pt x="1663662" y="0"/>
                  </a:lnTo>
                  <a:cubicBezTo>
                    <a:pt x="1696975" y="0"/>
                    <a:pt x="1723982" y="27006"/>
                    <a:pt x="1723982" y="60320"/>
                  </a:cubicBezTo>
                  <a:lnTo>
                    <a:pt x="1723982" y="294791"/>
                  </a:lnTo>
                  <a:cubicBezTo>
                    <a:pt x="1723982" y="310789"/>
                    <a:pt x="1717627" y="326132"/>
                    <a:pt x="1706314" y="337444"/>
                  </a:cubicBezTo>
                  <a:cubicBezTo>
                    <a:pt x="1695002" y="348756"/>
                    <a:pt x="1679660" y="355111"/>
                    <a:pt x="1663662" y="355111"/>
                  </a:cubicBezTo>
                  <a:lnTo>
                    <a:pt x="60320" y="355111"/>
                  </a:lnTo>
                  <a:cubicBezTo>
                    <a:pt x="27006" y="355111"/>
                    <a:pt x="0" y="328105"/>
                    <a:pt x="0" y="294791"/>
                  </a:cubicBezTo>
                  <a:lnTo>
                    <a:pt x="0" y="60320"/>
                  </a:lnTo>
                  <a:cubicBezTo>
                    <a:pt x="0" y="27006"/>
                    <a:pt x="27006" y="0"/>
                    <a:pt x="60320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723982" cy="393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356024" y="6350795"/>
            <a:ext cx="5258256" cy="700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32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Forth normal form (4NF)</a:t>
            </a:r>
          </a:p>
        </p:txBody>
      </p:sp>
      <p:grpSp>
        <p:nvGrpSpPr>
          <p:cNvPr id="21" name="Group 5"/>
          <p:cNvGrpSpPr/>
          <p:nvPr/>
        </p:nvGrpSpPr>
        <p:grpSpPr>
          <a:xfrm>
            <a:off x="1074258" y="6061720"/>
            <a:ext cx="6545742" cy="1348313"/>
            <a:chOff x="0" y="0"/>
            <a:chExt cx="1723982" cy="355111"/>
          </a:xfrm>
        </p:grpSpPr>
        <p:sp>
          <p:nvSpPr>
            <p:cNvPr id="22" name="Freeform 6"/>
            <p:cNvSpPr/>
            <p:nvPr/>
          </p:nvSpPr>
          <p:spPr>
            <a:xfrm>
              <a:off x="0" y="0"/>
              <a:ext cx="1723982" cy="355111"/>
            </a:xfrm>
            <a:custGeom>
              <a:avLst/>
              <a:gdLst/>
              <a:ahLst/>
              <a:cxnLst/>
              <a:rect l="l" t="t" r="r" b="b"/>
              <a:pathLst>
                <a:path w="1723982" h="355111">
                  <a:moveTo>
                    <a:pt x="60320" y="0"/>
                  </a:moveTo>
                  <a:lnTo>
                    <a:pt x="1663662" y="0"/>
                  </a:lnTo>
                  <a:cubicBezTo>
                    <a:pt x="1696975" y="0"/>
                    <a:pt x="1723982" y="27006"/>
                    <a:pt x="1723982" y="60320"/>
                  </a:cubicBezTo>
                  <a:lnTo>
                    <a:pt x="1723982" y="294791"/>
                  </a:lnTo>
                  <a:cubicBezTo>
                    <a:pt x="1723982" y="310789"/>
                    <a:pt x="1717627" y="326132"/>
                    <a:pt x="1706314" y="337444"/>
                  </a:cubicBezTo>
                  <a:cubicBezTo>
                    <a:pt x="1695002" y="348756"/>
                    <a:pt x="1679660" y="355111"/>
                    <a:pt x="1663662" y="355111"/>
                  </a:cubicBezTo>
                  <a:lnTo>
                    <a:pt x="60320" y="355111"/>
                  </a:lnTo>
                  <a:cubicBezTo>
                    <a:pt x="27006" y="355111"/>
                    <a:pt x="0" y="328105"/>
                    <a:pt x="0" y="294791"/>
                  </a:cubicBezTo>
                  <a:lnTo>
                    <a:pt x="0" y="60320"/>
                  </a:lnTo>
                  <a:cubicBezTo>
                    <a:pt x="0" y="27006"/>
                    <a:pt x="27006" y="0"/>
                    <a:pt x="60320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23" name="TextBox 7"/>
            <p:cNvSpPr txBox="1"/>
            <p:nvPr/>
          </p:nvSpPr>
          <p:spPr>
            <a:xfrm>
              <a:off x="0" y="-38100"/>
              <a:ext cx="1723982" cy="393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8"/>
          <p:cNvSpPr txBox="1"/>
          <p:nvPr/>
        </p:nvSpPr>
        <p:spPr>
          <a:xfrm>
            <a:off x="1134322" y="6281546"/>
            <a:ext cx="6485678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32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Boyce-</a:t>
            </a:r>
            <a:r>
              <a:rPr lang="en-US" sz="3200" dirty="0" err="1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Codd</a:t>
            </a:r>
            <a:r>
              <a:rPr lang="en-US" sz="32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 normal form (BCNF)</a:t>
            </a:r>
          </a:p>
        </p:txBody>
      </p:sp>
      <p:grpSp>
        <p:nvGrpSpPr>
          <p:cNvPr id="25" name="Group 5"/>
          <p:cNvGrpSpPr/>
          <p:nvPr/>
        </p:nvGrpSpPr>
        <p:grpSpPr>
          <a:xfrm>
            <a:off x="5562600" y="7962900"/>
            <a:ext cx="6545742" cy="1348313"/>
            <a:chOff x="0" y="0"/>
            <a:chExt cx="1723982" cy="355111"/>
          </a:xfrm>
        </p:grpSpPr>
        <p:sp>
          <p:nvSpPr>
            <p:cNvPr id="26" name="Freeform 6"/>
            <p:cNvSpPr/>
            <p:nvPr/>
          </p:nvSpPr>
          <p:spPr>
            <a:xfrm>
              <a:off x="0" y="0"/>
              <a:ext cx="1723982" cy="355111"/>
            </a:xfrm>
            <a:custGeom>
              <a:avLst/>
              <a:gdLst/>
              <a:ahLst/>
              <a:cxnLst/>
              <a:rect l="l" t="t" r="r" b="b"/>
              <a:pathLst>
                <a:path w="1723982" h="355111">
                  <a:moveTo>
                    <a:pt x="60320" y="0"/>
                  </a:moveTo>
                  <a:lnTo>
                    <a:pt x="1663662" y="0"/>
                  </a:lnTo>
                  <a:cubicBezTo>
                    <a:pt x="1696975" y="0"/>
                    <a:pt x="1723982" y="27006"/>
                    <a:pt x="1723982" y="60320"/>
                  </a:cubicBezTo>
                  <a:lnTo>
                    <a:pt x="1723982" y="294791"/>
                  </a:lnTo>
                  <a:cubicBezTo>
                    <a:pt x="1723982" y="310789"/>
                    <a:pt x="1717627" y="326132"/>
                    <a:pt x="1706314" y="337444"/>
                  </a:cubicBezTo>
                  <a:cubicBezTo>
                    <a:pt x="1695002" y="348756"/>
                    <a:pt x="1679660" y="355111"/>
                    <a:pt x="1663662" y="355111"/>
                  </a:cubicBezTo>
                  <a:lnTo>
                    <a:pt x="60320" y="355111"/>
                  </a:lnTo>
                  <a:cubicBezTo>
                    <a:pt x="27006" y="355111"/>
                    <a:pt x="0" y="328105"/>
                    <a:pt x="0" y="294791"/>
                  </a:cubicBezTo>
                  <a:lnTo>
                    <a:pt x="0" y="60320"/>
                  </a:lnTo>
                  <a:cubicBezTo>
                    <a:pt x="0" y="27006"/>
                    <a:pt x="27006" y="0"/>
                    <a:pt x="60320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27" name="TextBox 7"/>
            <p:cNvSpPr txBox="1"/>
            <p:nvPr/>
          </p:nvSpPr>
          <p:spPr>
            <a:xfrm>
              <a:off x="0" y="-38100"/>
              <a:ext cx="1723982" cy="393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8"/>
          <p:cNvSpPr txBox="1"/>
          <p:nvPr/>
        </p:nvSpPr>
        <p:spPr>
          <a:xfrm>
            <a:off x="6236375" y="8267700"/>
            <a:ext cx="5258256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36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Fifth normal form (5NF)</a:t>
            </a: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78597" y="680112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574031" y="-560419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07144" y="57321"/>
            <a:ext cx="15533231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8000" dirty="0">
                <a:solidFill>
                  <a:srgbClr val="051D40"/>
                </a:solidFill>
                <a:latin typeface="Felix Titling" panose="04060505060202020A04" pitchFamily="82" charset="0"/>
                <a:ea typeface="Genty"/>
                <a:cs typeface="Genty"/>
                <a:sym typeface="Genty"/>
              </a:rPr>
              <a:t>Normalization rules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38200" y="2309742"/>
            <a:ext cx="6545742" cy="999213"/>
            <a:chOff x="0" y="0"/>
            <a:chExt cx="1723982" cy="355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3982" cy="355111"/>
            </a:xfrm>
            <a:custGeom>
              <a:avLst/>
              <a:gdLst/>
              <a:ahLst/>
              <a:cxnLst/>
              <a:rect l="l" t="t" r="r" b="b"/>
              <a:pathLst>
                <a:path w="1723982" h="355111">
                  <a:moveTo>
                    <a:pt x="60320" y="0"/>
                  </a:moveTo>
                  <a:lnTo>
                    <a:pt x="1663662" y="0"/>
                  </a:lnTo>
                  <a:cubicBezTo>
                    <a:pt x="1696975" y="0"/>
                    <a:pt x="1723982" y="27006"/>
                    <a:pt x="1723982" y="60320"/>
                  </a:cubicBezTo>
                  <a:lnTo>
                    <a:pt x="1723982" y="294791"/>
                  </a:lnTo>
                  <a:cubicBezTo>
                    <a:pt x="1723982" y="310789"/>
                    <a:pt x="1717627" y="326132"/>
                    <a:pt x="1706314" y="337444"/>
                  </a:cubicBezTo>
                  <a:cubicBezTo>
                    <a:pt x="1695002" y="348756"/>
                    <a:pt x="1679660" y="355111"/>
                    <a:pt x="1663662" y="355111"/>
                  </a:cubicBezTo>
                  <a:lnTo>
                    <a:pt x="60320" y="355111"/>
                  </a:lnTo>
                  <a:cubicBezTo>
                    <a:pt x="27006" y="355111"/>
                    <a:pt x="0" y="328105"/>
                    <a:pt x="0" y="294791"/>
                  </a:cubicBezTo>
                  <a:lnTo>
                    <a:pt x="0" y="60320"/>
                  </a:lnTo>
                  <a:cubicBezTo>
                    <a:pt x="0" y="27006"/>
                    <a:pt x="27006" y="0"/>
                    <a:pt x="60320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23982" cy="393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81943" y="2322531"/>
            <a:ext cx="5258256" cy="71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36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First normal form (1NF)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8200" y="3519312"/>
            <a:ext cx="813556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Each table contains a single value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Eliminate repeating groups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34333" y="5426214"/>
            <a:ext cx="41332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not in 1NF</a:t>
            </a:r>
            <a:endParaRPr lang="en-US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05E0C42-7893-38BF-1F16-C142822E2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160913"/>
              </p:ext>
            </p:extLst>
          </p:nvPr>
        </p:nvGraphicFramePr>
        <p:xfrm>
          <a:off x="4445456" y="6438900"/>
          <a:ext cx="7594144" cy="3352799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389460">
                  <a:extLst>
                    <a:ext uri="{9D8B030D-6E8A-4147-A177-3AD203B41FA5}">
                      <a16:colId xmlns:a16="http://schemas.microsoft.com/office/drawing/2014/main" val="859580436"/>
                    </a:ext>
                  </a:extLst>
                </a:gridCol>
                <a:gridCol w="2673303">
                  <a:extLst>
                    <a:ext uri="{9D8B030D-6E8A-4147-A177-3AD203B41FA5}">
                      <a16:colId xmlns:a16="http://schemas.microsoft.com/office/drawing/2014/main" val="1750509787"/>
                    </a:ext>
                  </a:extLst>
                </a:gridCol>
                <a:gridCol w="2531381">
                  <a:extLst>
                    <a:ext uri="{9D8B030D-6E8A-4147-A177-3AD203B41FA5}">
                      <a16:colId xmlns:a16="http://schemas.microsoft.com/office/drawing/2014/main" val="722438225"/>
                    </a:ext>
                  </a:extLst>
                </a:gridCol>
              </a:tblGrid>
              <a:tr h="1633415">
                <a:tc>
                  <a:txBody>
                    <a:bodyPr/>
                    <a:lstStyle/>
                    <a:p>
                      <a:r>
                        <a:rPr lang="en-US" sz="4400" dirty="0"/>
                        <a:t>Roll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Course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807638"/>
                  </a:ext>
                </a:extLst>
              </a:tr>
              <a:tr h="859692">
                <a:tc>
                  <a:txBody>
                    <a:bodyPr/>
                    <a:lstStyle/>
                    <a:p>
                      <a:r>
                        <a:rPr lang="en-US" sz="4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Ankit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C,C++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593672"/>
                  </a:ext>
                </a:extLst>
              </a:tr>
              <a:tr h="859692">
                <a:tc>
                  <a:txBody>
                    <a:bodyPr/>
                    <a:lstStyle/>
                    <a:p>
                      <a:r>
                        <a:rPr lang="en-US" sz="4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Neha</a:t>
                      </a:r>
                      <a:r>
                        <a:rPr lang="en-US" sz="4400" baseline="0" dirty="0"/>
                        <a:t> 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Java,</a:t>
                      </a:r>
                      <a:r>
                        <a:rPr lang="en-US" sz="4400" baseline="0" dirty="0"/>
                        <a:t>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532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4057438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401800" y="704850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774468" y="-6236912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28800" y="-34678"/>
            <a:ext cx="15533231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8000" dirty="0">
                <a:solidFill>
                  <a:srgbClr val="051D40"/>
                </a:solidFill>
                <a:latin typeface="Felix Titling" panose="04060505060202020A04" pitchFamily="82" charset="0"/>
                <a:ea typeface="Genty"/>
                <a:cs typeface="Genty"/>
                <a:sym typeface="Genty"/>
              </a:rPr>
              <a:t>Normalization rules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38200" y="1840072"/>
            <a:ext cx="6545742" cy="999213"/>
            <a:chOff x="0" y="0"/>
            <a:chExt cx="1723982" cy="355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3982" cy="355111"/>
            </a:xfrm>
            <a:custGeom>
              <a:avLst/>
              <a:gdLst/>
              <a:ahLst/>
              <a:cxnLst/>
              <a:rect l="l" t="t" r="r" b="b"/>
              <a:pathLst>
                <a:path w="1723982" h="355111">
                  <a:moveTo>
                    <a:pt x="60320" y="0"/>
                  </a:moveTo>
                  <a:lnTo>
                    <a:pt x="1663662" y="0"/>
                  </a:lnTo>
                  <a:cubicBezTo>
                    <a:pt x="1696975" y="0"/>
                    <a:pt x="1723982" y="27006"/>
                    <a:pt x="1723982" y="60320"/>
                  </a:cubicBezTo>
                  <a:lnTo>
                    <a:pt x="1723982" y="294791"/>
                  </a:lnTo>
                  <a:cubicBezTo>
                    <a:pt x="1723982" y="310789"/>
                    <a:pt x="1717627" y="326132"/>
                    <a:pt x="1706314" y="337444"/>
                  </a:cubicBezTo>
                  <a:cubicBezTo>
                    <a:pt x="1695002" y="348756"/>
                    <a:pt x="1679660" y="355111"/>
                    <a:pt x="1663662" y="355111"/>
                  </a:cubicBezTo>
                  <a:lnTo>
                    <a:pt x="60320" y="355111"/>
                  </a:lnTo>
                  <a:cubicBezTo>
                    <a:pt x="27006" y="355111"/>
                    <a:pt x="0" y="328105"/>
                    <a:pt x="0" y="294791"/>
                  </a:cubicBezTo>
                  <a:lnTo>
                    <a:pt x="0" y="60320"/>
                  </a:lnTo>
                  <a:cubicBezTo>
                    <a:pt x="0" y="27006"/>
                    <a:pt x="27006" y="0"/>
                    <a:pt x="60320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23982" cy="393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81943" y="1928284"/>
            <a:ext cx="5258256" cy="71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36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First normal form (1NF)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4348" y="3099133"/>
            <a:ext cx="7433445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Each table contains a single value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Eliminate repeating groups 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456115"/>
              </p:ext>
            </p:extLst>
          </p:nvPr>
        </p:nvGraphicFramePr>
        <p:xfrm>
          <a:off x="4111070" y="5565996"/>
          <a:ext cx="8260635" cy="3839385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753545">
                  <a:extLst>
                    <a:ext uri="{9D8B030D-6E8A-4147-A177-3AD203B41FA5}">
                      <a16:colId xmlns:a16="http://schemas.microsoft.com/office/drawing/2014/main" val="882861656"/>
                    </a:ext>
                  </a:extLst>
                </a:gridCol>
                <a:gridCol w="2786549">
                  <a:extLst>
                    <a:ext uri="{9D8B030D-6E8A-4147-A177-3AD203B41FA5}">
                      <a16:colId xmlns:a16="http://schemas.microsoft.com/office/drawing/2014/main" val="2707370362"/>
                    </a:ext>
                  </a:extLst>
                </a:gridCol>
                <a:gridCol w="2720541">
                  <a:extLst>
                    <a:ext uri="{9D8B030D-6E8A-4147-A177-3AD203B41FA5}">
                      <a16:colId xmlns:a16="http://schemas.microsoft.com/office/drawing/2014/main" val="854886288"/>
                    </a:ext>
                  </a:extLst>
                </a:gridCol>
              </a:tblGrid>
              <a:tr h="767877">
                <a:tc>
                  <a:txBody>
                    <a:bodyPr/>
                    <a:lstStyle/>
                    <a:p>
                      <a:r>
                        <a:rPr lang="en-US" sz="3600" dirty="0"/>
                        <a:t>Roll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Course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246131"/>
                  </a:ext>
                </a:extLst>
              </a:tr>
              <a:tr h="767877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Ankit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723736"/>
                  </a:ext>
                </a:extLst>
              </a:tr>
              <a:tr h="767877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Ankit  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C++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056909"/>
                  </a:ext>
                </a:extLst>
              </a:tr>
              <a:tr h="767877">
                <a:tc>
                  <a:txBody>
                    <a:bodyPr/>
                    <a:lstStyle/>
                    <a:p>
                      <a:r>
                        <a:rPr lang="en-US" sz="3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Neha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Java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183615"/>
                  </a:ext>
                </a:extLst>
              </a:tr>
              <a:tr h="767877">
                <a:tc>
                  <a:txBody>
                    <a:bodyPr/>
                    <a:lstStyle/>
                    <a:p>
                      <a:r>
                        <a:rPr lang="en-US" sz="3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Neha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385215"/>
                  </a:ext>
                </a:extLst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6172200" y="4652401"/>
            <a:ext cx="30428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Nunito Sans"/>
                <a:ea typeface="Nunito Sans"/>
                <a:cs typeface="Nunito Sans"/>
              </a:rPr>
              <a:t> Table in 1NF</a:t>
            </a:r>
          </a:p>
        </p:txBody>
      </p:sp>
    </p:spTree>
    <p:extLst>
      <p:ext uri="{BB962C8B-B14F-4D97-AF65-F5344CB8AC3E}">
        <p14:creationId xmlns:p14="http://schemas.microsoft.com/office/powerpoint/2010/main" val="2175068045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78597" y="680112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774468" y="-6236912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57400" y="-26873"/>
            <a:ext cx="15533231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8000" dirty="0">
                <a:solidFill>
                  <a:srgbClr val="051D40"/>
                </a:solidFill>
                <a:latin typeface="Felix Titling" panose="04060505060202020A04" pitchFamily="82" charset="0"/>
                <a:ea typeface="Genty"/>
                <a:cs typeface="Genty"/>
                <a:sym typeface="Genty"/>
              </a:rPr>
              <a:t>Normalization rules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96998" y="1753604"/>
            <a:ext cx="6477002" cy="999213"/>
            <a:chOff x="0" y="0"/>
            <a:chExt cx="1723982" cy="355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3982" cy="355111"/>
            </a:xfrm>
            <a:custGeom>
              <a:avLst/>
              <a:gdLst/>
              <a:ahLst/>
              <a:cxnLst/>
              <a:rect l="l" t="t" r="r" b="b"/>
              <a:pathLst>
                <a:path w="1723982" h="355111">
                  <a:moveTo>
                    <a:pt x="60320" y="0"/>
                  </a:moveTo>
                  <a:lnTo>
                    <a:pt x="1663662" y="0"/>
                  </a:lnTo>
                  <a:cubicBezTo>
                    <a:pt x="1696975" y="0"/>
                    <a:pt x="1723982" y="27006"/>
                    <a:pt x="1723982" y="60320"/>
                  </a:cubicBezTo>
                  <a:lnTo>
                    <a:pt x="1723982" y="294791"/>
                  </a:lnTo>
                  <a:cubicBezTo>
                    <a:pt x="1723982" y="310789"/>
                    <a:pt x="1717627" y="326132"/>
                    <a:pt x="1706314" y="337444"/>
                  </a:cubicBezTo>
                  <a:cubicBezTo>
                    <a:pt x="1695002" y="348756"/>
                    <a:pt x="1679660" y="355111"/>
                    <a:pt x="1663662" y="355111"/>
                  </a:cubicBezTo>
                  <a:lnTo>
                    <a:pt x="60320" y="355111"/>
                  </a:lnTo>
                  <a:cubicBezTo>
                    <a:pt x="27006" y="355111"/>
                    <a:pt x="0" y="328105"/>
                    <a:pt x="0" y="294791"/>
                  </a:cubicBezTo>
                  <a:lnTo>
                    <a:pt x="0" y="60320"/>
                  </a:lnTo>
                  <a:cubicBezTo>
                    <a:pt x="0" y="27006"/>
                    <a:pt x="27006" y="0"/>
                    <a:pt x="60320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23982" cy="393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58143" y="1790700"/>
            <a:ext cx="5680857" cy="14850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36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Second normal form (2NF)</a:t>
            </a:r>
          </a:p>
          <a:p>
            <a:pPr algn="ctr">
              <a:lnSpc>
                <a:spcPts val="6000"/>
              </a:lnSpc>
            </a:pPr>
            <a:endParaRPr lang="en-US" sz="3600" dirty="0">
              <a:solidFill>
                <a:srgbClr val="051D4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7999" y="2967290"/>
            <a:ext cx="1010920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Rule: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Be in 1NF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All non-key attributes must depend on the whole primary key (no partial dependency)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4410C7-B1E9-A9AF-C29E-59DBAF550B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944391"/>
              </p:ext>
            </p:extLst>
          </p:nvPr>
        </p:nvGraphicFramePr>
        <p:xfrm>
          <a:off x="4800600" y="5703840"/>
          <a:ext cx="6146800" cy="1515612"/>
        </p:xfrm>
        <a:graphic>
          <a:graphicData uri="http://schemas.openxmlformats.org/drawingml/2006/table">
            <a:tbl>
              <a:tblPr/>
              <a:tblGrid>
                <a:gridCol w="3073400">
                  <a:extLst>
                    <a:ext uri="{9D8B030D-6E8A-4147-A177-3AD203B41FA5}">
                      <a16:colId xmlns:a16="http://schemas.microsoft.com/office/drawing/2014/main" val="3359646724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1989048697"/>
                    </a:ext>
                  </a:extLst>
                </a:gridCol>
              </a:tblGrid>
              <a:tr h="7578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424476"/>
                  </a:ext>
                </a:extLst>
              </a:tr>
              <a:tr h="7578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20204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0BCA799-169A-5330-37F9-8BA119BF6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737799"/>
              </p:ext>
            </p:extLst>
          </p:nvPr>
        </p:nvGraphicFramePr>
        <p:xfrm>
          <a:off x="3649600" y="5861111"/>
          <a:ext cx="8983981" cy="327890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663837">
                  <a:extLst>
                    <a:ext uri="{9D8B030D-6E8A-4147-A177-3AD203B41FA5}">
                      <a16:colId xmlns:a16="http://schemas.microsoft.com/office/drawing/2014/main" val="1091627790"/>
                    </a:ext>
                  </a:extLst>
                </a:gridCol>
                <a:gridCol w="2030306">
                  <a:extLst>
                    <a:ext uri="{9D8B030D-6E8A-4147-A177-3AD203B41FA5}">
                      <a16:colId xmlns:a16="http://schemas.microsoft.com/office/drawing/2014/main" val="1617883291"/>
                    </a:ext>
                  </a:extLst>
                </a:gridCol>
                <a:gridCol w="2228056">
                  <a:extLst>
                    <a:ext uri="{9D8B030D-6E8A-4147-A177-3AD203B41FA5}">
                      <a16:colId xmlns:a16="http://schemas.microsoft.com/office/drawing/2014/main" val="4217083214"/>
                    </a:ext>
                  </a:extLst>
                </a:gridCol>
                <a:gridCol w="3061782">
                  <a:extLst>
                    <a:ext uri="{9D8B030D-6E8A-4147-A177-3AD203B41FA5}">
                      <a16:colId xmlns:a16="http://schemas.microsoft.com/office/drawing/2014/main" val="2696190430"/>
                    </a:ext>
                  </a:extLst>
                </a:gridCol>
              </a:tblGrid>
              <a:tr h="731884">
                <a:tc>
                  <a:txBody>
                    <a:bodyPr/>
                    <a:lstStyle/>
                    <a:p>
                      <a:r>
                        <a:rPr lang="en-US" sz="3600" dirty="0"/>
                        <a:t>Stu</a:t>
                      </a:r>
                      <a:r>
                        <a:rPr lang="en-US" sz="3600" baseline="0" dirty="0"/>
                        <a:t> </a:t>
                      </a:r>
                      <a:r>
                        <a:rPr lang="en-US" sz="36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Course</a:t>
                      </a:r>
                      <a:r>
                        <a:rPr lang="en-US" sz="3600" baseline="0" dirty="0"/>
                        <a:t> </a:t>
                      </a:r>
                      <a:r>
                        <a:rPr lang="en-US" sz="36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Stu</a:t>
                      </a:r>
                      <a:r>
                        <a:rPr lang="en-US" sz="3600" baseline="0" dirty="0"/>
                        <a:t> </a:t>
                      </a:r>
                      <a:r>
                        <a:rPr lang="en-US" sz="3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Course</a:t>
                      </a:r>
                      <a:r>
                        <a:rPr lang="en-US" sz="3600" baseline="0" dirty="0"/>
                        <a:t> </a:t>
                      </a:r>
                      <a:r>
                        <a:rPr lang="en-US" sz="3600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295252"/>
                  </a:ext>
                </a:extLst>
              </a:tr>
              <a:tr h="679149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Ankit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771034"/>
                  </a:ext>
                </a:extLst>
              </a:tr>
              <a:tr h="679149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Ankit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C++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663247"/>
                  </a:ext>
                </a:extLst>
              </a:tr>
              <a:tr h="815528">
                <a:tc>
                  <a:txBody>
                    <a:bodyPr/>
                    <a:lstStyle/>
                    <a:p>
                      <a:r>
                        <a:rPr lang="en-US" sz="3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/>
                        <a:t>Neha</a:t>
                      </a:r>
                    </a:p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9356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6717539-A233-9D1E-5B36-402B5B121259}"/>
              </a:ext>
            </a:extLst>
          </p:cNvPr>
          <p:cNvSpPr txBox="1"/>
          <p:nvPr/>
        </p:nvSpPr>
        <p:spPr>
          <a:xfrm>
            <a:off x="5562600" y="4997646"/>
            <a:ext cx="132930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Nunito Sans"/>
                <a:ea typeface="Nunito Sans"/>
                <a:cs typeface="Nunito Sans"/>
              </a:rPr>
              <a:t>Table not in 2NF</a:t>
            </a:r>
          </a:p>
        </p:txBody>
      </p:sp>
    </p:spTree>
    <p:extLst>
      <p:ext uri="{BB962C8B-B14F-4D97-AF65-F5344CB8AC3E}">
        <p14:creationId xmlns:p14="http://schemas.microsoft.com/office/powerpoint/2010/main" val="339493376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607586" y="759902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403144" y="-6174193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58384" y="-44240"/>
            <a:ext cx="15533231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8000" dirty="0">
                <a:solidFill>
                  <a:srgbClr val="051D40"/>
                </a:solidFill>
                <a:latin typeface="Felix Titling" panose="04060505060202020A04" pitchFamily="82" charset="0"/>
                <a:ea typeface="Genty"/>
                <a:cs typeface="Genty"/>
                <a:sym typeface="Genty"/>
              </a:rPr>
              <a:t>Normalization rules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72516" y="1533518"/>
            <a:ext cx="6545742" cy="999213"/>
            <a:chOff x="0" y="0"/>
            <a:chExt cx="1723982" cy="355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3982" cy="355111"/>
            </a:xfrm>
            <a:custGeom>
              <a:avLst/>
              <a:gdLst/>
              <a:ahLst/>
              <a:cxnLst/>
              <a:rect l="l" t="t" r="r" b="b"/>
              <a:pathLst>
                <a:path w="1723982" h="355111">
                  <a:moveTo>
                    <a:pt x="60320" y="0"/>
                  </a:moveTo>
                  <a:lnTo>
                    <a:pt x="1663662" y="0"/>
                  </a:lnTo>
                  <a:cubicBezTo>
                    <a:pt x="1696975" y="0"/>
                    <a:pt x="1723982" y="27006"/>
                    <a:pt x="1723982" y="60320"/>
                  </a:cubicBezTo>
                  <a:lnTo>
                    <a:pt x="1723982" y="294791"/>
                  </a:lnTo>
                  <a:cubicBezTo>
                    <a:pt x="1723982" y="310789"/>
                    <a:pt x="1717627" y="326132"/>
                    <a:pt x="1706314" y="337444"/>
                  </a:cubicBezTo>
                  <a:cubicBezTo>
                    <a:pt x="1695002" y="348756"/>
                    <a:pt x="1679660" y="355111"/>
                    <a:pt x="1663662" y="355111"/>
                  </a:cubicBezTo>
                  <a:lnTo>
                    <a:pt x="60320" y="355111"/>
                  </a:lnTo>
                  <a:cubicBezTo>
                    <a:pt x="27006" y="355111"/>
                    <a:pt x="0" y="328105"/>
                    <a:pt x="0" y="294791"/>
                  </a:cubicBezTo>
                  <a:lnTo>
                    <a:pt x="0" y="60320"/>
                  </a:lnTo>
                  <a:cubicBezTo>
                    <a:pt x="0" y="27006"/>
                    <a:pt x="27006" y="0"/>
                    <a:pt x="60320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23982" cy="393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66800" y="1485900"/>
            <a:ext cx="5680857" cy="14850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36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Second normal form (2NF)</a:t>
            </a:r>
          </a:p>
          <a:p>
            <a:pPr algn="ctr">
              <a:lnSpc>
                <a:spcPts val="6000"/>
              </a:lnSpc>
            </a:pPr>
            <a:endParaRPr lang="en-US" sz="3600" dirty="0">
              <a:solidFill>
                <a:srgbClr val="051D4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6443" y="2552700"/>
            <a:ext cx="104394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Rule: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Be in 1NF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All non-key attributes must depend on the whole primary key (no partial dependency)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0BCA799-169A-5330-37F9-8BA119BF6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913444"/>
              </p:ext>
            </p:extLst>
          </p:nvPr>
        </p:nvGraphicFramePr>
        <p:xfrm>
          <a:off x="276443" y="6713220"/>
          <a:ext cx="4343400" cy="246888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112317">
                  <a:extLst>
                    <a:ext uri="{9D8B030D-6E8A-4147-A177-3AD203B41FA5}">
                      <a16:colId xmlns:a16="http://schemas.microsoft.com/office/drawing/2014/main" val="1091627790"/>
                    </a:ext>
                  </a:extLst>
                </a:gridCol>
                <a:gridCol w="2231083">
                  <a:extLst>
                    <a:ext uri="{9D8B030D-6E8A-4147-A177-3AD203B41FA5}">
                      <a16:colId xmlns:a16="http://schemas.microsoft.com/office/drawing/2014/main" val="1723634631"/>
                    </a:ext>
                  </a:extLst>
                </a:gridCol>
              </a:tblGrid>
              <a:tr h="8623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/>
                        <a:t>Stu</a:t>
                      </a:r>
                      <a:r>
                        <a:rPr lang="en-US" sz="3600" baseline="0" dirty="0"/>
                        <a:t> </a:t>
                      </a:r>
                      <a:r>
                        <a:rPr lang="en-US" sz="3600" dirty="0"/>
                        <a:t>ID</a:t>
                      </a:r>
                    </a:p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/>
                        <a:t>Stu Name</a:t>
                      </a:r>
                    </a:p>
                    <a:p>
                      <a:endParaRPr 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295252"/>
                  </a:ext>
                </a:extLst>
              </a:tr>
              <a:tr h="464334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Ankit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771034"/>
                  </a:ext>
                </a:extLst>
              </a:tr>
              <a:tr h="464334">
                <a:tc>
                  <a:txBody>
                    <a:bodyPr/>
                    <a:lstStyle/>
                    <a:p>
                      <a:r>
                        <a:rPr lang="en-US" sz="3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Neha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66324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9856370-02C6-9DE7-A4B8-D04DA9AEC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295536"/>
              </p:ext>
            </p:extLst>
          </p:nvPr>
        </p:nvGraphicFramePr>
        <p:xfrm>
          <a:off x="10758119" y="6723934"/>
          <a:ext cx="5548681" cy="271272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431246">
                  <a:extLst>
                    <a:ext uri="{9D8B030D-6E8A-4147-A177-3AD203B41FA5}">
                      <a16:colId xmlns:a16="http://schemas.microsoft.com/office/drawing/2014/main" val="2975142239"/>
                    </a:ext>
                  </a:extLst>
                </a:gridCol>
                <a:gridCol w="3117435">
                  <a:extLst>
                    <a:ext uri="{9D8B030D-6E8A-4147-A177-3AD203B41FA5}">
                      <a16:colId xmlns:a16="http://schemas.microsoft.com/office/drawing/2014/main" val="2900670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/>
                        <a:t>Course</a:t>
                      </a:r>
                      <a:r>
                        <a:rPr lang="en-US" sz="4000" baseline="0" dirty="0"/>
                        <a:t> </a:t>
                      </a:r>
                      <a:r>
                        <a:rPr lang="en-US" sz="4000" dirty="0"/>
                        <a:t>ID</a:t>
                      </a:r>
                    </a:p>
                    <a:p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/>
                        <a:t>Course</a:t>
                      </a:r>
                      <a:r>
                        <a:rPr lang="en-US" sz="4000" baseline="0" dirty="0"/>
                        <a:t> </a:t>
                      </a:r>
                      <a:r>
                        <a:rPr lang="en-US" sz="4000" dirty="0"/>
                        <a:t>Name</a:t>
                      </a:r>
                    </a:p>
                    <a:p>
                      <a:endParaRPr 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277158"/>
                  </a:ext>
                </a:extLst>
              </a:tr>
              <a:tr h="698743">
                <a:tc>
                  <a:txBody>
                    <a:bodyPr/>
                    <a:lstStyle/>
                    <a:p>
                      <a:r>
                        <a:rPr lang="en-US" sz="4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065896"/>
                  </a:ext>
                </a:extLst>
              </a:tr>
              <a:tr h="698743">
                <a:tc>
                  <a:txBody>
                    <a:bodyPr/>
                    <a:lstStyle/>
                    <a:p>
                      <a:r>
                        <a:rPr lang="en-US" sz="4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C</a:t>
                      </a:r>
                      <a:r>
                        <a:rPr lang="en-US" sz="4000" baseline="0" dirty="0"/>
                        <a:t>++</a:t>
                      </a:r>
                      <a:endParaRPr 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1260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F637C35-DC8E-2496-15A7-8B2B07C1B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840495"/>
              </p:ext>
            </p:extLst>
          </p:nvPr>
        </p:nvGraphicFramePr>
        <p:xfrm>
          <a:off x="4991099" y="6431067"/>
          <a:ext cx="4343400" cy="3360633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112317">
                  <a:extLst>
                    <a:ext uri="{9D8B030D-6E8A-4147-A177-3AD203B41FA5}">
                      <a16:colId xmlns:a16="http://schemas.microsoft.com/office/drawing/2014/main" val="2975142239"/>
                    </a:ext>
                  </a:extLst>
                </a:gridCol>
                <a:gridCol w="2231083">
                  <a:extLst>
                    <a:ext uri="{9D8B030D-6E8A-4147-A177-3AD203B41FA5}">
                      <a16:colId xmlns:a16="http://schemas.microsoft.com/office/drawing/2014/main" val="2900670169"/>
                    </a:ext>
                  </a:extLst>
                </a:gridCol>
              </a:tblGrid>
              <a:tr h="5380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/>
                        <a:t>Stu</a:t>
                      </a:r>
                      <a:r>
                        <a:rPr lang="en-US" sz="3600" baseline="0" dirty="0"/>
                        <a:t> </a:t>
                      </a:r>
                      <a:r>
                        <a:rPr lang="en-US" sz="3600" dirty="0"/>
                        <a:t>id</a:t>
                      </a:r>
                    </a:p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/>
                        <a:t>Course</a:t>
                      </a:r>
                      <a:r>
                        <a:rPr lang="en-US" sz="3600" baseline="0" dirty="0"/>
                        <a:t> </a:t>
                      </a:r>
                      <a:r>
                        <a:rPr lang="en-US" sz="3600" dirty="0"/>
                        <a:t>ID</a:t>
                      </a:r>
                    </a:p>
                    <a:p>
                      <a:endParaRPr 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277158"/>
                  </a:ext>
                </a:extLst>
              </a:tr>
              <a:tr h="723971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065896"/>
                  </a:ext>
                </a:extLst>
              </a:tr>
              <a:tr h="723971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212609"/>
                  </a:ext>
                </a:extLst>
              </a:tr>
              <a:tr h="723971">
                <a:tc>
                  <a:txBody>
                    <a:bodyPr/>
                    <a:lstStyle/>
                    <a:p>
                      <a:r>
                        <a:rPr lang="en-US" sz="3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75031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AEF70AD-0548-5BDA-5579-661E793CD04B}"/>
              </a:ext>
            </a:extLst>
          </p:cNvPr>
          <p:cNvSpPr txBox="1"/>
          <p:nvPr/>
        </p:nvSpPr>
        <p:spPr>
          <a:xfrm>
            <a:off x="924142" y="5963129"/>
            <a:ext cx="36957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Student Table</a:t>
            </a:r>
            <a:endParaRPr lang="en-US" sz="4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4FC61E-AE6F-0BD2-5ED0-D684A88C10CD}"/>
              </a:ext>
            </a:extLst>
          </p:cNvPr>
          <p:cNvSpPr txBox="1"/>
          <p:nvPr/>
        </p:nvSpPr>
        <p:spPr>
          <a:xfrm>
            <a:off x="5943600" y="5557891"/>
            <a:ext cx="3581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Enrollment Table</a:t>
            </a:r>
            <a:endParaRPr lang="en-US" sz="3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867397-993C-A60F-7AAC-2EE32BA1650F}"/>
              </a:ext>
            </a:extLst>
          </p:cNvPr>
          <p:cNvSpPr txBox="1"/>
          <p:nvPr/>
        </p:nvSpPr>
        <p:spPr>
          <a:xfrm>
            <a:off x="10963058" y="5763360"/>
            <a:ext cx="138760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Course Table</a:t>
            </a:r>
            <a:endParaRPr lang="en-US" sz="4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C28909-60DA-720D-4CD6-36C784D04846}"/>
              </a:ext>
            </a:extLst>
          </p:cNvPr>
          <p:cNvSpPr txBox="1"/>
          <p:nvPr/>
        </p:nvSpPr>
        <p:spPr>
          <a:xfrm>
            <a:off x="5943600" y="4725769"/>
            <a:ext cx="33908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Nunito Sans"/>
                <a:ea typeface="Nunito Sans"/>
                <a:cs typeface="Nunito Sans"/>
              </a:rPr>
              <a:t>Tables in 2NF</a:t>
            </a:r>
          </a:p>
        </p:txBody>
      </p:sp>
    </p:spTree>
    <p:extLst>
      <p:ext uri="{BB962C8B-B14F-4D97-AF65-F5344CB8AC3E}">
        <p14:creationId xmlns:p14="http://schemas.microsoft.com/office/powerpoint/2010/main" val="1596672886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78597" y="680112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906988" y="-6255138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57400" y="-205383"/>
            <a:ext cx="15533231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8000" dirty="0">
                <a:solidFill>
                  <a:srgbClr val="051D40"/>
                </a:solidFill>
                <a:latin typeface="Felix Titling" panose="04060505060202020A04" pitchFamily="82" charset="0"/>
                <a:ea typeface="Genty"/>
                <a:cs typeface="Genty"/>
                <a:sym typeface="Genty"/>
              </a:rPr>
              <a:t>Normalization rules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28257" y="1321914"/>
            <a:ext cx="6545742" cy="999213"/>
            <a:chOff x="0" y="0"/>
            <a:chExt cx="1723982" cy="355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3982" cy="355111"/>
            </a:xfrm>
            <a:custGeom>
              <a:avLst/>
              <a:gdLst/>
              <a:ahLst/>
              <a:cxnLst/>
              <a:rect l="l" t="t" r="r" b="b"/>
              <a:pathLst>
                <a:path w="1723982" h="355111">
                  <a:moveTo>
                    <a:pt x="60320" y="0"/>
                  </a:moveTo>
                  <a:lnTo>
                    <a:pt x="1663662" y="0"/>
                  </a:lnTo>
                  <a:cubicBezTo>
                    <a:pt x="1696975" y="0"/>
                    <a:pt x="1723982" y="27006"/>
                    <a:pt x="1723982" y="60320"/>
                  </a:cubicBezTo>
                  <a:lnTo>
                    <a:pt x="1723982" y="294791"/>
                  </a:lnTo>
                  <a:cubicBezTo>
                    <a:pt x="1723982" y="310789"/>
                    <a:pt x="1717627" y="326132"/>
                    <a:pt x="1706314" y="337444"/>
                  </a:cubicBezTo>
                  <a:cubicBezTo>
                    <a:pt x="1695002" y="348756"/>
                    <a:pt x="1679660" y="355111"/>
                    <a:pt x="1663662" y="355111"/>
                  </a:cubicBezTo>
                  <a:lnTo>
                    <a:pt x="60320" y="355111"/>
                  </a:lnTo>
                  <a:cubicBezTo>
                    <a:pt x="27006" y="355111"/>
                    <a:pt x="0" y="328105"/>
                    <a:pt x="0" y="294791"/>
                  </a:cubicBezTo>
                  <a:lnTo>
                    <a:pt x="0" y="60320"/>
                  </a:lnTo>
                  <a:cubicBezTo>
                    <a:pt x="0" y="27006"/>
                    <a:pt x="27006" y="0"/>
                    <a:pt x="60320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23982" cy="393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28257" y="1425801"/>
            <a:ext cx="5486400" cy="14850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36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Third  normal form (3NF)</a:t>
            </a:r>
          </a:p>
          <a:p>
            <a:pPr algn="ctr">
              <a:lnSpc>
                <a:spcPts val="6000"/>
              </a:lnSpc>
            </a:pPr>
            <a:endParaRPr lang="en-US" sz="3600" dirty="0">
              <a:solidFill>
                <a:srgbClr val="051D4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99028" y="2441888"/>
            <a:ext cx="82042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Rule: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Must Be in 2NF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No Transitive Dependency : non-key attributes should not depend on other non-key attributes</a:t>
            </a:r>
            <a:r>
              <a:rPr lang="en-US" sz="3200" b="1" dirty="0"/>
              <a:t>.</a:t>
            </a:r>
            <a:endParaRPr lang="en-US" sz="32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4410C7-B1E9-A9AF-C29E-59DBAF550B86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5703840"/>
          <a:ext cx="6146800" cy="1515612"/>
        </p:xfrm>
        <a:graphic>
          <a:graphicData uri="http://schemas.openxmlformats.org/drawingml/2006/table">
            <a:tbl>
              <a:tblPr/>
              <a:tblGrid>
                <a:gridCol w="3073400">
                  <a:extLst>
                    <a:ext uri="{9D8B030D-6E8A-4147-A177-3AD203B41FA5}">
                      <a16:colId xmlns:a16="http://schemas.microsoft.com/office/drawing/2014/main" val="3359646724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1989048697"/>
                    </a:ext>
                  </a:extLst>
                </a:gridCol>
              </a:tblGrid>
              <a:tr h="7578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424476"/>
                  </a:ext>
                </a:extLst>
              </a:tr>
              <a:tr h="7578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20204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0BCA799-169A-5330-37F9-8BA119BF6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71857"/>
              </p:ext>
            </p:extLst>
          </p:nvPr>
        </p:nvGraphicFramePr>
        <p:xfrm>
          <a:off x="3597979" y="5670870"/>
          <a:ext cx="8552041" cy="4235388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109162779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421708321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696190430"/>
                    </a:ext>
                  </a:extLst>
                </a:gridCol>
                <a:gridCol w="2379841">
                  <a:extLst>
                    <a:ext uri="{9D8B030D-6E8A-4147-A177-3AD203B41FA5}">
                      <a16:colId xmlns:a16="http://schemas.microsoft.com/office/drawing/2014/main" val="1366484807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sz="3600" dirty="0"/>
                        <a:t>Stu</a:t>
                      </a:r>
                      <a:r>
                        <a:rPr lang="en-US" sz="3600" baseline="0" dirty="0"/>
                        <a:t> </a:t>
                      </a:r>
                      <a:r>
                        <a:rPr lang="en-US" sz="36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Stu</a:t>
                      </a:r>
                      <a:r>
                        <a:rPr lang="en-US" sz="3600" baseline="0" dirty="0"/>
                        <a:t> </a:t>
                      </a:r>
                      <a:r>
                        <a:rPr lang="en-US" sz="3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Dep</a:t>
                      </a:r>
                      <a:r>
                        <a:rPr lang="en-US" sz="3600" baseline="0" dirty="0"/>
                        <a:t> </a:t>
                      </a:r>
                      <a:r>
                        <a:rPr lang="en-US" sz="3600" dirty="0"/>
                        <a:t>Head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295252"/>
                  </a:ext>
                </a:extLst>
              </a:tr>
              <a:tr h="989934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Ankit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Mr.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771034"/>
                  </a:ext>
                </a:extLst>
              </a:tr>
              <a:tr h="989934">
                <a:tc>
                  <a:txBody>
                    <a:bodyPr/>
                    <a:lstStyle/>
                    <a:p>
                      <a:r>
                        <a:rPr lang="en-US" sz="3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Neha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BBA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Mr.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663247"/>
                  </a:ext>
                </a:extLst>
              </a:tr>
              <a:tr h="534949">
                <a:tc>
                  <a:txBody>
                    <a:bodyPr/>
                    <a:lstStyle/>
                    <a:p>
                      <a:r>
                        <a:rPr lang="en-US" sz="3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/>
                        <a:t>Amrita</a:t>
                      </a:r>
                    </a:p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Mr.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9356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0C6AF97-BB50-8B3E-159E-D41AEA2A606D}"/>
              </a:ext>
            </a:extLst>
          </p:cNvPr>
          <p:cNvSpPr txBox="1"/>
          <p:nvPr/>
        </p:nvSpPr>
        <p:spPr>
          <a:xfrm>
            <a:off x="5503475" y="4642490"/>
            <a:ext cx="132930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not in 3NF</a:t>
            </a:r>
          </a:p>
        </p:txBody>
      </p:sp>
    </p:spTree>
    <p:extLst>
      <p:ext uri="{BB962C8B-B14F-4D97-AF65-F5344CB8AC3E}">
        <p14:creationId xmlns:p14="http://schemas.microsoft.com/office/powerpoint/2010/main" val="465812490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78597" y="680112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926613" y="-5969363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57400" y="-114300"/>
            <a:ext cx="15533231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8000" dirty="0">
                <a:solidFill>
                  <a:srgbClr val="051D40"/>
                </a:solidFill>
                <a:latin typeface="Felix Titling" panose="04060505060202020A04" pitchFamily="82" charset="0"/>
                <a:ea typeface="Genty"/>
                <a:cs typeface="Genty"/>
                <a:sym typeface="Genty"/>
              </a:rPr>
              <a:t>Normalization rules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65712" y="1328927"/>
            <a:ext cx="6149801" cy="999213"/>
            <a:chOff x="0" y="0"/>
            <a:chExt cx="1723982" cy="355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3982" cy="355111"/>
            </a:xfrm>
            <a:custGeom>
              <a:avLst/>
              <a:gdLst/>
              <a:ahLst/>
              <a:cxnLst/>
              <a:rect l="l" t="t" r="r" b="b"/>
              <a:pathLst>
                <a:path w="1723982" h="355111">
                  <a:moveTo>
                    <a:pt x="60320" y="0"/>
                  </a:moveTo>
                  <a:lnTo>
                    <a:pt x="1663662" y="0"/>
                  </a:lnTo>
                  <a:cubicBezTo>
                    <a:pt x="1696975" y="0"/>
                    <a:pt x="1723982" y="27006"/>
                    <a:pt x="1723982" y="60320"/>
                  </a:cubicBezTo>
                  <a:lnTo>
                    <a:pt x="1723982" y="294791"/>
                  </a:lnTo>
                  <a:cubicBezTo>
                    <a:pt x="1723982" y="310789"/>
                    <a:pt x="1717627" y="326132"/>
                    <a:pt x="1706314" y="337444"/>
                  </a:cubicBezTo>
                  <a:cubicBezTo>
                    <a:pt x="1695002" y="348756"/>
                    <a:pt x="1679660" y="355111"/>
                    <a:pt x="1663662" y="355111"/>
                  </a:cubicBezTo>
                  <a:lnTo>
                    <a:pt x="60320" y="355111"/>
                  </a:lnTo>
                  <a:cubicBezTo>
                    <a:pt x="27006" y="355111"/>
                    <a:pt x="0" y="328105"/>
                    <a:pt x="0" y="294791"/>
                  </a:cubicBezTo>
                  <a:lnTo>
                    <a:pt x="0" y="60320"/>
                  </a:lnTo>
                  <a:cubicBezTo>
                    <a:pt x="0" y="27006"/>
                    <a:pt x="27006" y="0"/>
                    <a:pt x="60320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23982" cy="393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97412" y="1392248"/>
            <a:ext cx="5486400" cy="14850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36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Third  normal form (3NF)</a:t>
            </a:r>
          </a:p>
          <a:p>
            <a:pPr algn="ctr">
              <a:lnSpc>
                <a:spcPts val="6000"/>
              </a:lnSpc>
            </a:pPr>
            <a:endParaRPr lang="en-US" sz="3600" dirty="0">
              <a:solidFill>
                <a:srgbClr val="051D4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75352" y="2315093"/>
            <a:ext cx="82042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Rule: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Must Be in 2NF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No Transitive Dependency : non-key attributes should not depend on other non-key attributes.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4410C7-B1E9-A9AF-C29E-59DBAF550B86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5703840"/>
          <a:ext cx="6146800" cy="1515612"/>
        </p:xfrm>
        <a:graphic>
          <a:graphicData uri="http://schemas.openxmlformats.org/drawingml/2006/table">
            <a:tbl>
              <a:tblPr/>
              <a:tblGrid>
                <a:gridCol w="3073400">
                  <a:extLst>
                    <a:ext uri="{9D8B030D-6E8A-4147-A177-3AD203B41FA5}">
                      <a16:colId xmlns:a16="http://schemas.microsoft.com/office/drawing/2014/main" val="3359646724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1989048697"/>
                    </a:ext>
                  </a:extLst>
                </a:gridCol>
              </a:tblGrid>
              <a:tr h="7578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424476"/>
                  </a:ext>
                </a:extLst>
              </a:tr>
              <a:tr h="7578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20204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0BCA799-169A-5330-37F9-8BA119BF6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936167"/>
              </p:ext>
            </p:extLst>
          </p:nvPr>
        </p:nvGraphicFramePr>
        <p:xfrm>
          <a:off x="1491352" y="5962913"/>
          <a:ext cx="6172200" cy="4235388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109162779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421708321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696190430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sz="3600" dirty="0"/>
                        <a:t>Stu</a:t>
                      </a:r>
                      <a:r>
                        <a:rPr lang="en-US" sz="3600" baseline="0" dirty="0"/>
                        <a:t> </a:t>
                      </a:r>
                      <a:r>
                        <a:rPr lang="en-US" sz="36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Stu</a:t>
                      </a:r>
                      <a:r>
                        <a:rPr lang="en-US" sz="3600" baseline="0" dirty="0"/>
                        <a:t> </a:t>
                      </a:r>
                      <a:r>
                        <a:rPr lang="en-US" sz="3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Department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295252"/>
                  </a:ext>
                </a:extLst>
              </a:tr>
              <a:tr h="989934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Ankit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771034"/>
                  </a:ext>
                </a:extLst>
              </a:tr>
              <a:tr h="989934">
                <a:tc>
                  <a:txBody>
                    <a:bodyPr/>
                    <a:lstStyle/>
                    <a:p>
                      <a:r>
                        <a:rPr lang="en-US" sz="3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Neha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BBA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663247"/>
                  </a:ext>
                </a:extLst>
              </a:tr>
              <a:tr h="534949">
                <a:tc>
                  <a:txBody>
                    <a:bodyPr/>
                    <a:lstStyle/>
                    <a:p>
                      <a:r>
                        <a:rPr lang="en-US" sz="3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/>
                        <a:t>Amrita</a:t>
                      </a:r>
                    </a:p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9356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3C7BBE5-4EF5-9673-8B19-4AA88C14E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050394"/>
              </p:ext>
            </p:extLst>
          </p:nvPr>
        </p:nvGraphicFramePr>
        <p:xfrm>
          <a:off x="8451423" y="6698696"/>
          <a:ext cx="5042753" cy="246888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718521">
                  <a:extLst>
                    <a:ext uri="{9D8B030D-6E8A-4147-A177-3AD203B41FA5}">
                      <a16:colId xmlns:a16="http://schemas.microsoft.com/office/drawing/2014/main" val="3800872262"/>
                    </a:ext>
                  </a:extLst>
                </a:gridCol>
                <a:gridCol w="2324232">
                  <a:extLst>
                    <a:ext uri="{9D8B030D-6E8A-4147-A177-3AD203B41FA5}">
                      <a16:colId xmlns:a16="http://schemas.microsoft.com/office/drawing/2014/main" val="1813613869"/>
                    </a:ext>
                  </a:extLst>
                </a:gridCol>
              </a:tblGrid>
              <a:tr h="8623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/>
                        <a:t>Department</a:t>
                      </a:r>
                    </a:p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/>
                        <a:t>Dep</a:t>
                      </a:r>
                      <a:r>
                        <a:rPr lang="en-US" sz="3600" baseline="0" dirty="0"/>
                        <a:t> </a:t>
                      </a:r>
                      <a:r>
                        <a:rPr lang="en-US" sz="3600" dirty="0"/>
                        <a:t>Head</a:t>
                      </a:r>
                    </a:p>
                    <a:p>
                      <a:endParaRPr 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178518"/>
                  </a:ext>
                </a:extLst>
              </a:tr>
              <a:tr h="464334">
                <a:tc>
                  <a:txBody>
                    <a:bodyPr/>
                    <a:lstStyle/>
                    <a:p>
                      <a:r>
                        <a:rPr lang="en-US" sz="3600" dirty="0"/>
                        <a:t>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Mr.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818761"/>
                  </a:ext>
                </a:extLst>
              </a:tr>
              <a:tr h="464334">
                <a:tc>
                  <a:txBody>
                    <a:bodyPr/>
                    <a:lstStyle/>
                    <a:p>
                      <a:r>
                        <a:rPr lang="en-US" sz="3600" dirty="0"/>
                        <a:t>BBA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Mr.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2224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0081383-1DF8-CF04-7488-608EF85D249A}"/>
              </a:ext>
            </a:extLst>
          </p:cNvPr>
          <p:cNvSpPr txBox="1"/>
          <p:nvPr/>
        </p:nvSpPr>
        <p:spPr>
          <a:xfrm>
            <a:off x="2497455" y="5234622"/>
            <a:ext cx="4169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Student Table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6D3D10-DA7B-34EC-DF44-23348415E498}"/>
              </a:ext>
            </a:extLst>
          </p:cNvPr>
          <p:cNvSpPr txBox="1"/>
          <p:nvPr/>
        </p:nvSpPr>
        <p:spPr>
          <a:xfrm>
            <a:off x="8749447" y="5954121"/>
            <a:ext cx="42807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Department  Table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96FFDB-3FE3-C4BB-8A84-E68ABBF27A29}"/>
              </a:ext>
            </a:extLst>
          </p:cNvPr>
          <p:cNvSpPr txBox="1"/>
          <p:nvPr/>
        </p:nvSpPr>
        <p:spPr>
          <a:xfrm>
            <a:off x="6324600" y="4706328"/>
            <a:ext cx="134073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Nunito Sans"/>
                <a:ea typeface="Nunito Sans"/>
                <a:cs typeface="Nunito Sans"/>
              </a:rPr>
              <a:t>Tables in 3NF</a:t>
            </a:r>
          </a:p>
        </p:txBody>
      </p:sp>
    </p:spTree>
    <p:extLst>
      <p:ext uri="{BB962C8B-B14F-4D97-AF65-F5344CB8AC3E}">
        <p14:creationId xmlns:p14="http://schemas.microsoft.com/office/powerpoint/2010/main" val="3798917126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78597" y="680112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410200" y="-6623894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23074" y="-43123"/>
            <a:ext cx="15533231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8000" dirty="0">
                <a:solidFill>
                  <a:srgbClr val="051D40"/>
                </a:solidFill>
                <a:latin typeface="Felix Titling" panose="04060505060202020A04" pitchFamily="82" charset="0"/>
                <a:ea typeface="Genty"/>
                <a:cs typeface="Genty"/>
                <a:sym typeface="Genty"/>
              </a:rPr>
              <a:t>Normalization rules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46728" y="1562100"/>
            <a:ext cx="7082872" cy="999213"/>
            <a:chOff x="0" y="0"/>
            <a:chExt cx="1723982" cy="355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3982" cy="355111"/>
            </a:xfrm>
            <a:custGeom>
              <a:avLst/>
              <a:gdLst/>
              <a:ahLst/>
              <a:cxnLst/>
              <a:rect l="l" t="t" r="r" b="b"/>
              <a:pathLst>
                <a:path w="1723982" h="355111">
                  <a:moveTo>
                    <a:pt x="60320" y="0"/>
                  </a:moveTo>
                  <a:lnTo>
                    <a:pt x="1663662" y="0"/>
                  </a:lnTo>
                  <a:cubicBezTo>
                    <a:pt x="1696975" y="0"/>
                    <a:pt x="1723982" y="27006"/>
                    <a:pt x="1723982" y="60320"/>
                  </a:cubicBezTo>
                  <a:lnTo>
                    <a:pt x="1723982" y="294791"/>
                  </a:lnTo>
                  <a:cubicBezTo>
                    <a:pt x="1723982" y="310789"/>
                    <a:pt x="1717627" y="326132"/>
                    <a:pt x="1706314" y="337444"/>
                  </a:cubicBezTo>
                  <a:cubicBezTo>
                    <a:pt x="1695002" y="348756"/>
                    <a:pt x="1679660" y="355111"/>
                    <a:pt x="1663662" y="355111"/>
                  </a:cubicBezTo>
                  <a:lnTo>
                    <a:pt x="60320" y="355111"/>
                  </a:lnTo>
                  <a:cubicBezTo>
                    <a:pt x="27006" y="355111"/>
                    <a:pt x="0" y="328105"/>
                    <a:pt x="0" y="294791"/>
                  </a:cubicBezTo>
                  <a:lnTo>
                    <a:pt x="0" y="60320"/>
                  </a:lnTo>
                  <a:cubicBezTo>
                    <a:pt x="0" y="27006"/>
                    <a:pt x="27006" y="0"/>
                    <a:pt x="60320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23982" cy="393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05898" y="1562100"/>
            <a:ext cx="7223702" cy="14850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36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Boyce-code normal form (BCNF)</a:t>
            </a:r>
          </a:p>
          <a:p>
            <a:pPr algn="ctr">
              <a:lnSpc>
                <a:spcPts val="6000"/>
              </a:lnSpc>
            </a:pPr>
            <a:endParaRPr lang="en-US" sz="3600" dirty="0">
              <a:solidFill>
                <a:srgbClr val="051D4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29670" y="2705100"/>
            <a:ext cx="945253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Rule: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Builds on 3NF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Is advanced version of 3NF where every functional dependency must have a super key on the left side</a:t>
            </a:r>
            <a:r>
              <a:rPr lang="en-US" sz="3200" b="1" dirty="0"/>
              <a:t>.</a:t>
            </a:r>
            <a:endParaRPr lang="en-US" sz="32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4410C7-B1E9-A9AF-C29E-59DBAF550B86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5703840"/>
          <a:ext cx="6146800" cy="1515612"/>
        </p:xfrm>
        <a:graphic>
          <a:graphicData uri="http://schemas.openxmlformats.org/drawingml/2006/table">
            <a:tbl>
              <a:tblPr/>
              <a:tblGrid>
                <a:gridCol w="3073400">
                  <a:extLst>
                    <a:ext uri="{9D8B030D-6E8A-4147-A177-3AD203B41FA5}">
                      <a16:colId xmlns:a16="http://schemas.microsoft.com/office/drawing/2014/main" val="3359646724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1989048697"/>
                    </a:ext>
                  </a:extLst>
                </a:gridCol>
              </a:tblGrid>
              <a:tr h="7578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424476"/>
                  </a:ext>
                </a:extLst>
              </a:tr>
              <a:tr h="7578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20204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0BCA799-169A-5330-37F9-8BA119BF6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913622"/>
              </p:ext>
            </p:extLst>
          </p:nvPr>
        </p:nvGraphicFramePr>
        <p:xfrm>
          <a:off x="4800600" y="5922966"/>
          <a:ext cx="6705600" cy="3747708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937984">
                  <a:extLst>
                    <a:ext uri="{9D8B030D-6E8A-4147-A177-3AD203B41FA5}">
                      <a16:colId xmlns:a16="http://schemas.microsoft.com/office/drawing/2014/main" val="1091627790"/>
                    </a:ext>
                  </a:extLst>
                </a:gridCol>
                <a:gridCol w="2008980">
                  <a:extLst>
                    <a:ext uri="{9D8B030D-6E8A-4147-A177-3AD203B41FA5}">
                      <a16:colId xmlns:a16="http://schemas.microsoft.com/office/drawing/2014/main" val="2696190430"/>
                    </a:ext>
                  </a:extLst>
                </a:gridCol>
                <a:gridCol w="2758636">
                  <a:extLst>
                    <a:ext uri="{9D8B030D-6E8A-4147-A177-3AD203B41FA5}">
                      <a16:colId xmlns:a16="http://schemas.microsoft.com/office/drawing/2014/main" val="3591271836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sz="4000" dirty="0"/>
                        <a:t>Stu</a:t>
                      </a:r>
                      <a:r>
                        <a:rPr lang="en-US" sz="4000" baseline="0" dirty="0"/>
                        <a:t> </a:t>
                      </a:r>
                      <a:r>
                        <a:rPr lang="en-US" sz="40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Instructor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295252"/>
                  </a:ext>
                </a:extLst>
              </a:tr>
              <a:tr h="989934">
                <a:tc>
                  <a:txBody>
                    <a:bodyPr/>
                    <a:lstStyle/>
                    <a:p>
                      <a:r>
                        <a:rPr lang="en-US" sz="4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Smith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771034"/>
                  </a:ext>
                </a:extLst>
              </a:tr>
              <a:tr h="989934">
                <a:tc>
                  <a:txBody>
                    <a:bodyPr/>
                    <a:lstStyle/>
                    <a:p>
                      <a:r>
                        <a:rPr lang="en-US" sz="4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baseline="0" dirty="0"/>
                        <a:t>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baseline="0" dirty="0"/>
                        <a:t>John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663247"/>
                  </a:ext>
                </a:extLst>
              </a:tr>
              <a:tr h="534949">
                <a:tc>
                  <a:txBody>
                    <a:bodyPr/>
                    <a:lstStyle/>
                    <a:p>
                      <a:r>
                        <a:rPr lang="en-US" sz="4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baseline="0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baseline="0" dirty="0"/>
                        <a:t>Sophia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9356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472B093-CC0D-0432-C3A3-ABEFDB1BCBC5}"/>
              </a:ext>
            </a:extLst>
          </p:cNvPr>
          <p:cNvSpPr txBox="1"/>
          <p:nvPr/>
        </p:nvSpPr>
        <p:spPr>
          <a:xfrm>
            <a:off x="5300051" y="4995954"/>
            <a:ext cx="132930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not in BCNF</a:t>
            </a:r>
          </a:p>
        </p:txBody>
      </p:sp>
    </p:spTree>
    <p:extLst>
      <p:ext uri="{BB962C8B-B14F-4D97-AF65-F5344CB8AC3E}">
        <p14:creationId xmlns:p14="http://schemas.microsoft.com/office/powerpoint/2010/main" val="967185898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78597" y="680112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205665" y="-6268976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80846" y="114341"/>
            <a:ext cx="15533231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8000" dirty="0">
                <a:solidFill>
                  <a:srgbClr val="051D40"/>
                </a:solidFill>
                <a:latin typeface="Felix Titling" panose="04060505060202020A04" pitchFamily="82" charset="0"/>
                <a:ea typeface="Genty"/>
                <a:cs typeface="Genty"/>
                <a:sym typeface="Genty"/>
              </a:rPr>
              <a:t>Normalization rules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465871" y="1653224"/>
            <a:ext cx="7082872" cy="999213"/>
            <a:chOff x="0" y="0"/>
            <a:chExt cx="1723982" cy="355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3982" cy="355111"/>
            </a:xfrm>
            <a:custGeom>
              <a:avLst/>
              <a:gdLst/>
              <a:ahLst/>
              <a:cxnLst/>
              <a:rect l="l" t="t" r="r" b="b"/>
              <a:pathLst>
                <a:path w="1723982" h="355111">
                  <a:moveTo>
                    <a:pt x="60320" y="0"/>
                  </a:moveTo>
                  <a:lnTo>
                    <a:pt x="1663662" y="0"/>
                  </a:lnTo>
                  <a:cubicBezTo>
                    <a:pt x="1696975" y="0"/>
                    <a:pt x="1723982" y="27006"/>
                    <a:pt x="1723982" y="60320"/>
                  </a:cubicBezTo>
                  <a:lnTo>
                    <a:pt x="1723982" y="294791"/>
                  </a:lnTo>
                  <a:cubicBezTo>
                    <a:pt x="1723982" y="310789"/>
                    <a:pt x="1717627" y="326132"/>
                    <a:pt x="1706314" y="337444"/>
                  </a:cubicBezTo>
                  <a:cubicBezTo>
                    <a:pt x="1695002" y="348756"/>
                    <a:pt x="1679660" y="355111"/>
                    <a:pt x="1663662" y="355111"/>
                  </a:cubicBezTo>
                  <a:lnTo>
                    <a:pt x="60320" y="355111"/>
                  </a:lnTo>
                  <a:cubicBezTo>
                    <a:pt x="27006" y="355111"/>
                    <a:pt x="0" y="328105"/>
                    <a:pt x="0" y="294791"/>
                  </a:cubicBezTo>
                  <a:lnTo>
                    <a:pt x="0" y="60320"/>
                  </a:lnTo>
                  <a:cubicBezTo>
                    <a:pt x="0" y="27006"/>
                    <a:pt x="27006" y="0"/>
                    <a:pt x="60320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23982" cy="393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25041" y="1722444"/>
            <a:ext cx="7223702" cy="14850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36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Boyce-code normal form (BCNF)</a:t>
            </a:r>
          </a:p>
          <a:p>
            <a:pPr algn="ctr">
              <a:lnSpc>
                <a:spcPts val="6000"/>
              </a:lnSpc>
            </a:pPr>
            <a:endParaRPr lang="en-US" sz="3600" dirty="0">
              <a:solidFill>
                <a:srgbClr val="051D4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16164" y="2665345"/>
            <a:ext cx="1059366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Rule: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Builds on 3NF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Is advanced version of 3NF where every functional dependency must have a super key on the left side</a:t>
            </a:r>
            <a:r>
              <a:rPr lang="en-US" sz="3200" b="1" dirty="0"/>
              <a:t>.</a:t>
            </a:r>
            <a:endParaRPr lang="en-US" sz="32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4410C7-B1E9-A9AF-C29E-59DBAF550B86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5703840"/>
          <a:ext cx="6146800" cy="1515612"/>
        </p:xfrm>
        <a:graphic>
          <a:graphicData uri="http://schemas.openxmlformats.org/drawingml/2006/table">
            <a:tbl>
              <a:tblPr/>
              <a:tblGrid>
                <a:gridCol w="3073400">
                  <a:extLst>
                    <a:ext uri="{9D8B030D-6E8A-4147-A177-3AD203B41FA5}">
                      <a16:colId xmlns:a16="http://schemas.microsoft.com/office/drawing/2014/main" val="3359646724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1989048697"/>
                    </a:ext>
                  </a:extLst>
                </a:gridCol>
              </a:tblGrid>
              <a:tr h="7578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424476"/>
                  </a:ext>
                </a:extLst>
              </a:tr>
              <a:tr h="7578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20204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0BCA799-169A-5330-37F9-8BA119BF6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650415"/>
              </p:ext>
            </p:extLst>
          </p:nvPr>
        </p:nvGraphicFramePr>
        <p:xfrm>
          <a:off x="2346845" y="6249852"/>
          <a:ext cx="3766152" cy="3686748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849204">
                  <a:extLst>
                    <a:ext uri="{9D8B030D-6E8A-4147-A177-3AD203B41FA5}">
                      <a16:colId xmlns:a16="http://schemas.microsoft.com/office/drawing/2014/main" val="1091627790"/>
                    </a:ext>
                  </a:extLst>
                </a:gridCol>
                <a:gridCol w="1916948">
                  <a:extLst>
                    <a:ext uri="{9D8B030D-6E8A-4147-A177-3AD203B41FA5}">
                      <a16:colId xmlns:a16="http://schemas.microsoft.com/office/drawing/2014/main" val="2696190430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sz="3600" dirty="0"/>
                        <a:t>Stu</a:t>
                      </a:r>
                      <a:r>
                        <a:rPr lang="en-US" sz="3600" baseline="0" dirty="0"/>
                        <a:t> </a:t>
                      </a:r>
                      <a:r>
                        <a:rPr lang="en-US" sz="36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Course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295252"/>
                  </a:ext>
                </a:extLst>
              </a:tr>
              <a:tr h="989934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771034"/>
                  </a:ext>
                </a:extLst>
              </a:tr>
              <a:tr h="989934">
                <a:tc>
                  <a:txBody>
                    <a:bodyPr/>
                    <a:lstStyle/>
                    <a:p>
                      <a:r>
                        <a:rPr lang="en-US" sz="3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C++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663247"/>
                  </a:ext>
                </a:extLst>
              </a:tr>
              <a:tr h="534949">
                <a:tc>
                  <a:txBody>
                    <a:bodyPr/>
                    <a:lstStyle/>
                    <a:p>
                      <a:r>
                        <a:rPr lang="en-US" sz="3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Java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9356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E6FA27F-4E34-2399-CDF0-AF83EFB71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564968"/>
              </p:ext>
            </p:extLst>
          </p:nvPr>
        </p:nvGraphicFramePr>
        <p:xfrm>
          <a:off x="7288644" y="6297172"/>
          <a:ext cx="4035797" cy="3686748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665306">
                  <a:extLst>
                    <a:ext uri="{9D8B030D-6E8A-4147-A177-3AD203B41FA5}">
                      <a16:colId xmlns:a16="http://schemas.microsoft.com/office/drawing/2014/main" val="3939219663"/>
                    </a:ext>
                  </a:extLst>
                </a:gridCol>
                <a:gridCol w="2370491">
                  <a:extLst>
                    <a:ext uri="{9D8B030D-6E8A-4147-A177-3AD203B41FA5}">
                      <a16:colId xmlns:a16="http://schemas.microsoft.com/office/drawing/2014/main" val="1114965561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sz="3600" dirty="0"/>
                        <a:t>Stu</a:t>
                      </a:r>
                      <a:r>
                        <a:rPr lang="en-US" sz="3600" baseline="0" dirty="0"/>
                        <a:t> </a:t>
                      </a:r>
                      <a:r>
                        <a:rPr lang="en-US" sz="36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Instructor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304073"/>
                  </a:ext>
                </a:extLst>
              </a:tr>
              <a:tr h="989934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Smith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304638"/>
                  </a:ext>
                </a:extLst>
              </a:tr>
              <a:tr h="989934">
                <a:tc>
                  <a:txBody>
                    <a:bodyPr/>
                    <a:lstStyle/>
                    <a:p>
                      <a:r>
                        <a:rPr lang="en-US" sz="3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John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3509605"/>
                  </a:ext>
                </a:extLst>
              </a:tr>
              <a:tr h="534949">
                <a:tc>
                  <a:txBody>
                    <a:bodyPr/>
                    <a:lstStyle/>
                    <a:p>
                      <a:r>
                        <a:rPr lang="en-US" sz="3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Sophia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08014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07C7CD2-99F5-F024-0F11-04F75843856E}"/>
              </a:ext>
            </a:extLst>
          </p:cNvPr>
          <p:cNvSpPr txBox="1"/>
          <p:nvPr/>
        </p:nvSpPr>
        <p:spPr>
          <a:xfrm>
            <a:off x="2895600" y="5558342"/>
            <a:ext cx="135296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Course Table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453DDF-0687-A2E7-C5F0-AF46A76E39C6}"/>
              </a:ext>
            </a:extLst>
          </p:cNvPr>
          <p:cNvSpPr txBox="1"/>
          <p:nvPr/>
        </p:nvSpPr>
        <p:spPr>
          <a:xfrm>
            <a:off x="7874000" y="5523803"/>
            <a:ext cx="132930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Instructor Table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983A52-08F7-F360-4A73-9036166FF20F}"/>
              </a:ext>
            </a:extLst>
          </p:cNvPr>
          <p:cNvSpPr txBox="1"/>
          <p:nvPr/>
        </p:nvSpPr>
        <p:spPr>
          <a:xfrm>
            <a:off x="4800600" y="4878169"/>
            <a:ext cx="132930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Nunito Sans"/>
                <a:ea typeface="Nunito Sans"/>
                <a:cs typeface="Nunito Sans"/>
              </a:rPr>
              <a:t>Table in BCNF</a:t>
            </a:r>
          </a:p>
        </p:txBody>
      </p:sp>
    </p:spTree>
    <p:extLst>
      <p:ext uri="{BB962C8B-B14F-4D97-AF65-F5344CB8AC3E}">
        <p14:creationId xmlns:p14="http://schemas.microsoft.com/office/powerpoint/2010/main" val="1492626469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78597" y="680112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867400" y="-5939039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45954" y="-270801"/>
            <a:ext cx="15533231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8000" dirty="0">
                <a:solidFill>
                  <a:srgbClr val="051D40"/>
                </a:solidFill>
                <a:latin typeface="Felix Titling" panose="04060505060202020A04" pitchFamily="82" charset="0"/>
                <a:ea typeface="Genty"/>
                <a:cs typeface="Genty"/>
                <a:sym typeface="Genty"/>
              </a:rPr>
              <a:t>Normalization rules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744432" y="1181100"/>
            <a:ext cx="6112336" cy="999213"/>
            <a:chOff x="0" y="0"/>
            <a:chExt cx="1723982" cy="355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3982" cy="355111"/>
            </a:xfrm>
            <a:custGeom>
              <a:avLst/>
              <a:gdLst/>
              <a:ahLst/>
              <a:cxnLst/>
              <a:rect l="l" t="t" r="r" b="b"/>
              <a:pathLst>
                <a:path w="1723982" h="355111">
                  <a:moveTo>
                    <a:pt x="60320" y="0"/>
                  </a:moveTo>
                  <a:lnTo>
                    <a:pt x="1663662" y="0"/>
                  </a:lnTo>
                  <a:cubicBezTo>
                    <a:pt x="1696975" y="0"/>
                    <a:pt x="1723982" y="27006"/>
                    <a:pt x="1723982" y="60320"/>
                  </a:cubicBezTo>
                  <a:lnTo>
                    <a:pt x="1723982" y="294791"/>
                  </a:lnTo>
                  <a:cubicBezTo>
                    <a:pt x="1723982" y="310789"/>
                    <a:pt x="1717627" y="326132"/>
                    <a:pt x="1706314" y="337444"/>
                  </a:cubicBezTo>
                  <a:cubicBezTo>
                    <a:pt x="1695002" y="348756"/>
                    <a:pt x="1679660" y="355111"/>
                    <a:pt x="1663662" y="355111"/>
                  </a:cubicBezTo>
                  <a:lnTo>
                    <a:pt x="60320" y="355111"/>
                  </a:lnTo>
                  <a:cubicBezTo>
                    <a:pt x="27006" y="355111"/>
                    <a:pt x="0" y="328105"/>
                    <a:pt x="0" y="294791"/>
                  </a:cubicBezTo>
                  <a:lnTo>
                    <a:pt x="0" y="60320"/>
                  </a:lnTo>
                  <a:cubicBezTo>
                    <a:pt x="0" y="27006"/>
                    <a:pt x="27006" y="0"/>
                    <a:pt x="60320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23982" cy="393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88749" y="1175296"/>
            <a:ext cx="7223702" cy="14850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36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Fourth normal form (4NF)</a:t>
            </a:r>
          </a:p>
          <a:p>
            <a:pPr algn="ctr">
              <a:lnSpc>
                <a:spcPts val="6000"/>
              </a:lnSpc>
            </a:pPr>
            <a:endParaRPr lang="en-US" sz="3600" dirty="0">
              <a:solidFill>
                <a:srgbClr val="051D4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9600" y="2414820"/>
            <a:ext cx="149352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Rule: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Must be in BCNF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No multi-valued dependency : Each attribute should depend only on the primary key and not have more than one independent list of values.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4410C7-B1E9-A9AF-C29E-59DBAF550B86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5703840"/>
          <a:ext cx="6146800" cy="1515612"/>
        </p:xfrm>
        <a:graphic>
          <a:graphicData uri="http://schemas.openxmlformats.org/drawingml/2006/table">
            <a:tbl>
              <a:tblPr/>
              <a:tblGrid>
                <a:gridCol w="3073400">
                  <a:extLst>
                    <a:ext uri="{9D8B030D-6E8A-4147-A177-3AD203B41FA5}">
                      <a16:colId xmlns:a16="http://schemas.microsoft.com/office/drawing/2014/main" val="3359646724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1989048697"/>
                    </a:ext>
                  </a:extLst>
                </a:gridCol>
              </a:tblGrid>
              <a:tr h="7578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424476"/>
                  </a:ext>
                </a:extLst>
              </a:tr>
              <a:tr h="7578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20204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0BCA799-169A-5330-37F9-8BA119BF6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671628"/>
              </p:ext>
            </p:extLst>
          </p:nvPr>
        </p:nvGraphicFramePr>
        <p:xfrm>
          <a:off x="2808518" y="5280978"/>
          <a:ext cx="10096500" cy="484632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771561">
                  <a:extLst>
                    <a:ext uri="{9D8B030D-6E8A-4147-A177-3AD203B41FA5}">
                      <a16:colId xmlns:a16="http://schemas.microsoft.com/office/drawing/2014/main" val="1091627790"/>
                    </a:ext>
                  </a:extLst>
                </a:gridCol>
                <a:gridCol w="3079508">
                  <a:extLst>
                    <a:ext uri="{9D8B030D-6E8A-4147-A177-3AD203B41FA5}">
                      <a16:colId xmlns:a16="http://schemas.microsoft.com/office/drawing/2014/main" val="2696190430"/>
                    </a:ext>
                  </a:extLst>
                </a:gridCol>
                <a:gridCol w="4245431">
                  <a:extLst>
                    <a:ext uri="{9D8B030D-6E8A-4147-A177-3AD203B41FA5}">
                      <a16:colId xmlns:a16="http://schemas.microsoft.com/office/drawing/2014/main" val="1912588229"/>
                    </a:ext>
                  </a:extLst>
                </a:gridCol>
              </a:tblGrid>
              <a:tr h="565562">
                <a:tc>
                  <a:txBody>
                    <a:bodyPr/>
                    <a:lstStyle/>
                    <a:p>
                      <a:r>
                        <a:rPr lang="en-US" sz="3600" dirty="0"/>
                        <a:t>Stu</a:t>
                      </a:r>
                      <a:r>
                        <a:rPr lang="en-US" sz="3600" baseline="0" dirty="0"/>
                        <a:t> </a:t>
                      </a:r>
                      <a:r>
                        <a:rPr lang="en-US" sz="36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Hobby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/>
                        <a:t>Language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295252"/>
                  </a:ext>
                </a:extLst>
              </a:tr>
              <a:tr h="1050330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/>
                        <a:t>Panting</a:t>
                      </a:r>
                    </a:p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English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581608"/>
                  </a:ext>
                </a:extLst>
              </a:tr>
              <a:tr h="1050330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/>
                        <a:t>Panting</a:t>
                      </a:r>
                    </a:p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Spanish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771034"/>
                  </a:ext>
                </a:extLst>
              </a:tr>
              <a:tr h="1050330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aseline="0" dirty="0"/>
                        <a:t>Music</a:t>
                      </a:r>
                      <a:endParaRPr lang="en-US" sz="3600" dirty="0"/>
                    </a:p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English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663247"/>
                  </a:ext>
                </a:extLst>
              </a:tr>
              <a:tr h="565562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aseline="0" dirty="0"/>
                        <a:t>Music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Spanish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38353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F6E6E04-F508-DE44-25E6-6688437E9665}"/>
              </a:ext>
            </a:extLst>
          </p:cNvPr>
          <p:cNvSpPr txBox="1"/>
          <p:nvPr/>
        </p:nvSpPr>
        <p:spPr>
          <a:xfrm>
            <a:off x="5715000" y="4495297"/>
            <a:ext cx="132930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not in 4NF</a:t>
            </a:r>
          </a:p>
        </p:txBody>
      </p:sp>
    </p:spTree>
    <p:extLst>
      <p:ext uri="{BB962C8B-B14F-4D97-AF65-F5344CB8AC3E}">
        <p14:creationId xmlns:p14="http://schemas.microsoft.com/office/powerpoint/2010/main" val="2069460520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78597" y="680112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791200" y="-6282498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45368" y="20689"/>
            <a:ext cx="15533231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8000" dirty="0">
                <a:solidFill>
                  <a:srgbClr val="051D40"/>
                </a:solidFill>
                <a:latin typeface="Felix Titling" panose="04060505060202020A04" pitchFamily="82" charset="0"/>
                <a:ea typeface="Genty"/>
                <a:cs typeface="Genty"/>
                <a:sym typeface="Genty"/>
              </a:rPr>
              <a:t>Normalization rules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459185" y="1398912"/>
            <a:ext cx="6112336" cy="999213"/>
            <a:chOff x="0" y="0"/>
            <a:chExt cx="1723982" cy="355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3982" cy="355111"/>
            </a:xfrm>
            <a:custGeom>
              <a:avLst/>
              <a:gdLst/>
              <a:ahLst/>
              <a:cxnLst/>
              <a:rect l="l" t="t" r="r" b="b"/>
              <a:pathLst>
                <a:path w="1723982" h="355111">
                  <a:moveTo>
                    <a:pt x="60320" y="0"/>
                  </a:moveTo>
                  <a:lnTo>
                    <a:pt x="1663662" y="0"/>
                  </a:lnTo>
                  <a:cubicBezTo>
                    <a:pt x="1696975" y="0"/>
                    <a:pt x="1723982" y="27006"/>
                    <a:pt x="1723982" y="60320"/>
                  </a:cubicBezTo>
                  <a:lnTo>
                    <a:pt x="1723982" y="294791"/>
                  </a:lnTo>
                  <a:cubicBezTo>
                    <a:pt x="1723982" y="310789"/>
                    <a:pt x="1717627" y="326132"/>
                    <a:pt x="1706314" y="337444"/>
                  </a:cubicBezTo>
                  <a:cubicBezTo>
                    <a:pt x="1695002" y="348756"/>
                    <a:pt x="1679660" y="355111"/>
                    <a:pt x="1663662" y="355111"/>
                  </a:cubicBezTo>
                  <a:lnTo>
                    <a:pt x="60320" y="355111"/>
                  </a:lnTo>
                  <a:cubicBezTo>
                    <a:pt x="27006" y="355111"/>
                    <a:pt x="0" y="328105"/>
                    <a:pt x="0" y="294791"/>
                  </a:cubicBezTo>
                  <a:lnTo>
                    <a:pt x="0" y="60320"/>
                  </a:lnTo>
                  <a:cubicBezTo>
                    <a:pt x="0" y="27006"/>
                    <a:pt x="27006" y="0"/>
                    <a:pt x="60320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23982" cy="393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41730" y="1470336"/>
            <a:ext cx="7223702" cy="14850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36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Fourth normal form (4NF)</a:t>
            </a:r>
          </a:p>
          <a:p>
            <a:pPr algn="ctr">
              <a:lnSpc>
                <a:spcPts val="6000"/>
              </a:lnSpc>
            </a:pPr>
            <a:endParaRPr lang="en-US" sz="3600" dirty="0">
              <a:solidFill>
                <a:srgbClr val="051D4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8832" y="2407195"/>
            <a:ext cx="1087306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Rule: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Must be in BCNF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No multi-valued dependency : Each attribute should depend only on the primary key and not have more than one independent list of values.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4410C7-B1E9-A9AF-C29E-59DBAF550B86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5703840"/>
          <a:ext cx="6146800" cy="1515612"/>
        </p:xfrm>
        <a:graphic>
          <a:graphicData uri="http://schemas.openxmlformats.org/drawingml/2006/table">
            <a:tbl>
              <a:tblPr/>
              <a:tblGrid>
                <a:gridCol w="3073400">
                  <a:extLst>
                    <a:ext uri="{9D8B030D-6E8A-4147-A177-3AD203B41FA5}">
                      <a16:colId xmlns:a16="http://schemas.microsoft.com/office/drawing/2014/main" val="3359646724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1989048697"/>
                    </a:ext>
                  </a:extLst>
                </a:gridCol>
              </a:tblGrid>
              <a:tr h="7578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424476"/>
                  </a:ext>
                </a:extLst>
              </a:tr>
              <a:tr h="7578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20204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0BCA799-169A-5330-37F9-8BA119BF6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175321"/>
              </p:ext>
            </p:extLst>
          </p:nvPr>
        </p:nvGraphicFramePr>
        <p:xfrm>
          <a:off x="2045368" y="6461646"/>
          <a:ext cx="4257895" cy="3245454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847540">
                  <a:extLst>
                    <a:ext uri="{9D8B030D-6E8A-4147-A177-3AD203B41FA5}">
                      <a16:colId xmlns:a16="http://schemas.microsoft.com/office/drawing/2014/main" val="1091627790"/>
                    </a:ext>
                  </a:extLst>
                </a:gridCol>
                <a:gridCol w="2410355">
                  <a:extLst>
                    <a:ext uri="{9D8B030D-6E8A-4147-A177-3AD203B41FA5}">
                      <a16:colId xmlns:a16="http://schemas.microsoft.com/office/drawing/2014/main" val="2696190430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sz="3600" dirty="0"/>
                        <a:t>Stu</a:t>
                      </a:r>
                      <a:r>
                        <a:rPr lang="en-US" sz="3600" baseline="0" dirty="0"/>
                        <a:t> </a:t>
                      </a:r>
                      <a:r>
                        <a:rPr lang="en-US" sz="36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Hobby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295252"/>
                  </a:ext>
                </a:extLst>
              </a:tr>
              <a:tr h="989934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Panting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771034"/>
                  </a:ext>
                </a:extLst>
              </a:tr>
              <a:tr h="989934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aseline="0" dirty="0"/>
                        <a:t>Music</a:t>
                      </a:r>
                    </a:p>
                    <a:p>
                      <a:endParaRPr lang="en-US" sz="36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66324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E6FA27F-4E34-2399-CDF0-AF83EFB71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951745"/>
              </p:ext>
            </p:extLst>
          </p:nvPr>
        </p:nvGraphicFramePr>
        <p:xfrm>
          <a:off x="8153400" y="6561039"/>
          <a:ext cx="4991576" cy="3046668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059693">
                  <a:extLst>
                    <a:ext uri="{9D8B030D-6E8A-4147-A177-3AD203B41FA5}">
                      <a16:colId xmlns:a16="http://schemas.microsoft.com/office/drawing/2014/main" val="3939219663"/>
                    </a:ext>
                  </a:extLst>
                </a:gridCol>
                <a:gridCol w="2931883">
                  <a:extLst>
                    <a:ext uri="{9D8B030D-6E8A-4147-A177-3AD203B41FA5}">
                      <a16:colId xmlns:a16="http://schemas.microsoft.com/office/drawing/2014/main" val="1114965561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sz="3600" dirty="0"/>
                        <a:t>Stu</a:t>
                      </a:r>
                      <a:r>
                        <a:rPr lang="en-US" sz="3600" baseline="0" dirty="0"/>
                        <a:t> </a:t>
                      </a:r>
                      <a:r>
                        <a:rPr lang="en-US" sz="36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Language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304073"/>
                  </a:ext>
                </a:extLst>
              </a:tr>
              <a:tr h="989934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English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304638"/>
                  </a:ext>
                </a:extLst>
              </a:tr>
              <a:tr h="989934">
                <a:tc>
                  <a:txBody>
                    <a:bodyPr/>
                    <a:lstStyle/>
                    <a:p>
                      <a:r>
                        <a:rPr lang="en-US" sz="3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Spanish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35096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E0C2F17-E9BA-BEC6-1825-9DF428659AC7}"/>
              </a:ext>
            </a:extLst>
          </p:cNvPr>
          <p:cNvSpPr txBox="1"/>
          <p:nvPr/>
        </p:nvSpPr>
        <p:spPr>
          <a:xfrm>
            <a:off x="2632868" y="5631971"/>
            <a:ext cx="39839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St hobby Table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7441F0-ABB7-4270-1292-7641FCE6FAFB}"/>
              </a:ext>
            </a:extLst>
          </p:cNvPr>
          <p:cNvSpPr txBox="1"/>
          <p:nvPr/>
        </p:nvSpPr>
        <p:spPr>
          <a:xfrm>
            <a:off x="8814375" y="5650870"/>
            <a:ext cx="129882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St language Table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CE9E6-8DF8-5FC5-99A8-88D94F4E5B1C}"/>
              </a:ext>
            </a:extLst>
          </p:cNvPr>
          <p:cNvSpPr txBox="1"/>
          <p:nvPr/>
        </p:nvSpPr>
        <p:spPr>
          <a:xfrm>
            <a:off x="6291231" y="5087624"/>
            <a:ext cx="13453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Nunito Sans"/>
                <a:ea typeface="Nunito Sans"/>
                <a:cs typeface="Nunito Sans"/>
              </a:rPr>
              <a:t>Table in 4NF</a:t>
            </a:r>
          </a:p>
        </p:txBody>
      </p:sp>
    </p:spTree>
    <p:extLst>
      <p:ext uri="{BB962C8B-B14F-4D97-AF65-F5344CB8AC3E}">
        <p14:creationId xmlns:p14="http://schemas.microsoft.com/office/powerpoint/2010/main" val="529505046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78597" y="680112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257800" y="-6219919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57400" y="23016"/>
            <a:ext cx="15533231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8000" dirty="0">
                <a:solidFill>
                  <a:srgbClr val="051D40"/>
                </a:solidFill>
                <a:latin typeface="Felix Titling" panose="04060505060202020A04" pitchFamily="82" charset="0"/>
                <a:ea typeface="Genty"/>
                <a:cs typeface="Genty"/>
                <a:sym typeface="Genty"/>
              </a:rPr>
              <a:t>Normalization rules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87442" y="1472183"/>
            <a:ext cx="6112336" cy="999213"/>
            <a:chOff x="0" y="0"/>
            <a:chExt cx="1723982" cy="355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3982" cy="355111"/>
            </a:xfrm>
            <a:custGeom>
              <a:avLst/>
              <a:gdLst/>
              <a:ahLst/>
              <a:cxnLst/>
              <a:rect l="l" t="t" r="r" b="b"/>
              <a:pathLst>
                <a:path w="1723982" h="355111">
                  <a:moveTo>
                    <a:pt x="60320" y="0"/>
                  </a:moveTo>
                  <a:lnTo>
                    <a:pt x="1663662" y="0"/>
                  </a:lnTo>
                  <a:cubicBezTo>
                    <a:pt x="1696975" y="0"/>
                    <a:pt x="1723982" y="27006"/>
                    <a:pt x="1723982" y="60320"/>
                  </a:cubicBezTo>
                  <a:lnTo>
                    <a:pt x="1723982" y="294791"/>
                  </a:lnTo>
                  <a:cubicBezTo>
                    <a:pt x="1723982" y="310789"/>
                    <a:pt x="1717627" y="326132"/>
                    <a:pt x="1706314" y="337444"/>
                  </a:cubicBezTo>
                  <a:cubicBezTo>
                    <a:pt x="1695002" y="348756"/>
                    <a:pt x="1679660" y="355111"/>
                    <a:pt x="1663662" y="355111"/>
                  </a:cubicBezTo>
                  <a:lnTo>
                    <a:pt x="60320" y="355111"/>
                  </a:lnTo>
                  <a:cubicBezTo>
                    <a:pt x="27006" y="355111"/>
                    <a:pt x="0" y="328105"/>
                    <a:pt x="0" y="294791"/>
                  </a:cubicBezTo>
                  <a:lnTo>
                    <a:pt x="0" y="60320"/>
                  </a:lnTo>
                  <a:cubicBezTo>
                    <a:pt x="0" y="27006"/>
                    <a:pt x="27006" y="0"/>
                    <a:pt x="60320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23982" cy="393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6576" y="1527274"/>
            <a:ext cx="7223702" cy="14850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36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Fifth normal form (5NF)</a:t>
            </a:r>
          </a:p>
          <a:p>
            <a:pPr algn="ctr">
              <a:lnSpc>
                <a:spcPts val="6000"/>
              </a:lnSpc>
            </a:pPr>
            <a:endParaRPr lang="en-US" sz="3600" dirty="0">
              <a:solidFill>
                <a:srgbClr val="051D4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30867" y="2689130"/>
            <a:ext cx="1087306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Rule: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Must be in 4NF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No join dependency : cannot be decomposed into smaller tables without losing data when re-joined .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4410C7-B1E9-A9AF-C29E-59DBAF550B86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5703840"/>
          <a:ext cx="6146800" cy="1515612"/>
        </p:xfrm>
        <a:graphic>
          <a:graphicData uri="http://schemas.openxmlformats.org/drawingml/2006/table">
            <a:tbl>
              <a:tblPr/>
              <a:tblGrid>
                <a:gridCol w="3073400">
                  <a:extLst>
                    <a:ext uri="{9D8B030D-6E8A-4147-A177-3AD203B41FA5}">
                      <a16:colId xmlns:a16="http://schemas.microsoft.com/office/drawing/2014/main" val="3359646724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1989048697"/>
                    </a:ext>
                  </a:extLst>
                </a:gridCol>
              </a:tblGrid>
              <a:tr h="7578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424476"/>
                  </a:ext>
                </a:extLst>
              </a:tr>
              <a:tr h="7578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20204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0BCA799-169A-5330-37F9-8BA119BF6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723595"/>
              </p:ext>
            </p:extLst>
          </p:nvPr>
        </p:nvGraphicFramePr>
        <p:xfrm>
          <a:off x="4252023" y="5694947"/>
          <a:ext cx="6695377" cy="4326828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257057">
                  <a:extLst>
                    <a:ext uri="{9D8B030D-6E8A-4147-A177-3AD203B41FA5}">
                      <a16:colId xmlns:a16="http://schemas.microsoft.com/office/drawing/2014/main" val="1091627790"/>
                    </a:ext>
                  </a:extLst>
                </a:gridCol>
                <a:gridCol w="2184204">
                  <a:extLst>
                    <a:ext uri="{9D8B030D-6E8A-4147-A177-3AD203B41FA5}">
                      <a16:colId xmlns:a16="http://schemas.microsoft.com/office/drawing/2014/main" val="2696190430"/>
                    </a:ext>
                  </a:extLst>
                </a:gridCol>
                <a:gridCol w="2254116">
                  <a:extLst>
                    <a:ext uri="{9D8B030D-6E8A-4147-A177-3AD203B41FA5}">
                      <a16:colId xmlns:a16="http://schemas.microsoft.com/office/drawing/2014/main" val="3826882634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sz="3600" dirty="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Region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295252"/>
                  </a:ext>
                </a:extLst>
              </a:tr>
              <a:tr h="989934">
                <a:tc>
                  <a:txBody>
                    <a:bodyPr/>
                    <a:lstStyle/>
                    <a:p>
                      <a:r>
                        <a:rPr lang="en-US" sz="3600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North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771034"/>
                  </a:ext>
                </a:extLst>
              </a:tr>
              <a:tr h="989934">
                <a:tc>
                  <a:txBody>
                    <a:bodyPr/>
                    <a:lstStyle/>
                    <a:p>
                      <a:r>
                        <a:rPr lang="en-US" sz="3600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South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663247"/>
                  </a:ext>
                </a:extLst>
              </a:tr>
              <a:tr h="534949">
                <a:tc>
                  <a:txBody>
                    <a:bodyPr/>
                    <a:lstStyle/>
                    <a:p>
                      <a:r>
                        <a:rPr lang="en-US" sz="3600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North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93563"/>
                  </a:ext>
                </a:extLst>
              </a:tr>
              <a:tr h="534949">
                <a:tc>
                  <a:txBody>
                    <a:bodyPr/>
                    <a:lstStyle/>
                    <a:p>
                      <a:r>
                        <a:rPr lang="en-US" sz="3600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South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3016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A514A49-A5AF-5786-023E-C08E6FD58DE3}"/>
              </a:ext>
            </a:extLst>
          </p:cNvPr>
          <p:cNvSpPr txBox="1"/>
          <p:nvPr/>
        </p:nvSpPr>
        <p:spPr>
          <a:xfrm>
            <a:off x="5334000" y="4869147"/>
            <a:ext cx="132930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not in 5NF</a:t>
            </a:r>
          </a:p>
        </p:txBody>
      </p:sp>
    </p:spTree>
    <p:extLst>
      <p:ext uri="{BB962C8B-B14F-4D97-AF65-F5344CB8AC3E}">
        <p14:creationId xmlns:p14="http://schemas.microsoft.com/office/powerpoint/2010/main" val="580321841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78597" y="680112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334000" y="-618221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65421" y="48467"/>
            <a:ext cx="15533231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8000" dirty="0">
                <a:solidFill>
                  <a:srgbClr val="051D40"/>
                </a:solidFill>
                <a:latin typeface="Felix Titling" panose="04060505060202020A04" pitchFamily="82" charset="0"/>
                <a:ea typeface="Genty"/>
                <a:cs typeface="Genty"/>
                <a:sym typeface="Genty"/>
              </a:rPr>
              <a:t>Normalization rules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426349" y="1526928"/>
            <a:ext cx="6112336" cy="999213"/>
            <a:chOff x="0" y="0"/>
            <a:chExt cx="1723982" cy="355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3982" cy="355111"/>
            </a:xfrm>
            <a:custGeom>
              <a:avLst/>
              <a:gdLst/>
              <a:ahLst/>
              <a:cxnLst/>
              <a:rect l="l" t="t" r="r" b="b"/>
              <a:pathLst>
                <a:path w="1723982" h="355111">
                  <a:moveTo>
                    <a:pt x="60320" y="0"/>
                  </a:moveTo>
                  <a:lnTo>
                    <a:pt x="1663662" y="0"/>
                  </a:lnTo>
                  <a:cubicBezTo>
                    <a:pt x="1696975" y="0"/>
                    <a:pt x="1723982" y="27006"/>
                    <a:pt x="1723982" y="60320"/>
                  </a:cubicBezTo>
                  <a:lnTo>
                    <a:pt x="1723982" y="294791"/>
                  </a:lnTo>
                  <a:cubicBezTo>
                    <a:pt x="1723982" y="310789"/>
                    <a:pt x="1717627" y="326132"/>
                    <a:pt x="1706314" y="337444"/>
                  </a:cubicBezTo>
                  <a:cubicBezTo>
                    <a:pt x="1695002" y="348756"/>
                    <a:pt x="1679660" y="355111"/>
                    <a:pt x="1663662" y="355111"/>
                  </a:cubicBezTo>
                  <a:lnTo>
                    <a:pt x="60320" y="355111"/>
                  </a:lnTo>
                  <a:cubicBezTo>
                    <a:pt x="27006" y="355111"/>
                    <a:pt x="0" y="328105"/>
                    <a:pt x="0" y="294791"/>
                  </a:cubicBezTo>
                  <a:lnTo>
                    <a:pt x="0" y="60320"/>
                  </a:lnTo>
                  <a:cubicBezTo>
                    <a:pt x="0" y="27006"/>
                    <a:pt x="27006" y="0"/>
                    <a:pt x="60320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23982" cy="393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57068" y="1647914"/>
            <a:ext cx="7223702" cy="14850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3600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Fifth normal form (5NF)</a:t>
            </a:r>
          </a:p>
          <a:p>
            <a:pPr algn="ctr">
              <a:lnSpc>
                <a:spcPts val="6000"/>
              </a:lnSpc>
            </a:pPr>
            <a:endParaRPr lang="en-US" sz="3600" dirty="0">
              <a:solidFill>
                <a:srgbClr val="051D4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57068" y="2635632"/>
            <a:ext cx="1249866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Rule: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Must be in 4NF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</a:rPr>
              <a:t>No join dependency : cannot be decomposed into smaller tables without losing data when re-joined .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4410C7-B1E9-A9AF-C29E-59DBAF550B86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5703840"/>
          <a:ext cx="6146800" cy="1515612"/>
        </p:xfrm>
        <a:graphic>
          <a:graphicData uri="http://schemas.openxmlformats.org/drawingml/2006/table">
            <a:tbl>
              <a:tblPr/>
              <a:tblGrid>
                <a:gridCol w="3073400">
                  <a:extLst>
                    <a:ext uri="{9D8B030D-6E8A-4147-A177-3AD203B41FA5}">
                      <a16:colId xmlns:a16="http://schemas.microsoft.com/office/drawing/2014/main" val="3359646724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1989048697"/>
                    </a:ext>
                  </a:extLst>
                </a:gridCol>
              </a:tblGrid>
              <a:tr h="7578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424476"/>
                  </a:ext>
                </a:extLst>
              </a:tr>
              <a:tr h="7578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20204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0BCA799-169A-5330-37F9-8BA119BF6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980390"/>
              </p:ext>
            </p:extLst>
          </p:nvPr>
        </p:nvGraphicFramePr>
        <p:xfrm>
          <a:off x="3490816" y="6398352"/>
          <a:ext cx="4389954" cy="3046668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230982">
                  <a:extLst>
                    <a:ext uri="{9D8B030D-6E8A-4147-A177-3AD203B41FA5}">
                      <a16:colId xmlns:a16="http://schemas.microsoft.com/office/drawing/2014/main" val="1091627790"/>
                    </a:ext>
                  </a:extLst>
                </a:gridCol>
                <a:gridCol w="2158972">
                  <a:extLst>
                    <a:ext uri="{9D8B030D-6E8A-4147-A177-3AD203B41FA5}">
                      <a16:colId xmlns:a16="http://schemas.microsoft.com/office/drawing/2014/main" val="2696190430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sz="3600" dirty="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product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295252"/>
                  </a:ext>
                </a:extLst>
              </a:tr>
              <a:tr h="989934">
                <a:tc>
                  <a:txBody>
                    <a:bodyPr/>
                    <a:lstStyle/>
                    <a:p>
                      <a:r>
                        <a:rPr lang="en-US" sz="3600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P1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771034"/>
                  </a:ext>
                </a:extLst>
              </a:tr>
              <a:tr h="989934">
                <a:tc>
                  <a:txBody>
                    <a:bodyPr/>
                    <a:lstStyle/>
                    <a:p>
                      <a:r>
                        <a:rPr lang="en-US" sz="3600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P2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66324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E845D8B-2D65-768B-92EC-05CB78DE3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389119"/>
              </p:ext>
            </p:extLst>
          </p:nvPr>
        </p:nvGraphicFramePr>
        <p:xfrm>
          <a:off x="8748267" y="6411726"/>
          <a:ext cx="4053333" cy="3046668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059911">
                  <a:extLst>
                    <a:ext uri="{9D8B030D-6E8A-4147-A177-3AD203B41FA5}">
                      <a16:colId xmlns:a16="http://schemas.microsoft.com/office/drawing/2014/main" val="1629128800"/>
                    </a:ext>
                  </a:extLst>
                </a:gridCol>
                <a:gridCol w="1993422">
                  <a:extLst>
                    <a:ext uri="{9D8B030D-6E8A-4147-A177-3AD203B41FA5}">
                      <a16:colId xmlns:a16="http://schemas.microsoft.com/office/drawing/2014/main" val="785947545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sz="3600" dirty="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Region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286255"/>
                  </a:ext>
                </a:extLst>
              </a:tr>
              <a:tr h="989934">
                <a:tc>
                  <a:txBody>
                    <a:bodyPr/>
                    <a:lstStyle/>
                    <a:p>
                      <a:r>
                        <a:rPr lang="en-US" sz="3600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North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006268"/>
                  </a:ext>
                </a:extLst>
              </a:tr>
              <a:tr h="989934">
                <a:tc>
                  <a:txBody>
                    <a:bodyPr/>
                    <a:lstStyle/>
                    <a:p>
                      <a:r>
                        <a:rPr lang="en-US" sz="3600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aseline="0" dirty="0"/>
                        <a:t>South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05784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41542AF-30D9-6EF7-5C9A-A5E3805A55C3}"/>
              </a:ext>
            </a:extLst>
          </p:cNvPr>
          <p:cNvSpPr txBox="1"/>
          <p:nvPr/>
        </p:nvSpPr>
        <p:spPr>
          <a:xfrm>
            <a:off x="4128388" y="5460544"/>
            <a:ext cx="40428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Supplier Table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DE4EC7-96A7-A6BA-CD82-8CEB0F179837}"/>
              </a:ext>
            </a:extLst>
          </p:cNvPr>
          <p:cNvSpPr txBox="1"/>
          <p:nvPr/>
        </p:nvSpPr>
        <p:spPr>
          <a:xfrm>
            <a:off x="9144000" y="5460544"/>
            <a:ext cx="132930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Region Table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E75EDF-0E7E-10F4-ECAD-F041DB4E3F98}"/>
              </a:ext>
            </a:extLst>
          </p:cNvPr>
          <p:cNvSpPr txBox="1"/>
          <p:nvPr/>
        </p:nvSpPr>
        <p:spPr>
          <a:xfrm>
            <a:off x="6874317" y="4847709"/>
            <a:ext cx="13601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Nunito Sans"/>
                <a:ea typeface="Nunito Sans"/>
                <a:cs typeface="Nunito Sans"/>
              </a:rPr>
              <a:t>Tables in 5NF</a:t>
            </a:r>
          </a:p>
        </p:txBody>
      </p:sp>
    </p:spTree>
    <p:extLst>
      <p:ext uri="{BB962C8B-B14F-4D97-AF65-F5344CB8AC3E}">
        <p14:creationId xmlns:p14="http://schemas.microsoft.com/office/powerpoint/2010/main" val="1356583940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2463" y="8026486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774468" y="-6236912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089065" y="3427565"/>
            <a:ext cx="5838520" cy="3849536"/>
            <a:chOff x="0" y="0"/>
            <a:chExt cx="1537717" cy="13474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37717" cy="1347426"/>
            </a:xfrm>
            <a:custGeom>
              <a:avLst/>
              <a:gdLst/>
              <a:ahLst/>
              <a:cxnLst/>
              <a:rect l="l" t="t" r="r" b="b"/>
              <a:pathLst>
                <a:path w="1537717" h="1347426">
                  <a:moveTo>
                    <a:pt x="67626" y="0"/>
                  </a:moveTo>
                  <a:lnTo>
                    <a:pt x="1470091" y="0"/>
                  </a:lnTo>
                  <a:cubicBezTo>
                    <a:pt x="1507440" y="0"/>
                    <a:pt x="1537717" y="30277"/>
                    <a:pt x="1537717" y="67626"/>
                  </a:cubicBezTo>
                  <a:lnTo>
                    <a:pt x="1537717" y="1279800"/>
                  </a:lnTo>
                  <a:cubicBezTo>
                    <a:pt x="1537717" y="1317149"/>
                    <a:pt x="1507440" y="1347426"/>
                    <a:pt x="1470091" y="1347426"/>
                  </a:cubicBezTo>
                  <a:lnTo>
                    <a:pt x="67626" y="1347426"/>
                  </a:lnTo>
                  <a:cubicBezTo>
                    <a:pt x="30277" y="1347426"/>
                    <a:pt x="0" y="1317149"/>
                    <a:pt x="0" y="1279800"/>
                  </a:cubicBezTo>
                  <a:lnTo>
                    <a:pt x="0" y="67626"/>
                  </a:lnTo>
                  <a:cubicBezTo>
                    <a:pt x="0" y="30277"/>
                    <a:pt x="30277" y="0"/>
                    <a:pt x="67626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537717" cy="13855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737860" y="3971925"/>
            <a:ext cx="5189725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199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Improved data integrity</a:t>
            </a:r>
          </a:p>
          <a:p>
            <a:pPr marL="457200" indent="-457200">
              <a:lnSpc>
                <a:spcPts val="4199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Improved scalability</a:t>
            </a:r>
          </a:p>
          <a:p>
            <a:pPr marL="457200" indent="-457200">
              <a:lnSpc>
                <a:spcPts val="4199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Improved performance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9600" y="1814518"/>
            <a:ext cx="10384637" cy="1366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7200" dirty="0">
                <a:solidFill>
                  <a:srgbClr val="051D40"/>
                </a:solidFill>
                <a:latin typeface="Franklin Gothic Demi" panose="020B0703020102020204" pitchFamily="34" charset="0"/>
                <a:ea typeface="Genty"/>
                <a:cs typeface="Genty"/>
                <a:sym typeface="Genty"/>
              </a:rPr>
              <a:t>Advantages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443943" y="3499896"/>
            <a:ext cx="5838520" cy="3777206"/>
            <a:chOff x="0" y="0"/>
            <a:chExt cx="1537717" cy="13474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37717" cy="1347426"/>
            </a:xfrm>
            <a:custGeom>
              <a:avLst/>
              <a:gdLst/>
              <a:ahLst/>
              <a:cxnLst/>
              <a:rect l="l" t="t" r="r" b="b"/>
              <a:pathLst>
                <a:path w="1537717" h="1347426">
                  <a:moveTo>
                    <a:pt x="67626" y="0"/>
                  </a:moveTo>
                  <a:lnTo>
                    <a:pt x="1470091" y="0"/>
                  </a:lnTo>
                  <a:cubicBezTo>
                    <a:pt x="1507440" y="0"/>
                    <a:pt x="1537717" y="30277"/>
                    <a:pt x="1537717" y="67626"/>
                  </a:cubicBezTo>
                  <a:lnTo>
                    <a:pt x="1537717" y="1279800"/>
                  </a:lnTo>
                  <a:cubicBezTo>
                    <a:pt x="1537717" y="1317149"/>
                    <a:pt x="1507440" y="1347426"/>
                    <a:pt x="1470091" y="1347426"/>
                  </a:cubicBezTo>
                  <a:lnTo>
                    <a:pt x="67626" y="1347426"/>
                  </a:lnTo>
                  <a:cubicBezTo>
                    <a:pt x="30277" y="1347426"/>
                    <a:pt x="0" y="1317149"/>
                    <a:pt x="0" y="1279800"/>
                  </a:cubicBezTo>
                  <a:lnTo>
                    <a:pt x="0" y="67626"/>
                  </a:lnTo>
                  <a:cubicBezTo>
                    <a:pt x="0" y="30277"/>
                    <a:pt x="30277" y="0"/>
                    <a:pt x="67626" y="0"/>
                  </a:cubicBezTo>
                  <a:close/>
                </a:path>
              </a:pathLst>
            </a:custGeom>
            <a:solidFill>
              <a:srgbClr val="B1D4E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37717" cy="13855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876773" y="3971925"/>
            <a:ext cx="5744227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199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Increased complexity</a:t>
            </a:r>
          </a:p>
          <a:p>
            <a:pPr marL="457200" indent="-457200">
              <a:lnSpc>
                <a:spcPts val="4199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Slower query 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87875" y="1734513"/>
            <a:ext cx="5651162" cy="1441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6600" dirty="0">
                <a:solidFill>
                  <a:srgbClr val="051D40"/>
                </a:solidFill>
                <a:latin typeface="Franklin Gothic Demi" panose="020B0703020102020204" pitchFamily="34" charset="0"/>
                <a:ea typeface="Genty"/>
                <a:cs typeface="Genty"/>
                <a:sym typeface="Genty"/>
              </a:rPr>
              <a:t>Disadvantages</a:t>
            </a:r>
          </a:p>
        </p:txBody>
      </p:sp>
      <p:grpSp>
        <p:nvGrpSpPr>
          <p:cNvPr id="14" name="Group 5"/>
          <p:cNvGrpSpPr/>
          <p:nvPr/>
        </p:nvGrpSpPr>
        <p:grpSpPr>
          <a:xfrm>
            <a:off x="1905000" y="1329206"/>
            <a:ext cx="14293991" cy="7167094"/>
            <a:chOff x="0" y="-38100"/>
            <a:chExt cx="2026233" cy="1742656"/>
          </a:xfrm>
        </p:grpSpPr>
        <p:sp>
          <p:nvSpPr>
            <p:cNvPr id="15" name="Freeform 6"/>
            <p:cNvSpPr/>
            <p:nvPr/>
          </p:nvSpPr>
          <p:spPr>
            <a:xfrm>
              <a:off x="6321" y="0"/>
              <a:ext cx="2019912" cy="1704556"/>
            </a:xfrm>
            <a:custGeom>
              <a:avLst/>
              <a:gdLst/>
              <a:ahLst/>
              <a:cxnLst/>
              <a:rect l="l" t="t" r="r" b="b"/>
              <a:pathLst>
                <a:path w="2019912" h="1704556">
                  <a:moveTo>
                    <a:pt x="67253" y="0"/>
                  </a:moveTo>
                  <a:lnTo>
                    <a:pt x="1952659" y="0"/>
                  </a:lnTo>
                  <a:cubicBezTo>
                    <a:pt x="1989802" y="0"/>
                    <a:pt x="2019912" y="30110"/>
                    <a:pt x="2019912" y="67253"/>
                  </a:cubicBezTo>
                  <a:lnTo>
                    <a:pt x="2019912" y="1637303"/>
                  </a:lnTo>
                  <a:cubicBezTo>
                    <a:pt x="2019912" y="1674446"/>
                    <a:pt x="1989802" y="1704556"/>
                    <a:pt x="1952659" y="1704556"/>
                  </a:cubicBezTo>
                  <a:lnTo>
                    <a:pt x="67253" y="1704556"/>
                  </a:lnTo>
                  <a:cubicBezTo>
                    <a:pt x="30110" y="1704556"/>
                    <a:pt x="0" y="1674446"/>
                    <a:pt x="0" y="1637303"/>
                  </a:cubicBezTo>
                  <a:lnTo>
                    <a:pt x="0" y="67253"/>
                  </a:lnTo>
                  <a:cubicBezTo>
                    <a:pt x="0" y="30110"/>
                    <a:pt x="30110" y="0"/>
                    <a:pt x="672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B1D4E0"/>
              </a:solidFill>
              <a:prstDash val="solid"/>
              <a:round/>
            </a:ln>
          </p:spPr>
        </p:sp>
        <p:sp>
          <p:nvSpPr>
            <p:cNvPr id="16" name="TextBox 7"/>
            <p:cNvSpPr txBox="1"/>
            <p:nvPr/>
          </p:nvSpPr>
          <p:spPr>
            <a:xfrm>
              <a:off x="0" y="-38100"/>
              <a:ext cx="2019912" cy="1742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Rectangle 16"/>
          <p:cNvSpPr/>
          <p:nvPr/>
        </p:nvSpPr>
        <p:spPr>
          <a:xfrm>
            <a:off x="5801918" y="171016"/>
            <a:ext cx="699717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200" dirty="0">
                <a:solidFill>
                  <a:srgbClr val="051D40"/>
                </a:solidFill>
                <a:latin typeface="Cooper Black" panose="0208090404030B020404" pitchFamily="18" charset="0"/>
                <a:ea typeface="Genty"/>
                <a:cs typeface="Genty"/>
                <a:sym typeface="Genty"/>
              </a:rPr>
              <a:t>Normalization</a:t>
            </a:r>
            <a:endParaRPr lang="en-US" sz="7200" dirty="0">
              <a:latin typeface="Cooper Black" panose="0208090404030B020404" pitchFamily="18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17732" y="7102154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883010" y="-4628577"/>
            <a:ext cx="7766021" cy="7756313"/>
          </a:xfrm>
          <a:custGeom>
            <a:avLst/>
            <a:gdLst/>
            <a:ahLst/>
            <a:cxnLst/>
            <a:rect l="l" t="t" r="r" b="b"/>
            <a:pathLst>
              <a:path w="7766021" h="7756313">
                <a:moveTo>
                  <a:pt x="0" y="0"/>
                </a:moveTo>
                <a:lnTo>
                  <a:pt x="7766020" y="0"/>
                </a:lnTo>
                <a:lnTo>
                  <a:pt x="7766020" y="7756313"/>
                </a:lnTo>
                <a:lnTo>
                  <a:pt x="0" y="7756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52600" y="3848100"/>
            <a:ext cx="14712590" cy="2688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000"/>
              </a:lnSpc>
            </a:pPr>
            <a:r>
              <a:rPr lang="en-US" sz="20000" dirty="0">
                <a:solidFill>
                  <a:srgbClr val="051D40"/>
                </a:solidFill>
                <a:latin typeface="Centaur" panose="02030504050205020304" pitchFamily="18" charset="0"/>
                <a:ea typeface="Genty"/>
                <a:cs typeface="Genty"/>
                <a:sym typeface="Genty"/>
              </a:rPr>
              <a:t>Thank You</a:t>
            </a:r>
          </a:p>
        </p:txBody>
      </p:sp>
    </p:spTree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514</TotalTime>
  <Words>936</Words>
  <Application>Microsoft Office PowerPoint</Application>
  <PresentationFormat>Custom</PresentationFormat>
  <Paragraphs>389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8" baseType="lpstr">
      <vt:lpstr>Tw Cen MT Condensed</vt:lpstr>
      <vt:lpstr>Calibri</vt:lpstr>
      <vt:lpstr>Freestyle Script</vt:lpstr>
      <vt:lpstr>Centaur</vt:lpstr>
      <vt:lpstr>Nunito Sans</vt:lpstr>
      <vt:lpstr>Franklin Gothic Demi</vt:lpstr>
      <vt:lpstr>Wingdings 3</vt:lpstr>
      <vt:lpstr>Felix Titling</vt:lpstr>
      <vt:lpstr>Arial</vt:lpstr>
      <vt:lpstr>Franklin Gothic Demi Cond</vt:lpstr>
      <vt:lpstr>Algerian</vt:lpstr>
      <vt:lpstr>Cooper Black</vt:lpstr>
      <vt:lpstr>Tw Cen MT</vt:lpstr>
      <vt:lpstr>Arial Rounded MT Bold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Abstract Modern Simple Creative Portfolio Presentation</dc:title>
  <cp:lastModifiedBy>Ghulam Mustafa</cp:lastModifiedBy>
  <cp:revision>30</cp:revision>
  <dcterms:created xsi:type="dcterms:W3CDTF">2006-08-16T00:00:00Z</dcterms:created>
  <dcterms:modified xsi:type="dcterms:W3CDTF">2026-08-02T21:21:38Z</dcterms:modified>
  <dc:identifier>DAGk5S1sTYI</dc:identifier>
</cp:coreProperties>
</file>