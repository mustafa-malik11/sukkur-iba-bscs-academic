
<file path=[Content_Types].xml><?xml version="1.0" encoding="utf-8"?>
<Types xmlns="http://schemas.openxmlformats.org/package/2006/content-types">
  <Default Extension="crdownload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60" r:id="rId5"/>
    <p:sldId id="269" r:id="rId6"/>
    <p:sldId id="281" r:id="rId7"/>
    <p:sldId id="270" r:id="rId8"/>
    <p:sldId id="274" r:id="rId9"/>
    <p:sldId id="271" r:id="rId10"/>
    <p:sldId id="275" r:id="rId11"/>
    <p:sldId id="279" r:id="rId12"/>
    <p:sldId id="282" r:id="rId13"/>
    <p:sldId id="276" r:id="rId14"/>
    <p:sldId id="273" r:id="rId15"/>
    <p:sldId id="277" r:id="rId16"/>
    <p:sldId id="272" r:id="rId17"/>
    <p:sldId id="266" r:id="rId18"/>
    <p:sldId id="268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1E4"/>
    <a:srgbClr val="B8D3E8"/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 showGuides="1">
      <p:cViewPr varScale="1">
        <p:scale>
          <a:sx n="72" d="100"/>
          <a:sy n="72" d="100"/>
        </p:scale>
        <p:origin x="660" y="6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4416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9FB0DB-6E14-4D38-930B-E188F6E13C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DB5971-2675-487B-9E88-02DB3F19D0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8B8F3-31C2-4698-B74C-D5D76CFD8ACD}" type="datetimeFigureOut">
              <a:rPr lang="ru-RU" smtClean="0"/>
              <a:t>02.08.2026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8F2125-3128-41A1-8437-EB29536F4D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3736B-7E4B-4A53-8310-E0970E67F8A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B18F8-B739-4178-8D2D-879F4A27DC2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29070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ru-RU" smtClean="0"/>
              <a:t>02.08.2026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3191" y="0"/>
            <a:ext cx="9155634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10852" y="3369468"/>
            <a:ext cx="37224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021" y="1096344"/>
            <a:ext cx="10510754" cy="2281355"/>
          </a:xfrm>
        </p:spPr>
        <p:txBody>
          <a:bodyPr>
            <a:noAutofit/>
          </a:bodyPr>
          <a:lstStyle>
            <a:lvl1pPr algn="l">
              <a:defRPr sz="7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0021" y="3773554"/>
            <a:ext cx="10090287" cy="1101897"/>
          </a:xfrm>
        </p:spPr>
        <p:txBody>
          <a:bodyPr>
            <a:noAutofit/>
          </a:bodyPr>
          <a:lstStyle>
            <a:lvl1pPr marL="0" indent="0" algn="l">
              <a:buNone/>
              <a:defRPr sz="3500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0021" y="5451784"/>
            <a:ext cx="4367531" cy="324417"/>
          </a:xfrm>
        </p:spPr>
        <p:txBody>
          <a:bodyPr>
            <a:noAutofit/>
          </a:bodyPr>
          <a:lstStyle>
            <a:lvl1pPr marL="0" indent="0" algn="l">
              <a:buNone/>
              <a:defRPr sz="2200" b="1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0021" y="5105536"/>
            <a:ext cx="4367531" cy="324417"/>
          </a:xfrm>
        </p:spPr>
        <p:txBody>
          <a:bodyPr>
            <a:noAutofit/>
          </a:bodyPr>
          <a:lstStyle>
            <a:lvl1pPr marL="0" indent="0" algn="l">
              <a:buNone/>
              <a:defRPr sz="22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376836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12192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2225392"/>
            <a:ext cx="4421856" cy="74904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347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19738" y="0"/>
            <a:ext cx="6103621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4032" y="3074529"/>
            <a:ext cx="4421856" cy="2588637"/>
          </a:xfrm>
        </p:spPr>
        <p:txBody>
          <a:bodyPr lIns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2746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2225392"/>
            <a:ext cx="4421856" cy="74904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395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6108872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81205" y="3090572"/>
            <a:ext cx="4421857" cy="2588637"/>
          </a:xfrm>
        </p:spPr>
        <p:txBody>
          <a:bodyPr lIns="0"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1206" y="1046140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1206" y="2241515"/>
            <a:ext cx="4421856" cy="74904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6980920" y="1947672"/>
            <a:ext cx="5220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919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4031" y="2993041"/>
            <a:ext cx="4365625" cy="454353"/>
          </a:xfrm>
        </p:spPr>
        <p:txBody>
          <a:bodyPr>
            <a:noAutofit/>
          </a:bodyPr>
          <a:lstStyle>
            <a:lvl1pPr marL="0" indent="0">
              <a:buNone/>
              <a:defRPr sz="27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627120" y="2993041"/>
            <a:ext cx="4365625" cy="454353"/>
          </a:xfrm>
        </p:spPr>
        <p:txBody>
          <a:bodyPr>
            <a:noAutofit/>
          </a:bodyPr>
          <a:lstStyle>
            <a:lvl1pPr marL="0" indent="0">
              <a:buNone/>
              <a:defRPr sz="27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4032" y="356341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7121" y="3563411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2221992"/>
            <a:ext cx="10218713" cy="665713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0372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12700" y="-12700"/>
            <a:ext cx="1221740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6096001" y="1246188"/>
            <a:ext cx="5170034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317173"/>
            <a:ext cx="2825496" cy="152418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3198228"/>
            <a:ext cx="2825496" cy="2154741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11173" y="2899869"/>
            <a:ext cx="2628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1487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317173"/>
            <a:ext cx="2825496" cy="152418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3198228"/>
            <a:ext cx="2825496" cy="2154741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11173" y="2899869"/>
            <a:ext cx="2628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715791" y="1591499"/>
            <a:ext cx="6561138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377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701" y="0"/>
            <a:ext cx="1216151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10514998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032" y="1880794"/>
            <a:ext cx="10518598" cy="78263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327546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27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2445759" y="-12700"/>
            <a:ext cx="728980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56579"/>
            <a:ext cx="105156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395984" y="1497770"/>
            <a:ext cx="9400032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973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9155429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9004387" y="3285679"/>
            <a:ext cx="3191256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2372" y="973512"/>
            <a:ext cx="4183939" cy="2281355"/>
          </a:xfrm>
        </p:spPr>
        <p:txBody>
          <a:bodyPr>
            <a:noAutofit/>
          </a:bodyPr>
          <a:lstStyle>
            <a:lvl1pPr algn="r">
              <a:defRPr sz="7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0540" y="3675708"/>
            <a:ext cx="3135771" cy="1101897"/>
          </a:xfrm>
        </p:spPr>
        <p:txBody>
          <a:bodyPr>
            <a:noAutofit/>
          </a:bodyPr>
          <a:lstStyle>
            <a:lvl1pPr marL="0" indent="0" algn="r">
              <a:buNone/>
              <a:defRPr sz="3500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08780" y="5019264"/>
            <a:ext cx="4367531" cy="474519"/>
          </a:xfrm>
        </p:spPr>
        <p:txBody>
          <a:bodyPr>
            <a:noAutofit/>
          </a:bodyPr>
          <a:lstStyle>
            <a:lvl1pPr marL="0" indent="0" algn="r">
              <a:buNone/>
              <a:defRPr sz="2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8780" y="4805882"/>
            <a:ext cx="4367531" cy="288000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5755" y="5685822"/>
            <a:ext cx="5920556" cy="474519"/>
          </a:xfrm>
        </p:spPr>
        <p:txBody>
          <a:bodyPr>
            <a:noAutofit/>
          </a:bodyPr>
          <a:lstStyle>
            <a:lvl1pPr marL="0" indent="0" algn="r">
              <a:buNone/>
              <a:defRPr sz="2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08780" y="5466001"/>
            <a:ext cx="4367531" cy="288000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153193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3033191" y="0"/>
            <a:ext cx="9155634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10852" y="3369468"/>
            <a:ext cx="37224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021" y="1096344"/>
            <a:ext cx="10510754" cy="2281355"/>
          </a:xfrm>
        </p:spPr>
        <p:txBody>
          <a:bodyPr>
            <a:noAutofit/>
          </a:bodyPr>
          <a:lstStyle>
            <a:lvl1pPr algn="l">
              <a:defRPr sz="7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021" y="3773554"/>
            <a:ext cx="10090287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3500" b="0" i="0"/>
            </a:lvl1pPr>
          </a:lstStyle>
          <a:p>
            <a:pPr marL="228600" lvl="0" indent="-22860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674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12192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2225393"/>
            <a:ext cx="5110693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/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238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7755"/>
            <a:ext cx="105156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12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77755"/>
            <a:ext cx="5181600" cy="3899207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77755"/>
            <a:ext cx="5181600" cy="389920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0607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68513"/>
            <a:ext cx="5157787" cy="4365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68511"/>
            <a:ext cx="5183188" cy="436563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810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45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66148"/>
            <a:ext cx="3932237" cy="3702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11174" y="1947672"/>
            <a:ext cx="493776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484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3807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30500"/>
            <a:ext cx="3932237" cy="37384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9738" y="0"/>
            <a:ext cx="6103620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68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1033272"/>
            <a:ext cx="505608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11174" y="1947672"/>
            <a:ext cx="5274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8320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11292630" y="6103003"/>
            <a:ext cx="9108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226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5578" y="1974209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2535" y="1998209"/>
            <a:ext cx="3103110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20642" y="1974209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77939" y="1998209"/>
            <a:ext cx="2243918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06755" y="1991988"/>
            <a:ext cx="882686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64052" y="2015988"/>
            <a:ext cx="2959116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2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0059" y="2927531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18684" y="2927531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793" y="2927531"/>
            <a:ext cx="2599197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76955" y="2925988"/>
            <a:ext cx="3726423" cy="800100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84133" y="5751926"/>
            <a:ext cx="9623735" cy="470478"/>
          </a:xfr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794791" y="4893792"/>
            <a:ext cx="2599199" cy="61502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90713" y="4893792"/>
            <a:ext cx="3712665" cy="615026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20058" y="3800404"/>
            <a:ext cx="3273552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94792" y="3864572"/>
            <a:ext cx="25991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76955" y="3864572"/>
            <a:ext cx="25992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032" y="741320"/>
            <a:ext cx="10506743" cy="7826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11173" y="1610268"/>
            <a:ext cx="9252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38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30162" y="6002372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0023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002372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77" r:id="rId2"/>
    <p:sldLayoutId id="2147483678" r:id="rId3"/>
    <p:sldLayoutId id="2147483679" r:id="rId4"/>
    <p:sldLayoutId id="2147483681" r:id="rId5"/>
    <p:sldLayoutId id="2147483690" r:id="rId6"/>
    <p:sldLayoutId id="2147483691" r:id="rId7"/>
    <p:sldLayoutId id="2147483684" r:id="rId8"/>
    <p:sldLayoutId id="2147483685" r:id="rId9"/>
    <p:sldLayoutId id="2147483692" r:id="rId10"/>
    <p:sldLayoutId id="2147483693" r:id="rId11"/>
    <p:sldLayoutId id="2147483694" r:id="rId12"/>
    <p:sldLayoutId id="2147483697" r:id="rId13"/>
    <p:sldLayoutId id="2147483698" r:id="rId14"/>
    <p:sldLayoutId id="2147483699" r:id="rId15"/>
    <p:sldLayoutId id="2147483701" r:id="rId16"/>
    <p:sldLayoutId id="2147483700" r:id="rId17"/>
    <p:sldLayoutId id="2147483687" r:id="rId18"/>
    <p:sldLayoutId id="2147483696" r:id="rId19"/>
    <p:sldLayoutId id="2147483688" r:id="rId20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crdownload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o.microsoft.com/fwlink/?linkid=2006808&amp;clcid=0x409" TargetMode="Externa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719E0E7-CFBA-48B5-AA1B-EA5B887F6650}"/>
              </a:ext>
            </a:extLst>
          </p:cNvPr>
          <p:cNvSpPr>
            <a:spLocks noGrp="1"/>
          </p:cNvSpPr>
          <p:nvPr>
            <p:ph type="title"/>
          </p:nvPr>
        </p:nvSpPr>
        <p:spPr bwMode="grayWhite"/>
        <p:txBody>
          <a:bodyPr>
            <a:normAutofit/>
          </a:bodyPr>
          <a:lstStyle/>
          <a:p>
            <a:r>
              <a:rPr lang="en-US" dirty="0"/>
              <a:t>THE E-R MODEL</a:t>
            </a:r>
            <a:endParaRPr lang="ru-R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658B4B7-2667-479D-90A8-706DAAA9AD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White">
          <a:xfrm>
            <a:off x="774032" y="2221992"/>
            <a:ext cx="10649529" cy="158592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lgerian" panose="04020705040A02060702" pitchFamily="82" charset="0"/>
              </a:rPr>
              <a:t>Understanding the </a:t>
            </a:r>
            <a:br>
              <a:rPr lang="en-US" sz="3600" b="1" dirty="0">
                <a:solidFill>
                  <a:schemeClr val="bg1"/>
                </a:solidFill>
                <a:latin typeface="Algerian" panose="04020705040A02060702" pitchFamily="82" charset="0"/>
              </a:rPr>
            </a:br>
            <a:r>
              <a:rPr lang="en-US" sz="3600" b="1" dirty="0">
                <a:solidFill>
                  <a:schemeClr val="bg1"/>
                </a:solidFill>
                <a:latin typeface="Algerian" panose="04020705040A02060702" pitchFamily="82" charset="0"/>
              </a:rPr>
              <a:t>Entity-Relationship (ER) Model</a:t>
            </a:r>
            <a:endParaRPr lang="ru-RU" sz="3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609542-DD6D-4EC5-B1B2-054C2BE79B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White"/>
        <p:txBody>
          <a:bodyPr/>
          <a:lstStyle/>
          <a:p>
            <a:fld id="{D495E168-DA5E-4888-8D8A-92B118324C14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10" name="Text Placeholder 10"/>
          <p:cNvSpPr>
            <a:spLocks noGrp="1"/>
          </p:cNvSpPr>
          <p:nvPr>
            <p:ph type="body" idx="18"/>
          </p:nvPr>
        </p:nvSpPr>
        <p:spPr>
          <a:xfrm>
            <a:off x="6913980" y="6108478"/>
            <a:ext cx="2165626" cy="45435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BS-CS-II</a:t>
            </a:r>
          </a:p>
        </p:txBody>
      </p:sp>
    </p:spTree>
    <p:extLst>
      <p:ext uri="{BB962C8B-B14F-4D97-AF65-F5344CB8AC3E}">
        <p14:creationId xmlns:p14="http://schemas.microsoft.com/office/powerpoint/2010/main" val="3846360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12182"/>
            <a:ext cx="8743169" cy="768129"/>
          </a:xfrm>
        </p:spPr>
        <p:txBody>
          <a:bodyPr/>
          <a:lstStyle/>
          <a:p>
            <a:r>
              <a:rPr lang="en-US" sz="4000" dirty="0">
                <a:solidFill>
                  <a:schemeClr val="bg1"/>
                </a:solidFill>
              </a:rPr>
              <a:t>Introduction of ER model</a:t>
            </a:r>
            <a:endParaRPr lang="en-US" sz="40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13981" y="3059119"/>
            <a:ext cx="10016181" cy="330837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800" b="1" u="sng" dirty="0">
                <a:solidFill>
                  <a:srgbClr val="00B0F0"/>
                </a:solidFill>
              </a:rPr>
              <a:t>Definition: 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	</a:t>
            </a:r>
            <a:r>
              <a:rPr lang="en-US" sz="2800" dirty="0">
                <a:solidFill>
                  <a:schemeClr val="bg1"/>
                </a:solidFill>
              </a:rPr>
              <a:t>The Entity-Relationship (ER) Model is a conceptual framework used to represent the data and its relationships within a database system.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800" dirty="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It is simple and clear.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It is a graphical representation.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2" t="11163" b="7673"/>
          <a:stretch/>
        </p:blipFill>
        <p:spPr>
          <a:xfrm>
            <a:off x="7430131" y="512112"/>
            <a:ext cx="4544417" cy="2736397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6228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8139" y="1048333"/>
            <a:ext cx="4938109" cy="857740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Basic Components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8"/>
          </p:nvPr>
        </p:nvSpPr>
        <p:spPr>
          <a:xfrm>
            <a:off x="213440" y="2097576"/>
            <a:ext cx="6959225" cy="3429166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buFont typeface="Verdana" panose="020B0604030504040204" pitchFamily="34" charset="0"/>
              <a:buChar char="*"/>
            </a:pPr>
            <a:r>
              <a:rPr lang="en-US" sz="3600" dirty="0">
                <a:solidFill>
                  <a:srgbClr val="00B0F0"/>
                </a:solidFill>
              </a:rPr>
              <a:t>Entity </a:t>
            </a:r>
          </a:p>
          <a:p>
            <a:pPr>
              <a:lnSpc>
                <a:spcPct val="200000"/>
              </a:lnSpc>
            </a:pPr>
            <a:r>
              <a:rPr lang="en-US" sz="36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sz="3600" dirty="0">
                <a:solidFill>
                  <a:srgbClr val="00B0F0"/>
                </a:solidFill>
                <a:cs typeface="Calibri" panose="020F0502020204030204" pitchFamily="34" charset="0"/>
              </a:rPr>
              <a:t>Attribute</a:t>
            </a:r>
            <a:endParaRPr lang="en-US" sz="3600" u="sng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36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</a:t>
            </a:r>
            <a:r>
              <a:rPr lang="en-US" sz="3600" dirty="0"/>
              <a:t>Relationships</a:t>
            </a:r>
          </a:p>
        </p:txBody>
      </p:sp>
      <p:sp>
        <p:nvSpPr>
          <p:cNvPr id="5" name="Diamond 4"/>
          <p:cNvSpPr/>
          <p:nvPr/>
        </p:nvSpPr>
        <p:spPr>
          <a:xfrm>
            <a:off x="8581202" y="4845754"/>
            <a:ext cx="1372931" cy="1298839"/>
          </a:xfrm>
          <a:prstGeom prst="diamond">
            <a:avLst/>
          </a:prstGeom>
          <a:solidFill>
            <a:schemeClr val="bg1">
              <a:lumMod val="85000"/>
            </a:schemeClr>
          </a:solidFill>
          <a:ln w="12700" cap="flat">
            <a:noFill/>
            <a:prstDash val="solid"/>
            <a:miter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8443422" y="2514599"/>
            <a:ext cx="1648495" cy="83371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noFill/>
            <a:prstDash val="solid"/>
            <a:miter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8208762" y="3677328"/>
            <a:ext cx="2117813" cy="98163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 cap="flat">
            <a:noFill/>
            <a:prstDash val="solid"/>
            <a:miter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87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8139" y="1048333"/>
            <a:ext cx="4938109" cy="857740"/>
          </a:xfrm>
        </p:spPr>
        <p:txBody>
          <a:bodyPr/>
          <a:lstStyle/>
          <a:p>
            <a:r>
              <a:rPr lang="en-US" sz="3600" dirty="0">
                <a:solidFill>
                  <a:schemeClr val="bg1"/>
                </a:solidFill>
              </a:rPr>
              <a:t>Basic Components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8"/>
          </p:nvPr>
        </p:nvSpPr>
        <p:spPr>
          <a:xfrm>
            <a:off x="213440" y="2097575"/>
            <a:ext cx="6728273" cy="4625197"/>
          </a:xfrm>
        </p:spPr>
        <p:txBody>
          <a:bodyPr/>
          <a:lstStyle/>
          <a:p>
            <a:pPr marL="285750" indent="-285750">
              <a:buFont typeface="Verdana" panose="020B0604030504040204" pitchFamily="34" charset="0"/>
              <a:buChar char="*"/>
            </a:pPr>
            <a:r>
              <a:rPr lang="en-US" sz="2000" u="sng" dirty="0">
                <a:solidFill>
                  <a:srgbClr val="00B0F0"/>
                </a:solidFill>
              </a:rPr>
              <a:t>Entity set: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Objects or concepts that have an independent existence and can be described with attributes  (Represented by rectangle).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customer, product.	</a:t>
            </a:r>
          </a:p>
          <a:p>
            <a:r>
              <a:rPr lang="en-US" sz="20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sz="2000" u="sng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Key attribute: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The attribute that is capable of identifying each entity uniquely.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roll no of student.</a:t>
            </a:r>
          </a:p>
          <a:p>
            <a:pPr marL="285750" indent="-285750">
              <a:buFont typeface="Verdana" panose="020B0604030504040204" pitchFamily="34" charset="0"/>
              <a:buChar char="*"/>
            </a:pPr>
            <a:r>
              <a:rPr lang="en-US" sz="2000" u="sng" dirty="0"/>
              <a:t>Relationships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C</a:t>
            </a:r>
            <a:r>
              <a:rPr lang="en-US" sz="2000" dirty="0">
                <a:solidFill>
                  <a:schemeClr val="bg1"/>
                </a:solidFill>
              </a:rPr>
              <a:t>onnections between entities. 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(Represented by Diamond) 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79" t="13906" r="52163" b="49926"/>
          <a:stretch/>
        </p:blipFill>
        <p:spPr>
          <a:xfrm>
            <a:off x="7172665" y="2097575"/>
            <a:ext cx="4432060" cy="18451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Diamond 4"/>
          <p:cNvSpPr/>
          <p:nvPr/>
        </p:nvSpPr>
        <p:spPr>
          <a:xfrm>
            <a:off x="8564447" y="4624672"/>
            <a:ext cx="1648495" cy="1560262"/>
          </a:xfrm>
          <a:prstGeom prst="diamond">
            <a:avLst/>
          </a:prstGeom>
          <a:solidFill>
            <a:schemeClr val="bg1">
              <a:lumMod val="85000"/>
            </a:schemeClr>
          </a:solidFill>
          <a:ln w="12700" cap="flat">
            <a:noFill/>
            <a:prstDash val="solid"/>
            <a:miter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rtlCol="0" anchor="ctr"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56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9" name="Text Placeholder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u="sng" dirty="0">
                <a:solidFill>
                  <a:schemeClr val="bg1"/>
                </a:solidFill>
              </a:rPr>
              <a:t>Basic Components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7514" y="2414342"/>
            <a:ext cx="6425258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Verdana" panose="020B0604030504040204" pitchFamily="34" charset="0"/>
              <a:buChar char="*"/>
            </a:pPr>
            <a:r>
              <a:rPr lang="en-US" sz="2400" b="1" u="sng" dirty="0">
                <a:solidFill>
                  <a:srgbClr val="00B0F0"/>
                </a:solidFill>
              </a:rPr>
              <a:t>Attributes:</a:t>
            </a:r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Properties or details that describe entities.    (Represented by oval) .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Calibri" panose="020F0502020204030204" pitchFamily="34" charset="0"/>
              <a:buChar char="*"/>
            </a:pPr>
            <a:r>
              <a:rPr lang="en-US" sz="2400" b="1" u="sng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Single/Simple/Stored attribute: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Have a single value for a particular entity.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age.</a:t>
            </a:r>
          </a:p>
          <a:p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077" t="18697" r="13100" b="49772"/>
          <a:stretch/>
        </p:blipFill>
        <p:spPr>
          <a:xfrm>
            <a:off x="6480725" y="2752896"/>
            <a:ext cx="4907546" cy="23083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47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6238" y="2304110"/>
            <a:ext cx="6249362" cy="4063387"/>
          </a:xfrm>
        </p:spPr>
        <p:txBody>
          <a:bodyPr/>
          <a:lstStyle/>
          <a:p>
            <a:pPr marL="342900" indent="-342900">
              <a:buFont typeface="Calibri" panose="020F0502020204030204" pitchFamily="34" charset="0"/>
              <a:buChar char="*"/>
            </a:pPr>
            <a:r>
              <a:rPr lang="en-US" sz="2000" u="sng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Multivalued attribute: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Can have set of values for a particular entity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Degree, language, skill.</a:t>
            </a:r>
          </a:p>
          <a:p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Calibri" panose="020F0502020204030204" pitchFamily="34" charset="0"/>
              <a:buChar char="*"/>
            </a:pPr>
            <a:r>
              <a:rPr lang="en-US" sz="2000" u="sng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Derived attribute: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Can be derived from another attribute.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Age can be derived from date of birth.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u="sng" dirty="0">
                <a:solidFill>
                  <a:schemeClr val="bg1"/>
                </a:solidFill>
              </a:rPr>
              <a:t>Basic Components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976" t="48738" r="12419" b="23744"/>
          <a:stretch/>
        </p:blipFill>
        <p:spPr>
          <a:xfrm>
            <a:off x="6857885" y="2777459"/>
            <a:ext cx="4591351" cy="18331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199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41723" y="2201027"/>
            <a:ext cx="6911221" cy="4468713"/>
          </a:xfrm>
        </p:spPr>
        <p:txBody>
          <a:bodyPr numCol="1">
            <a:no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Unary relation:</a:t>
            </a:r>
          </a:p>
          <a:p>
            <a:r>
              <a:rPr lang="en-US" sz="2400" dirty="0">
                <a:solidFill>
                  <a:schemeClr val="bg1"/>
                </a:solidFill>
              </a:rPr>
              <a:t>A relationship between same entity type. </a:t>
            </a:r>
          </a:p>
          <a:p>
            <a:r>
              <a:rPr lang="en-US" sz="2400" dirty="0">
                <a:solidFill>
                  <a:schemeClr val="bg1"/>
                </a:solidFill>
              </a:rPr>
              <a:t>Example: Employ manages another Employ.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rgbClr val="00B0F0"/>
                </a:solidFill>
              </a:rPr>
              <a:t>Binary relation:</a:t>
            </a:r>
          </a:p>
          <a:p>
            <a:r>
              <a:rPr lang="en-US" sz="2400" dirty="0">
                <a:solidFill>
                  <a:schemeClr val="bg1"/>
                </a:solidFill>
              </a:rPr>
              <a:t>A relationship between two different entity types.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Example: Author writes Book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419" b="71421"/>
          <a:stretch/>
        </p:blipFill>
        <p:spPr>
          <a:xfrm>
            <a:off x="7391781" y="2065972"/>
            <a:ext cx="4093083" cy="14087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4" t="27553" r="10531" b="43868"/>
          <a:stretch/>
        </p:blipFill>
        <p:spPr>
          <a:xfrm>
            <a:off x="7391781" y="4526097"/>
            <a:ext cx="4359346" cy="14087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493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41723" y="2201027"/>
            <a:ext cx="6834841" cy="4468713"/>
          </a:xfrm>
        </p:spPr>
        <p:txBody>
          <a:bodyPr numCol="1">
            <a:noAutofit/>
          </a:bodyPr>
          <a:lstStyle/>
          <a:p>
            <a:pPr algn="just"/>
            <a:r>
              <a:rPr lang="en-US" sz="2400" b="1" dirty="0">
                <a:solidFill>
                  <a:srgbClr val="00B0F0"/>
                </a:solidFill>
              </a:rPr>
              <a:t>Ternary relation: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A relationship between three entity types.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Example: Student borrows a Book from a Library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algn="just"/>
            <a:r>
              <a:rPr lang="en-US" sz="2400" b="1" dirty="0">
                <a:solidFill>
                  <a:srgbClr val="00B0F0"/>
                </a:solidFill>
              </a:rPr>
              <a:t>Quardinary Relation: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A relationship between four different entity types.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Example: Student Course Semester Instructor in a university </a:t>
            </a:r>
            <a:r>
              <a:rPr lang="en-US" sz="2400" dirty="0" err="1">
                <a:solidFill>
                  <a:schemeClr val="bg1"/>
                </a:solidFill>
              </a:rPr>
              <a:t>shadule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8" t="55202" r="4685" b="7969"/>
          <a:stretch/>
        </p:blipFill>
        <p:spPr>
          <a:xfrm>
            <a:off x="7476565" y="2201027"/>
            <a:ext cx="4276165" cy="13447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708" y="4435383"/>
            <a:ext cx="3326316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95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74032" y="2635911"/>
            <a:ext cx="4497215" cy="3159771"/>
          </a:xfrm>
        </p:spPr>
        <p:txBody>
          <a:bodyPr numCol="1">
            <a:noAutofit/>
          </a:bodyPr>
          <a:lstStyle/>
          <a:p>
            <a:pPr algn="just"/>
            <a:endParaRPr lang="en-US" sz="2400" b="1" dirty="0">
              <a:solidFill>
                <a:srgbClr val="00B0F0"/>
              </a:solidFill>
            </a:endParaRPr>
          </a:p>
          <a:p>
            <a:pPr algn="just"/>
            <a:r>
              <a:rPr lang="en-US" sz="2800" b="1" dirty="0">
                <a:solidFill>
                  <a:srgbClr val="00B0F0"/>
                </a:solidFill>
              </a:rPr>
              <a:t>N-</a:t>
            </a:r>
            <a:r>
              <a:rPr lang="en-US" sz="2800" b="1" dirty="0" err="1">
                <a:solidFill>
                  <a:srgbClr val="00B0F0"/>
                </a:solidFill>
              </a:rPr>
              <a:t>ary</a:t>
            </a:r>
            <a:r>
              <a:rPr lang="en-US" sz="2800" b="1" dirty="0">
                <a:solidFill>
                  <a:srgbClr val="00B0F0"/>
                </a:solidFill>
              </a:rPr>
              <a:t> Relationship:</a:t>
            </a:r>
          </a:p>
          <a:p>
            <a:pPr algn="just"/>
            <a:endParaRPr lang="en-US" sz="2400" b="1" dirty="0">
              <a:solidFill>
                <a:srgbClr val="00B0F0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A relationship involving more than 4 entities.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115" y="2635911"/>
            <a:ext cx="5606239" cy="285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91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Real Life Scenario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31156" t="28125" r="14895" b="18750"/>
          <a:stretch/>
        </p:blipFill>
        <p:spPr>
          <a:xfrm>
            <a:off x="1338797" y="2481297"/>
            <a:ext cx="8982635" cy="3886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376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847" y="2320689"/>
            <a:ext cx="9415071" cy="2762300"/>
          </a:xfrm>
        </p:spPr>
        <p:txBody>
          <a:bodyPr/>
          <a:lstStyle/>
          <a:p>
            <a:r>
              <a:rPr lang="en-US" sz="2400" b="0" dirty="0">
                <a:solidFill>
                  <a:schemeClr val="bg1"/>
                </a:solidFill>
              </a:rPr>
              <a:t>Specifies the number of relations between entities.</a:t>
            </a:r>
          </a:p>
          <a:p>
            <a:endParaRPr lang="en-US" sz="2400" b="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rgbClr val="00B0F0"/>
                </a:solidFill>
              </a:rPr>
              <a:t>One-to-One (1:1): </a:t>
            </a:r>
            <a:r>
              <a:rPr lang="en-US" sz="2400" b="0" dirty="0">
                <a:solidFill>
                  <a:schemeClr val="bg1"/>
                </a:solidFill>
              </a:rPr>
              <a:t>The relationship between two entities.</a:t>
            </a:r>
          </a:p>
          <a:p>
            <a:endParaRPr lang="en-US" sz="2400" b="0" dirty="0">
              <a:solidFill>
                <a:schemeClr val="bg1"/>
              </a:solidFill>
            </a:endParaRPr>
          </a:p>
          <a:p>
            <a:r>
              <a:rPr lang="en-US" sz="2400" b="0" dirty="0">
                <a:solidFill>
                  <a:schemeClr val="bg1"/>
                </a:solidFill>
              </a:rPr>
              <a:t>A customer has one address (1:1).</a:t>
            </a:r>
          </a:p>
          <a:p>
            <a:endParaRPr lang="en-US" sz="2400" b="0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Cardinality Ratios: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552" y="3825689"/>
            <a:ext cx="451485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21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382991" y="2017058"/>
            <a:ext cx="7187703" cy="4174797"/>
          </a:xfrm>
        </p:spPr>
        <p:txBody>
          <a:bodyPr/>
          <a:lstStyle/>
          <a:p>
            <a:endParaRPr lang="en-US" sz="2400" b="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rgbClr val="00B0F0"/>
                </a:solidFill>
              </a:rPr>
              <a:t>One-to-Many (1:N): </a:t>
            </a:r>
            <a:r>
              <a:rPr lang="en-US" sz="2400" b="0" dirty="0">
                <a:solidFill>
                  <a:schemeClr val="bg1"/>
                </a:solidFill>
              </a:rPr>
              <a:t>The relationship of one entity with many entities.</a:t>
            </a:r>
          </a:p>
          <a:p>
            <a:r>
              <a:rPr lang="en-US" sz="2400" b="0" dirty="0">
                <a:solidFill>
                  <a:schemeClr val="bg1"/>
                </a:solidFill>
              </a:rPr>
              <a:t> A department has many employees (1:N).</a:t>
            </a:r>
          </a:p>
          <a:p>
            <a:endParaRPr lang="en-US" sz="2400" b="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rgbClr val="00B0F0"/>
                </a:solidFill>
              </a:rPr>
              <a:t>Many-to-Many (N:N): </a:t>
            </a:r>
            <a:r>
              <a:rPr lang="en-US" sz="2400" b="0" dirty="0">
                <a:solidFill>
                  <a:schemeClr val="bg1"/>
                </a:solidFill>
              </a:rPr>
              <a:t>The relationship of many entities with many entities.</a:t>
            </a:r>
          </a:p>
          <a:p>
            <a:r>
              <a:rPr lang="en-US" sz="2400" b="0" dirty="0">
                <a:solidFill>
                  <a:schemeClr val="bg1"/>
                </a:solidFill>
              </a:rPr>
              <a:t>A student can enroll in many courses, and a course can have many students (N:N).</a:t>
            </a:r>
          </a:p>
        </p:txBody>
      </p:sp>
      <p:sp>
        <p:nvSpPr>
          <p:cNvPr id="10" name="Title 6"/>
          <p:cNvSpPr>
            <a:spLocks noGrp="1"/>
          </p:cNvSpPr>
          <p:nvPr>
            <p:ph type="title"/>
          </p:nvPr>
        </p:nvSpPr>
        <p:spPr>
          <a:xfrm>
            <a:off x="774032" y="1033272"/>
            <a:ext cx="5056083" cy="782638"/>
          </a:xfrm>
        </p:spPr>
        <p:txBody>
          <a:bodyPr>
            <a:normAutofit fontScale="90000"/>
          </a:bodyPr>
          <a:lstStyle/>
          <a:p>
            <a:r>
              <a:rPr lang="en-US" dirty="0"/>
              <a:t>Cardinality Ratios: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6" t="64902" r="6090" b="5294"/>
          <a:stretch/>
        </p:blipFill>
        <p:spPr>
          <a:xfrm>
            <a:off x="7785846" y="4104456"/>
            <a:ext cx="3657600" cy="12606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0" t="36926" r="5436" b="33270"/>
          <a:stretch/>
        </p:blipFill>
        <p:spPr>
          <a:xfrm>
            <a:off x="7785846" y="2307033"/>
            <a:ext cx="3657600" cy="12606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888506" y="277009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37376" y="27527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14965" y="458597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2287" y="46039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40569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4031" y="2224414"/>
            <a:ext cx="4365625" cy="454353"/>
          </a:xfrm>
        </p:spPr>
        <p:txBody>
          <a:bodyPr/>
          <a:lstStyle/>
          <a:p>
            <a:r>
              <a:rPr lang="en-US" sz="2400" u="sng" dirty="0">
                <a:solidFill>
                  <a:schemeClr val="bg1"/>
                </a:solidFill>
              </a:rPr>
              <a:t>Database Design: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/>
          </p:nvPr>
        </p:nvSpPr>
        <p:spPr>
          <a:xfrm>
            <a:off x="774030" y="3980416"/>
            <a:ext cx="4365625" cy="454353"/>
          </a:xfrm>
        </p:spPr>
        <p:txBody>
          <a:bodyPr/>
          <a:lstStyle/>
          <a:p>
            <a:r>
              <a:rPr lang="en-US" sz="2400" u="sng" dirty="0">
                <a:solidFill>
                  <a:schemeClr val="bg1"/>
                </a:solidFill>
              </a:rPr>
              <a:t>Data Modeling: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573616" y="2794785"/>
            <a:ext cx="8596888" cy="661109"/>
          </a:xfrm>
          <a:ln>
            <a:noFill/>
          </a:ln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Serves as a blueprint for creating relational databases.</a:t>
            </a:r>
            <a:endParaRPr lang="en-US" dirty="0"/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774030" y="4634399"/>
            <a:ext cx="9109558" cy="623402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Helps in visualizing data structures and their interrelationships.</a:t>
            </a:r>
          </a:p>
          <a:p>
            <a:endParaRPr lang="en-US" sz="2400" dirty="0"/>
          </a:p>
        </p:txBody>
      </p:sp>
      <p:sp>
        <p:nvSpPr>
          <p:cNvPr id="9" name="Title 1"/>
          <p:cNvSpPr txBox="1">
            <a:spLocks noGrp="1"/>
          </p:cNvSpPr>
          <p:nvPr>
            <p:ph type="title"/>
          </p:nvPr>
        </p:nvSpPr>
        <p:spPr>
          <a:xfrm>
            <a:off x="181604" y="250521"/>
            <a:ext cx="10505572" cy="15653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</a:rPr>
              <a:t>Importance and Applications of Database Design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363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76" y="1071909"/>
            <a:ext cx="5056083" cy="782638"/>
          </a:xfrm>
        </p:spPr>
        <p:txBody>
          <a:bodyPr>
            <a:normAutofit/>
          </a:bodyPr>
          <a:lstStyle/>
          <a:p>
            <a:r>
              <a:rPr lang="en-US" u="sng" dirty="0"/>
              <a:t>Applications:  </a:t>
            </a:r>
          </a:p>
        </p:txBody>
      </p:sp>
      <p:sp>
        <p:nvSpPr>
          <p:cNvPr id="8" name="TextBox 7">
            <a:hlinkClick r:id="rId2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21503" y="2923143"/>
            <a:ext cx="121177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Designing academic systems (e.g., university databases)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Developing business applications (e.g., inventory management systems)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Creating information systems for various domains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FC0424-40B9-486A-B71B-BA76CD90DD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149955" y="2265833"/>
            <a:ext cx="9833886" cy="19448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500" dirty="0">
                <a:solidFill>
                  <a:schemeClr val="bg1"/>
                </a:solidFill>
                <a:latin typeface="Algerian" panose="04020705040A02060702" pitchFamily="82" charset="0"/>
              </a:rPr>
              <a:t>THANK YOU</a:t>
            </a:r>
            <a:endParaRPr lang="en-US" sz="115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91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7A0EF5-23A9-4627-BC46-745B7DD804D2}">
  <ds:schemaRefs>
    <ds:schemaRef ds:uri="http://schemas.microsoft.com/sharepoint/v3"/>
    <ds:schemaRef ds:uri="http://purl.org/dc/elements/1.1/"/>
    <ds:schemaRef ds:uri="http://schemas.openxmlformats.org/package/2006/metadata/core-properties"/>
    <ds:schemaRef ds:uri="6dc4bcd6-49db-4c07-9060-8acfc67cef9f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fb0879af-3eba-417a-a55a-ffe6dcd6ca7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2807890-83DC-4772-9CAD-F7CB30099A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5154C8-4BB5-43F2-9F6C-5E79271A0D5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0</TotalTime>
  <Words>481</Words>
  <Application>Microsoft Office PowerPoint</Application>
  <PresentationFormat>Widescreen</PresentationFormat>
  <Paragraphs>103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Algerian</vt:lpstr>
      <vt:lpstr>Arial</vt:lpstr>
      <vt:lpstr>Calibri</vt:lpstr>
      <vt:lpstr>Lucida Grande</vt:lpstr>
      <vt:lpstr>Verdana</vt:lpstr>
      <vt:lpstr>Wingdings</vt:lpstr>
      <vt:lpstr>Office Theme</vt:lpstr>
      <vt:lpstr>THE E-R MODEL</vt:lpstr>
      <vt:lpstr>PowerPoint Presentation</vt:lpstr>
      <vt:lpstr>PowerPoint Presentation</vt:lpstr>
      <vt:lpstr>PowerPoint Presentation</vt:lpstr>
      <vt:lpstr>Basic Components</vt:lpstr>
      <vt:lpstr>Basic Components</vt:lpstr>
      <vt:lpstr>RELATIONS</vt:lpstr>
      <vt:lpstr>RELATIONS</vt:lpstr>
      <vt:lpstr>RELATIONS</vt:lpstr>
      <vt:lpstr>Real Life Scenario</vt:lpstr>
      <vt:lpstr>Cardinality Ratios:</vt:lpstr>
      <vt:lpstr>Cardinality Ratios:</vt:lpstr>
      <vt:lpstr>Importance and Applications of Database Design</vt:lpstr>
      <vt:lpstr>Applications: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2025-01-05T10:23:35Z</dcterms:created>
  <dcterms:modified xsi:type="dcterms:W3CDTF">2026-08-02T21:20:36Z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