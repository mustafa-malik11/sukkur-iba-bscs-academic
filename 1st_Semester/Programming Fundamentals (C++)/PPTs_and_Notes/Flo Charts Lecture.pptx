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62" r:id="rId6"/>
    <p:sldId id="263" r:id="rId7"/>
    <p:sldId id="264" r:id="rId8"/>
    <p:sldId id="265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8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1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6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1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7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9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8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1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6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2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949E2-78C3-4344-A8E5-BF0AFE978A24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74420-B43D-4F8D-8FEB-A4EE9F7D0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3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K" dirty="0" smtClean="0"/>
              <a:t/>
            </a:r>
            <a:br>
              <a:rPr lang="en-PK" dirty="0" smtClean="0"/>
            </a:br>
            <a:r>
              <a:rPr lang="en-PK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</a:t>
            </a:r>
            <a:r>
              <a:rPr lang="en-US" b="1" i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PK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50692"/>
          </a:xfrm>
        </p:spPr>
        <p:txBody>
          <a:bodyPr/>
          <a:lstStyle/>
          <a:p>
            <a:r>
              <a:rPr lang="en-PK" dirty="0" smtClean="0">
                <a:solidFill>
                  <a:srgbClr val="FF0000"/>
                </a:solidFill>
              </a:rPr>
              <a:t>Programing Fundamentals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04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</a:t>
            </a:r>
            <a:r>
              <a:rPr lang="en-US" b="1" i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PK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Charts &amp;Its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flowchart is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type of diagram that represents an algorithm, workflow or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flowchart shows the steps as boxes of various kinds, and their order by connecting the boxes with arrows. This diagrammatic representation illustrates a solution model to a given problem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Process Flowchart or Communication Flow Chart. </a:t>
            </a:r>
            <a:r>
              <a:rPr lang="en-US" sz="2000" b="1" dirty="0">
                <a:solidFill>
                  <a:srgbClr val="FF0000"/>
                </a:solidFill>
              </a:rPr>
              <a:t>separate steps of a process in sequential order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/>
              <a:t>The Workflow Chart or Workflow Diagram. 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visual layout of a process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/>
              <a:t>The </a:t>
            </a:r>
            <a:r>
              <a:rPr lang="en-US" dirty="0" smtClean="0"/>
              <a:t>Swim</a:t>
            </a:r>
            <a:r>
              <a:rPr lang="en-PK" dirty="0" smtClean="0"/>
              <a:t> </a:t>
            </a:r>
            <a:r>
              <a:rPr lang="en-US" dirty="0" smtClean="0"/>
              <a:t>lane </a:t>
            </a:r>
            <a:r>
              <a:rPr lang="en-US" dirty="0"/>
              <a:t>Flowchart</a:t>
            </a:r>
            <a:r>
              <a:rPr lang="en-US" dirty="0" smtClean="0"/>
              <a:t>.</a:t>
            </a:r>
            <a:r>
              <a:rPr lang="en-PK" dirty="0" smtClean="0"/>
              <a:t> (</a:t>
            </a:r>
            <a:r>
              <a:rPr lang="en-US" sz="2000" b="1" dirty="0">
                <a:solidFill>
                  <a:srgbClr val="FF0000"/>
                </a:solidFill>
              </a:rPr>
              <a:t>that show a process from start to </a:t>
            </a:r>
            <a:r>
              <a:rPr lang="en-US" sz="2000" b="1" dirty="0" smtClean="0">
                <a:solidFill>
                  <a:srgbClr val="FF0000"/>
                </a:solidFill>
              </a:rPr>
              <a:t>finish</a:t>
            </a:r>
            <a:r>
              <a:rPr lang="en-PK" b="1" dirty="0" smtClean="0"/>
              <a:t>)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The Data Flowchart</a:t>
            </a:r>
            <a:r>
              <a:rPr lang="en-US" dirty="0" smtClean="0"/>
              <a:t>.</a:t>
            </a:r>
            <a:r>
              <a:rPr lang="en-PK" dirty="0" smtClean="0"/>
              <a:t> </a:t>
            </a:r>
            <a:r>
              <a:rPr lang="en-US" sz="2000" b="1" dirty="0">
                <a:solidFill>
                  <a:srgbClr val="FF0000"/>
                </a:solidFill>
              </a:rPr>
              <a:t>a graphical or visual representation using a standardized set of symbols and notations to describe a business's operations through data movement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15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9713" t="21241" r="21379" b="9737"/>
          <a:stretch/>
        </p:blipFill>
        <p:spPr>
          <a:xfrm>
            <a:off x="2107096" y="530086"/>
            <a:ext cx="8547651" cy="6149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4942" y="147502"/>
            <a:ext cx="2779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K" b="1" dirty="0" smtClean="0">
                <a:solidFill>
                  <a:srgbClr val="FF0000"/>
                </a:solidFill>
                <a:latin typeface="euclid_circular_a"/>
              </a:rPr>
              <a:t>Symbols in Flo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PK" b="1" dirty="0" smtClean="0">
                <a:solidFill>
                  <a:srgbClr val="FF0000"/>
                </a:solidFill>
                <a:latin typeface="euclid_circular_a"/>
              </a:rPr>
              <a:t> Chart</a:t>
            </a:r>
            <a:endParaRPr lang="en-US" b="1" i="0" dirty="0">
              <a:solidFill>
                <a:srgbClr val="FF0000"/>
              </a:solidFill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238126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f else flowchar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7" y="1073427"/>
            <a:ext cx="4784034" cy="4731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916738" y="1948070"/>
            <a:ext cx="4108450" cy="3200400"/>
            <a:chOff x="3259138" y="2743200"/>
            <a:chExt cx="4108450" cy="32004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259138" y="4273550"/>
              <a:ext cx="1739900" cy="105410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4167188" y="3352800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4167188" y="3352800"/>
              <a:ext cx="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846514" y="2879725"/>
              <a:ext cx="81432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chemeClr val="accent1"/>
                  </a:solidFill>
                  <a:latin typeface="Arial" panose="020B0604020202020204" pitchFamily="34" charset="0"/>
                </a:rPr>
                <a:t>TRUE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352800" y="4495801"/>
              <a:ext cx="1543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latin typeface="Arial" panose="020B0604020202020204" pitchFamily="34" charset="0"/>
                </a:rPr>
                <a:t>statement(s)</a:t>
              </a: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4090988" y="5562600"/>
              <a:ext cx="20050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6096000" y="3962400"/>
              <a:ext cx="0" cy="198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16"/>
            <p:cNvSpPr>
              <a:spLocks noChangeArrowheads="1"/>
            </p:cNvSpPr>
            <p:nvPr/>
          </p:nvSpPr>
          <p:spPr bwMode="auto">
            <a:xfrm>
              <a:off x="4852988" y="2743200"/>
              <a:ext cx="2514600" cy="1219200"/>
            </a:xfrm>
            <a:prstGeom prst="flowChartDecision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7748588" y="453252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8996363" y="2368422"/>
            <a:ext cx="1712007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PK" altLang="en-US" sz="1800" b="1" dirty="0" smtClean="0">
                <a:latin typeface="Arial" panose="020B0604020202020204" pitchFamily="34" charset="0"/>
              </a:rPr>
              <a:t>Expression</a:t>
            </a:r>
            <a:r>
              <a:rPr lang="en-US" altLang="en-US" sz="1800" b="1" dirty="0" smtClean="0">
                <a:latin typeface="Arial" panose="020B0604020202020204" pitchFamily="34" charset="0"/>
              </a:rPr>
              <a:t>(s</a:t>
            </a:r>
            <a:r>
              <a:rPr lang="en-US" altLang="en-US" sz="1800" b="1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9861692" y="3787896"/>
            <a:ext cx="775853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PK" altLang="en-US" sz="18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False</a:t>
            </a:r>
            <a:endParaRPr lang="en-US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8678" y="503582"/>
            <a:ext cx="161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 smtClean="0">
                <a:solidFill>
                  <a:srgbClr val="FF0000"/>
                </a:solidFill>
              </a:rPr>
              <a:t>IF-EELSE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11109" y="993914"/>
            <a:ext cx="94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 smtClean="0">
                <a:solidFill>
                  <a:srgbClr val="FF0000"/>
                </a:solidFill>
              </a:rPr>
              <a:t>IF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9753600" y="164327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6435" t="41350" r="32584" b="24230"/>
          <a:stretch/>
        </p:blipFill>
        <p:spPr>
          <a:xfrm>
            <a:off x="649357" y="1470990"/>
            <a:ext cx="5181600" cy="47791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0348" y="622852"/>
            <a:ext cx="210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 smtClean="0">
                <a:solidFill>
                  <a:srgbClr val="FF0000"/>
                </a:solidFill>
              </a:rPr>
              <a:t>W</a:t>
            </a:r>
            <a:r>
              <a:rPr lang="en-PK" dirty="0" smtClean="0">
                <a:solidFill>
                  <a:srgbClr val="FF0000"/>
                </a:solidFill>
              </a:rPr>
              <a:t>HILE LOOP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56810" y="622852"/>
            <a:ext cx="1636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solidFill>
                  <a:srgbClr val="FF0000"/>
                </a:solidFill>
              </a:rPr>
              <a:t>Do-While Loop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8778" t="47407" r="32685" b="16724"/>
          <a:stretch/>
        </p:blipFill>
        <p:spPr>
          <a:xfrm>
            <a:off x="7779026" y="1470990"/>
            <a:ext cx="3776869" cy="44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0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r Loop Flowchart - A Visual Guid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01"/>
          <a:stretch/>
        </p:blipFill>
        <p:spPr bwMode="auto">
          <a:xfrm>
            <a:off x="3441624" y="397564"/>
            <a:ext cx="4761472" cy="580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9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84369"/>
          </a:xfrm>
        </p:spPr>
        <p:txBody>
          <a:bodyPr/>
          <a:lstStyle/>
          <a:p>
            <a:pPr eaLnBrk="1" hangingPunct="1"/>
            <a:r>
              <a:rPr lang="en-US" altLang="en-US" b="1" noProof="1" smtClean="0"/>
              <a:t>switch</a:t>
            </a:r>
            <a:r>
              <a:rPr lang="en-US" altLang="en-US" noProof="1" smtClean="0"/>
              <a:t> Multiple-Selection Structure</a:t>
            </a:r>
            <a:endParaRPr lang="en-US" altLang="en-US" dirty="0" smtClean="0"/>
          </a:p>
        </p:txBody>
      </p:sp>
      <p:grpSp>
        <p:nvGrpSpPr>
          <p:cNvPr id="59396" name="Group 3"/>
          <p:cNvGrpSpPr>
            <a:grpSpLocks/>
          </p:cNvGrpSpPr>
          <p:nvPr/>
        </p:nvGrpSpPr>
        <p:grpSpPr bwMode="auto">
          <a:xfrm>
            <a:off x="1842052" y="1524000"/>
            <a:ext cx="8640418" cy="4775200"/>
            <a:chOff x="344" y="2025"/>
            <a:chExt cx="2198" cy="2051"/>
          </a:xfrm>
        </p:grpSpPr>
        <p:sp>
          <p:nvSpPr>
            <p:cNvPr id="59397" name="Freeform 4"/>
            <p:cNvSpPr>
              <a:spLocks/>
            </p:cNvSpPr>
            <p:nvPr/>
          </p:nvSpPr>
          <p:spPr bwMode="auto">
            <a:xfrm>
              <a:off x="648" y="2076"/>
              <a:ext cx="0" cy="146"/>
            </a:xfrm>
            <a:custGeom>
              <a:avLst/>
              <a:gdLst>
                <a:gd name="T0" fmla="*/ 0 w 20000"/>
                <a:gd name="T1" fmla="*/ 146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98" name="Oval 5"/>
            <p:cNvSpPr>
              <a:spLocks noChangeArrowheads="1"/>
            </p:cNvSpPr>
            <p:nvPr/>
          </p:nvSpPr>
          <p:spPr bwMode="auto">
            <a:xfrm>
              <a:off x="624" y="2025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399" name="Freeform 6"/>
            <p:cNvSpPr>
              <a:spLocks/>
            </p:cNvSpPr>
            <p:nvPr/>
          </p:nvSpPr>
          <p:spPr bwMode="auto">
            <a:xfrm>
              <a:off x="936" y="2321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0" name="Rectangle 7"/>
            <p:cNvSpPr>
              <a:spLocks noChangeArrowheads="1"/>
            </p:cNvSpPr>
            <p:nvPr/>
          </p:nvSpPr>
          <p:spPr bwMode="auto">
            <a:xfrm>
              <a:off x="918" y="2238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01" name="Freeform 8"/>
            <p:cNvSpPr>
              <a:spLocks/>
            </p:cNvSpPr>
            <p:nvPr/>
          </p:nvSpPr>
          <p:spPr bwMode="auto">
            <a:xfrm>
              <a:off x="1672" y="2321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2" name="Oval 9"/>
            <p:cNvSpPr>
              <a:spLocks noChangeArrowheads="1"/>
            </p:cNvSpPr>
            <p:nvPr/>
          </p:nvSpPr>
          <p:spPr bwMode="auto">
            <a:xfrm>
              <a:off x="624" y="4028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403" name="Freeform 10"/>
            <p:cNvSpPr>
              <a:spLocks/>
            </p:cNvSpPr>
            <p:nvPr/>
          </p:nvSpPr>
          <p:spPr bwMode="auto">
            <a:xfrm>
              <a:off x="648" y="2810"/>
              <a:ext cx="0" cy="192"/>
            </a:xfrm>
            <a:custGeom>
              <a:avLst/>
              <a:gdLst>
                <a:gd name="T0" fmla="*/ 0 w 20000"/>
                <a:gd name="T1" fmla="*/ 192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4" name="Rectangle 11"/>
            <p:cNvSpPr>
              <a:spLocks noChangeArrowheads="1"/>
            </p:cNvSpPr>
            <p:nvPr/>
          </p:nvSpPr>
          <p:spPr bwMode="auto">
            <a:xfrm>
              <a:off x="696" y="2811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05" name="Rectangle 12"/>
            <p:cNvSpPr>
              <a:spLocks noChangeArrowheads="1"/>
            </p:cNvSpPr>
            <p:nvPr/>
          </p:nvSpPr>
          <p:spPr bwMode="auto">
            <a:xfrm>
              <a:off x="624" y="3014"/>
              <a:ext cx="4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06" name="Freeform 13"/>
            <p:cNvSpPr>
              <a:spLocks/>
            </p:cNvSpPr>
            <p:nvPr/>
          </p:nvSpPr>
          <p:spPr bwMode="auto">
            <a:xfrm>
              <a:off x="2392" y="2321"/>
              <a:ext cx="144" cy="0"/>
            </a:xfrm>
            <a:custGeom>
              <a:avLst/>
              <a:gdLst>
                <a:gd name="T0" fmla="*/ 144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Freeform 14"/>
            <p:cNvSpPr>
              <a:spLocks/>
            </p:cNvSpPr>
            <p:nvPr/>
          </p:nvSpPr>
          <p:spPr bwMode="auto">
            <a:xfrm>
              <a:off x="2541" y="2321"/>
              <a:ext cx="0" cy="1627"/>
            </a:xfrm>
            <a:custGeom>
              <a:avLst/>
              <a:gdLst>
                <a:gd name="T0" fmla="*/ 0 w 20000"/>
                <a:gd name="T1" fmla="*/ 1627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9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8" name="Freeform 15"/>
            <p:cNvSpPr>
              <a:spLocks/>
            </p:cNvSpPr>
            <p:nvPr/>
          </p:nvSpPr>
          <p:spPr bwMode="auto">
            <a:xfrm>
              <a:off x="654" y="3948"/>
              <a:ext cx="1888" cy="0"/>
            </a:xfrm>
            <a:custGeom>
              <a:avLst/>
              <a:gdLst>
                <a:gd name="T0" fmla="*/ 0 w 20000"/>
                <a:gd name="T1" fmla="*/ 0 h 20000"/>
                <a:gd name="T2" fmla="*/ 1888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96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09" name="Group 16"/>
            <p:cNvGrpSpPr>
              <a:grpSpLocks/>
            </p:cNvGrpSpPr>
            <p:nvPr/>
          </p:nvGrpSpPr>
          <p:grpSpPr bwMode="auto">
            <a:xfrm>
              <a:off x="360" y="2222"/>
              <a:ext cx="576" cy="197"/>
              <a:chOff x="0" y="0"/>
              <a:chExt cx="20000" cy="20000"/>
            </a:xfrm>
          </p:grpSpPr>
          <p:sp>
            <p:nvSpPr>
              <p:cNvPr id="59451" name="Freeform 1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52" name="Rectangle 18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a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410" name="Group 19"/>
            <p:cNvGrpSpPr>
              <a:grpSpLocks/>
            </p:cNvGrpSpPr>
            <p:nvPr/>
          </p:nvGrpSpPr>
          <p:grpSpPr bwMode="auto">
            <a:xfrm>
              <a:off x="1128" y="2278"/>
              <a:ext cx="544" cy="85"/>
              <a:chOff x="0" y="0"/>
              <a:chExt cx="20000" cy="20000"/>
            </a:xfrm>
          </p:grpSpPr>
          <p:sp>
            <p:nvSpPr>
              <p:cNvPr id="59449" name="Rectangle 20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a action(s)</a:t>
                </a:r>
              </a:p>
              <a:p>
                <a:endParaRPr lang="en-US" altLang="en-US" sz="1000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50" name="Freeform 21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11" name="Group 22"/>
            <p:cNvGrpSpPr>
              <a:grpSpLocks/>
            </p:cNvGrpSpPr>
            <p:nvPr/>
          </p:nvGrpSpPr>
          <p:grpSpPr bwMode="auto">
            <a:xfrm>
              <a:off x="1864" y="2278"/>
              <a:ext cx="528" cy="85"/>
              <a:chOff x="0" y="0"/>
              <a:chExt cx="20000" cy="20000"/>
            </a:xfrm>
          </p:grpSpPr>
          <p:sp>
            <p:nvSpPr>
              <p:cNvPr id="59447" name="Rectangle 23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48" name="Freeform 2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12" name="Freeform 25"/>
            <p:cNvSpPr>
              <a:spLocks/>
            </p:cNvSpPr>
            <p:nvPr/>
          </p:nvSpPr>
          <p:spPr bwMode="auto">
            <a:xfrm>
              <a:off x="648" y="2417"/>
              <a:ext cx="0" cy="192"/>
            </a:xfrm>
            <a:custGeom>
              <a:avLst/>
              <a:gdLst>
                <a:gd name="T0" fmla="*/ 0 w 20000"/>
                <a:gd name="T1" fmla="*/ 192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Freeform 26"/>
            <p:cNvSpPr>
              <a:spLocks/>
            </p:cNvSpPr>
            <p:nvPr/>
          </p:nvSpPr>
          <p:spPr bwMode="auto">
            <a:xfrm>
              <a:off x="936" y="2708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Freeform 27"/>
            <p:cNvSpPr>
              <a:spLocks/>
            </p:cNvSpPr>
            <p:nvPr/>
          </p:nvSpPr>
          <p:spPr bwMode="auto">
            <a:xfrm>
              <a:off x="1672" y="2708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Freeform 28"/>
            <p:cNvSpPr>
              <a:spLocks/>
            </p:cNvSpPr>
            <p:nvPr/>
          </p:nvSpPr>
          <p:spPr bwMode="auto">
            <a:xfrm>
              <a:off x="2392" y="2708"/>
              <a:ext cx="144" cy="0"/>
            </a:xfrm>
            <a:custGeom>
              <a:avLst/>
              <a:gdLst>
                <a:gd name="T0" fmla="*/ 144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16" name="Group 29"/>
            <p:cNvGrpSpPr>
              <a:grpSpLocks/>
            </p:cNvGrpSpPr>
            <p:nvPr/>
          </p:nvGrpSpPr>
          <p:grpSpPr bwMode="auto">
            <a:xfrm>
              <a:off x="360" y="2609"/>
              <a:ext cx="576" cy="197"/>
              <a:chOff x="0" y="0"/>
              <a:chExt cx="20000" cy="20000"/>
            </a:xfrm>
          </p:grpSpPr>
          <p:sp>
            <p:nvSpPr>
              <p:cNvPr id="59445" name="Freeform 3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46" name="Rectangle 31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b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417" name="Group 32"/>
            <p:cNvGrpSpPr>
              <a:grpSpLocks/>
            </p:cNvGrpSpPr>
            <p:nvPr/>
          </p:nvGrpSpPr>
          <p:grpSpPr bwMode="auto">
            <a:xfrm>
              <a:off x="1128" y="2665"/>
              <a:ext cx="544" cy="85"/>
              <a:chOff x="0" y="0"/>
              <a:chExt cx="20000" cy="20000"/>
            </a:xfrm>
          </p:grpSpPr>
          <p:sp>
            <p:nvSpPr>
              <p:cNvPr id="59443" name="Rectangle 33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b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44" name="Freeform 3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18" name="Group 35"/>
            <p:cNvGrpSpPr>
              <a:grpSpLocks/>
            </p:cNvGrpSpPr>
            <p:nvPr/>
          </p:nvGrpSpPr>
          <p:grpSpPr bwMode="auto">
            <a:xfrm>
              <a:off x="1864" y="2665"/>
              <a:ext cx="528" cy="85"/>
              <a:chOff x="0" y="0"/>
              <a:chExt cx="20000" cy="20000"/>
            </a:xfrm>
          </p:grpSpPr>
          <p:sp>
            <p:nvSpPr>
              <p:cNvPr id="59441" name="Rectangle 36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42" name="Freeform 3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19" name="Rectangle 38"/>
            <p:cNvSpPr>
              <a:spLocks noChangeArrowheads="1"/>
            </p:cNvSpPr>
            <p:nvPr/>
          </p:nvSpPr>
          <p:spPr bwMode="auto">
            <a:xfrm>
              <a:off x="696" y="2436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20" name="Freeform 39"/>
            <p:cNvSpPr>
              <a:spLocks/>
            </p:cNvSpPr>
            <p:nvPr/>
          </p:nvSpPr>
          <p:spPr bwMode="auto">
            <a:xfrm>
              <a:off x="648" y="3884"/>
              <a:ext cx="0" cy="143"/>
            </a:xfrm>
            <a:custGeom>
              <a:avLst/>
              <a:gdLst>
                <a:gd name="T0" fmla="*/ 0 w 20000"/>
                <a:gd name="T1" fmla="*/ 143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Rectangle 40"/>
            <p:cNvSpPr>
              <a:spLocks noChangeArrowheads="1"/>
            </p:cNvSpPr>
            <p:nvPr/>
          </p:nvSpPr>
          <p:spPr bwMode="auto">
            <a:xfrm>
              <a:off x="696" y="3611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22" name="Freeform 41"/>
            <p:cNvSpPr>
              <a:spLocks/>
            </p:cNvSpPr>
            <p:nvPr/>
          </p:nvSpPr>
          <p:spPr bwMode="auto">
            <a:xfrm>
              <a:off x="648" y="3217"/>
              <a:ext cx="0" cy="192"/>
            </a:xfrm>
            <a:custGeom>
              <a:avLst/>
              <a:gdLst>
                <a:gd name="T0" fmla="*/ 0 w 20000"/>
                <a:gd name="T1" fmla="*/ 192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Freeform 42"/>
            <p:cNvSpPr>
              <a:spLocks/>
            </p:cNvSpPr>
            <p:nvPr/>
          </p:nvSpPr>
          <p:spPr bwMode="auto">
            <a:xfrm>
              <a:off x="936" y="3508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4" name="Freeform 43"/>
            <p:cNvSpPr>
              <a:spLocks/>
            </p:cNvSpPr>
            <p:nvPr/>
          </p:nvSpPr>
          <p:spPr bwMode="auto">
            <a:xfrm>
              <a:off x="1672" y="3508"/>
              <a:ext cx="192" cy="0"/>
            </a:xfrm>
            <a:custGeom>
              <a:avLst/>
              <a:gdLst>
                <a:gd name="T0" fmla="*/ 1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5" name="Freeform 44"/>
            <p:cNvSpPr>
              <a:spLocks/>
            </p:cNvSpPr>
            <p:nvPr/>
          </p:nvSpPr>
          <p:spPr bwMode="auto">
            <a:xfrm>
              <a:off x="2392" y="3508"/>
              <a:ext cx="144" cy="0"/>
            </a:xfrm>
            <a:custGeom>
              <a:avLst/>
              <a:gdLst>
                <a:gd name="T0" fmla="*/ 144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26" name="Group 45"/>
            <p:cNvGrpSpPr>
              <a:grpSpLocks/>
            </p:cNvGrpSpPr>
            <p:nvPr/>
          </p:nvGrpSpPr>
          <p:grpSpPr bwMode="auto">
            <a:xfrm>
              <a:off x="360" y="3409"/>
              <a:ext cx="576" cy="197"/>
              <a:chOff x="0" y="0"/>
              <a:chExt cx="20000" cy="20000"/>
            </a:xfrm>
          </p:grpSpPr>
          <p:sp>
            <p:nvSpPr>
              <p:cNvPr id="59439" name="Freeform 46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40" name="Rectangle 47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z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427" name="Group 48"/>
            <p:cNvGrpSpPr>
              <a:grpSpLocks/>
            </p:cNvGrpSpPr>
            <p:nvPr/>
          </p:nvGrpSpPr>
          <p:grpSpPr bwMode="auto">
            <a:xfrm>
              <a:off x="1128" y="3465"/>
              <a:ext cx="544" cy="85"/>
              <a:chOff x="0" y="0"/>
              <a:chExt cx="20000" cy="20000"/>
            </a:xfrm>
          </p:grpSpPr>
          <p:sp>
            <p:nvSpPr>
              <p:cNvPr id="59437" name="Rectangle 49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z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38" name="Freeform 5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28" name="Group 51"/>
            <p:cNvGrpSpPr>
              <a:grpSpLocks/>
            </p:cNvGrpSpPr>
            <p:nvPr/>
          </p:nvGrpSpPr>
          <p:grpSpPr bwMode="auto">
            <a:xfrm>
              <a:off x="1864" y="3465"/>
              <a:ext cx="528" cy="85"/>
              <a:chOff x="0" y="0"/>
              <a:chExt cx="20000" cy="20000"/>
            </a:xfrm>
          </p:grpSpPr>
          <p:sp>
            <p:nvSpPr>
              <p:cNvPr id="59435" name="Rectangle 52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36" name="Freeform 53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29" name="Rectangle 54"/>
            <p:cNvSpPr>
              <a:spLocks noChangeArrowheads="1"/>
            </p:cNvSpPr>
            <p:nvPr/>
          </p:nvSpPr>
          <p:spPr bwMode="auto">
            <a:xfrm>
              <a:off x="918" y="2628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30" name="Rectangle 55"/>
            <p:cNvSpPr>
              <a:spLocks noChangeArrowheads="1"/>
            </p:cNvSpPr>
            <p:nvPr/>
          </p:nvSpPr>
          <p:spPr bwMode="auto">
            <a:xfrm>
              <a:off x="918" y="3427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59431" name="Freeform 56"/>
            <p:cNvSpPr>
              <a:spLocks/>
            </p:cNvSpPr>
            <p:nvPr/>
          </p:nvSpPr>
          <p:spPr bwMode="auto">
            <a:xfrm>
              <a:off x="648" y="3606"/>
              <a:ext cx="0" cy="192"/>
            </a:xfrm>
            <a:custGeom>
              <a:avLst/>
              <a:gdLst>
                <a:gd name="T0" fmla="*/ 0 w 20000"/>
                <a:gd name="T1" fmla="*/ 192 h 20000"/>
                <a:gd name="T2" fmla="*/ 0 w 20000"/>
                <a:gd name="T3" fmla="*/ 0 h 200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32" name="Group 57"/>
            <p:cNvGrpSpPr>
              <a:grpSpLocks/>
            </p:cNvGrpSpPr>
            <p:nvPr/>
          </p:nvGrpSpPr>
          <p:grpSpPr bwMode="auto">
            <a:xfrm>
              <a:off x="344" y="3798"/>
              <a:ext cx="608" cy="85"/>
              <a:chOff x="0" y="0"/>
              <a:chExt cx="20000" cy="20000"/>
            </a:xfrm>
          </p:grpSpPr>
          <p:sp>
            <p:nvSpPr>
              <p:cNvPr id="59433" name="Rectangle 58"/>
              <p:cNvSpPr>
                <a:spLocks noChangeArrowheads="1"/>
              </p:cNvSpPr>
              <p:nvPr/>
            </p:nvSpPr>
            <p:spPr bwMode="auto">
              <a:xfrm>
                <a:off x="592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default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434" name="Freeform 59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7 w 20000"/>
                  <a:gd name="T1" fmla="*/ 0 h 20000"/>
                  <a:gd name="T2" fmla="*/ 19987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7" y="0"/>
                    </a:moveTo>
                    <a:lnTo>
                      <a:pt x="19987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897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witch Case Flowchart - A Complete Gu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22" y="212033"/>
            <a:ext cx="8189844" cy="646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17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owchart to add two numbers in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3" y="1086679"/>
            <a:ext cx="7373178" cy="4735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24031" y="21686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 smtClean="0">
                <a:solidFill>
                  <a:srgbClr val="25265E"/>
                </a:solidFill>
                <a:effectLst/>
                <a:latin typeface="euclid_circular_a"/>
              </a:rPr>
              <a:t>Examples of flowcharts in programming</a:t>
            </a:r>
          </a:p>
          <a:p>
            <a:r>
              <a:rPr lang="en-US" b="1" i="0" dirty="0" smtClean="0">
                <a:effectLst/>
                <a:latin typeface="euclid_circular_a"/>
              </a:rPr>
              <a:t>1. Add two numbers entered by the user.</a:t>
            </a:r>
            <a:endParaRPr lang="en-US" b="0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1960999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lowchart to find largest among three numb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87" y="861391"/>
            <a:ext cx="8958470" cy="551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27582" y="294573"/>
            <a:ext cx="75669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effectLst/>
                <a:latin typeface="euclid_circular_a"/>
              </a:rPr>
              <a:t>Find the largest among three different numbers entered by the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20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213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euclid_circular_a</vt:lpstr>
      <vt:lpstr>Times New Roman</vt:lpstr>
      <vt:lpstr>Verdana</vt:lpstr>
      <vt:lpstr>Office Theme</vt:lpstr>
      <vt:lpstr> Flow Charts </vt:lpstr>
      <vt:lpstr>Flow Charts &amp;Its Types</vt:lpstr>
      <vt:lpstr>PowerPoint Presentation</vt:lpstr>
      <vt:lpstr>PowerPoint Presentation</vt:lpstr>
      <vt:lpstr>PowerPoint Presentation</vt:lpstr>
      <vt:lpstr>PowerPoint Presentation</vt:lpstr>
      <vt:lpstr>switch Multiple-Selection Structure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Flow Charts </dc:title>
  <dc:creator>Noor Nabi</dc:creator>
  <cp:lastModifiedBy>Noor Nabi</cp:lastModifiedBy>
  <cp:revision>5</cp:revision>
  <dcterms:created xsi:type="dcterms:W3CDTF">2022-11-16T08:53:01Z</dcterms:created>
  <dcterms:modified xsi:type="dcterms:W3CDTF">2022-11-16T09:38:34Z</dcterms:modified>
</cp:coreProperties>
</file>