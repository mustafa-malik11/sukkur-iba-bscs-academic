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9" r:id="rId17"/>
    <p:sldId id="280" r:id="rId18"/>
    <p:sldId id="281" r:id="rId19"/>
    <p:sldId id="283" r:id="rId20"/>
    <p:sldId id="284" r:id="rId21"/>
    <p:sldId id="285" r:id="rId22"/>
    <p:sldId id="286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7" r:id="rId40"/>
    <p:sldId id="311" r:id="rId41"/>
    <p:sldId id="312" r:id="rId42"/>
    <p:sldId id="313" r:id="rId43"/>
    <p:sldId id="318" r:id="rId44"/>
    <p:sldId id="320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0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3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2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8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80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9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0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2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3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2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125B7-9334-4349-91D6-EA4416993BE2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18A1F-BCC8-4033-BD75-63F122DF6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9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Programming Fundamental </a:t>
            </a:r>
            <a:r>
              <a:rPr lang="en-US" dirty="0"/>
              <a:t>C</a:t>
            </a:r>
            <a:r>
              <a:rPr lang="en-US" dirty="0" smtClean="0"/>
              <a:t>++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98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74D432-6994-4CBA-A3C9-9C1C8EC1271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Computer Languages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/>
              <a:t>Machine language</a:t>
            </a:r>
          </a:p>
          <a:p>
            <a:pPr marL="1295400" lvl="2" indent="-381000"/>
            <a:r>
              <a:rPr lang="en-US" altLang="en-US"/>
              <a:t>Only language computer directly understands</a:t>
            </a:r>
          </a:p>
          <a:p>
            <a:pPr marL="1295400" lvl="2" indent="-381000"/>
            <a:r>
              <a:rPr lang="en-US" altLang="en-US"/>
              <a:t>Defined by hardware design</a:t>
            </a:r>
          </a:p>
          <a:p>
            <a:pPr marL="1752600" lvl="3" indent="-381000"/>
            <a:r>
              <a:rPr lang="en-US" altLang="en-US"/>
              <a:t>Machine-dependent</a:t>
            </a:r>
          </a:p>
          <a:p>
            <a:pPr marL="1295400" lvl="2" indent="-381000"/>
            <a:r>
              <a:rPr lang="en-US" altLang="en-US"/>
              <a:t>Generally consist of strings of numbers</a:t>
            </a:r>
          </a:p>
          <a:p>
            <a:pPr marL="1752600" lvl="3" indent="-381000"/>
            <a:r>
              <a:rPr lang="en-US" altLang="en-US"/>
              <a:t>Ultimately 0s and 1s</a:t>
            </a:r>
          </a:p>
          <a:p>
            <a:pPr marL="1295400" lvl="2" indent="-381000"/>
            <a:r>
              <a:rPr lang="en-US" altLang="en-US"/>
              <a:t>Instruct computers to perform elementary operations</a:t>
            </a:r>
          </a:p>
          <a:p>
            <a:pPr marL="1752600" lvl="3" indent="-381000"/>
            <a:r>
              <a:rPr lang="en-US" altLang="en-US"/>
              <a:t>One at a time</a:t>
            </a:r>
          </a:p>
          <a:p>
            <a:pPr marL="1295400" lvl="2" indent="-381000"/>
            <a:r>
              <a:rPr lang="en-US" altLang="en-US"/>
              <a:t>Cumbersome for humans</a:t>
            </a:r>
          </a:p>
          <a:p>
            <a:pPr marL="1295400" lvl="2" indent="-381000"/>
            <a:r>
              <a:rPr lang="en-US" altLang="en-US"/>
              <a:t>Example:</a:t>
            </a:r>
          </a:p>
          <a:p>
            <a:pPr marL="1752600" lvl="3" indent="-381000">
              <a:buNone/>
            </a:pPr>
            <a:r>
              <a:rPr lang="en-US" altLang="en-US" b="1">
                <a:latin typeface="Courier New" panose="02070309020205020404" pitchFamily="49" charset="0"/>
              </a:rPr>
              <a:t>	+1300042774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+1400593419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+1200274027</a:t>
            </a:r>
          </a:p>
        </p:txBody>
      </p:sp>
    </p:spTree>
    <p:extLst>
      <p:ext uri="{BB962C8B-B14F-4D97-AF65-F5344CB8AC3E}">
        <p14:creationId xmlns:p14="http://schemas.microsoft.com/office/powerpoint/2010/main" val="125762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E7505C-DEF7-40AC-B3D9-7788079983F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Computer Languages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/>
              <a:t>Assembly language</a:t>
            </a:r>
          </a:p>
          <a:p>
            <a:pPr marL="1295400" lvl="2" indent="-381000"/>
            <a:r>
              <a:rPr lang="en-US" altLang="en-US"/>
              <a:t>English-like abbreviations representing elementary computer operations </a:t>
            </a:r>
          </a:p>
          <a:p>
            <a:pPr marL="1295400" lvl="2" indent="-381000"/>
            <a:r>
              <a:rPr lang="en-US" altLang="en-US"/>
              <a:t>Clearer to humans</a:t>
            </a:r>
          </a:p>
          <a:p>
            <a:pPr marL="1295400" lvl="2" indent="-381000"/>
            <a:r>
              <a:rPr lang="en-US" altLang="en-US"/>
              <a:t>Incomprehensible to computers</a:t>
            </a:r>
          </a:p>
          <a:p>
            <a:pPr marL="1752600" lvl="3" indent="-381000"/>
            <a:r>
              <a:rPr lang="en-US" altLang="en-US"/>
              <a:t>Translator programs (assemblers)</a:t>
            </a:r>
          </a:p>
          <a:p>
            <a:pPr marL="2209800" lvl="4" indent="-381000"/>
            <a:r>
              <a:rPr lang="en-US" altLang="en-US"/>
              <a:t>Convert to machine language</a:t>
            </a:r>
          </a:p>
          <a:p>
            <a:pPr marL="1295400" lvl="2" indent="-381000"/>
            <a:r>
              <a:rPr lang="en-US" altLang="en-US"/>
              <a:t>Example:</a:t>
            </a:r>
            <a:r>
              <a:rPr lang="en-US" altLang="en-US" b="1">
                <a:latin typeface="Times" panose="02020603050405020304" pitchFamily="18" charset="0"/>
              </a:rPr>
              <a:t> </a:t>
            </a:r>
          </a:p>
          <a:p>
            <a:pPr marL="1752600" lvl="3" indent="-381000">
              <a:buNone/>
            </a:pPr>
            <a:r>
              <a:rPr lang="en-US" altLang="en-US" b="1">
                <a:latin typeface="Courier New" panose="02070309020205020404" pitchFamily="49" charset="0"/>
              </a:rPr>
              <a:t>	LOAD	BASEPAY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ADD 	OVERPAY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STORE 	GROSSPAY</a:t>
            </a:r>
          </a:p>
          <a:p>
            <a:pPr marL="533400" indent="-533400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1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DB711-5C86-442E-8E4F-C89B0959D56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Computer Languages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/>
              <a:t>High-level languages </a:t>
            </a:r>
          </a:p>
          <a:p>
            <a:pPr marL="1295400" lvl="2" indent="-381000"/>
            <a:r>
              <a:rPr lang="en-US" altLang="en-US"/>
              <a:t>Similar to everyday English, use common mathematical notations</a:t>
            </a:r>
          </a:p>
          <a:p>
            <a:pPr marL="1295400" lvl="2" indent="-381000"/>
            <a:r>
              <a:rPr lang="en-US" altLang="en-US"/>
              <a:t>Single statements accomplish substantial tasks</a:t>
            </a:r>
          </a:p>
          <a:p>
            <a:pPr marL="1752600" lvl="3" indent="-381000"/>
            <a:r>
              <a:rPr lang="en-US" altLang="en-US"/>
              <a:t>Assembly language requires many instructions to accomplish simple tasks</a:t>
            </a:r>
          </a:p>
          <a:p>
            <a:pPr marL="1295400" lvl="2" indent="-381000"/>
            <a:r>
              <a:rPr lang="en-US" altLang="en-US"/>
              <a:t>Translator programs (compilers)</a:t>
            </a:r>
          </a:p>
          <a:p>
            <a:pPr marL="1752600" lvl="3" indent="-381000"/>
            <a:r>
              <a:rPr lang="en-US" altLang="en-US"/>
              <a:t>Convert to machine language</a:t>
            </a:r>
          </a:p>
          <a:p>
            <a:pPr marL="1295400" lvl="2" indent="-381000"/>
            <a:r>
              <a:rPr lang="en-US" altLang="en-US"/>
              <a:t>Interpreter programs</a:t>
            </a:r>
          </a:p>
          <a:p>
            <a:pPr marL="1752600" lvl="3" indent="-381000"/>
            <a:r>
              <a:rPr lang="en-US" altLang="en-US"/>
              <a:t>Directly execute high-level language programs</a:t>
            </a:r>
          </a:p>
          <a:p>
            <a:pPr marL="1295400" lvl="2" indent="-381000"/>
            <a:r>
              <a:rPr lang="en-US" altLang="en-US"/>
              <a:t>Example:</a:t>
            </a:r>
          </a:p>
          <a:p>
            <a:pPr marL="1752600" lvl="3" indent="-381000">
              <a:buNone/>
            </a:pPr>
            <a:r>
              <a:rPr lang="en-US" altLang="en-US" b="1">
                <a:latin typeface="Courier New" panose="02070309020205020404" pitchFamily="49" charset="0"/>
              </a:rPr>
              <a:t>	grossPay = basePay + overTimePay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326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A9488-461A-4732-972D-C0A19AF889B9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C and C++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History of C</a:t>
            </a:r>
          </a:p>
          <a:p>
            <a:pPr lvl="1"/>
            <a:r>
              <a:rPr lang="en-US" altLang="en-US"/>
              <a:t>Evolved from two other programming languages</a:t>
            </a:r>
          </a:p>
          <a:p>
            <a:pPr lvl="2"/>
            <a:r>
              <a:rPr lang="en-US" altLang="en-US"/>
              <a:t>BCPL and B</a:t>
            </a:r>
          </a:p>
          <a:p>
            <a:pPr lvl="3"/>
            <a:r>
              <a:rPr lang="en-US" altLang="en-US"/>
              <a:t>“Typeless” languages</a:t>
            </a:r>
          </a:p>
          <a:p>
            <a:pPr lvl="1"/>
            <a:r>
              <a:rPr lang="en-US" altLang="en-US"/>
              <a:t>Dennis Ritchie (Bell Laboratories)</a:t>
            </a:r>
          </a:p>
          <a:p>
            <a:pPr lvl="2"/>
            <a:r>
              <a:rPr lang="en-US" altLang="en-US"/>
              <a:t>Added data typing, other features</a:t>
            </a:r>
          </a:p>
          <a:p>
            <a:pPr lvl="1"/>
            <a:r>
              <a:rPr lang="en-US" altLang="en-US"/>
              <a:t>Development language of UNIX</a:t>
            </a:r>
          </a:p>
          <a:p>
            <a:pPr lvl="1"/>
            <a:r>
              <a:rPr lang="en-US" altLang="en-US"/>
              <a:t>Hardware independent</a:t>
            </a:r>
          </a:p>
          <a:p>
            <a:pPr lvl="2"/>
            <a:r>
              <a:rPr lang="en-US" altLang="en-US"/>
              <a:t>Portable programs</a:t>
            </a:r>
          </a:p>
          <a:p>
            <a:pPr lvl="1"/>
            <a:r>
              <a:rPr lang="en-US" altLang="en-US"/>
              <a:t>1989: ANSI standard</a:t>
            </a:r>
          </a:p>
          <a:p>
            <a:pPr lvl="1"/>
            <a:r>
              <a:rPr lang="en-US" altLang="en-US"/>
              <a:t>1990: ANSI and ISO standard published</a:t>
            </a:r>
          </a:p>
          <a:p>
            <a:pPr lvl="2"/>
            <a:r>
              <a:rPr lang="en-US" altLang="en-US"/>
              <a:t>ANSI/ISO 9899: 1990</a:t>
            </a:r>
          </a:p>
        </p:txBody>
      </p:sp>
    </p:spTree>
    <p:extLst>
      <p:ext uri="{BB962C8B-B14F-4D97-AF65-F5344CB8AC3E}">
        <p14:creationId xmlns:p14="http://schemas.microsoft.com/office/powerpoint/2010/main" val="181691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5C30-BA37-426F-8B47-5C1F0DC6F68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C and C++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History of C++ </a:t>
            </a:r>
          </a:p>
          <a:p>
            <a:pPr lvl="1"/>
            <a:r>
              <a:rPr lang="en-US" altLang="en-US"/>
              <a:t>Extension of C</a:t>
            </a:r>
          </a:p>
          <a:p>
            <a:pPr lvl="1"/>
            <a:r>
              <a:rPr lang="en-US" altLang="en-US"/>
              <a:t>Early 1980s: Bjarne Stroustrup (Bell Laboratories)</a:t>
            </a:r>
          </a:p>
          <a:p>
            <a:pPr lvl="1"/>
            <a:r>
              <a:rPr lang="en-US" altLang="en-US"/>
              <a:t>Provides capabilities for object-oriented programming</a:t>
            </a:r>
          </a:p>
          <a:p>
            <a:pPr lvl="2"/>
            <a:r>
              <a:rPr lang="en-US" altLang="en-US"/>
              <a:t>Objects: reusable software components </a:t>
            </a:r>
          </a:p>
          <a:p>
            <a:pPr lvl="3"/>
            <a:r>
              <a:rPr lang="en-US" altLang="en-US"/>
              <a:t>Model items in real world</a:t>
            </a:r>
          </a:p>
          <a:p>
            <a:pPr lvl="2"/>
            <a:r>
              <a:rPr lang="en-US" altLang="en-US"/>
              <a:t>Object-oriented programs</a:t>
            </a:r>
          </a:p>
          <a:p>
            <a:pPr lvl="3"/>
            <a:r>
              <a:rPr lang="en-US" altLang="en-US"/>
              <a:t>Easy to understand, correct and modify</a:t>
            </a:r>
          </a:p>
          <a:p>
            <a:pPr lvl="1"/>
            <a:r>
              <a:rPr lang="en-US" altLang="en-US"/>
              <a:t>Hybrid language</a:t>
            </a:r>
          </a:p>
          <a:p>
            <a:pPr lvl="2"/>
            <a:r>
              <a:rPr lang="en-US" altLang="en-US"/>
              <a:t>C-like style</a:t>
            </a:r>
          </a:p>
          <a:p>
            <a:pPr lvl="2"/>
            <a:r>
              <a:rPr lang="en-US" altLang="en-US"/>
              <a:t>Object-oriented style</a:t>
            </a:r>
          </a:p>
          <a:p>
            <a:pPr lvl="2"/>
            <a:r>
              <a:rPr lang="en-US" altLang="en-US"/>
              <a:t>Both</a:t>
            </a:r>
          </a:p>
        </p:txBody>
      </p:sp>
    </p:spTree>
    <p:extLst>
      <p:ext uri="{BB962C8B-B14F-4D97-AF65-F5344CB8AC3E}">
        <p14:creationId xmlns:p14="http://schemas.microsoft.com/office/powerpoint/2010/main" val="306002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D8939-BDC4-4972-9A00-D4A1F57EBF86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C++ Standard Library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C++ programs</a:t>
            </a:r>
          </a:p>
          <a:p>
            <a:pPr lvl="1"/>
            <a:r>
              <a:rPr lang="en-US" altLang="en-US"/>
              <a:t>Built from pieces called classes and functions</a:t>
            </a:r>
          </a:p>
          <a:p>
            <a:r>
              <a:rPr lang="en-US" altLang="en-US"/>
              <a:t>C++ standard library</a:t>
            </a:r>
          </a:p>
          <a:p>
            <a:pPr lvl="1"/>
            <a:r>
              <a:rPr lang="en-US" altLang="en-US"/>
              <a:t>Rich collections of existing classes and functions</a:t>
            </a:r>
          </a:p>
          <a:p>
            <a:r>
              <a:rPr lang="en-US" altLang="en-US"/>
              <a:t>“Building block approach” to creating programs</a:t>
            </a:r>
          </a:p>
          <a:p>
            <a:pPr lvl="1"/>
            <a:r>
              <a:rPr lang="en-US" altLang="en-US"/>
              <a:t>“Software reuse”</a:t>
            </a:r>
          </a:p>
        </p:txBody>
      </p:sp>
    </p:spTree>
    <p:extLst>
      <p:ext uri="{BB962C8B-B14F-4D97-AF65-F5344CB8AC3E}">
        <p14:creationId xmlns:p14="http://schemas.microsoft.com/office/powerpoint/2010/main" val="25259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F6F75-4797-4FBD-A8CD-7EF2067966F1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Java </a:t>
            </a:r>
          </a:p>
          <a:p>
            <a:pPr lvl="1"/>
            <a:r>
              <a:rPr lang="en-US" altLang="en-US"/>
              <a:t>1991: Sun Microsystems </a:t>
            </a:r>
          </a:p>
          <a:p>
            <a:pPr lvl="2"/>
            <a:r>
              <a:rPr lang="en-US" altLang="en-US"/>
              <a:t>Green project</a:t>
            </a:r>
          </a:p>
          <a:p>
            <a:pPr lvl="1"/>
            <a:r>
              <a:rPr lang="en-US" altLang="en-US"/>
              <a:t>1995: Sun Microsystems</a:t>
            </a:r>
          </a:p>
          <a:p>
            <a:pPr lvl="2"/>
            <a:r>
              <a:rPr lang="en-US" altLang="en-US"/>
              <a:t>Formally announced Java at trade show</a:t>
            </a:r>
          </a:p>
          <a:p>
            <a:pPr lvl="1"/>
            <a:r>
              <a:rPr lang="en-US" altLang="en-US"/>
              <a:t>Web pages with dynamic and interactive content</a:t>
            </a:r>
          </a:p>
          <a:p>
            <a:pPr lvl="1"/>
            <a:r>
              <a:rPr lang="en-US" altLang="en-US"/>
              <a:t>Develop large-scale enterprise applications</a:t>
            </a:r>
          </a:p>
          <a:p>
            <a:pPr lvl="1"/>
            <a:r>
              <a:rPr lang="en-US" altLang="en-US"/>
              <a:t>Enhance functionality of web servers</a:t>
            </a:r>
          </a:p>
          <a:p>
            <a:pPr lvl="1"/>
            <a:r>
              <a:rPr lang="en-US" altLang="en-US"/>
              <a:t>Provide applications for consumer devices </a:t>
            </a:r>
          </a:p>
          <a:p>
            <a:pPr lvl="2"/>
            <a:r>
              <a:rPr lang="en-US" altLang="en-US"/>
              <a:t>Cell phones, pagers, personal digital assistants, …</a:t>
            </a:r>
          </a:p>
        </p:txBody>
      </p:sp>
    </p:spTree>
    <p:extLst>
      <p:ext uri="{BB962C8B-B14F-4D97-AF65-F5344CB8AC3E}">
        <p14:creationId xmlns:p14="http://schemas.microsoft.com/office/powerpoint/2010/main" val="282001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BB33B-3CA5-4919-B09A-5C1703EA272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Structured Programming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Structured programming (1960s)</a:t>
            </a:r>
          </a:p>
          <a:p>
            <a:pPr lvl="1"/>
            <a:r>
              <a:rPr lang="en-US" altLang="en-US"/>
              <a:t>Disciplined approach to writing programs</a:t>
            </a:r>
          </a:p>
          <a:p>
            <a:pPr lvl="1"/>
            <a:r>
              <a:rPr lang="en-US" altLang="en-US"/>
              <a:t>Clear, easy to test and debug, and easy to modify</a:t>
            </a:r>
          </a:p>
          <a:p>
            <a:r>
              <a:rPr lang="en-US" altLang="en-US"/>
              <a:t>Pascal</a:t>
            </a:r>
          </a:p>
          <a:p>
            <a:pPr lvl="1"/>
            <a:r>
              <a:rPr lang="en-US" altLang="en-US"/>
              <a:t>1971: Niklaus Wirth</a:t>
            </a:r>
          </a:p>
          <a:p>
            <a:r>
              <a:rPr lang="en-US" altLang="en-US"/>
              <a:t>Ada</a:t>
            </a:r>
          </a:p>
          <a:p>
            <a:pPr lvl="1"/>
            <a:r>
              <a:rPr lang="en-US" altLang="en-US"/>
              <a:t>1970s - early 1980s: US Department of Defense (DoD)</a:t>
            </a:r>
          </a:p>
          <a:p>
            <a:pPr lvl="1"/>
            <a:r>
              <a:rPr lang="en-US" altLang="en-US"/>
              <a:t>Multitasking</a:t>
            </a:r>
          </a:p>
          <a:p>
            <a:pPr lvl="2"/>
            <a:r>
              <a:rPr lang="en-US" altLang="en-US"/>
              <a:t>Programmer can specify many activities to run in parallel </a:t>
            </a:r>
          </a:p>
        </p:txBody>
      </p:sp>
    </p:spTree>
    <p:extLst>
      <p:ext uri="{BB962C8B-B14F-4D97-AF65-F5344CB8AC3E}">
        <p14:creationId xmlns:p14="http://schemas.microsoft.com/office/powerpoint/2010/main" val="256931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6E84-C4F6-4F4A-9E12-96D613110AB8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Key Software Trend: Object Technology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Objects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Reusable software components that model real world items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Meaningful software units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Date objects, time objects, paycheck objects, invoice objects, audio objects, video objects, file objects, record objects, etc.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Any noun can be represented as an object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More understandable, better organized and easier to maintain than procedural programming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Favor modularity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Software reuse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Libraries</a:t>
            </a:r>
          </a:p>
          <a:p>
            <a:pPr lvl="4">
              <a:lnSpc>
                <a:spcPct val="90000"/>
              </a:lnSpc>
            </a:pPr>
            <a:r>
              <a:rPr lang="en-US" altLang="en-US"/>
              <a:t>MFC (Microsoft Foundation Classes)</a:t>
            </a:r>
          </a:p>
          <a:p>
            <a:pPr lvl="4">
              <a:lnSpc>
                <a:spcPct val="90000"/>
              </a:lnSpc>
            </a:pPr>
            <a:r>
              <a:rPr lang="en-US" altLang="en-US"/>
              <a:t>Rogue Wave</a:t>
            </a:r>
          </a:p>
        </p:txBody>
      </p:sp>
    </p:spTree>
    <p:extLst>
      <p:ext uri="{BB962C8B-B14F-4D97-AF65-F5344CB8AC3E}">
        <p14:creationId xmlns:p14="http://schemas.microsoft.com/office/powerpoint/2010/main" val="377767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49547-BA43-468B-8967-9D189767E69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Basics of a Typical C++ Environment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C++ systems</a:t>
            </a:r>
          </a:p>
          <a:p>
            <a:pPr lvl="1"/>
            <a:r>
              <a:rPr lang="en-US" altLang="en-US"/>
              <a:t>Program-development environment</a:t>
            </a:r>
          </a:p>
          <a:p>
            <a:pPr lvl="1"/>
            <a:r>
              <a:rPr lang="en-US" altLang="en-US"/>
              <a:t>Language</a:t>
            </a:r>
          </a:p>
          <a:p>
            <a:pPr lvl="1"/>
            <a:r>
              <a:rPr lang="en-US" altLang="en-US"/>
              <a:t>C++ Standard Library</a:t>
            </a:r>
          </a:p>
          <a:p>
            <a:r>
              <a:rPr lang="en-US" altLang="en-US"/>
              <a:t>C++ program names extensions</a:t>
            </a:r>
          </a:p>
          <a:p>
            <a:pPr lvl="1"/>
            <a:r>
              <a:rPr lang="en-US" altLang="en-US"/>
              <a:t>.cpp</a:t>
            </a:r>
          </a:p>
          <a:p>
            <a:pPr lvl="1"/>
            <a:r>
              <a:rPr lang="en-US" altLang="en-US"/>
              <a:t>.cxx</a:t>
            </a:r>
          </a:p>
          <a:p>
            <a:pPr lvl="1"/>
            <a:r>
              <a:rPr lang="en-US" altLang="en-US"/>
              <a:t>.cc</a:t>
            </a:r>
          </a:p>
          <a:p>
            <a:pPr lvl="1"/>
            <a:r>
              <a:rPr lang="en-US" altLang="en-US"/>
              <a:t>.C</a:t>
            </a:r>
          </a:p>
        </p:txBody>
      </p:sp>
    </p:spTree>
    <p:extLst>
      <p:ext uri="{BB962C8B-B14F-4D97-AF65-F5344CB8AC3E}">
        <p14:creationId xmlns:p14="http://schemas.microsoft.com/office/powerpoint/2010/main" val="307038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54CB7D-8773-443D-A0A0-D0F0FBEA611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Basics of a Typical C++ Environment</a:t>
            </a: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2209801" y="1143001"/>
            <a:ext cx="3959225" cy="3719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</a:rPr>
              <a:t>Phases of C++ Programs</a:t>
            </a:r>
            <a:r>
              <a:rPr lang="en-US" altLang="en-US" sz="2800">
                <a:solidFill>
                  <a:srgbClr val="000000"/>
                </a:solidFill>
              </a:rPr>
              <a:t>: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en-US" altLang="en-US" sz="2000">
                <a:solidFill>
                  <a:srgbClr val="000000"/>
                </a:solidFill>
              </a:rPr>
              <a:t>Edit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en-US" altLang="en-US" sz="2000">
                <a:solidFill>
                  <a:srgbClr val="000000"/>
                </a:solidFill>
              </a:rPr>
              <a:t>Preprocess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en-US" altLang="en-US" sz="2000">
                <a:solidFill>
                  <a:srgbClr val="000000"/>
                </a:solidFill>
              </a:rPr>
              <a:t>Compile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en-US" altLang="en-US" sz="2000">
                <a:solidFill>
                  <a:srgbClr val="000000"/>
                </a:solidFill>
              </a:rPr>
              <a:t>Link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en-US" altLang="en-US" sz="2000">
                <a:solidFill>
                  <a:srgbClr val="000000"/>
                </a:solidFill>
              </a:rPr>
              <a:t>Load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en-US" altLang="en-US" sz="2000">
                <a:solidFill>
                  <a:srgbClr val="000000"/>
                </a:solidFill>
              </a:rPr>
              <a:t>Execute </a:t>
            </a:r>
          </a:p>
          <a:p>
            <a:pPr>
              <a:spcBef>
                <a:spcPct val="50000"/>
              </a:spcBef>
            </a:pPr>
            <a:endParaRPr lang="en-US" altLang="en-US" sz="2000">
              <a:solidFill>
                <a:srgbClr val="000000"/>
              </a:solidFill>
            </a:endParaRPr>
          </a:p>
        </p:txBody>
      </p:sp>
      <p:grpSp>
        <p:nvGrpSpPr>
          <p:cNvPr id="182429" name="Group 157"/>
          <p:cNvGrpSpPr>
            <a:grpSpLocks/>
          </p:cNvGrpSpPr>
          <p:nvPr/>
        </p:nvGrpSpPr>
        <p:grpSpPr bwMode="auto">
          <a:xfrm>
            <a:off x="5711825" y="1209676"/>
            <a:ext cx="4656138" cy="5572125"/>
            <a:chOff x="2638" y="762"/>
            <a:chExt cx="2933" cy="3510"/>
          </a:xfrm>
        </p:grpSpPr>
        <p:sp>
          <p:nvSpPr>
            <p:cNvPr id="182277" name="Freeform 5"/>
            <p:cNvSpPr>
              <a:spLocks/>
            </p:cNvSpPr>
            <p:nvPr/>
          </p:nvSpPr>
          <p:spPr bwMode="auto">
            <a:xfrm>
              <a:off x="2638" y="2381"/>
              <a:ext cx="756" cy="288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78" name="Freeform 6"/>
            <p:cNvSpPr>
              <a:spLocks/>
            </p:cNvSpPr>
            <p:nvPr/>
          </p:nvSpPr>
          <p:spPr bwMode="auto">
            <a:xfrm>
              <a:off x="2638" y="1545"/>
              <a:ext cx="756" cy="288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4DB3E6"/>
            </a:solidFill>
            <a:ln w="3175">
              <a:solidFill>
                <a:srgbClr val="4DB3E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79" name="Freeform 7"/>
            <p:cNvSpPr>
              <a:spLocks/>
            </p:cNvSpPr>
            <p:nvPr/>
          </p:nvSpPr>
          <p:spPr bwMode="auto">
            <a:xfrm>
              <a:off x="2638" y="2381"/>
              <a:ext cx="756" cy="288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80" name="Rectangle 8"/>
            <p:cNvSpPr>
              <a:spLocks noChangeArrowheads="1"/>
            </p:cNvSpPr>
            <p:nvPr/>
          </p:nvSpPr>
          <p:spPr bwMode="auto">
            <a:xfrm>
              <a:off x="2844" y="2472"/>
              <a:ext cx="342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Mincho" charset="-128"/>
                </a:rPr>
                <a:t>Loader</a:t>
              </a:r>
              <a:endPara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endParaRPr lang="en-US" altLang="en-US" sz="2400">
                <a:latin typeface="Times New Roman" panose="02020603050405020304" pitchFamily="18" charset="0"/>
                <a:ea typeface="Mincho" charset="-128"/>
              </a:endParaRPr>
            </a:p>
          </p:txBody>
        </p:sp>
        <p:sp>
          <p:nvSpPr>
            <p:cNvPr id="182281" name="Freeform 9"/>
            <p:cNvSpPr>
              <a:spLocks/>
            </p:cNvSpPr>
            <p:nvPr/>
          </p:nvSpPr>
          <p:spPr bwMode="auto">
            <a:xfrm>
              <a:off x="3396" y="912"/>
              <a:ext cx="324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82" name="Freeform 10"/>
            <p:cNvSpPr>
              <a:spLocks/>
            </p:cNvSpPr>
            <p:nvPr/>
          </p:nvSpPr>
          <p:spPr bwMode="auto">
            <a:xfrm>
              <a:off x="3396" y="1305"/>
              <a:ext cx="324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83" name="Freeform 11"/>
            <p:cNvSpPr>
              <a:spLocks/>
            </p:cNvSpPr>
            <p:nvPr/>
          </p:nvSpPr>
          <p:spPr bwMode="auto">
            <a:xfrm>
              <a:off x="3396" y="2525"/>
              <a:ext cx="324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84" name="Rectangle 12"/>
            <p:cNvSpPr>
              <a:spLocks noChangeArrowheads="1"/>
            </p:cNvSpPr>
            <p:nvPr/>
          </p:nvSpPr>
          <p:spPr bwMode="auto">
            <a:xfrm>
              <a:off x="3720" y="2310"/>
              <a:ext cx="486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indent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900">
                  <a:solidFill>
                    <a:srgbClr val="000000"/>
                  </a:solidFill>
                  <a:latin typeface="AvantGarde" pitchFamily="34" charset="0"/>
                </a:rPr>
                <a:t>Primary</a:t>
              </a:r>
              <a:endParaRPr lang="en-US" altLang="en-US" sz="1000">
                <a:solidFill>
                  <a:srgbClr val="000000"/>
                </a:solidFill>
                <a:latin typeface="Times" panose="02020603050405020304" pitchFamily="18" charset="0"/>
              </a:endParaRPr>
            </a:p>
            <a:p>
              <a:pPr algn="ctr"/>
              <a:r>
                <a:rPr lang="en-US" altLang="en-US" sz="900">
                  <a:solidFill>
                    <a:srgbClr val="000000"/>
                  </a:solidFill>
                  <a:latin typeface="AvantGarde" pitchFamily="34" charset="0"/>
                </a:rPr>
                <a:t>Memory</a:t>
              </a:r>
              <a:endParaRPr lang="en-US" altLang="en-US" sz="1000">
                <a:solidFill>
                  <a:srgbClr val="000000"/>
                </a:solidFill>
                <a:latin typeface="Times" panose="02020603050405020304" pitchFamily="18" charset="0"/>
              </a:endParaRPr>
            </a:p>
            <a:p>
              <a:endParaRPr lang="en-US" altLang="en-US"/>
            </a:p>
          </p:txBody>
        </p:sp>
        <p:sp>
          <p:nvSpPr>
            <p:cNvPr id="182285" name="Freeform 13"/>
            <p:cNvSpPr>
              <a:spLocks/>
            </p:cNvSpPr>
            <p:nvPr/>
          </p:nvSpPr>
          <p:spPr bwMode="auto">
            <a:xfrm>
              <a:off x="3396" y="3533"/>
              <a:ext cx="324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2286" name="Group 14"/>
            <p:cNvGrpSpPr>
              <a:grpSpLocks/>
            </p:cNvGrpSpPr>
            <p:nvPr/>
          </p:nvGrpSpPr>
          <p:grpSpPr bwMode="auto">
            <a:xfrm>
              <a:off x="4260" y="2304"/>
              <a:ext cx="108" cy="960"/>
              <a:chOff x="0" y="0"/>
              <a:chExt cx="19999" cy="19999"/>
            </a:xfrm>
          </p:grpSpPr>
          <p:sp>
            <p:nvSpPr>
              <p:cNvPr id="182287" name="Arc 15"/>
              <p:cNvSpPr>
                <a:spLocks/>
              </p:cNvSpPr>
              <p:nvPr/>
            </p:nvSpPr>
            <p:spPr bwMode="auto">
              <a:xfrm>
                <a:off x="0" y="0"/>
                <a:ext cx="10041" cy="50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88" name="Arc 16"/>
              <p:cNvSpPr>
                <a:spLocks/>
              </p:cNvSpPr>
              <p:nvPr/>
            </p:nvSpPr>
            <p:spPr bwMode="auto">
              <a:xfrm flipV="1">
                <a:off x="0" y="14993"/>
                <a:ext cx="10041" cy="50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89" name="Arc 17"/>
              <p:cNvSpPr>
                <a:spLocks/>
              </p:cNvSpPr>
              <p:nvPr/>
            </p:nvSpPr>
            <p:spPr bwMode="auto">
              <a:xfrm flipH="1">
                <a:off x="9958" y="9995"/>
                <a:ext cx="10041" cy="50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0" name="Arc 18"/>
              <p:cNvSpPr>
                <a:spLocks/>
              </p:cNvSpPr>
              <p:nvPr/>
            </p:nvSpPr>
            <p:spPr bwMode="auto">
              <a:xfrm flipH="1" flipV="1">
                <a:off x="9958" y="4998"/>
                <a:ext cx="10041" cy="50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291" name="Group 19"/>
            <p:cNvGrpSpPr>
              <a:grpSpLocks/>
            </p:cNvGrpSpPr>
            <p:nvPr/>
          </p:nvGrpSpPr>
          <p:grpSpPr bwMode="auto">
            <a:xfrm>
              <a:off x="4260" y="3312"/>
              <a:ext cx="108" cy="960"/>
              <a:chOff x="0" y="0"/>
              <a:chExt cx="19999" cy="19999"/>
            </a:xfrm>
          </p:grpSpPr>
          <p:sp>
            <p:nvSpPr>
              <p:cNvPr id="182292" name="Arc 20"/>
              <p:cNvSpPr>
                <a:spLocks/>
              </p:cNvSpPr>
              <p:nvPr/>
            </p:nvSpPr>
            <p:spPr bwMode="auto">
              <a:xfrm>
                <a:off x="0" y="0"/>
                <a:ext cx="10041" cy="50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3" name="Arc 21"/>
              <p:cNvSpPr>
                <a:spLocks/>
              </p:cNvSpPr>
              <p:nvPr/>
            </p:nvSpPr>
            <p:spPr bwMode="auto">
              <a:xfrm flipV="1">
                <a:off x="0" y="14993"/>
                <a:ext cx="10041" cy="50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4" name="Arc 22"/>
              <p:cNvSpPr>
                <a:spLocks/>
              </p:cNvSpPr>
              <p:nvPr/>
            </p:nvSpPr>
            <p:spPr bwMode="auto">
              <a:xfrm flipH="1">
                <a:off x="9958" y="9995"/>
                <a:ext cx="10041" cy="50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5" name="Arc 23"/>
              <p:cNvSpPr>
                <a:spLocks/>
              </p:cNvSpPr>
              <p:nvPr/>
            </p:nvSpPr>
            <p:spPr bwMode="auto">
              <a:xfrm flipH="1" flipV="1">
                <a:off x="9958" y="4998"/>
                <a:ext cx="10041" cy="500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296" name="Group 24"/>
            <p:cNvGrpSpPr>
              <a:grpSpLocks/>
            </p:cNvGrpSpPr>
            <p:nvPr/>
          </p:nvGrpSpPr>
          <p:grpSpPr bwMode="auto">
            <a:xfrm>
              <a:off x="4260" y="768"/>
              <a:ext cx="108" cy="288"/>
              <a:chOff x="0" y="0"/>
              <a:chExt cx="19999" cy="20001"/>
            </a:xfrm>
          </p:grpSpPr>
          <p:sp>
            <p:nvSpPr>
              <p:cNvPr id="182297" name="Arc 25"/>
              <p:cNvSpPr>
                <a:spLocks/>
              </p:cNvSpPr>
              <p:nvPr/>
            </p:nvSpPr>
            <p:spPr bwMode="auto">
              <a:xfrm>
                <a:off x="0" y="0"/>
                <a:ext cx="10041" cy="50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8" name="Arc 26"/>
              <p:cNvSpPr>
                <a:spLocks/>
              </p:cNvSpPr>
              <p:nvPr/>
            </p:nvSpPr>
            <p:spPr bwMode="auto">
              <a:xfrm flipV="1">
                <a:off x="0" y="14980"/>
                <a:ext cx="10041" cy="50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99" name="Arc 27"/>
              <p:cNvSpPr>
                <a:spLocks/>
              </p:cNvSpPr>
              <p:nvPr/>
            </p:nvSpPr>
            <p:spPr bwMode="auto">
              <a:xfrm flipH="1">
                <a:off x="9958" y="9987"/>
                <a:ext cx="10041" cy="50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00" name="Arc 28"/>
              <p:cNvSpPr>
                <a:spLocks/>
              </p:cNvSpPr>
              <p:nvPr/>
            </p:nvSpPr>
            <p:spPr bwMode="auto">
              <a:xfrm flipH="1" flipV="1">
                <a:off x="9958" y="4993"/>
                <a:ext cx="10041" cy="50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2301" name="Arc 29"/>
            <p:cNvSpPr>
              <a:spLocks/>
            </p:cNvSpPr>
            <p:nvPr/>
          </p:nvSpPr>
          <p:spPr bwMode="auto">
            <a:xfrm>
              <a:off x="4260" y="1155"/>
              <a:ext cx="54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02" name="Arc 30"/>
            <p:cNvSpPr>
              <a:spLocks/>
            </p:cNvSpPr>
            <p:nvPr/>
          </p:nvSpPr>
          <p:spPr bwMode="auto">
            <a:xfrm flipV="1">
              <a:off x="4260" y="1371"/>
              <a:ext cx="54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03" name="Arc 31"/>
            <p:cNvSpPr>
              <a:spLocks/>
            </p:cNvSpPr>
            <p:nvPr/>
          </p:nvSpPr>
          <p:spPr bwMode="auto">
            <a:xfrm flipH="1">
              <a:off x="4314" y="1299"/>
              <a:ext cx="54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04" name="Arc 32"/>
            <p:cNvSpPr>
              <a:spLocks/>
            </p:cNvSpPr>
            <p:nvPr/>
          </p:nvSpPr>
          <p:spPr bwMode="auto">
            <a:xfrm flipH="1" flipV="1">
              <a:off x="4314" y="1227"/>
              <a:ext cx="54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05" name="Rectangle 33"/>
            <p:cNvSpPr>
              <a:spLocks noChangeArrowheads="1"/>
            </p:cNvSpPr>
            <p:nvPr/>
          </p:nvSpPr>
          <p:spPr bwMode="auto">
            <a:xfrm>
              <a:off x="4419" y="787"/>
              <a:ext cx="114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1" hangingPunct="1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Program is created in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the editor and stored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on disk.</a:t>
              </a:r>
            </a:p>
            <a:p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06" name="Rectangle 34"/>
            <p:cNvSpPr>
              <a:spLocks noChangeArrowheads="1"/>
            </p:cNvSpPr>
            <p:nvPr/>
          </p:nvSpPr>
          <p:spPr bwMode="auto">
            <a:xfrm>
              <a:off x="4419" y="1218"/>
              <a:ext cx="114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1" hangingPunct="1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Preprocessor program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processes the code.</a:t>
              </a:r>
            </a:p>
            <a:p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07" name="Rectangle 35"/>
            <p:cNvSpPr>
              <a:spLocks noChangeArrowheads="1"/>
            </p:cNvSpPr>
            <p:nvPr/>
          </p:nvSpPr>
          <p:spPr bwMode="auto">
            <a:xfrm>
              <a:off x="4422" y="2703"/>
              <a:ext cx="114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1" hangingPunct="1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Loader puts program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in memory.</a:t>
              </a:r>
            </a:p>
            <a:p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08" name="Rectangle 36"/>
            <p:cNvSpPr>
              <a:spLocks noChangeArrowheads="1"/>
            </p:cNvSpPr>
            <p:nvPr/>
          </p:nvSpPr>
          <p:spPr bwMode="auto">
            <a:xfrm>
              <a:off x="4419" y="3518"/>
              <a:ext cx="1149" cy="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1" hangingPunct="1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CPU takes each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instruction and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executes it, possibly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storing new data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values as the program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executes.</a:t>
              </a:r>
            </a:p>
            <a:p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09" name="Freeform 37"/>
            <p:cNvSpPr>
              <a:spLocks/>
            </p:cNvSpPr>
            <p:nvPr/>
          </p:nvSpPr>
          <p:spPr bwMode="auto">
            <a:xfrm>
              <a:off x="2638" y="1545"/>
              <a:ext cx="756" cy="288"/>
            </a:xfrm>
            <a:custGeom>
              <a:avLst/>
              <a:gdLst>
                <a:gd name="T0" fmla="*/ 19988 w 20000"/>
                <a:gd name="T1" fmla="*/ 0 h 20000"/>
                <a:gd name="T2" fmla="*/ 19988 w 20000"/>
                <a:gd name="T3" fmla="*/ 19972 h 20000"/>
                <a:gd name="T4" fmla="*/ 0 w 20000"/>
                <a:gd name="T5" fmla="*/ 19972 h 20000"/>
                <a:gd name="T6" fmla="*/ 0 w 20000"/>
                <a:gd name="T7" fmla="*/ 0 h 20000"/>
                <a:gd name="T8" fmla="*/ 19988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88" y="0"/>
                  </a:moveTo>
                  <a:lnTo>
                    <a:pt x="19988" y="19972"/>
                  </a:lnTo>
                  <a:lnTo>
                    <a:pt x="0" y="19972"/>
                  </a:lnTo>
                  <a:lnTo>
                    <a:pt x="0" y="0"/>
                  </a:lnTo>
                  <a:lnTo>
                    <a:pt x="19988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10" name="Rectangle 38"/>
            <p:cNvSpPr>
              <a:spLocks noChangeArrowheads="1"/>
            </p:cNvSpPr>
            <p:nvPr/>
          </p:nvSpPr>
          <p:spPr bwMode="auto">
            <a:xfrm>
              <a:off x="2790" y="1635"/>
              <a:ext cx="450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Mincho" charset="-128"/>
                </a:rPr>
                <a:t>Compiler</a:t>
              </a:r>
              <a:endPara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endParaRPr lang="en-US" altLang="en-US" sz="2400">
                <a:latin typeface="Times New Roman" panose="02020603050405020304" pitchFamily="18" charset="0"/>
                <a:ea typeface="Mincho" charset="-128"/>
              </a:endParaRPr>
            </a:p>
          </p:txBody>
        </p:sp>
        <p:sp>
          <p:nvSpPr>
            <p:cNvPr id="182311" name="Freeform 39"/>
            <p:cNvSpPr>
              <a:spLocks/>
            </p:cNvSpPr>
            <p:nvPr/>
          </p:nvSpPr>
          <p:spPr bwMode="auto">
            <a:xfrm>
              <a:off x="3396" y="1689"/>
              <a:ext cx="324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2312" name="Group 40"/>
            <p:cNvGrpSpPr>
              <a:grpSpLocks/>
            </p:cNvGrpSpPr>
            <p:nvPr/>
          </p:nvGrpSpPr>
          <p:grpSpPr bwMode="auto">
            <a:xfrm>
              <a:off x="4260" y="1538"/>
              <a:ext cx="108" cy="288"/>
              <a:chOff x="0" y="0"/>
              <a:chExt cx="19999" cy="20001"/>
            </a:xfrm>
          </p:grpSpPr>
          <p:sp>
            <p:nvSpPr>
              <p:cNvPr id="182313" name="Arc 41"/>
              <p:cNvSpPr>
                <a:spLocks/>
              </p:cNvSpPr>
              <p:nvPr/>
            </p:nvSpPr>
            <p:spPr bwMode="auto">
              <a:xfrm>
                <a:off x="0" y="0"/>
                <a:ext cx="10041" cy="50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14" name="Arc 42"/>
              <p:cNvSpPr>
                <a:spLocks/>
              </p:cNvSpPr>
              <p:nvPr/>
            </p:nvSpPr>
            <p:spPr bwMode="auto">
              <a:xfrm flipV="1">
                <a:off x="0" y="14980"/>
                <a:ext cx="10041" cy="50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15" name="Arc 43"/>
              <p:cNvSpPr>
                <a:spLocks/>
              </p:cNvSpPr>
              <p:nvPr/>
            </p:nvSpPr>
            <p:spPr bwMode="auto">
              <a:xfrm flipH="1">
                <a:off x="9958" y="9987"/>
                <a:ext cx="10041" cy="50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16" name="Arc 44"/>
              <p:cNvSpPr>
                <a:spLocks/>
              </p:cNvSpPr>
              <p:nvPr/>
            </p:nvSpPr>
            <p:spPr bwMode="auto">
              <a:xfrm flipH="1" flipV="1">
                <a:off x="9958" y="4993"/>
                <a:ext cx="10041" cy="50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2317" name="Rectangle 45"/>
            <p:cNvSpPr>
              <a:spLocks noChangeArrowheads="1"/>
            </p:cNvSpPr>
            <p:nvPr/>
          </p:nvSpPr>
          <p:spPr bwMode="auto">
            <a:xfrm>
              <a:off x="4419" y="1520"/>
              <a:ext cx="114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1" hangingPunct="1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Compiler creates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object code and stores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it on disk.</a:t>
              </a:r>
            </a:p>
            <a:p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sp>
          <p:nvSpPr>
            <p:cNvPr id="182318" name="Freeform 46"/>
            <p:cNvSpPr>
              <a:spLocks/>
            </p:cNvSpPr>
            <p:nvPr/>
          </p:nvSpPr>
          <p:spPr bwMode="auto">
            <a:xfrm>
              <a:off x="3396" y="2072"/>
              <a:ext cx="324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19" name="Arc 47"/>
            <p:cNvSpPr>
              <a:spLocks/>
            </p:cNvSpPr>
            <p:nvPr/>
          </p:nvSpPr>
          <p:spPr bwMode="auto">
            <a:xfrm>
              <a:off x="4260" y="1921"/>
              <a:ext cx="54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20" name="Arc 48"/>
            <p:cNvSpPr>
              <a:spLocks/>
            </p:cNvSpPr>
            <p:nvPr/>
          </p:nvSpPr>
          <p:spPr bwMode="auto">
            <a:xfrm flipV="1">
              <a:off x="4260" y="2137"/>
              <a:ext cx="54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21" name="Arc 49"/>
            <p:cNvSpPr>
              <a:spLocks/>
            </p:cNvSpPr>
            <p:nvPr/>
          </p:nvSpPr>
          <p:spPr bwMode="auto">
            <a:xfrm flipH="1">
              <a:off x="4314" y="2065"/>
              <a:ext cx="54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22" name="Arc 50"/>
            <p:cNvSpPr>
              <a:spLocks/>
            </p:cNvSpPr>
            <p:nvPr/>
          </p:nvSpPr>
          <p:spPr bwMode="auto">
            <a:xfrm flipH="1" flipV="1">
              <a:off x="4314" y="1993"/>
              <a:ext cx="54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23" name="Rectangle 51"/>
            <p:cNvSpPr>
              <a:spLocks noChangeArrowheads="1"/>
            </p:cNvSpPr>
            <p:nvPr/>
          </p:nvSpPr>
          <p:spPr bwMode="auto">
            <a:xfrm>
              <a:off x="4419" y="1920"/>
              <a:ext cx="11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1" hangingPunct="1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Linker links the object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code with the libraries,</a:t>
              </a:r>
            </a:p>
            <a:p>
              <a:pPr algn="just"/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creates </a:t>
              </a:r>
              <a:r>
                <a:rPr lang="en-US" altLang="en-US" sz="1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an executable file </a:t>
              </a:r>
              <a:r>
                <a:rPr lang="en-US" altLang="en-US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and stores it on disk</a:t>
              </a:r>
            </a:p>
            <a:p>
              <a:endParaRPr lang="en-US" altLang="en-US" sz="1200" b="1">
                <a:latin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grpSp>
          <p:nvGrpSpPr>
            <p:cNvPr id="182324" name="Group 52"/>
            <p:cNvGrpSpPr>
              <a:grpSpLocks/>
            </p:cNvGrpSpPr>
            <p:nvPr/>
          </p:nvGrpSpPr>
          <p:grpSpPr bwMode="auto">
            <a:xfrm>
              <a:off x="2638" y="762"/>
              <a:ext cx="756" cy="288"/>
              <a:chOff x="0" y="0"/>
              <a:chExt cx="20000" cy="20000"/>
            </a:xfrm>
          </p:grpSpPr>
          <p:sp>
            <p:nvSpPr>
              <p:cNvPr id="182325" name="Freeform 53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8 w 20000"/>
                  <a:gd name="T1" fmla="*/ 0 h 20000"/>
                  <a:gd name="T2" fmla="*/ 19988 w 20000"/>
                  <a:gd name="T3" fmla="*/ 19972 h 20000"/>
                  <a:gd name="T4" fmla="*/ 0 w 20000"/>
                  <a:gd name="T5" fmla="*/ 19972 h 20000"/>
                  <a:gd name="T6" fmla="*/ 0 w 20000"/>
                  <a:gd name="T7" fmla="*/ 0 h 20000"/>
                  <a:gd name="T8" fmla="*/ 19988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8" y="0"/>
                    </a:moveTo>
                    <a:lnTo>
                      <a:pt x="19988" y="19972"/>
                    </a:lnTo>
                    <a:lnTo>
                      <a:pt x="0" y="19972"/>
                    </a:lnTo>
                    <a:lnTo>
                      <a:pt x="0" y="0"/>
                    </a:lnTo>
                    <a:lnTo>
                      <a:pt x="19988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26" name="Freeform 54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8 w 20000"/>
                  <a:gd name="T1" fmla="*/ 0 h 20000"/>
                  <a:gd name="T2" fmla="*/ 19988 w 20000"/>
                  <a:gd name="T3" fmla="*/ 19972 h 20000"/>
                  <a:gd name="T4" fmla="*/ 0 w 20000"/>
                  <a:gd name="T5" fmla="*/ 19972 h 20000"/>
                  <a:gd name="T6" fmla="*/ 0 w 20000"/>
                  <a:gd name="T7" fmla="*/ 0 h 20000"/>
                  <a:gd name="T8" fmla="*/ 19988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8" y="0"/>
                    </a:moveTo>
                    <a:lnTo>
                      <a:pt x="19988" y="19972"/>
                    </a:lnTo>
                    <a:lnTo>
                      <a:pt x="0" y="19972"/>
                    </a:lnTo>
                    <a:lnTo>
                      <a:pt x="0" y="0"/>
                    </a:lnTo>
                    <a:lnTo>
                      <a:pt x="19988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27" name="Rectangle 55"/>
              <p:cNvSpPr>
                <a:spLocks noChangeArrowheads="1"/>
              </p:cNvSpPr>
              <p:nvPr/>
            </p:nvSpPr>
            <p:spPr bwMode="auto">
              <a:xfrm>
                <a:off x="5464" y="6306"/>
                <a:ext cx="9060" cy="7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/>
                <a:r>
                  <a:rPr lang="en-US" altLang="en-US"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Editor</a:t>
                </a:r>
                <a:endPara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altLang="en-US"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</p:grpSp>
        <p:grpSp>
          <p:nvGrpSpPr>
            <p:cNvPr id="182328" name="Group 56"/>
            <p:cNvGrpSpPr>
              <a:grpSpLocks/>
            </p:cNvGrpSpPr>
            <p:nvPr/>
          </p:nvGrpSpPr>
          <p:grpSpPr bwMode="auto">
            <a:xfrm>
              <a:off x="2638" y="1161"/>
              <a:ext cx="756" cy="288"/>
              <a:chOff x="0" y="0"/>
              <a:chExt cx="20000" cy="20000"/>
            </a:xfrm>
          </p:grpSpPr>
          <p:sp>
            <p:nvSpPr>
              <p:cNvPr id="182329" name="Freeform 57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8 w 20000"/>
                  <a:gd name="T1" fmla="*/ 0 h 20000"/>
                  <a:gd name="T2" fmla="*/ 19988 w 20000"/>
                  <a:gd name="T3" fmla="*/ 19972 h 20000"/>
                  <a:gd name="T4" fmla="*/ 0 w 20000"/>
                  <a:gd name="T5" fmla="*/ 19972 h 20000"/>
                  <a:gd name="T6" fmla="*/ 0 w 20000"/>
                  <a:gd name="T7" fmla="*/ 0 h 20000"/>
                  <a:gd name="T8" fmla="*/ 19988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8" y="0"/>
                    </a:moveTo>
                    <a:lnTo>
                      <a:pt x="19988" y="19972"/>
                    </a:lnTo>
                    <a:lnTo>
                      <a:pt x="0" y="19972"/>
                    </a:lnTo>
                    <a:lnTo>
                      <a:pt x="0" y="0"/>
                    </a:lnTo>
                    <a:lnTo>
                      <a:pt x="19988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2330" name="Group 58"/>
              <p:cNvGrpSpPr>
                <a:grpSpLocks/>
              </p:cNvGrpSpPr>
              <p:nvPr/>
            </p:nvGrpSpPr>
            <p:grpSpPr bwMode="auto"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182331" name="Freeform 59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8 w 20000"/>
                    <a:gd name="T1" fmla="*/ 0 h 20000"/>
                    <a:gd name="T2" fmla="*/ 19988 w 20000"/>
                    <a:gd name="T3" fmla="*/ 19972 h 20000"/>
                    <a:gd name="T4" fmla="*/ 0 w 20000"/>
                    <a:gd name="T5" fmla="*/ 19972 h 20000"/>
                    <a:gd name="T6" fmla="*/ 0 w 20000"/>
                    <a:gd name="T7" fmla="*/ 0 h 20000"/>
                    <a:gd name="T8" fmla="*/ 19988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8" y="0"/>
                      </a:moveTo>
                      <a:lnTo>
                        <a:pt x="19988" y="19972"/>
                      </a:lnTo>
                      <a:lnTo>
                        <a:pt x="0" y="19972"/>
                      </a:lnTo>
                      <a:lnTo>
                        <a:pt x="0" y="0"/>
                      </a:lnTo>
                      <a:lnTo>
                        <a:pt x="19988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32" name="Rectangle 60"/>
                <p:cNvSpPr>
                  <a:spLocks noChangeArrowheads="1"/>
                </p:cNvSpPr>
                <p:nvPr/>
              </p:nvSpPr>
              <p:spPr bwMode="auto">
                <a:xfrm>
                  <a:off x="1179" y="5861"/>
                  <a:ext cx="17631" cy="78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/>
                  <a:r>
                    <a:rPr lang="en-US" altLang="en-US" sz="1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Mincho" charset="-128"/>
                    </a:rPr>
                    <a:t>Preprocessor</a:t>
                  </a:r>
                  <a:endParaRPr lang="en-US" altLang="en-US" sz="12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  <a:ea typeface="Mincho" charset="-128"/>
                  </a:endParaRPr>
                </a:p>
              </p:txBody>
            </p:sp>
          </p:grpSp>
        </p:grpSp>
        <p:grpSp>
          <p:nvGrpSpPr>
            <p:cNvPr id="182333" name="Group 61"/>
            <p:cNvGrpSpPr>
              <a:grpSpLocks/>
            </p:cNvGrpSpPr>
            <p:nvPr/>
          </p:nvGrpSpPr>
          <p:grpSpPr bwMode="auto">
            <a:xfrm>
              <a:off x="2638" y="1928"/>
              <a:ext cx="756" cy="288"/>
              <a:chOff x="0" y="0"/>
              <a:chExt cx="20000" cy="20000"/>
            </a:xfrm>
          </p:grpSpPr>
          <p:sp>
            <p:nvSpPr>
              <p:cNvPr id="182334" name="Freeform 62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8 w 20000"/>
                  <a:gd name="T1" fmla="*/ 0 h 20000"/>
                  <a:gd name="T2" fmla="*/ 19988 w 20000"/>
                  <a:gd name="T3" fmla="*/ 19972 h 20000"/>
                  <a:gd name="T4" fmla="*/ 0 w 20000"/>
                  <a:gd name="T5" fmla="*/ 19972 h 20000"/>
                  <a:gd name="T6" fmla="*/ 0 w 20000"/>
                  <a:gd name="T7" fmla="*/ 0 h 20000"/>
                  <a:gd name="T8" fmla="*/ 19988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8" y="0"/>
                    </a:moveTo>
                    <a:lnTo>
                      <a:pt x="19988" y="19972"/>
                    </a:lnTo>
                    <a:lnTo>
                      <a:pt x="0" y="19972"/>
                    </a:lnTo>
                    <a:lnTo>
                      <a:pt x="0" y="0"/>
                    </a:lnTo>
                    <a:lnTo>
                      <a:pt x="19988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2335" name="Group 63"/>
              <p:cNvGrpSpPr>
                <a:grpSpLocks/>
              </p:cNvGrpSpPr>
              <p:nvPr/>
            </p:nvGrpSpPr>
            <p:grpSpPr bwMode="auto"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182336" name="Freeform 64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8 w 20000"/>
                    <a:gd name="T1" fmla="*/ 0 h 20000"/>
                    <a:gd name="T2" fmla="*/ 19988 w 20000"/>
                    <a:gd name="T3" fmla="*/ 19972 h 20000"/>
                    <a:gd name="T4" fmla="*/ 0 w 20000"/>
                    <a:gd name="T5" fmla="*/ 19972 h 20000"/>
                    <a:gd name="T6" fmla="*/ 0 w 20000"/>
                    <a:gd name="T7" fmla="*/ 0 h 20000"/>
                    <a:gd name="T8" fmla="*/ 19988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8" y="0"/>
                      </a:moveTo>
                      <a:lnTo>
                        <a:pt x="19988" y="19972"/>
                      </a:lnTo>
                      <a:lnTo>
                        <a:pt x="0" y="19972"/>
                      </a:lnTo>
                      <a:lnTo>
                        <a:pt x="0" y="0"/>
                      </a:lnTo>
                      <a:lnTo>
                        <a:pt x="19988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37" name="Rectangle 65"/>
                <p:cNvSpPr>
                  <a:spLocks noChangeArrowheads="1"/>
                </p:cNvSpPr>
                <p:nvPr/>
              </p:nvSpPr>
              <p:spPr bwMode="auto">
                <a:xfrm>
                  <a:off x="5464" y="5889"/>
                  <a:ext cx="9060" cy="7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/>
                  <a:r>
                    <a:rPr lang="en-US" altLang="en-US" sz="1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Mincho" charset="-128"/>
                    </a:rPr>
                    <a:t>Linker</a:t>
                  </a:r>
                  <a:endParaRPr lang="en-US" altLang="en-US" sz="12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  <a:ea typeface="Mincho" charset="-128"/>
                  </a:endParaRPr>
                </a:p>
              </p:txBody>
            </p:sp>
          </p:grpSp>
        </p:grpSp>
        <p:grpSp>
          <p:nvGrpSpPr>
            <p:cNvPr id="182338" name="Group 66"/>
            <p:cNvGrpSpPr>
              <a:grpSpLocks/>
            </p:cNvGrpSpPr>
            <p:nvPr/>
          </p:nvGrpSpPr>
          <p:grpSpPr bwMode="auto">
            <a:xfrm>
              <a:off x="2638" y="3389"/>
              <a:ext cx="756" cy="288"/>
              <a:chOff x="0" y="0"/>
              <a:chExt cx="20000" cy="20000"/>
            </a:xfrm>
          </p:grpSpPr>
          <p:grpSp>
            <p:nvGrpSpPr>
              <p:cNvPr id="182339" name="Group 67"/>
              <p:cNvGrpSpPr>
                <a:grpSpLocks/>
              </p:cNvGrpSpPr>
              <p:nvPr/>
            </p:nvGrpSpPr>
            <p:grpSpPr bwMode="auto"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182340" name="Freeform 68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8 w 20000"/>
                    <a:gd name="T1" fmla="*/ 0 h 20000"/>
                    <a:gd name="T2" fmla="*/ 19988 w 20000"/>
                    <a:gd name="T3" fmla="*/ 19972 h 20000"/>
                    <a:gd name="T4" fmla="*/ 0 w 20000"/>
                    <a:gd name="T5" fmla="*/ 19972 h 20000"/>
                    <a:gd name="T6" fmla="*/ 0 w 20000"/>
                    <a:gd name="T7" fmla="*/ 0 h 20000"/>
                    <a:gd name="T8" fmla="*/ 19988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8" y="0"/>
                      </a:moveTo>
                      <a:lnTo>
                        <a:pt x="19988" y="19972"/>
                      </a:lnTo>
                      <a:lnTo>
                        <a:pt x="0" y="19972"/>
                      </a:lnTo>
                      <a:lnTo>
                        <a:pt x="0" y="0"/>
                      </a:lnTo>
                      <a:lnTo>
                        <a:pt x="19988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41" name="Rectangle 69"/>
                <p:cNvSpPr>
                  <a:spLocks noChangeArrowheads="1"/>
                </p:cNvSpPr>
                <p:nvPr/>
              </p:nvSpPr>
              <p:spPr bwMode="auto">
                <a:xfrm>
                  <a:off x="9750" y="12222"/>
                  <a:ext cx="488" cy="2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/>
                  <a:r>
                    <a:rPr lang="en-US" altLang="en-US" sz="1200">
                      <a:latin typeface="Times New Roman" panose="02020603050405020304" pitchFamily="18" charset="0"/>
                    </a:rPr>
                    <a:t> </a:t>
                  </a: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2342" name="Group 70"/>
              <p:cNvGrpSpPr>
                <a:grpSpLocks/>
              </p:cNvGrpSpPr>
              <p:nvPr/>
            </p:nvGrpSpPr>
            <p:grpSpPr bwMode="auto"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182343" name="Freeform 71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8 w 20000"/>
                    <a:gd name="T1" fmla="*/ 0 h 20000"/>
                    <a:gd name="T2" fmla="*/ 19988 w 20000"/>
                    <a:gd name="T3" fmla="*/ 19972 h 20000"/>
                    <a:gd name="T4" fmla="*/ 0 w 20000"/>
                    <a:gd name="T5" fmla="*/ 19972 h 20000"/>
                    <a:gd name="T6" fmla="*/ 0 w 20000"/>
                    <a:gd name="T7" fmla="*/ 0 h 20000"/>
                    <a:gd name="T8" fmla="*/ 19988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8" y="0"/>
                      </a:moveTo>
                      <a:lnTo>
                        <a:pt x="19988" y="19972"/>
                      </a:lnTo>
                      <a:lnTo>
                        <a:pt x="0" y="19972"/>
                      </a:lnTo>
                      <a:lnTo>
                        <a:pt x="0" y="0"/>
                      </a:lnTo>
                      <a:lnTo>
                        <a:pt x="19988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44" name="Rectangle 72"/>
                <p:cNvSpPr>
                  <a:spLocks noChangeArrowheads="1"/>
                </p:cNvSpPr>
                <p:nvPr/>
              </p:nvSpPr>
              <p:spPr bwMode="auto">
                <a:xfrm>
                  <a:off x="7607" y="6667"/>
                  <a:ext cx="4774" cy="7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/>
                  <a:r>
                    <a:rPr lang="en-US" altLang="en-US" sz="1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Mincho" charset="-128"/>
                    </a:rPr>
                    <a:t>CPU</a:t>
                  </a:r>
                  <a:endParaRPr lang="en-US" altLang="en-US" sz="12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  <a:ea typeface="Mincho" charset="-128"/>
                  </a:endParaRPr>
                </a:p>
              </p:txBody>
            </p:sp>
          </p:grpSp>
        </p:grpSp>
        <p:sp>
          <p:nvSpPr>
            <p:cNvPr id="182345" name="Rectangle 73"/>
            <p:cNvSpPr>
              <a:spLocks noChangeArrowheads="1"/>
            </p:cNvSpPr>
            <p:nvPr/>
          </p:nvSpPr>
          <p:spPr bwMode="auto">
            <a:xfrm>
              <a:off x="3720" y="3310"/>
              <a:ext cx="486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indent="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900">
                  <a:solidFill>
                    <a:srgbClr val="000000"/>
                  </a:solidFill>
                  <a:latin typeface="AvantGarde" pitchFamily="34" charset="0"/>
                </a:rPr>
                <a:t>Primary</a:t>
              </a:r>
              <a:endParaRPr lang="en-US" altLang="en-US" sz="1000">
                <a:solidFill>
                  <a:srgbClr val="000000"/>
                </a:solidFill>
                <a:latin typeface="Times" panose="02020603050405020304" pitchFamily="18" charset="0"/>
              </a:endParaRPr>
            </a:p>
            <a:p>
              <a:pPr algn="ctr"/>
              <a:r>
                <a:rPr lang="en-US" altLang="en-US" sz="900">
                  <a:solidFill>
                    <a:srgbClr val="000000"/>
                  </a:solidFill>
                  <a:latin typeface="AvantGarde" pitchFamily="34" charset="0"/>
                </a:rPr>
                <a:t>Memory</a:t>
              </a:r>
              <a:endParaRPr lang="en-US" altLang="en-US" sz="1000">
                <a:solidFill>
                  <a:srgbClr val="000000"/>
                </a:solidFill>
                <a:latin typeface="Times" panose="02020603050405020304" pitchFamily="18" charset="0"/>
              </a:endParaRPr>
            </a:p>
            <a:p>
              <a:endParaRPr lang="en-US" altLang="en-US"/>
            </a:p>
          </p:txBody>
        </p:sp>
        <p:grpSp>
          <p:nvGrpSpPr>
            <p:cNvPr id="182346" name="Group 74"/>
            <p:cNvGrpSpPr>
              <a:grpSpLocks/>
            </p:cNvGrpSpPr>
            <p:nvPr/>
          </p:nvGrpSpPr>
          <p:grpSpPr bwMode="auto">
            <a:xfrm>
              <a:off x="3720" y="3477"/>
              <a:ext cx="487" cy="764"/>
              <a:chOff x="-2" y="1"/>
              <a:chExt cx="20003" cy="19999"/>
            </a:xfrm>
          </p:grpSpPr>
          <p:sp>
            <p:nvSpPr>
              <p:cNvPr id="182347" name="Rectangle 75"/>
              <p:cNvSpPr>
                <a:spLocks noChangeArrowheads="1"/>
              </p:cNvSpPr>
              <p:nvPr/>
            </p:nvSpPr>
            <p:spPr bwMode="auto">
              <a:xfrm>
                <a:off x="8336" y="12593"/>
                <a:ext cx="2237" cy="54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indent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lang="en-US" altLang="en-US" sz="10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  <a:p>
                <a:pPr algn="ctr"/>
                <a:r>
                  <a:rPr lang="en-US" altLang="en-US"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lang="en-US" altLang="en-US" sz="10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  <a:p>
                <a:pPr algn="ctr"/>
                <a:r>
                  <a:rPr lang="en-US" altLang="en-US"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lang="en-US" altLang="en-US" sz="10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  <a:p>
                <a:endParaRPr lang="en-US" altLang="en-US"/>
              </a:p>
            </p:txBody>
          </p:sp>
          <p:sp>
            <p:nvSpPr>
              <p:cNvPr id="182348" name="Freeform 76"/>
              <p:cNvSpPr>
                <a:spLocks/>
              </p:cNvSpPr>
              <p:nvPr/>
            </p:nvSpPr>
            <p:spPr bwMode="auto">
              <a:xfrm>
                <a:off x="-2" y="1"/>
                <a:ext cx="19837" cy="19999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90 h 20000"/>
                  <a:gd name="T4" fmla="*/ 0 w 20000"/>
                  <a:gd name="T5" fmla="*/ 19990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90"/>
                    </a:lnTo>
                    <a:lnTo>
                      <a:pt x="0" y="19990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49" name="Freeform 77"/>
              <p:cNvSpPr>
                <a:spLocks/>
              </p:cNvSpPr>
              <p:nvPr/>
            </p:nvSpPr>
            <p:spPr bwMode="auto">
              <a:xfrm>
                <a:off x="35" y="22"/>
                <a:ext cx="19966" cy="2493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16 h 20000"/>
                  <a:gd name="T4" fmla="*/ 0 w 20000"/>
                  <a:gd name="T5" fmla="*/ 19916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0" name="Freeform 78"/>
              <p:cNvSpPr>
                <a:spLocks/>
              </p:cNvSpPr>
              <p:nvPr/>
            </p:nvSpPr>
            <p:spPr bwMode="auto">
              <a:xfrm>
                <a:off x="35" y="2536"/>
                <a:ext cx="19966" cy="2515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17 h 20000"/>
                  <a:gd name="T4" fmla="*/ 0 w 20000"/>
                  <a:gd name="T5" fmla="*/ 19917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1" name="Freeform 79"/>
              <p:cNvSpPr>
                <a:spLocks/>
              </p:cNvSpPr>
              <p:nvPr/>
            </p:nvSpPr>
            <p:spPr bwMode="auto">
              <a:xfrm>
                <a:off x="35" y="5009"/>
                <a:ext cx="19966" cy="2493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16 h 20000"/>
                  <a:gd name="T4" fmla="*/ 0 w 20000"/>
                  <a:gd name="T5" fmla="*/ 19916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2" name="Freeform 80"/>
              <p:cNvSpPr>
                <a:spLocks/>
              </p:cNvSpPr>
              <p:nvPr/>
            </p:nvSpPr>
            <p:spPr bwMode="auto">
              <a:xfrm>
                <a:off x="35" y="7512"/>
                <a:ext cx="19966" cy="2494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16 h 20000"/>
                  <a:gd name="T4" fmla="*/ 0 w 20000"/>
                  <a:gd name="T5" fmla="*/ 19916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3" name="Freeform 81"/>
              <p:cNvSpPr>
                <a:spLocks/>
              </p:cNvSpPr>
              <p:nvPr/>
            </p:nvSpPr>
            <p:spPr bwMode="auto">
              <a:xfrm>
                <a:off x="35" y="10006"/>
                <a:ext cx="19966" cy="2493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16 h 20000"/>
                  <a:gd name="T4" fmla="*/ 0 w 20000"/>
                  <a:gd name="T5" fmla="*/ 19916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4" name="Freeform 82"/>
              <p:cNvSpPr>
                <a:spLocks/>
              </p:cNvSpPr>
              <p:nvPr/>
            </p:nvSpPr>
            <p:spPr bwMode="auto">
              <a:xfrm>
                <a:off x="35" y="12510"/>
                <a:ext cx="19966" cy="4997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58 h 20000"/>
                  <a:gd name="T4" fmla="*/ 0 w 20000"/>
                  <a:gd name="T5" fmla="*/ 19958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58"/>
                    </a:lnTo>
                    <a:lnTo>
                      <a:pt x="0" y="19958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5" name="Freeform 83"/>
              <p:cNvSpPr>
                <a:spLocks/>
              </p:cNvSpPr>
              <p:nvPr/>
            </p:nvSpPr>
            <p:spPr bwMode="auto">
              <a:xfrm>
                <a:off x="35" y="17507"/>
                <a:ext cx="19966" cy="2493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16 h 20000"/>
                  <a:gd name="T4" fmla="*/ 0 w 20000"/>
                  <a:gd name="T5" fmla="*/ 19916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6" name="Rectangle 84"/>
              <p:cNvSpPr>
                <a:spLocks noChangeArrowheads="1"/>
              </p:cNvSpPr>
              <p:nvPr/>
            </p:nvSpPr>
            <p:spPr bwMode="auto">
              <a:xfrm>
                <a:off x="8890" y="12510"/>
                <a:ext cx="2237" cy="54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indent="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lang="en-US" altLang="en-US" sz="10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  <a:p>
                <a:pPr algn="ctr"/>
                <a:r>
                  <a:rPr lang="en-US" altLang="en-US"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lang="en-US" altLang="en-US" sz="10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  <a:p>
                <a:pPr algn="ctr"/>
                <a:r>
                  <a:rPr lang="en-US" altLang="en-US" sz="700" b="1">
                    <a:solidFill>
                      <a:srgbClr val="000000"/>
                    </a:solidFill>
                    <a:latin typeface="Courier" pitchFamily="49" charset="0"/>
                  </a:rPr>
                  <a:t>.</a:t>
                </a:r>
                <a:endParaRPr lang="en-US" altLang="en-US" sz="10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  <a:p>
                <a:endParaRPr lang="en-US" altLang="en-US"/>
              </a:p>
            </p:txBody>
          </p:sp>
        </p:grpSp>
        <p:grpSp>
          <p:nvGrpSpPr>
            <p:cNvPr id="182357" name="Group 85"/>
            <p:cNvGrpSpPr>
              <a:grpSpLocks/>
            </p:cNvGrpSpPr>
            <p:nvPr/>
          </p:nvGrpSpPr>
          <p:grpSpPr bwMode="auto">
            <a:xfrm>
              <a:off x="3720" y="2477"/>
              <a:ext cx="487" cy="765"/>
              <a:chOff x="0" y="0"/>
              <a:chExt cx="20000" cy="20000"/>
            </a:xfrm>
          </p:grpSpPr>
          <p:sp>
            <p:nvSpPr>
              <p:cNvPr id="182358" name="Freeform 86"/>
              <p:cNvSpPr>
                <a:spLocks/>
              </p:cNvSpPr>
              <p:nvPr/>
            </p:nvSpPr>
            <p:spPr bwMode="auto">
              <a:xfrm>
                <a:off x="0" y="0"/>
                <a:ext cx="19834" cy="19969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90 h 20000"/>
                  <a:gd name="T4" fmla="*/ 0 w 20000"/>
                  <a:gd name="T5" fmla="*/ 19990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90"/>
                    </a:lnTo>
                    <a:lnTo>
                      <a:pt x="0" y="19990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59" name="Freeform 87"/>
              <p:cNvSpPr>
                <a:spLocks/>
              </p:cNvSpPr>
              <p:nvPr/>
            </p:nvSpPr>
            <p:spPr bwMode="auto">
              <a:xfrm>
                <a:off x="37" y="21"/>
                <a:ext cx="19963" cy="2490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16 h 20000"/>
                  <a:gd name="T4" fmla="*/ 0 w 20000"/>
                  <a:gd name="T5" fmla="*/ 19916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16"/>
                    </a:lnTo>
                    <a:lnTo>
                      <a:pt x="0" y="19916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60" name="Freeform 88"/>
              <p:cNvSpPr>
                <a:spLocks/>
              </p:cNvSpPr>
              <p:nvPr/>
            </p:nvSpPr>
            <p:spPr bwMode="auto">
              <a:xfrm>
                <a:off x="37" y="2531"/>
                <a:ext cx="19963" cy="2511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17 h 20000"/>
                  <a:gd name="T4" fmla="*/ 0 w 20000"/>
                  <a:gd name="T5" fmla="*/ 19917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2361" name="Group 89"/>
              <p:cNvGrpSpPr>
                <a:grpSpLocks/>
              </p:cNvGrpSpPr>
              <p:nvPr/>
            </p:nvGrpSpPr>
            <p:grpSpPr bwMode="auto">
              <a:xfrm>
                <a:off x="37" y="5042"/>
                <a:ext cx="19963" cy="14958"/>
                <a:chOff x="-4" y="-1"/>
                <a:chExt cx="20008" cy="20001"/>
              </a:xfrm>
            </p:grpSpPr>
            <p:sp>
              <p:nvSpPr>
                <p:cNvPr id="182362" name="Rectangle 90"/>
                <p:cNvSpPr>
                  <a:spLocks noChangeArrowheads="1"/>
                </p:cNvSpPr>
                <p:nvPr/>
              </p:nvSpPr>
              <p:spPr bwMode="auto">
                <a:xfrm>
                  <a:off x="8314" y="10112"/>
                  <a:ext cx="2242" cy="7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indent="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lang="en-US" altLang="en-US" sz="1000">
                    <a:solidFill>
                      <a:srgbClr val="000000"/>
                    </a:solidFill>
                    <a:latin typeface="Times" panose="02020603050405020304" pitchFamily="18" charset="0"/>
                  </a:endParaRPr>
                </a:p>
                <a:p>
                  <a:pPr algn="ctr"/>
                  <a:r>
                    <a:rPr lang="en-US" altLang="en-US"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lang="en-US" altLang="en-US" sz="1000">
                    <a:solidFill>
                      <a:srgbClr val="000000"/>
                    </a:solidFill>
                    <a:latin typeface="Times" panose="02020603050405020304" pitchFamily="18" charset="0"/>
                  </a:endParaRPr>
                </a:p>
                <a:p>
                  <a:pPr algn="ctr"/>
                  <a:r>
                    <a:rPr lang="en-US" altLang="en-US"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lang="en-US" altLang="en-US" sz="1000">
                    <a:solidFill>
                      <a:srgbClr val="000000"/>
                    </a:solidFill>
                    <a:latin typeface="Times" panose="02020603050405020304" pitchFamily="18" charset="0"/>
                  </a:endParaRPr>
                </a:p>
                <a:p>
                  <a:endParaRPr lang="en-US" altLang="en-US"/>
                </a:p>
              </p:txBody>
            </p:sp>
            <p:sp>
              <p:nvSpPr>
                <p:cNvPr id="182363" name="Freeform 91"/>
                <p:cNvSpPr>
                  <a:spLocks/>
                </p:cNvSpPr>
                <p:nvPr/>
              </p:nvSpPr>
              <p:spPr bwMode="auto">
                <a:xfrm>
                  <a:off x="-4" y="-1"/>
                  <a:ext cx="20008" cy="3330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6 h 20000"/>
                    <a:gd name="T4" fmla="*/ 0 w 20000"/>
                    <a:gd name="T5" fmla="*/ 19916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4" name="Freeform 92"/>
                <p:cNvSpPr>
                  <a:spLocks/>
                </p:cNvSpPr>
                <p:nvPr/>
              </p:nvSpPr>
              <p:spPr bwMode="auto">
                <a:xfrm>
                  <a:off x="-4" y="3329"/>
                  <a:ext cx="20008" cy="3328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6 h 20000"/>
                    <a:gd name="T4" fmla="*/ 0 w 20000"/>
                    <a:gd name="T5" fmla="*/ 19916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5" name="Freeform 93"/>
                <p:cNvSpPr>
                  <a:spLocks/>
                </p:cNvSpPr>
                <p:nvPr/>
              </p:nvSpPr>
              <p:spPr bwMode="auto">
                <a:xfrm>
                  <a:off x="-4" y="6657"/>
                  <a:ext cx="20008" cy="3329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6 h 20000"/>
                    <a:gd name="T4" fmla="*/ 0 w 20000"/>
                    <a:gd name="T5" fmla="*/ 19916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6" name="Freeform 94"/>
                <p:cNvSpPr>
                  <a:spLocks/>
                </p:cNvSpPr>
                <p:nvPr/>
              </p:nvSpPr>
              <p:spPr bwMode="auto">
                <a:xfrm>
                  <a:off x="-4" y="10000"/>
                  <a:ext cx="20008" cy="6672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58 h 20000"/>
                    <a:gd name="T4" fmla="*/ 0 w 20000"/>
                    <a:gd name="T5" fmla="*/ 19958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58"/>
                      </a:lnTo>
                      <a:lnTo>
                        <a:pt x="0" y="19958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7" name="Freeform 95"/>
                <p:cNvSpPr>
                  <a:spLocks/>
                </p:cNvSpPr>
                <p:nvPr/>
              </p:nvSpPr>
              <p:spPr bwMode="auto">
                <a:xfrm>
                  <a:off x="-4" y="16672"/>
                  <a:ext cx="20008" cy="3328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16 h 20000"/>
                    <a:gd name="T4" fmla="*/ 0 w 20000"/>
                    <a:gd name="T5" fmla="*/ 19916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16"/>
                      </a:lnTo>
                      <a:lnTo>
                        <a:pt x="0" y="19916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68" name="Rectangle 96"/>
                <p:cNvSpPr>
                  <a:spLocks noChangeArrowheads="1"/>
                </p:cNvSpPr>
                <p:nvPr/>
              </p:nvSpPr>
              <p:spPr bwMode="auto">
                <a:xfrm>
                  <a:off x="8870" y="10000"/>
                  <a:ext cx="2242" cy="72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indent="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lang="en-US" altLang="en-US" sz="1000">
                    <a:solidFill>
                      <a:srgbClr val="000000"/>
                    </a:solidFill>
                    <a:latin typeface="Times" panose="02020603050405020304" pitchFamily="18" charset="0"/>
                  </a:endParaRPr>
                </a:p>
                <a:p>
                  <a:pPr algn="ctr"/>
                  <a:r>
                    <a:rPr lang="en-US" altLang="en-US"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lang="en-US" altLang="en-US" sz="1000">
                    <a:solidFill>
                      <a:srgbClr val="000000"/>
                    </a:solidFill>
                    <a:latin typeface="Times" panose="02020603050405020304" pitchFamily="18" charset="0"/>
                  </a:endParaRPr>
                </a:p>
                <a:p>
                  <a:pPr algn="ctr"/>
                  <a:r>
                    <a:rPr lang="en-US" altLang="en-US" sz="700" b="1">
                      <a:solidFill>
                        <a:srgbClr val="000000"/>
                      </a:solidFill>
                      <a:latin typeface="Courier" pitchFamily="49" charset="0"/>
                    </a:rPr>
                    <a:t>.</a:t>
                  </a:r>
                  <a:endParaRPr lang="en-US" altLang="en-US" sz="1000">
                    <a:solidFill>
                      <a:srgbClr val="000000"/>
                    </a:solidFill>
                    <a:latin typeface="Times" panose="02020603050405020304" pitchFamily="18" charset="0"/>
                  </a:endParaRPr>
                </a:p>
                <a:p>
                  <a:endParaRPr lang="en-US" altLang="en-US"/>
                </a:p>
              </p:txBody>
            </p:sp>
          </p:grpSp>
        </p:grpSp>
        <p:grpSp>
          <p:nvGrpSpPr>
            <p:cNvPr id="182369" name="Group 97"/>
            <p:cNvGrpSpPr>
              <a:grpSpLocks/>
            </p:cNvGrpSpPr>
            <p:nvPr/>
          </p:nvGrpSpPr>
          <p:grpSpPr bwMode="auto">
            <a:xfrm>
              <a:off x="3720" y="815"/>
              <a:ext cx="486" cy="195"/>
              <a:chOff x="0" y="1"/>
              <a:chExt cx="20000" cy="19999"/>
            </a:xfrm>
          </p:grpSpPr>
          <p:grpSp>
            <p:nvGrpSpPr>
              <p:cNvPr id="182370" name="Group 98"/>
              <p:cNvGrpSpPr>
                <a:grpSpLocks/>
              </p:cNvGrpSpPr>
              <p:nvPr/>
            </p:nvGrpSpPr>
            <p:grpSpPr bwMode="auto">
              <a:xfrm>
                <a:off x="0" y="83"/>
                <a:ext cx="20000" cy="19917"/>
                <a:chOff x="0" y="3"/>
                <a:chExt cx="20000" cy="19997"/>
              </a:xfrm>
            </p:grpSpPr>
            <p:sp>
              <p:nvSpPr>
                <p:cNvPr id="182371" name="Oval 99"/>
                <p:cNvSpPr>
                  <a:spLocks noChangeArrowheads="1"/>
                </p:cNvSpPr>
                <p:nvPr/>
              </p:nvSpPr>
              <p:spPr bwMode="auto">
                <a:xfrm>
                  <a:off x="0" y="15011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72" name="Freeform 100"/>
                <p:cNvSpPr>
                  <a:spLocks/>
                </p:cNvSpPr>
                <p:nvPr/>
              </p:nvSpPr>
              <p:spPr bwMode="auto">
                <a:xfrm>
                  <a:off x="19" y="2559"/>
                  <a:ext cx="19981" cy="14844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73" name="Oval 101"/>
                <p:cNvSpPr>
                  <a:spLocks noChangeArrowheads="1"/>
                </p:cNvSpPr>
                <p:nvPr/>
              </p:nvSpPr>
              <p:spPr bwMode="auto">
                <a:xfrm>
                  <a:off x="0" y="3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374" name="Oval 102"/>
              <p:cNvSpPr>
                <a:spLocks noChangeArrowheads="1"/>
              </p:cNvSpPr>
              <p:nvPr/>
            </p:nvSpPr>
            <p:spPr bwMode="auto">
              <a:xfrm>
                <a:off x="0" y="14990"/>
                <a:ext cx="20000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75" name="Freeform 103"/>
              <p:cNvSpPr>
                <a:spLocks/>
              </p:cNvSpPr>
              <p:nvPr/>
            </p:nvSpPr>
            <p:spPr bwMode="auto">
              <a:xfrm>
                <a:off x="19" y="2547"/>
                <a:ext cx="19981" cy="14784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76" name="Freeform 104"/>
              <p:cNvSpPr>
                <a:spLocks/>
              </p:cNvSpPr>
              <p:nvPr/>
            </p:nvSpPr>
            <p:spPr bwMode="auto">
              <a:xfrm>
                <a:off x="204" y="14949"/>
                <a:ext cx="19611" cy="2669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692 h 20000"/>
                  <a:gd name="T4" fmla="*/ 0 w 20000"/>
                  <a:gd name="T5" fmla="*/ 19692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77" name="Rectangle 105"/>
              <p:cNvSpPr>
                <a:spLocks noChangeArrowheads="1"/>
              </p:cNvSpPr>
              <p:nvPr/>
            </p:nvSpPr>
            <p:spPr bwMode="auto">
              <a:xfrm>
                <a:off x="5180" y="6530"/>
                <a:ext cx="9640" cy="11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/>
                <a:r>
                  <a:rPr lang="en-US" altLang="en-US"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altLang="en-US"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378" name="Freeform 106"/>
              <p:cNvSpPr>
                <a:spLocks/>
              </p:cNvSpPr>
              <p:nvPr/>
            </p:nvSpPr>
            <p:spPr bwMode="auto">
              <a:xfrm>
                <a:off x="148" y="2136"/>
                <a:ext cx="19759" cy="2752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701 h 20000"/>
                  <a:gd name="T4" fmla="*/ 0 w 20000"/>
                  <a:gd name="T5" fmla="*/ 19701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79" name="Oval 107"/>
              <p:cNvSpPr>
                <a:spLocks noChangeArrowheads="1"/>
              </p:cNvSpPr>
              <p:nvPr/>
            </p:nvSpPr>
            <p:spPr bwMode="auto">
              <a:xfrm>
                <a:off x="0" y="1"/>
                <a:ext cx="20000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380" name="Group 108"/>
            <p:cNvGrpSpPr>
              <a:grpSpLocks/>
            </p:cNvGrpSpPr>
            <p:nvPr/>
          </p:nvGrpSpPr>
          <p:grpSpPr bwMode="auto">
            <a:xfrm>
              <a:off x="3720" y="1207"/>
              <a:ext cx="486" cy="195"/>
              <a:chOff x="0" y="1"/>
              <a:chExt cx="20000" cy="19999"/>
            </a:xfrm>
          </p:grpSpPr>
          <p:grpSp>
            <p:nvGrpSpPr>
              <p:cNvPr id="182381" name="Group 109"/>
              <p:cNvGrpSpPr>
                <a:grpSpLocks/>
              </p:cNvGrpSpPr>
              <p:nvPr/>
            </p:nvGrpSpPr>
            <p:grpSpPr bwMode="auto">
              <a:xfrm>
                <a:off x="0" y="83"/>
                <a:ext cx="20000" cy="19917"/>
                <a:chOff x="0" y="3"/>
                <a:chExt cx="20000" cy="19997"/>
              </a:xfrm>
            </p:grpSpPr>
            <p:sp>
              <p:nvSpPr>
                <p:cNvPr id="182382" name="Oval 110"/>
                <p:cNvSpPr>
                  <a:spLocks noChangeArrowheads="1"/>
                </p:cNvSpPr>
                <p:nvPr/>
              </p:nvSpPr>
              <p:spPr bwMode="auto">
                <a:xfrm>
                  <a:off x="0" y="15011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83" name="Freeform 111"/>
                <p:cNvSpPr>
                  <a:spLocks/>
                </p:cNvSpPr>
                <p:nvPr/>
              </p:nvSpPr>
              <p:spPr bwMode="auto">
                <a:xfrm>
                  <a:off x="19" y="2559"/>
                  <a:ext cx="19981" cy="14844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84" name="Oval 112"/>
                <p:cNvSpPr>
                  <a:spLocks noChangeArrowheads="1"/>
                </p:cNvSpPr>
                <p:nvPr/>
              </p:nvSpPr>
              <p:spPr bwMode="auto">
                <a:xfrm>
                  <a:off x="0" y="3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385" name="Oval 113"/>
              <p:cNvSpPr>
                <a:spLocks noChangeArrowheads="1"/>
              </p:cNvSpPr>
              <p:nvPr/>
            </p:nvSpPr>
            <p:spPr bwMode="auto">
              <a:xfrm>
                <a:off x="0" y="14990"/>
                <a:ext cx="20000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86" name="Freeform 114"/>
              <p:cNvSpPr>
                <a:spLocks/>
              </p:cNvSpPr>
              <p:nvPr/>
            </p:nvSpPr>
            <p:spPr bwMode="auto">
              <a:xfrm>
                <a:off x="19" y="2547"/>
                <a:ext cx="19981" cy="14784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87" name="Freeform 115"/>
              <p:cNvSpPr>
                <a:spLocks/>
              </p:cNvSpPr>
              <p:nvPr/>
            </p:nvSpPr>
            <p:spPr bwMode="auto">
              <a:xfrm>
                <a:off x="204" y="14949"/>
                <a:ext cx="19611" cy="2669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692 h 20000"/>
                  <a:gd name="T4" fmla="*/ 0 w 20000"/>
                  <a:gd name="T5" fmla="*/ 19692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88" name="Rectangle 116"/>
              <p:cNvSpPr>
                <a:spLocks noChangeArrowheads="1"/>
              </p:cNvSpPr>
              <p:nvPr/>
            </p:nvSpPr>
            <p:spPr bwMode="auto">
              <a:xfrm>
                <a:off x="5180" y="6530"/>
                <a:ext cx="9640" cy="11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/>
                <a:r>
                  <a:rPr lang="en-US" altLang="en-US"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altLang="en-US"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389" name="Freeform 117"/>
              <p:cNvSpPr>
                <a:spLocks/>
              </p:cNvSpPr>
              <p:nvPr/>
            </p:nvSpPr>
            <p:spPr bwMode="auto">
              <a:xfrm>
                <a:off x="148" y="2136"/>
                <a:ext cx="19759" cy="2752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701 h 20000"/>
                  <a:gd name="T4" fmla="*/ 0 w 20000"/>
                  <a:gd name="T5" fmla="*/ 19701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90" name="Oval 118"/>
              <p:cNvSpPr>
                <a:spLocks noChangeArrowheads="1"/>
              </p:cNvSpPr>
              <p:nvPr/>
            </p:nvSpPr>
            <p:spPr bwMode="auto">
              <a:xfrm>
                <a:off x="0" y="1"/>
                <a:ext cx="20000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391" name="Group 119"/>
            <p:cNvGrpSpPr>
              <a:grpSpLocks/>
            </p:cNvGrpSpPr>
            <p:nvPr/>
          </p:nvGrpSpPr>
          <p:grpSpPr bwMode="auto">
            <a:xfrm>
              <a:off x="3720" y="1595"/>
              <a:ext cx="486" cy="195"/>
              <a:chOff x="0" y="1"/>
              <a:chExt cx="20000" cy="19999"/>
            </a:xfrm>
          </p:grpSpPr>
          <p:grpSp>
            <p:nvGrpSpPr>
              <p:cNvPr id="182392" name="Group 120"/>
              <p:cNvGrpSpPr>
                <a:grpSpLocks/>
              </p:cNvGrpSpPr>
              <p:nvPr/>
            </p:nvGrpSpPr>
            <p:grpSpPr bwMode="auto">
              <a:xfrm>
                <a:off x="0" y="83"/>
                <a:ext cx="20000" cy="19917"/>
                <a:chOff x="0" y="3"/>
                <a:chExt cx="20000" cy="19997"/>
              </a:xfrm>
            </p:grpSpPr>
            <p:sp>
              <p:nvSpPr>
                <p:cNvPr id="182393" name="Oval 121"/>
                <p:cNvSpPr>
                  <a:spLocks noChangeArrowheads="1"/>
                </p:cNvSpPr>
                <p:nvPr/>
              </p:nvSpPr>
              <p:spPr bwMode="auto">
                <a:xfrm>
                  <a:off x="0" y="15011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94" name="Freeform 122"/>
                <p:cNvSpPr>
                  <a:spLocks/>
                </p:cNvSpPr>
                <p:nvPr/>
              </p:nvSpPr>
              <p:spPr bwMode="auto">
                <a:xfrm>
                  <a:off x="19" y="2559"/>
                  <a:ext cx="19981" cy="14844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395" name="Oval 123"/>
                <p:cNvSpPr>
                  <a:spLocks noChangeArrowheads="1"/>
                </p:cNvSpPr>
                <p:nvPr/>
              </p:nvSpPr>
              <p:spPr bwMode="auto">
                <a:xfrm>
                  <a:off x="0" y="3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396" name="Oval 124"/>
              <p:cNvSpPr>
                <a:spLocks noChangeArrowheads="1"/>
              </p:cNvSpPr>
              <p:nvPr/>
            </p:nvSpPr>
            <p:spPr bwMode="auto">
              <a:xfrm>
                <a:off x="0" y="14990"/>
                <a:ext cx="20000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97" name="Freeform 125"/>
              <p:cNvSpPr>
                <a:spLocks/>
              </p:cNvSpPr>
              <p:nvPr/>
            </p:nvSpPr>
            <p:spPr bwMode="auto">
              <a:xfrm>
                <a:off x="19" y="2547"/>
                <a:ext cx="19981" cy="14784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98" name="Freeform 126"/>
              <p:cNvSpPr>
                <a:spLocks/>
              </p:cNvSpPr>
              <p:nvPr/>
            </p:nvSpPr>
            <p:spPr bwMode="auto">
              <a:xfrm>
                <a:off x="204" y="14949"/>
                <a:ext cx="19611" cy="2669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692 h 20000"/>
                  <a:gd name="T4" fmla="*/ 0 w 20000"/>
                  <a:gd name="T5" fmla="*/ 19692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99" name="Rectangle 127"/>
              <p:cNvSpPr>
                <a:spLocks noChangeArrowheads="1"/>
              </p:cNvSpPr>
              <p:nvPr/>
            </p:nvSpPr>
            <p:spPr bwMode="auto">
              <a:xfrm>
                <a:off x="5180" y="6530"/>
                <a:ext cx="9640" cy="11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/>
                <a:r>
                  <a:rPr lang="en-US" altLang="en-US"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altLang="en-US"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400" name="Freeform 128"/>
              <p:cNvSpPr>
                <a:spLocks/>
              </p:cNvSpPr>
              <p:nvPr/>
            </p:nvSpPr>
            <p:spPr bwMode="auto">
              <a:xfrm>
                <a:off x="148" y="2136"/>
                <a:ext cx="19759" cy="2752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701 h 20000"/>
                  <a:gd name="T4" fmla="*/ 0 w 20000"/>
                  <a:gd name="T5" fmla="*/ 19701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01" name="Oval 129"/>
              <p:cNvSpPr>
                <a:spLocks noChangeArrowheads="1"/>
              </p:cNvSpPr>
              <p:nvPr/>
            </p:nvSpPr>
            <p:spPr bwMode="auto">
              <a:xfrm>
                <a:off x="0" y="1"/>
                <a:ext cx="20000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402" name="Group 130"/>
            <p:cNvGrpSpPr>
              <a:grpSpLocks/>
            </p:cNvGrpSpPr>
            <p:nvPr/>
          </p:nvGrpSpPr>
          <p:grpSpPr bwMode="auto">
            <a:xfrm>
              <a:off x="3720" y="1975"/>
              <a:ext cx="486" cy="195"/>
              <a:chOff x="0" y="1"/>
              <a:chExt cx="20000" cy="19999"/>
            </a:xfrm>
          </p:grpSpPr>
          <p:grpSp>
            <p:nvGrpSpPr>
              <p:cNvPr id="182403" name="Group 131"/>
              <p:cNvGrpSpPr>
                <a:grpSpLocks/>
              </p:cNvGrpSpPr>
              <p:nvPr/>
            </p:nvGrpSpPr>
            <p:grpSpPr bwMode="auto">
              <a:xfrm>
                <a:off x="0" y="83"/>
                <a:ext cx="20000" cy="19917"/>
                <a:chOff x="0" y="3"/>
                <a:chExt cx="20000" cy="19997"/>
              </a:xfrm>
            </p:grpSpPr>
            <p:sp>
              <p:nvSpPr>
                <p:cNvPr id="182404" name="Oval 132"/>
                <p:cNvSpPr>
                  <a:spLocks noChangeArrowheads="1"/>
                </p:cNvSpPr>
                <p:nvPr/>
              </p:nvSpPr>
              <p:spPr bwMode="auto">
                <a:xfrm>
                  <a:off x="0" y="15011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405" name="Freeform 133"/>
                <p:cNvSpPr>
                  <a:spLocks/>
                </p:cNvSpPr>
                <p:nvPr/>
              </p:nvSpPr>
              <p:spPr bwMode="auto">
                <a:xfrm>
                  <a:off x="19" y="2559"/>
                  <a:ext cx="19981" cy="14844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406" name="Oval 134"/>
                <p:cNvSpPr>
                  <a:spLocks noChangeArrowheads="1"/>
                </p:cNvSpPr>
                <p:nvPr/>
              </p:nvSpPr>
              <p:spPr bwMode="auto">
                <a:xfrm>
                  <a:off x="0" y="3"/>
                  <a:ext cx="20000" cy="498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407" name="Oval 135"/>
              <p:cNvSpPr>
                <a:spLocks noChangeArrowheads="1"/>
              </p:cNvSpPr>
              <p:nvPr/>
            </p:nvSpPr>
            <p:spPr bwMode="auto">
              <a:xfrm>
                <a:off x="0" y="14990"/>
                <a:ext cx="20000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08" name="Freeform 136"/>
              <p:cNvSpPr>
                <a:spLocks/>
              </p:cNvSpPr>
              <p:nvPr/>
            </p:nvSpPr>
            <p:spPr bwMode="auto">
              <a:xfrm>
                <a:off x="19" y="2547"/>
                <a:ext cx="19981" cy="14784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09" name="Freeform 137"/>
              <p:cNvSpPr>
                <a:spLocks/>
              </p:cNvSpPr>
              <p:nvPr/>
            </p:nvSpPr>
            <p:spPr bwMode="auto">
              <a:xfrm>
                <a:off x="204" y="14949"/>
                <a:ext cx="19611" cy="2669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692 h 20000"/>
                  <a:gd name="T4" fmla="*/ 0 w 20000"/>
                  <a:gd name="T5" fmla="*/ 19692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10" name="Rectangle 138"/>
              <p:cNvSpPr>
                <a:spLocks noChangeArrowheads="1"/>
              </p:cNvSpPr>
              <p:nvPr/>
            </p:nvSpPr>
            <p:spPr bwMode="auto">
              <a:xfrm>
                <a:off x="5180" y="6530"/>
                <a:ext cx="9640" cy="11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/>
                <a:r>
                  <a:rPr lang="en-US" altLang="en-US"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altLang="en-US"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411" name="Freeform 139"/>
              <p:cNvSpPr>
                <a:spLocks/>
              </p:cNvSpPr>
              <p:nvPr/>
            </p:nvSpPr>
            <p:spPr bwMode="auto">
              <a:xfrm>
                <a:off x="148" y="2136"/>
                <a:ext cx="19759" cy="2752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701 h 20000"/>
                  <a:gd name="T4" fmla="*/ 0 w 20000"/>
                  <a:gd name="T5" fmla="*/ 19701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12" name="Oval 140"/>
              <p:cNvSpPr>
                <a:spLocks noChangeArrowheads="1"/>
              </p:cNvSpPr>
              <p:nvPr/>
            </p:nvSpPr>
            <p:spPr bwMode="auto">
              <a:xfrm>
                <a:off x="0" y="1"/>
                <a:ext cx="20000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413" name="Group 141"/>
            <p:cNvGrpSpPr>
              <a:grpSpLocks/>
            </p:cNvGrpSpPr>
            <p:nvPr/>
          </p:nvGrpSpPr>
          <p:grpSpPr bwMode="auto">
            <a:xfrm>
              <a:off x="2775" y="2841"/>
              <a:ext cx="487" cy="195"/>
              <a:chOff x="0" y="1"/>
              <a:chExt cx="20000" cy="19999"/>
            </a:xfrm>
          </p:grpSpPr>
          <p:grpSp>
            <p:nvGrpSpPr>
              <p:cNvPr id="182414" name="Group 142"/>
              <p:cNvGrpSpPr>
                <a:grpSpLocks/>
              </p:cNvGrpSpPr>
              <p:nvPr/>
            </p:nvGrpSpPr>
            <p:grpSpPr bwMode="auto">
              <a:xfrm>
                <a:off x="18" y="42"/>
                <a:ext cx="19982" cy="19958"/>
                <a:chOff x="0" y="2"/>
                <a:chExt cx="20000" cy="19998"/>
              </a:xfrm>
            </p:grpSpPr>
            <p:sp>
              <p:nvSpPr>
                <p:cNvPr id="182415" name="Oval 143"/>
                <p:cNvSpPr>
                  <a:spLocks noChangeArrowheads="1"/>
                </p:cNvSpPr>
                <p:nvPr/>
              </p:nvSpPr>
              <p:spPr bwMode="auto">
                <a:xfrm>
                  <a:off x="0" y="15021"/>
                  <a:ext cx="20000" cy="497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416" name="Freeform 144"/>
                <p:cNvSpPr>
                  <a:spLocks/>
                </p:cNvSpPr>
                <p:nvPr/>
              </p:nvSpPr>
              <p:spPr bwMode="auto">
                <a:xfrm>
                  <a:off x="18" y="2553"/>
                  <a:ext cx="19982" cy="14814"/>
                </a:xfrm>
                <a:custGeom>
                  <a:avLst/>
                  <a:gdLst>
                    <a:gd name="T0" fmla="*/ 19981 w 20000"/>
                    <a:gd name="T1" fmla="*/ 0 h 20000"/>
                    <a:gd name="T2" fmla="*/ 19981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81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1" y="0"/>
                      </a:moveTo>
                      <a:lnTo>
                        <a:pt x="19981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1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417" name="Oval 145"/>
                <p:cNvSpPr>
                  <a:spLocks noChangeArrowheads="1"/>
                </p:cNvSpPr>
                <p:nvPr/>
              </p:nvSpPr>
              <p:spPr bwMode="auto">
                <a:xfrm>
                  <a:off x="0" y="2"/>
                  <a:ext cx="20000" cy="4979"/>
                </a:xfrm>
                <a:prstGeom prst="ellipse">
                  <a:avLst/>
                </a:pr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2418" name="Oval 146"/>
              <p:cNvSpPr>
                <a:spLocks noChangeArrowheads="1"/>
              </p:cNvSpPr>
              <p:nvPr/>
            </p:nvSpPr>
            <p:spPr bwMode="auto">
              <a:xfrm>
                <a:off x="0" y="14949"/>
                <a:ext cx="19982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19" name="Freeform 147"/>
              <p:cNvSpPr>
                <a:spLocks/>
              </p:cNvSpPr>
              <p:nvPr/>
            </p:nvSpPr>
            <p:spPr bwMode="auto">
              <a:xfrm>
                <a:off x="18" y="2547"/>
                <a:ext cx="19964" cy="14784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20" name="Freeform 148"/>
              <p:cNvSpPr>
                <a:spLocks/>
              </p:cNvSpPr>
              <p:nvPr/>
            </p:nvSpPr>
            <p:spPr bwMode="auto">
              <a:xfrm>
                <a:off x="203" y="14949"/>
                <a:ext cx="19594" cy="2669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692 h 20000"/>
                  <a:gd name="T4" fmla="*/ 0 w 20000"/>
                  <a:gd name="T5" fmla="*/ 19692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692"/>
                    </a:lnTo>
                    <a:lnTo>
                      <a:pt x="0" y="19692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21" name="Rectangle 149"/>
              <p:cNvSpPr>
                <a:spLocks noChangeArrowheads="1"/>
              </p:cNvSpPr>
              <p:nvPr/>
            </p:nvSpPr>
            <p:spPr bwMode="auto">
              <a:xfrm>
                <a:off x="5176" y="6489"/>
                <a:ext cx="9630" cy="11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/>
                <a:r>
                  <a:rPr lang="en-US" altLang="en-US" sz="1000">
                    <a:solidFill>
                      <a:srgbClr val="000000"/>
                    </a:solidFill>
                    <a:latin typeface="Times New Roman" panose="02020603050405020304" pitchFamily="18" charset="0"/>
                    <a:ea typeface="Mincho" charset="-128"/>
                  </a:rPr>
                  <a:t>Disk</a:t>
                </a:r>
                <a:endPara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altLang="en-US" sz="2400">
                  <a:latin typeface="Times New Roman" panose="02020603050405020304" pitchFamily="18" charset="0"/>
                  <a:ea typeface="Mincho" charset="-128"/>
                </a:endParaRPr>
              </a:p>
            </p:txBody>
          </p:sp>
          <p:sp>
            <p:nvSpPr>
              <p:cNvPr id="182422" name="Freeform 150"/>
              <p:cNvSpPr>
                <a:spLocks/>
              </p:cNvSpPr>
              <p:nvPr/>
            </p:nvSpPr>
            <p:spPr bwMode="auto">
              <a:xfrm>
                <a:off x="166" y="2095"/>
                <a:ext cx="19742" cy="2752"/>
              </a:xfrm>
              <a:custGeom>
                <a:avLst/>
                <a:gdLst>
                  <a:gd name="T0" fmla="*/ 19981 w 20000"/>
                  <a:gd name="T1" fmla="*/ 0 h 20000"/>
                  <a:gd name="T2" fmla="*/ 19981 w 20000"/>
                  <a:gd name="T3" fmla="*/ 19701 h 20000"/>
                  <a:gd name="T4" fmla="*/ 0 w 20000"/>
                  <a:gd name="T5" fmla="*/ 19701 h 20000"/>
                  <a:gd name="T6" fmla="*/ 0 w 20000"/>
                  <a:gd name="T7" fmla="*/ 0 h 20000"/>
                  <a:gd name="T8" fmla="*/ 19981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1" y="0"/>
                    </a:moveTo>
                    <a:lnTo>
                      <a:pt x="19981" y="19701"/>
                    </a:lnTo>
                    <a:lnTo>
                      <a:pt x="0" y="19701"/>
                    </a:lnTo>
                    <a:lnTo>
                      <a:pt x="0" y="0"/>
                    </a:lnTo>
                    <a:lnTo>
                      <a:pt x="19981" y="0"/>
                    </a:lnTo>
                    <a:close/>
                  </a:path>
                </a:pathLst>
              </a:custGeom>
              <a:solidFill>
                <a:srgbClr val="4DB3E6"/>
              </a:solidFill>
              <a:ln w="3175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23" name="Oval 151"/>
              <p:cNvSpPr>
                <a:spLocks noChangeArrowheads="1"/>
              </p:cNvSpPr>
              <p:nvPr/>
            </p:nvSpPr>
            <p:spPr bwMode="auto">
              <a:xfrm>
                <a:off x="0" y="1"/>
                <a:ext cx="19982" cy="4969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2424" name="Freeform 152"/>
            <p:cNvSpPr>
              <a:spLocks/>
            </p:cNvSpPr>
            <p:nvPr/>
          </p:nvSpPr>
          <p:spPr bwMode="auto">
            <a:xfrm>
              <a:off x="3018" y="2669"/>
              <a:ext cx="0" cy="19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58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58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002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0EDD6-933B-47A2-80E0-4D25E5FD49D3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Basics of a Typical C++ Environment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Common Input/output functions</a:t>
            </a:r>
          </a:p>
          <a:p>
            <a:pPr lvl="1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cin</a:t>
            </a:r>
          </a:p>
          <a:p>
            <a:pPr lvl="2"/>
            <a:r>
              <a:rPr lang="en-US" altLang="en-US"/>
              <a:t>Standard input stream</a:t>
            </a:r>
          </a:p>
          <a:p>
            <a:pPr lvl="2"/>
            <a:r>
              <a:rPr lang="en-US" altLang="en-US"/>
              <a:t>Normally keyboard</a:t>
            </a:r>
          </a:p>
          <a:p>
            <a:pPr lvl="1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cout</a:t>
            </a:r>
          </a:p>
          <a:p>
            <a:pPr lvl="2"/>
            <a:r>
              <a:rPr lang="en-US" altLang="en-US"/>
              <a:t>Standard output stream</a:t>
            </a:r>
          </a:p>
          <a:p>
            <a:pPr lvl="2"/>
            <a:r>
              <a:rPr lang="en-US" altLang="en-US"/>
              <a:t>Normally computer screen</a:t>
            </a:r>
          </a:p>
          <a:p>
            <a:pPr lvl="1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cerr</a:t>
            </a:r>
          </a:p>
          <a:p>
            <a:pPr lvl="2"/>
            <a:r>
              <a:rPr lang="en-US" altLang="en-US"/>
              <a:t>Standard error stream</a:t>
            </a:r>
          </a:p>
          <a:p>
            <a:pPr lvl="2"/>
            <a:r>
              <a:rPr lang="en-US" altLang="en-US"/>
              <a:t>Display error messages</a:t>
            </a:r>
          </a:p>
        </p:txBody>
      </p:sp>
    </p:spTree>
    <p:extLst>
      <p:ext uri="{BB962C8B-B14F-4D97-AF65-F5344CB8AC3E}">
        <p14:creationId xmlns:p14="http://schemas.microsoft.com/office/powerpoint/2010/main" val="51942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D72B-7329-4252-AA6F-95D8F5802B6D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Simple Program: Printing a Line of Text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Before writing the programs</a:t>
            </a:r>
          </a:p>
          <a:p>
            <a:pPr lvl="1"/>
            <a:r>
              <a:rPr lang="en-US" altLang="en-US"/>
              <a:t>Comments</a:t>
            </a:r>
          </a:p>
          <a:p>
            <a:pPr lvl="2"/>
            <a:r>
              <a:rPr lang="en-US" altLang="en-US"/>
              <a:t>Document programs</a:t>
            </a:r>
          </a:p>
          <a:p>
            <a:pPr lvl="2"/>
            <a:r>
              <a:rPr lang="en-US" altLang="en-US"/>
              <a:t>Improve program readability</a:t>
            </a:r>
          </a:p>
          <a:p>
            <a:pPr lvl="2"/>
            <a:r>
              <a:rPr lang="en-US" altLang="en-US"/>
              <a:t>Ignored by compiler</a:t>
            </a:r>
          </a:p>
          <a:p>
            <a:pPr lvl="2"/>
            <a:r>
              <a:rPr lang="en-US" altLang="en-US"/>
              <a:t>Single-line comment</a:t>
            </a:r>
          </a:p>
          <a:p>
            <a:pPr lvl="3"/>
            <a:r>
              <a:rPr lang="en-US" altLang="en-US"/>
              <a:t>Use C’s comment /* .. */ OR Begin with </a:t>
            </a:r>
            <a:r>
              <a:rPr lang="en-US" altLang="en-US" b="1">
                <a:latin typeface="Courier New" panose="02070309020205020404" pitchFamily="49" charset="0"/>
              </a:rPr>
              <a:t>// or </a:t>
            </a:r>
          </a:p>
          <a:p>
            <a:pPr lvl="1"/>
            <a:r>
              <a:rPr lang="en-US" altLang="en-US"/>
              <a:t>Preprocessor directives</a:t>
            </a:r>
          </a:p>
          <a:p>
            <a:pPr lvl="2"/>
            <a:r>
              <a:rPr lang="en-US" altLang="en-US"/>
              <a:t>Processed by preprocessor before compiling</a:t>
            </a:r>
          </a:p>
          <a:p>
            <a:pPr lvl="2"/>
            <a:r>
              <a:rPr lang="en-US" altLang="en-US"/>
              <a:t>Begin with </a:t>
            </a:r>
            <a:r>
              <a:rPr lang="en-US" altLang="en-US" b="1">
                <a:latin typeface="Courier New" panose="02070309020205020404" pitchFamily="49" charset="0"/>
              </a:rPr>
              <a:t>#</a:t>
            </a:r>
          </a:p>
          <a:p>
            <a:pPr lvl="1"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81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7D276-89E3-4E7F-98BC-B5AC836B22FD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Simple Program: Printing a Line of Text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Standard output stream object</a:t>
            </a:r>
            <a:endParaRPr lang="en-US" altLang="en-US" sz="2400" b="1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std::cout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“Connected” to screen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&lt;&lt;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Stream insertion operator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Value to right (right operand) inserted into output stream </a:t>
            </a:r>
          </a:p>
          <a:p>
            <a:pPr>
              <a:lnSpc>
                <a:spcPct val="90000"/>
              </a:lnSpc>
            </a:pPr>
            <a:r>
              <a:rPr lang="en-US" altLang="en-US"/>
              <a:t>Namespace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std::</a:t>
            </a:r>
            <a:r>
              <a:rPr lang="en-US" altLang="en-US"/>
              <a:t> specifies using name that belongs to “namespace”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std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std::</a:t>
            </a:r>
            <a:r>
              <a:rPr lang="en-US" altLang="en-US"/>
              <a:t> removed through use of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using</a:t>
            </a:r>
            <a:r>
              <a:rPr lang="en-US" altLang="en-US"/>
              <a:t> statements</a:t>
            </a:r>
          </a:p>
          <a:p>
            <a:pPr>
              <a:lnSpc>
                <a:spcPct val="90000"/>
              </a:lnSpc>
            </a:pPr>
            <a:r>
              <a:rPr lang="en-US" altLang="en-US"/>
              <a:t>Escape characters</a:t>
            </a:r>
            <a:endParaRPr lang="en-US" altLang="en-US" b="1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b="1">
                <a:latin typeface="Courier New" panose="02070309020205020404" pitchFamily="49" charset="0"/>
              </a:rPr>
              <a:t>\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Indicates “special” character output </a:t>
            </a:r>
          </a:p>
        </p:txBody>
      </p:sp>
    </p:spTree>
    <p:extLst>
      <p:ext uri="{BB962C8B-B14F-4D97-AF65-F5344CB8AC3E}">
        <p14:creationId xmlns:p14="http://schemas.microsoft.com/office/powerpoint/2010/main" val="78675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1BC05-4D14-4525-B99C-7578B9DAA55F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Simple Program: Printing a Line of Text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190468" name="Object 4"/>
          <p:cNvGraphicFramePr>
            <a:graphicFrameLocks noChangeAspect="1"/>
          </p:cNvGraphicFramePr>
          <p:nvPr/>
        </p:nvGraphicFramePr>
        <p:xfrm>
          <a:off x="2587626" y="1879600"/>
          <a:ext cx="7089775" cy="474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5950080" imgH="3981600" progId="Word.Document.8">
                  <p:embed/>
                </p:oleObj>
              </mc:Choice>
              <mc:Fallback>
                <p:oleObj name="Document" r:id="rId3" imgW="5950080" imgH="3981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6" y="1879600"/>
                        <a:ext cx="7089775" cy="474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08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E6CED-9F43-4A45-B68F-FC79F05A9540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Simple Program: Adding Two Integers 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Variables </a:t>
            </a:r>
          </a:p>
          <a:p>
            <a:pPr lvl="1"/>
            <a:r>
              <a:rPr lang="en-US" altLang="en-US"/>
              <a:t>Location in memory where value can be stored</a:t>
            </a:r>
          </a:p>
          <a:p>
            <a:pPr lvl="1"/>
            <a:r>
              <a:rPr lang="en-US" altLang="en-US"/>
              <a:t>Common data types</a:t>
            </a:r>
          </a:p>
          <a:p>
            <a:pPr lvl="2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/>
              <a:t> - integer numbers</a:t>
            </a:r>
          </a:p>
          <a:p>
            <a:pPr lvl="2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char</a:t>
            </a:r>
            <a:r>
              <a:rPr lang="en-US" altLang="en-US"/>
              <a:t> - characters</a:t>
            </a:r>
          </a:p>
          <a:p>
            <a:pPr lvl="2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double</a:t>
            </a:r>
            <a:r>
              <a:rPr lang="en-US" altLang="en-US"/>
              <a:t> - floating point numbers</a:t>
            </a:r>
          </a:p>
          <a:p>
            <a:pPr lvl="1"/>
            <a:r>
              <a:rPr lang="en-US" altLang="en-US"/>
              <a:t>Declare variables with name and data type before use</a:t>
            </a:r>
          </a:p>
          <a:p>
            <a:pPr lvl="2">
              <a:buFontTx/>
              <a:buNone/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int integer1</a:t>
            </a:r>
            <a:r>
              <a:rPr lang="en-US" altLang="en-US" b="1"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int integer2</a:t>
            </a:r>
            <a:r>
              <a:rPr lang="en-US" altLang="en-US" b="1"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int sum</a:t>
            </a:r>
            <a:r>
              <a:rPr lang="en-US" altLang="en-US" b="1"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altLang="en-US"/>
              <a:t>Can declare several variables of same type in one declaration</a:t>
            </a:r>
          </a:p>
          <a:p>
            <a:pPr lvl="2"/>
            <a:r>
              <a:rPr lang="en-US" altLang="en-US"/>
              <a:t>Comma-separated list</a:t>
            </a:r>
          </a:p>
          <a:p>
            <a:pPr lvl="2">
              <a:buFontTx/>
              <a:buNone/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int integer1, integer2, sum;</a:t>
            </a:r>
          </a:p>
        </p:txBody>
      </p:sp>
    </p:spTree>
    <p:extLst>
      <p:ext uri="{BB962C8B-B14F-4D97-AF65-F5344CB8AC3E}">
        <p14:creationId xmlns:p14="http://schemas.microsoft.com/office/powerpoint/2010/main" val="160424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24418-DF6B-4F17-BF99-2C5B31D02373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Simple Program: Adding Two Integers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Input stream object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&gt;&gt;</a:t>
            </a:r>
            <a:r>
              <a:rPr lang="en-US" altLang="en-US"/>
              <a:t> (stream extraction operator) </a:t>
            </a:r>
          </a:p>
          <a:p>
            <a:pPr lvl="2"/>
            <a:r>
              <a:rPr lang="en-US" altLang="en-US"/>
              <a:t>Used with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std::cin</a:t>
            </a:r>
          </a:p>
          <a:p>
            <a:pPr lvl="2"/>
            <a:r>
              <a:rPr lang="en-US" altLang="en-US"/>
              <a:t>Waits for user to input value, then press </a:t>
            </a:r>
            <a:r>
              <a:rPr lang="en-US" altLang="en-US" i="1"/>
              <a:t>Enter</a:t>
            </a:r>
            <a:r>
              <a:rPr lang="en-US" altLang="en-US"/>
              <a:t> (Return) key</a:t>
            </a:r>
          </a:p>
          <a:p>
            <a:pPr lvl="2"/>
            <a:r>
              <a:rPr lang="en-US" altLang="en-US"/>
              <a:t>Stores value in variable to right of operator</a:t>
            </a:r>
          </a:p>
          <a:p>
            <a:pPr lvl="3"/>
            <a:r>
              <a:rPr lang="en-US" altLang="en-US"/>
              <a:t>Converts value to variable data type</a:t>
            </a:r>
            <a:endParaRPr lang="en-US" altLang="en-US" b="1">
              <a:latin typeface="Courier New" panose="02070309020205020404" pitchFamily="49" charset="0"/>
            </a:endParaRPr>
          </a:p>
          <a:p>
            <a:r>
              <a:rPr lang="en-US" altLang="en-US" sz="2400" b="1">
                <a:latin typeface="Courier New" panose="02070309020205020404" pitchFamily="49" charset="0"/>
              </a:rPr>
              <a:t>=</a:t>
            </a:r>
            <a:r>
              <a:rPr lang="en-US" altLang="en-US" sz="2400"/>
              <a:t> (assignment operator)</a:t>
            </a:r>
          </a:p>
          <a:p>
            <a:pPr lvl="1"/>
            <a:r>
              <a:rPr lang="en-US" altLang="en-US"/>
              <a:t>Assigns value to variable</a:t>
            </a:r>
          </a:p>
          <a:p>
            <a:pPr lvl="1"/>
            <a:r>
              <a:rPr lang="en-US" altLang="en-US"/>
              <a:t>Binary operator (two operands)</a:t>
            </a:r>
          </a:p>
          <a:p>
            <a:pPr lvl="1"/>
            <a:r>
              <a:rPr lang="en-US" altLang="en-US"/>
              <a:t>Example:</a:t>
            </a:r>
          </a:p>
          <a:p>
            <a:pPr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sum = variable1 + variable2;</a:t>
            </a:r>
          </a:p>
          <a:p>
            <a:pPr lvl="1"/>
            <a:endParaRPr lang="en-US" altLang="en-US" sz="1800" b="1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06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1A4F7-969A-4DBC-824B-A97B71AC71A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Memory Concepts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Variable names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Correspond to actual locations in computer's memory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Every variable has name, type, size and value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When new value placed into variable, overwrites previous value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std::cin &gt;&gt; integer1;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Assume user entered 45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std::cin &gt;&gt; integer2;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Assume user entered 72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sum = integer1 + integer2;</a:t>
            </a:r>
          </a:p>
        </p:txBody>
      </p:sp>
      <p:sp>
        <p:nvSpPr>
          <p:cNvPr id="196623" name="Rectangle 15"/>
          <p:cNvSpPr>
            <a:spLocks noChangeArrowheads="1"/>
          </p:cNvSpPr>
          <p:nvPr/>
        </p:nvSpPr>
        <p:spPr bwMode="auto">
          <a:xfrm>
            <a:off x="8153400" y="4369872"/>
            <a:ext cx="1574800" cy="36933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6624" name="Rectangle 16"/>
          <p:cNvSpPr>
            <a:spLocks noChangeArrowheads="1"/>
          </p:cNvSpPr>
          <p:nvPr/>
        </p:nvSpPr>
        <p:spPr bwMode="auto">
          <a:xfrm>
            <a:off x="8153400" y="3503890"/>
            <a:ext cx="1574800" cy="36933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6625" name="Rectangle 17"/>
          <p:cNvSpPr>
            <a:spLocks noChangeArrowheads="1"/>
          </p:cNvSpPr>
          <p:nvPr/>
        </p:nvSpPr>
        <p:spPr bwMode="auto">
          <a:xfrm>
            <a:off x="8153401" y="5612090"/>
            <a:ext cx="184731" cy="36933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196626" name="Group 18"/>
          <p:cNvGrpSpPr>
            <a:grpSpLocks/>
          </p:cNvGrpSpPr>
          <p:nvPr/>
        </p:nvGrpSpPr>
        <p:grpSpPr bwMode="auto">
          <a:xfrm>
            <a:off x="8210550" y="3559176"/>
            <a:ext cx="1460500" cy="258763"/>
            <a:chOff x="880" y="1488"/>
            <a:chExt cx="1233" cy="192"/>
          </a:xfrm>
        </p:grpSpPr>
        <p:sp>
          <p:nvSpPr>
            <p:cNvPr id="196627" name="Rectangle 19"/>
            <p:cNvSpPr>
              <a:spLocks noChangeArrowheads="1"/>
            </p:cNvSpPr>
            <p:nvPr/>
          </p:nvSpPr>
          <p:spPr bwMode="auto">
            <a:xfrm>
              <a:off x="1737" y="1488"/>
              <a:ext cx="376" cy="19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28" name="Rectangle 20"/>
            <p:cNvSpPr>
              <a:spLocks noChangeArrowheads="1"/>
            </p:cNvSpPr>
            <p:nvPr/>
          </p:nvSpPr>
          <p:spPr bwMode="auto">
            <a:xfrm>
              <a:off x="1237" y="1499"/>
              <a:ext cx="39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29" name="Rectangle 21"/>
            <p:cNvSpPr>
              <a:spLocks noChangeArrowheads="1"/>
            </p:cNvSpPr>
            <p:nvPr/>
          </p:nvSpPr>
          <p:spPr bwMode="auto">
            <a:xfrm>
              <a:off x="880" y="1499"/>
              <a:ext cx="82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integer1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6630" name="Rectangle 22"/>
            <p:cNvSpPr>
              <a:spLocks noChangeArrowheads="1"/>
            </p:cNvSpPr>
            <p:nvPr/>
          </p:nvSpPr>
          <p:spPr bwMode="auto">
            <a:xfrm>
              <a:off x="1824" y="1488"/>
              <a:ext cx="20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45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196631" name="Group 23"/>
          <p:cNvGrpSpPr>
            <a:grpSpLocks/>
          </p:cNvGrpSpPr>
          <p:nvPr/>
        </p:nvGrpSpPr>
        <p:grpSpPr bwMode="auto">
          <a:xfrm>
            <a:off x="8210550" y="4222751"/>
            <a:ext cx="1460500" cy="258763"/>
            <a:chOff x="880" y="1488"/>
            <a:chExt cx="1233" cy="192"/>
          </a:xfrm>
        </p:grpSpPr>
        <p:sp>
          <p:nvSpPr>
            <p:cNvPr id="196632" name="Rectangle 24"/>
            <p:cNvSpPr>
              <a:spLocks noChangeArrowheads="1"/>
            </p:cNvSpPr>
            <p:nvPr/>
          </p:nvSpPr>
          <p:spPr bwMode="auto">
            <a:xfrm>
              <a:off x="1737" y="1488"/>
              <a:ext cx="376" cy="19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33" name="Rectangle 25"/>
            <p:cNvSpPr>
              <a:spLocks noChangeArrowheads="1"/>
            </p:cNvSpPr>
            <p:nvPr/>
          </p:nvSpPr>
          <p:spPr bwMode="auto">
            <a:xfrm>
              <a:off x="1237" y="1499"/>
              <a:ext cx="39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34" name="Rectangle 26"/>
            <p:cNvSpPr>
              <a:spLocks noChangeArrowheads="1"/>
            </p:cNvSpPr>
            <p:nvPr/>
          </p:nvSpPr>
          <p:spPr bwMode="auto">
            <a:xfrm>
              <a:off x="880" y="1499"/>
              <a:ext cx="82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integer1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6635" name="Rectangle 27"/>
            <p:cNvSpPr>
              <a:spLocks noChangeArrowheads="1"/>
            </p:cNvSpPr>
            <p:nvPr/>
          </p:nvSpPr>
          <p:spPr bwMode="auto">
            <a:xfrm>
              <a:off x="1824" y="1488"/>
              <a:ext cx="20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45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196636" name="Group 28"/>
          <p:cNvGrpSpPr>
            <a:grpSpLocks/>
          </p:cNvGrpSpPr>
          <p:nvPr/>
        </p:nvGrpSpPr>
        <p:grpSpPr bwMode="auto">
          <a:xfrm>
            <a:off x="8210550" y="4624389"/>
            <a:ext cx="1460500" cy="257175"/>
            <a:chOff x="880" y="1488"/>
            <a:chExt cx="1233" cy="190"/>
          </a:xfrm>
        </p:grpSpPr>
        <p:sp>
          <p:nvSpPr>
            <p:cNvPr id="196637" name="Rectangle 29"/>
            <p:cNvSpPr>
              <a:spLocks noChangeArrowheads="1"/>
            </p:cNvSpPr>
            <p:nvPr/>
          </p:nvSpPr>
          <p:spPr bwMode="auto">
            <a:xfrm>
              <a:off x="1737" y="1488"/>
              <a:ext cx="376" cy="19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38" name="Rectangle 30"/>
            <p:cNvSpPr>
              <a:spLocks noChangeArrowheads="1"/>
            </p:cNvSpPr>
            <p:nvPr/>
          </p:nvSpPr>
          <p:spPr bwMode="auto">
            <a:xfrm>
              <a:off x="1237" y="1499"/>
              <a:ext cx="39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39" name="Rectangle 31"/>
            <p:cNvSpPr>
              <a:spLocks noChangeArrowheads="1"/>
            </p:cNvSpPr>
            <p:nvPr/>
          </p:nvSpPr>
          <p:spPr bwMode="auto">
            <a:xfrm>
              <a:off x="880" y="1497"/>
              <a:ext cx="82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integer2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6640" name="Rectangle 32"/>
            <p:cNvSpPr>
              <a:spLocks noChangeArrowheads="1"/>
            </p:cNvSpPr>
            <p:nvPr/>
          </p:nvSpPr>
          <p:spPr bwMode="auto">
            <a:xfrm>
              <a:off x="1824" y="1488"/>
              <a:ext cx="2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72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196641" name="Group 33"/>
          <p:cNvGrpSpPr>
            <a:grpSpLocks/>
          </p:cNvGrpSpPr>
          <p:nvPr/>
        </p:nvGrpSpPr>
        <p:grpSpPr bwMode="auto">
          <a:xfrm>
            <a:off x="8210550" y="5270501"/>
            <a:ext cx="1460500" cy="257175"/>
            <a:chOff x="880" y="1488"/>
            <a:chExt cx="1233" cy="190"/>
          </a:xfrm>
        </p:grpSpPr>
        <p:sp>
          <p:nvSpPr>
            <p:cNvPr id="196642" name="Rectangle 34"/>
            <p:cNvSpPr>
              <a:spLocks noChangeArrowheads="1"/>
            </p:cNvSpPr>
            <p:nvPr/>
          </p:nvSpPr>
          <p:spPr bwMode="auto">
            <a:xfrm>
              <a:off x="1737" y="1488"/>
              <a:ext cx="376" cy="19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43" name="Rectangle 35"/>
            <p:cNvSpPr>
              <a:spLocks noChangeArrowheads="1"/>
            </p:cNvSpPr>
            <p:nvPr/>
          </p:nvSpPr>
          <p:spPr bwMode="auto">
            <a:xfrm>
              <a:off x="1237" y="1499"/>
              <a:ext cx="39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4" name="Rectangle 36"/>
            <p:cNvSpPr>
              <a:spLocks noChangeArrowheads="1"/>
            </p:cNvSpPr>
            <p:nvPr/>
          </p:nvSpPr>
          <p:spPr bwMode="auto">
            <a:xfrm>
              <a:off x="880" y="1497"/>
              <a:ext cx="82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integer1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6645" name="Rectangle 37"/>
            <p:cNvSpPr>
              <a:spLocks noChangeArrowheads="1"/>
            </p:cNvSpPr>
            <p:nvPr/>
          </p:nvSpPr>
          <p:spPr bwMode="auto">
            <a:xfrm>
              <a:off x="1824" y="1488"/>
              <a:ext cx="2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45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196646" name="Group 38"/>
          <p:cNvGrpSpPr>
            <a:grpSpLocks/>
          </p:cNvGrpSpPr>
          <p:nvPr/>
        </p:nvGrpSpPr>
        <p:grpSpPr bwMode="auto">
          <a:xfrm>
            <a:off x="8210550" y="5659435"/>
            <a:ext cx="1460500" cy="261214"/>
            <a:chOff x="880" y="1488"/>
            <a:chExt cx="1233" cy="194"/>
          </a:xfrm>
        </p:grpSpPr>
        <p:sp>
          <p:nvSpPr>
            <p:cNvPr id="196647" name="Rectangle 39"/>
            <p:cNvSpPr>
              <a:spLocks noChangeArrowheads="1"/>
            </p:cNvSpPr>
            <p:nvPr/>
          </p:nvSpPr>
          <p:spPr bwMode="auto">
            <a:xfrm>
              <a:off x="1737" y="1488"/>
              <a:ext cx="376" cy="19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48" name="Rectangle 40"/>
            <p:cNvSpPr>
              <a:spLocks noChangeArrowheads="1"/>
            </p:cNvSpPr>
            <p:nvPr/>
          </p:nvSpPr>
          <p:spPr bwMode="auto">
            <a:xfrm>
              <a:off x="1237" y="1499"/>
              <a:ext cx="39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9" name="Rectangle 41"/>
            <p:cNvSpPr>
              <a:spLocks noChangeArrowheads="1"/>
            </p:cNvSpPr>
            <p:nvPr/>
          </p:nvSpPr>
          <p:spPr bwMode="auto">
            <a:xfrm>
              <a:off x="880" y="1499"/>
              <a:ext cx="83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integer2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6650" name="Rectangle 42"/>
            <p:cNvSpPr>
              <a:spLocks noChangeArrowheads="1"/>
            </p:cNvSpPr>
            <p:nvPr/>
          </p:nvSpPr>
          <p:spPr bwMode="auto">
            <a:xfrm>
              <a:off x="1824" y="1488"/>
              <a:ext cx="20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72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196651" name="Group 43"/>
          <p:cNvGrpSpPr>
            <a:grpSpLocks/>
          </p:cNvGrpSpPr>
          <p:nvPr/>
        </p:nvGrpSpPr>
        <p:grpSpPr bwMode="auto">
          <a:xfrm>
            <a:off x="8632825" y="6061076"/>
            <a:ext cx="1065594" cy="258763"/>
            <a:chOff x="3813" y="3514"/>
            <a:chExt cx="899" cy="191"/>
          </a:xfrm>
        </p:grpSpPr>
        <p:sp>
          <p:nvSpPr>
            <p:cNvPr id="196652" name="Rectangle 44"/>
            <p:cNvSpPr>
              <a:spLocks noChangeArrowheads="1"/>
            </p:cNvSpPr>
            <p:nvPr/>
          </p:nvSpPr>
          <p:spPr bwMode="auto">
            <a:xfrm>
              <a:off x="4313" y="3514"/>
              <a:ext cx="376" cy="19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3" name="Rectangle 45"/>
            <p:cNvSpPr>
              <a:spLocks noChangeArrowheads="1"/>
            </p:cNvSpPr>
            <p:nvPr/>
          </p:nvSpPr>
          <p:spPr bwMode="auto">
            <a:xfrm>
              <a:off x="3813" y="3525"/>
              <a:ext cx="39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54" name="Rectangle 46"/>
            <p:cNvSpPr>
              <a:spLocks noChangeArrowheads="1"/>
            </p:cNvSpPr>
            <p:nvPr/>
          </p:nvSpPr>
          <p:spPr bwMode="auto">
            <a:xfrm>
              <a:off x="3888" y="3525"/>
              <a:ext cx="3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sum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6655" name="Rectangle 47"/>
            <p:cNvSpPr>
              <a:spLocks noChangeArrowheads="1"/>
            </p:cNvSpPr>
            <p:nvPr/>
          </p:nvSpPr>
          <p:spPr bwMode="auto">
            <a:xfrm>
              <a:off x="4400" y="3514"/>
              <a:ext cx="31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solidFill>
                    <a:srgbClr val="000000"/>
                  </a:solidFill>
                  <a:latin typeface="Courier New" panose="02070309020205020404" pitchFamily="49" charset="0"/>
                </a:rPr>
                <a:t>117</a:t>
              </a:r>
              <a:endParaRPr lang="en-US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822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55BB7-443E-432C-B551-48F04341C7F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Arithmetic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19200"/>
            <a:ext cx="7772400" cy="5030788"/>
          </a:xfrm>
        </p:spPr>
        <p:txBody>
          <a:bodyPr/>
          <a:lstStyle/>
          <a:p>
            <a:r>
              <a:rPr lang="en-US" altLang="en-US"/>
              <a:t>Arithmetic calculations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*</a:t>
            </a:r>
            <a:r>
              <a:rPr lang="en-US" altLang="en-US"/>
              <a:t> : Multiplication 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/</a:t>
            </a:r>
            <a:r>
              <a:rPr lang="en-US" altLang="en-US"/>
              <a:t> : Division</a:t>
            </a:r>
          </a:p>
          <a:p>
            <a:pPr lvl="2"/>
            <a:r>
              <a:rPr lang="en-US" altLang="en-US"/>
              <a:t>Integer division truncates remainder</a:t>
            </a:r>
          </a:p>
          <a:p>
            <a:pPr lvl="3"/>
            <a:r>
              <a:rPr lang="en-US" altLang="en-US" b="1">
                <a:latin typeface="Courier New" panose="02070309020205020404" pitchFamily="49" charset="0"/>
              </a:rPr>
              <a:t>7 / 5</a:t>
            </a:r>
            <a:r>
              <a:rPr lang="en-US" altLang="en-US"/>
              <a:t> evaluates to 1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%</a:t>
            </a:r>
            <a:r>
              <a:rPr lang="en-US" altLang="en-US"/>
              <a:t> : Modulus operator returns remainder </a:t>
            </a:r>
          </a:p>
          <a:p>
            <a:pPr lvl="3"/>
            <a:r>
              <a:rPr lang="en-US" altLang="en-US" b="1">
                <a:latin typeface="Courier New" panose="02070309020205020404" pitchFamily="49" charset="0"/>
              </a:rPr>
              <a:t>7 % 5</a:t>
            </a:r>
            <a:r>
              <a:rPr lang="en-US" altLang="en-US"/>
              <a:t> evaluates to 2</a:t>
            </a:r>
          </a:p>
        </p:txBody>
      </p:sp>
      <p:graphicFrame>
        <p:nvGraphicFramePr>
          <p:cNvPr id="197637" name="Object 5"/>
          <p:cNvGraphicFramePr>
            <a:graphicFrameLocks noChangeAspect="1"/>
          </p:cNvGraphicFramePr>
          <p:nvPr/>
        </p:nvGraphicFramePr>
        <p:xfrm>
          <a:off x="2157414" y="4108451"/>
          <a:ext cx="7824787" cy="360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Document" r:id="rId3" imgW="7802280" imgH="3603960" progId="Word.Document.8">
                  <p:embed/>
                </p:oleObj>
              </mc:Choice>
              <mc:Fallback>
                <p:oleObj name="Document" r:id="rId3" imgW="7802280" imgH="3603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4" y="4108451"/>
                        <a:ext cx="7824787" cy="360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889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87224C-3ADC-416A-A73A-6280D08AF8EB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Decision Making: Equality and Relational Operators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/>
              <a:t> structure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Make decision based on truth or falsity of condition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condition met, body executed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Else, body not executed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Equality and relational operators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Equality operators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Same level of precedence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Relational operators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Same level of precedence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Associate left to right</a:t>
            </a:r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using</a:t>
            </a:r>
            <a:r>
              <a:rPr lang="en-US" altLang="en-US"/>
              <a:t> statements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Eliminate use of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std::</a:t>
            </a:r>
            <a:r>
              <a:rPr lang="en-US" altLang="en-US"/>
              <a:t> prefix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Write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  <a:r>
              <a:rPr lang="en-US" altLang="en-US"/>
              <a:t>instead of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std::cout</a:t>
            </a:r>
            <a:endParaRPr lang="en-US" altLang="en-US">
              <a:solidFill>
                <a:srgbClr val="009999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934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A80291-F6B2-4451-9F34-8BCD450665D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Decision Making: Equality and Relational Operators</a:t>
            </a:r>
          </a:p>
        </p:txBody>
      </p:sp>
      <p:graphicFrame>
        <p:nvGraphicFramePr>
          <p:cNvPr id="200707" name="Object 3"/>
          <p:cNvGraphicFramePr>
            <a:graphicFrameLocks noChangeAspect="1"/>
          </p:cNvGraphicFramePr>
          <p:nvPr>
            <p:ph type="body" idx="1"/>
          </p:nvPr>
        </p:nvGraphicFramePr>
        <p:xfrm>
          <a:off x="230187" y="1974850"/>
          <a:ext cx="11693526" cy="442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Document" r:id="rId3" imgW="6283792" imgH="2377479" progId="Word.Document.8">
                  <p:embed/>
                </p:oleObj>
              </mc:Choice>
              <mc:Fallback>
                <p:oleObj name="Document" r:id="rId3" imgW="6283792" imgH="23774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" y="1974850"/>
                        <a:ext cx="11693526" cy="442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131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C56016-D0F0-4C7D-81EB-DDABFA448F04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Algorithms</a:t>
            </a:r>
            <a:r>
              <a:rPr lang="en-US" altLang="en-US" noProof="1"/>
              <a:t>	</a:t>
            </a:r>
            <a:endParaRPr lang="en-US" altLang="en-US"/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Computing problems</a:t>
            </a:r>
          </a:p>
          <a:p>
            <a:pPr lvl="1"/>
            <a:r>
              <a:rPr lang="en-US" altLang="en-US"/>
              <a:t>Solved by executing a series of actions in a specific order</a:t>
            </a:r>
          </a:p>
          <a:p>
            <a:r>
              <a:rPr lang="en-US" altLang="en-US"/>
              <a:t>Algorithm a procedure determining</a:t>
            </a:r>
          </a:p>
          <a:p>
            <a:pPr lvl="1"/>
            <a:r>
              <a:rPr lang="en-US" altLang="en-US"/>
              <a:t>Actions to be executed </a:t>
            </a:r>
          </a:p>
          <a:p>
            <a:pPr lvl="1"/>
            <a:r>
              <a:rPr lang="en-US" altLang="en-US"/>
              <a:t>Order to be executed</a:t>
            </a:r>
          </a:p>
          <a:p>
            <a:pPr lvl="1"/>
            <a:r>
              <a:rPr lang="en-US" altLang="en-US"/>
              <a:t>Example: recipe</a:t>
            </a:r>
          </a:p>
          <a:p>
            <a:r>
              <a:rPr lang="en-US" altLang="en-US"/>
              <a:t>Program control</a:t>
            </a:r>
          </a:p>
          <a:p>
            <a:pPr lvl="1"/>
            <a:r>
              <a:rPr lang="en-US" altLang="en-US"/>
              <a:t>Specifies the order in which statements are executed</a:t>
            </a:r>
          </a:p>
        </p:txBody>
      </p:sp>
    </p:spTree>
    <p:extLst>
      <p:ext uri="{BB962C8B-B14F-4D97-AF65-F5344CB8AC3E}">
        <p14:creationId xmlns:p14="http://schemas.microsoft.com/office/powerpoint/2010/main" val="3450019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FBC413-54DB-4F24-8A02-7294A9B8CD88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Pseudocode	</a:t>
            </a:r>
            <a:endParaRPr lang="en-US" altLang="en-US"/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Pseudocode</a:t>
            </a:r>
          </a:p>
          <a:p>
            <a:pPr lvl="1"/>
            <a:r>
              <a:rPr lang="en-US" altLang="en-US"/>
              <a:t>Artificial, informal language used to develop algorithms</a:t>
            </a:r>
          </a:p>
          <a:p>
            <a:pPr lvl="1"/>
            <a:r>
              <a:rPr lang="en-US" altLang="en-US"/>
              <a:t>Similar to everyday English</a:t>
            </a:r>
          </a:p>
          <a:p>
            <a:r>
              <a:rPr lang="en-US" altLang="en-US"/>
              <a:t>Not executed on computers </a:t>
            </a:r>
          </a:p>
          <a:p>
            <a:pPr lvl="1"/>
            <a:r>
              <a:rPr lang="en-US" altLang="en-US"/>
              <a:t>Used to think out program before coding</a:t>
            </a:r>
          </a:p>
          <a:p>
            <a:pPr lvl="2"/>
            <a:r>
              <a:rPr lang="en-US" altLang="en-US"/>
              <a:t>Easy to convert into C++ program</a:t>
            </a:r>
          </a:p>
          <a:p>
            <a:pPr lvl="1"/>
            <a:r>
              <a:rPr lang="en-US" altLang="en-US"/>
              <a:t>Only executable statements</a:t>
            </a:r>
          </a:p>
          <a:p>
            <a:pPr lvl="2"/>
            <a:r>
              <a:rPr lang="en-US" altLang="en-US"/>
              <a:t>No need to declare variables</a:t>
            </a:r>
          </a:p>
        </p:txBody>
      </p:sp>
    </p:spTree>
    <p:extLst>
      <p:ext uri="{BB962C8B-B14F-4D97-AF65-F5344CB8AC3E}">
        <p14:creationId xmlns:p14="http://schemas.microsoft.com/office/powerpoint/2010/main" val="399179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B6CC66-651A-4214-8112-5DD6A35933E9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Control Structures</a:t>
            </a:r>
            <a:endParaRPr lang="en-US" altLang="en-US"/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/>
              <a:t>Sequential execution</a:t>
            </a:r>
          </a:p>
          <a:p>
            <a:pPr lvl="1"/>
            <a:r>
              <a:rPr lang="en-US" altLang="en-US"/>
              <a:t>Statements executed in order</a:t>
            </a:r>
          </a:p>
          <a:p>
            <a:r>
              <a:rPr lang="en-US" altLang="en-US"/>
              <a:t>Transfer of control</a:t>
            </a:r>
          </a:p>
          <a:p>
            <a:pPr lvl="1"/>
            <a:r>
              <a:rPr lang="en-US" altLang="en-US"/>
              <a:t>Next statement executed </a:t>
            </a:r>
            <a:r>
              <a:rPr lang="en-US" altLang="en-US" i="1"/>
              <a:t>not</a:t>
            </a:r>
            <a:r>
              <a:rPr lang="en-US" altLang="en-US"/>
              <a:t> next one in sequence</a:t>
            </a:r>
          </a:p>
          <a:p>
            <a:pPr lvl="1"/>
            <a:r>
              <a:rPr lang="en-US" altLang="en-US"/>
              <a:t>Structured programming – “goto”-less programming</a:t>
            </a:r>
          </a:p>
          <a:p>
            <a:r>
              <a:rPr lang="en-US" altLang="en-US"/>
              <a:t>3 control structures to build any program</a:t>
            </a:r>
          </a:p>
          <a:p>
            <a:pPr lvl="1"/>
            <a:r>
              <a:rPr lang="en-US" altLang="en-US"/>
              <a:t>Sequence structure</a:t>
            </a:r>
          </a:p>
          <a:p>
            <a:pPr lvl="2"/>
            <a:r>
              <a:rPr lang="en-US" altLang="en-US"/>
              <a:t>Programs executed sequentially by default</a:t>
            </a:r>
          </a:p>
          <a:p>
            <a:pPr lvl="1"/>
            <a:r>
              <a:rPr lang="en-US" altLang="en-US"/>
              <a:t>Selection structures</a:t>
            </a:r>
          </a:p>
          <a:p>
            <a:pPr lvl="2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b="1">
                <a:latin typeface="Courier New" panose="02070309020205020404" pitchFamily="49" charset="0"/>
              </a:rPr>
              <a:t>/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else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switch</a:t>
            </a:r>
            <a:r>
              <a:rPr lang="en-US" altLang="en-US"/>
              <a:t> </a:t>
            </a:r>
          </a:p>
          <a:p>
            <a:pPr lvl="1"/>
            <a:r>
              <a:rPr lang="en-US" altLang="en-US"/>
              <a:t>Repetition structures</a:t>
            </a:r>
          </a:p>
          <a:p>
            <a:pPr lvl="2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do</a:t>
            </a:r>
            <a:r>
              <a:rPr lang="en-US" altLang="en-US" b="1">
                <a:latin typeface="Courier New" panose="02070309020205020404" pitchFamily="49" charset="0"/>
              </a:rPr>
              <a:t>/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for</a:t>
            </a:r>
          </a:p>
        </p:txBody>
      </p:sp>
    </p:spTree>
    <p:extLst>
      <p:ext uri="{BB962C8B-B14F-4D97-AF65-F5344CB8AC3E}">
        <p14:creationId xmlns:p14="http://schemas.microsoft.com/office/powerpoint/2010/main" val="311650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A30943-6C64-411E-927F-CB693DE0FA63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Keywords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C++ keywords</a:t>
            </a:r>
          </a:p>
          <a:p>
            <a:pPr lvl="1"/>
            <a:r>
              <a:rPr lang="en-US" altLang="en-US"/>
              <a:t>Cannot be used as identifiers or variable names</a:t>
            </a:r>
          </a:p>
          <a:p>
            <a:endParaRPr lang="en-US" altLang="en-US"/>
          </a:p>
        </p:txBody>
      </p:sp>
      <p:graphicFrame>
        <p:nvGraphicFramePr>
          <p:cNvPr id="413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008679"/>
              </p:ext>
            </p:extLst>
          </p:nvPr>
        </p:nvGraphicFramePr>
        <p:xfrm>
          <a:off x="2209800" y="2743200"/>
          <a:ext cx="7453313" cy="506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Document" r:id="rId3" imgW="7418880" imgH="5664600" progId="Word.Document.8">
                  <p:embed/>
                </p:oleObj>
              </mc:Choice>
              <mc:Fallback>
                <p:oleObj name="Document" r:id="rId3" imgW="7418880" imgH="5664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743200"/>
                        <a:ext cx="7453313" cy="506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7703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A700B7-042C-45C2-9137-592BF3FAFAAD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Control Structures</a:t>
            </a:r>
            <a:endParaRPr lang="en-US" alt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Flowchart</a:t>
            </a:r>
          </a:p>
          <a:p>
            <a:pPr lvl="1"/>
            <a:r>
              <a:rPr lang="en-US" altLang="en-US"/>
              <a:t>Graphical representation of an algorithm</a:t>
            </a:r>
          </a:p>
          <a:p>
            <a:pPr lvl="1"/>
            <a:r>
              <a:rPr lang="en-US" altLang="en-US"/>
              <a:t>Special-purpose symbols connected by arrows (flowlines)</a:t>
            </a:r>
          </a:p>
          <a:p>
            <a:pPr lvl="1"/>
            <a:r>
              <a:rPr lang="en-US" altLang="en-US"/>
              <a:t>Rectangle symbol (action symbol)</a:t>
            </a:r>
          </a:p>
          <a:p>
            <a:pPr lvl="2"/>
            <a:r>
              <a:rPr lang="en-US" altLang="en-US"/>
              <a:t>Any type of action</a:t>
            </a:r>
          </a:p>
          <a:p>
            <a:pPr lvl="1"/>
            <a:r>
              <a:rPr lang="en-US" altLang="en-US"/>
              <a:t>Oval symbol</a:t>
            </a:r>
          </a:p>
          <a:p>
            <a:pPr lvl="2"/>
            <a:r>
              <a:rPr lang="en-US" altLang="en-US"/>
              <a:t>Beginning or end of a program, or a section of code (circles) </a:t>
            </a:r>
          </a:p>
          <a:p>
            <a:r>
              <a:rPr lang="en-US" altLang="en-US"/>
              <a:t>Single-entry/single-exit control structures </a:t>
            </a:r>
          </a:p>
          <a:p>
            <a:pPr lvl="1"/>
            <a:r>
              <a:rPr lang="en-US" altLang="en-US"/>
              <a:t>Connect exit point of one to entry point of the next</a:t>
            </a:r>
          </a:p>
          <a:p>
            <a:pPr lvl="1"/>
            <a:r>
              <a:rPr lang="en-US" altLang="en-US"/>
              <a:t>Control structure stacking</a:t>
            </a:r>
          </a:p>
        </p:txBody>
      </p:sp>
    </p:spTree>
    <p:extLst>
      <p:ext uri="{BB962C8B-B14F-4D97-AF65-F5344CB8AC3E}">
        <p14:creationId xmlns:p14="http://schemas.microsoft.com/office/powerpoint/2010/main" val="361552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D87581-F95B-468B-9666-81A1940A8CF6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if</a:t>
            </a:r>
            <a:r>
              <a:rPr lang="en-US" altLang="en-US" noProof="1"/>
              <a:t> Selection Structure</a:t>
            </a:r>
            <a:endParaRPr lang="en-US" altLang="en-US"/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Selection structure</a:t>
            </a:r>
          </a:p>
          <a:p>
            <a:pPr lvl="1"/>
            <a:r>
              <a:rPr lang="en-US" altLang="en-US"/>
              <a:t>Choose among alternative courses of action</a:t>
            </a:r>
          </a:p>
          <a:p>
            <a:pPr lvl="1"/>
            <a:r>
              <a:rPr lang="en-US" altLang="en-US"/>
              <a:t>Pseudocode example: </a:t>
            </a:r>
          </a:p>
          <a:p>
            <a:pPr lvl="3"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If student’s grade is greater than or equal to 60</a:t>
            </a:r>
          </a:p>
          <a:p>
            <a:pPr lvl="3"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	Print “Passed”</a:t>
            </a:r>
          </a:p>
          <a:p>
            <a:pPr lvl="1"/>
            <a:r>
              <a:rPr lang="en-US" altLang="en-US"/>
              <a:t>If the condition is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true</a:t>
            </a:r>
          </a:p>
          <a:p>
            <a:pPr lvl="2"/>
            <a:r>
              <a:rPr lang="en-US" altLang="en-US"/>
              <a:t>Print statement executed, program continues to next statement</a:t>
            </a:r>
          </a:p>
          <a:p>
            <a:pPr lvl="1"/>
            <a:r>
              <a:rPr lang="en-US" altLang="en-US"/>
              <a:t>If the condition is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false</a:t>
            </a:r>
          </a:p>
          <a:p>
            <a:pPr lvl="2"/>
            <a:r>
              <a:rPr lang="en-US" altLang="en-US"/>
              <a:t>Print statement ignored, program continues</a:t>
            </a:r>
          </a:p>
          <a:p>
            <a:pPr lvl="1"/>
            <a:r>
              <a:rPr lang="en-US" altLang="en-US"/>
              <a:t>Indenting makes programs easier to read</a:t>
            </a:r>
          </a:p>
          <a:p>
            <a:pPr lvl="2"/>
            <a:r>
              <a:rPr lang="en-US" altLang="en-US"/>
              <a:t>C++ ignores whitespace characters (tabs, spaces, etc.)</a:t>
            </a:r>
          </a:p>
        </p:txBody>
      </p:sp>
    </p:spTree>
    <p:extLst>
      <p:ext uri="{BB962C8B-B14F-4D97-AF65-F5344CB8AC3E}">
        <p14:creationId xmlns:p14="http://schemas.microsoft.com/office/powerpoint/2010/main" val="1254673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029133-224E-4423-8EB2-EFFC20E7EFFE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if</a:t>
            </a:r>
            <a:r>
              <a:rPr lang="en-US" altLang="en-US" noProof="1"/>
              <a:t> Selection Structure</a:t>
            </a:r>
            <a:endParaRPr lang="en-US" altLang="en-US"/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Translation into C++</a:t>
            </a:r>
          </a:p>
          <a:p>
            <a:pPr lvl="3"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If student’s grade is greater than or equal to 60</a:t>
            </a:r>
          </a:p>
          <a:p>
            <a:pPr lvl="3"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	Print “Passed”</a:t>
            </a:r>
            <a:br>
              <a:rPr lang="en-US" altLang="en-US" i="1">
                <a:solidFill>
                  <a:schemeClr val="accent2"/>
                </a:solidFill>
              </a:rPr>
            </a:br>
            <a:endParaRPr lang="en-US" altLang="en-US"/>
          </a:p>
          <a:p>
            <a:pPr lvl="3">
              <a:buFontTx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anose="02070309020205020404" pitchFamily="49" charset="0"/>
              </a:rPr>
              <a:t>if ( grade &gt;= 60 ) 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   cout &lt;&lt; "Passed"; </a:t>
            </a:r>
          </a:p>
          <a:p>
            <a:r>
              <a:rPr lang="en-US" altLang="en-US"/>
              <a:t>Diamond symbol (decision symbol)</a:t>
            </a:r>
          </a:p>
          <a:p>
            <a:pPr lvl="1"/>
            <a:r>
              <a:rPr lang="en-US" altLang="en-US"/>
              <a:t>Indicates decision is to be made</a:t>
            </a:r>
          </a:p>
          <a:p>
            <a:pPr lvl="1"/>
            <a:r>
              <a:rPr lang="en-US" altLang="en-US"/>
              <a:t>Contains an expression that can be true or false</a:t>
            </a:r>
          </a:p>
          <a:p>
            <a:pPr lvl="2"/>
            <a:r>
              <a:rPr lang="en-US" altLang="en-US"/>
              <a:t>Test condition, follow path</a:t>
            </a:r>
          </a:p>
          <a:p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/>
              <a:t> structure </a:t>
            </a:r>
          </a:p>
          <a:p>
            <a:pPr lvl="1"/>
            <a:r>
              <a:rPr lang="en-US" altLang="en-US"/>
              <a:t>Single-entry/single-exit</a:t>
            </a:r>
          </a:p>
        </p:txBody>
      </p:sp>
      <p:sp>
        <p:nvSpPr>
          <p:cNvPr id="416772" name="Rectangle 4"/>
          <p:cNvSpPr>
            <a:spLocks noChangeArrowheads="1"/>
          </p:cNvSpPr>
          <p:nvPr/>
        </p:nvSpPr>
        <p:spPr bwMode="auto">
          <a:xfrm>
            <a:off x="1524000" y="1546225"/>
            <a:ext cx="548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6773" name="Rectangle 5"/>
          <p:cNvSpPr>
            <a:spLocks noChangeArrowheads="1"/>
          </p:cNvSpPr>
          <p:nvPr/>
        </p:nvSpPr>
        <p:spPr bwMode="auto">
          <a:xfrm>
            <a:off x="1524000" y="3724276"/>
            <a:ext cx="5486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altLang="en-US" sz="1200">
              <a:latin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124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F9353-E8F9-498A-BECC-7C855DFDEB9B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if </a:t>
            </a:r>
            <a:r>
              <a:rPr lang="en-US" altLang="en-US" noProof="1"/>
              <a:t>Selection Structure</a:t>
            </a:r>
            <a:endParaRPr lang="en-US" altLang="en-US"/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Flowchart of pseudocode statement</a:t>
            </a:r>
          </a:p>
        </p:txBody>
      </p:sp>
      <p:grpSp>
        <p:nvGrpSpPr>
          <p:cNvPr id="417796" name="Group 4"/>
          <p:cNvGrpSpPr>
            <a:grpSpLocks/>
          </p:cNvGrpSpPr>
          <p:nvPr/>
        </p:nvGrpSpPr>
        <p:grpSpPr bwMode="auto">
          <a:xfrm>
            <a:off x="2286000" y="2133601"/>
            <a:ext cx="7467600" cy="2798763"/>
            <a:chOff x="672" y="2016"/>
            <a:chExt cx="4704" cy="1763"/>
          </a:xfrm>
        </p:grpSpPr>
        <p:grpSp>
          <p:nvGrpSpPr>
            <p:cNvPr id="417797" name="Group 5"/>
            <p:cNvGrpSpPr>
              <a:grpSpLocks/>
            </p:cNvGrpSpPr>
            <p:nvPr/>
          </p:nvGrpSpPr>
          <p:grpSpPr bwMode="auto">
            <a:xfrm>
              <a:off x="672" y="2016"/>
              <a:ext cx="2760" cy="1763"/>
              <a:chOff x="696" y="2523"/>
              <a:chExt cx="1488" cy="824"/>
            </a:xfrm>
          </p:grpSpPr>
          <p:sp>
            <p:nvSpPr>
              <p:cNvPr id="417798" name="Freeform 6"/>
              <p:cNvSpPr>
                <a:spLocks/>
              </p:cNvSpPr>
              <p:nvPr/>
            </p:nvSpPr>
            <p:spPr bwMode="auto">
              <a:xfrm>
                <a:off x="1080" y="2571"/>
                <a:ext cx="0" cy="192"/>
              </a:xfrm>
              <a:custGeom>
                <a:avLst/>
                <a:gdLst>
                  <a:gd name="T0" fmla="*/ 0 w 20000"/>
                  <a:gd name="T1" fmla="*/ 19958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58"/>
                    </a:move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799" name="Freeform 7"/>
              <p:cNvSpPr>
                <a:spLocks/>
              </p:cNvSpPr>
              <p:nvPr/>
            </p:nvSpPr>
            <p:spPr bwMode="auto">
              <a:xfrm>
                <a:off x="1080" y="3107"/>
                <a:ext cx="0" cy="192"/>
              </a:xfrm>
              <a:custGeom>
                <a:avLst/>
                <a:gdLst>
                  <a:gd name="T0" fmla="*/ 0 w 20000"/>
                  <a:gd name="T1" fmla="*/ 19958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58"/>
                    </a:move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800" name="Oval 8"/>
              <p:cNvSpPr>
                <a:spLocks noChangeArrowheads="1"/>
              </p:cNvSpPr>
              <p:nvPr/>
            </p:nvSpPr>
            <p:spPr bwMode="auto">
              <a:xfrm>
                <a:off x="1056" y="2523"/>
                <a:ext cx="48" cy="48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801" name="Oval 9"/>
              <p:cNvSpPr>
                <a:spLocks noChangeArrowheads="1"/>
              </p:cNvSpPr>
              <p:nvPr/>
            </p:nvSpPr>
            <p:spPr bwMode="auto">
              <a:xfrm>
                <a:off x="1056" y="3299"/>
                <a:ext cx="48" cy="48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802" name="Freeform 10"/>
              <p:cNvSpPr>
                <a:spLocks/>
              </p:cNvSpPr>
              <p:nvPr/>
            </p:nvSpPr>
            <p:spPr bwMode="auto">
              <a:xfrm>
                <a:off x="1464" y="2935"/>
                <a:ext cx="192" cy="0"/>
              </a:xfrm>
              <a:custGeom>
                <a:avLst/>
                <a:gdLst>
                  <a:gd name="T0" fmla="*/ 19958 w 20000"/>
                  <a:gd name="T1" fmla="*/ 0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19958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803" name="Freeform 11"/>
              <p:cNvSpPr>
                <a:spLocks/>
              </p:cNvSpPr>
              <p:nvPr/>
            </p:nvSpPr>
            <p:spPr bwMode="auto">
              <a:xfrm>
                <a:off x="1086" y="3152"/>
                <a:ext cx="864" cy="0"/>
              </a:xfrm>
              <a:custGeom>
                <a:avLst/>
                <a:gdLst>
                  <a:gd name="T0" fmla="*/ 19991 w 20000"/>
                  <a:gd name="T1" fmla="*/ 0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19991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804" name="Freeform 12"/>
              <p:cNvSpPr>
                <a:spLocks/>
              </p:cNvSpPr>
              <p:nvPr/>
            </p:nvSpPr>
            <p:spPr bwMode="auto">
              <a:xfrm>
                <a:off x="1944" y="2984"/>
                <a:ext cx="0" cy="16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19952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0" y="1995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805" name="Rectangle 13"/>
              <p:cNvSpPr>
                <a:spLocks noChangeArrowheads="1"/>
              </p:cNvSpPr>
              <p:nvPr/>
            </p:nvSpPr>
            <p:spPr bwMode="auto">
              <a:xfrm>
                <a:off x="1474" y="2854"/>
                <a:ext cx="170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AvantGarde" pitchFamily="34" charset="0"/>
                  </a:rPr>
                  <a:t>true</a:t>
                </a:r>
                <a:endPara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7806" name="Rectangle 14"/>
              <p:cNvSpPr>
                <a:spLocks noChangeArrowheads="1"/>
              </p:cNvSpPr>
              <p:nvPr/>
            </p:nvSpPr>
            <p:spPr bwMode="auto">
              <a:xfrm>
                <a:off x="930" y="3170"/>
                <a:ext cx="208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AvantGarde" pitchFamily="34" charset="0"/>
                  </a:rPr>
                  <a:t>false</a:t>
                </a:r>
                <a:endParaRPr lang="en-US" altLang="en-US" sz="16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7807" name="Group 15"/>
              <p:cNvGrpSpPr>
                <a:grpSpLocks/>
              </p:cNvGrpSpPr>
              <p:nvPr/>
            </p:nvGrpSpPr>
            <p:grpSpPr bwMode="auto">
              <a:xfrm>
                <a:off x="696" y="2763"/>
                <a:ext cx="768" cy="344"/>
                <a:chOff x="0" y="0"/>
                <a:chExt cx="20000" cy="20000"/>
              </a:xfrm>
            </p:grpSpPr>
            <p:sp>
              <p:nvSpPr>
                <p:cNvPr id="417808" name="Freeform 16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90 w 20000"/>
                    <a:gd name="T1" fmla="*/ 10000 h 20000"/>
                    <a:gd name="T2" fmla="*/ 9990 w 20000"/>
                    <a:gd name="T3" fmla="*/ 19977 h 20000"/>
                    <a:gd name="T4" fmla="*/ 0 w 20000"/>
                    <a:gd name="T5" fmla="*/ 10000 h 20000"/>
                    <a:gd name="T6" fmla="*/ 9990 w 20000"/>
                    <a:gd name="T7" fmla="*/ 0 h 20000"/>
                    <a:gd name="T8" fmla="*/ 19990 w 20000"/>
                    <a:gd name="T9" fmla="*/ 1000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90" y="10000"/>
                      </a:moveTo>
                      <a:lnTo>
                        <a:pt x="9990" y="19977"/>
                      </a:lnTo>
                      <a:lnTo>
                        <a:pt x="0" y="10000"/>
                      </a:lnTo>
                      <a:lnTo>
                        <a:pt x="9990" y="0"/>
                      </a:lnTo>
                      <a:lnTo>
                        <a:pt x="19990" y="100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809" name="Rectangle 17"/>
                <p:cNvSpPr>
                  <a:spLocks noChangeArrowheads="1"/>
                </p:cNvSpPr>
                <p:nvPr/>
              </p:nvSpPr>
              <p:spPr bwMode="auto">
                <a:xfrm>
                  <a:off x="4365" y="8372"/>
                  <a:ext cx="11260" cy="4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algn="ctr" eaLnBrk="1" hangingPunct="1"/>
                  <a:r>
                    <a:rPr lang="en-US" altLang="en-US" sz="1600">
                      <a:solidFill>
                        <a:srgbClr val="000000"/>
                      </a:solidFill>
                      <a:latin typeface="AvantGarde" pitchFamily="34" charset="0"/>
                    </a:rPr>
                    <a:t>grade &gt;= 60</a:t>
                  </a:r>
                  <a:endParaRPr lang="en-US" altLang="en-US" sz="1600">
                    <a:solidFill>
                      <a:srgbClr val="000000"/>
                    </a:solidFill>
                    <a:latin typeface="Times" panose="02020603050405020304" pitchFamily="18" charset="0"/>
                  </a:endParaRPr>
                </a:p>
                <a:p>
                  <a:endParaRPr lang="en-US" altLang="en-US" sz="16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7810" name="Group 18"/>
              <p:cNvGrpSpPr>
                <a:grpSpLocks/>
              </p:cNvGrpSpPr>
              <p:nvPr/>
            </p:nvGrpSpPr>
            <p:grpSpPr bwMode="auto">
              <a:xfrm>
                <a:off x="1656" y="2887"/>
                <a:ext cx="528" cy="96"/>
                <a:chOff x="0" y="0"/>
                <a:chExt cx="20000" cy="20000"/>
              </a:xfrm>
            </p:grpSpPr>
            <p:sp>
              <p:nvSpPr>
                <p:cNvPr id="417811" name="Freeform 19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5 w 20000"/>
                    <a:gd name="T1" fmla="*/ 0 h 20000"/>
                    <a:gd name="T2" fmla="*/ 19985 w 20000"/>
                    <a:gd name="T3" fmla="*/ 19917 h 20000"/>
                    <a:gd name="T4" fmla="*/ 0 w 20000"/>
                    <a:gd name="T5" fmla="*/ 19917 h 20000"/>
                    <a:gd name="T6" fmla="*/ 0 w 20000"/>
                    <a:gd name="T7" fmla="*/ 0 h 20000"/>
                    <a:gd name="T8" fmla="*/ 19985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85" y="0"/>
                      </a:moveTo>
                      <a:lnTo>
                        <a:pt x="19985" y="19917"/>
                      </a:lnTo>
                      <a:lnTo>
                        <a:pt x="0" y="19917"/>
                      </a:lnTo>
                      <a:lnTo>
                        <a:pt x="0" y="0"/>
                      </a:lnTo>
                      <a:lnTo>
                        <a:pt x="19985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812" name="Rectangle 20"/>
                <p:cNvSpPr>
                  <a:spLocks noChangeArrowheads="1"/>
                </p:cNvSpPr>
                <p:nvPr/>
              </p:nvSpPr>
              <p:spPr bwMode="auto">
                <a:xfrm>
                  <a:off x="1258" y="4583"/>
                  <a:ext cx="17469" cy="14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algn="ctr" eaLnBrk="1" hangingPunct="1"/>
                  <a:r>
                    <a:rPr lang="en-US" altLang="en-US" sz="1400">
                      <a:solidFill>
                        <a:srgbClr val="000000"/>
                      </a:solidFill>
                      <a:latin typeface="AvantGarde" pitchFamily="34" charset="0"/>
                    </a:rPr>
                    <a:t>print “Passed”</a:t>
                  </a:r>
                  <a:endParaRPr lang="en-US" altLang="en-US" sz="1400">
                    <a:solidFill>
                      <a:srgbClr val="000000"/>
                    </a:solidFill>
                    <a:latin typeface="Times" panose="02020603050405020304" pitchFamily="18" charset="0"/>
                  </a:endParaRPr>
                </a:p>
                <a:p>
                  <a:endParaRPr lang="en-US" altLang="en-US" sz="1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17813" name="Text Box 21"/>
            <p:cNvSpPr txBox="1">
              <a:spLocks noChangeArrowheads="1"/>
            </p:cNvSpPr>
            <p:nvPr/>
          </p:nvSpPr>
          <p:spPr bwMode="auto">
            <a:xfrm>
              <a:off x="3696" y="2208"/>
              <a:ext cx="1680" cy="145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A decision can be made on any expression. </a:t>
              </a:r>
            </a:p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zero - </a:t>
              </a:r>
              <a:r>
                <a:rPr lang="en-US" altLang="en-US" b="1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nonzero - </a:t>
              </a:r>
              <a:r>
                <a:rPr lang="en-US" altLang="en-US" b="1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Example:</a:t>
              </a:r>
            </a:p>
            <a:p>
              <a:pPr>
                <a:spcBef>
                  <a:spcPct val="50000"/>
                </a:spcBef>
              </a:pPr>
              <a:r>
                <a:rPr lang="en-US" altLang="en-US" b="1">
                  <a:solidFill>
                    <a:srgbClr val="000000"/>
                  </a:solidFill>
                  <a:latin typeface="Courier New" panose="02070309020205020404" pitchFamily="49" charset="0"/>
                </a:rPr>
                <a:t>3 - 4</a:t>
              </a: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 is</a:t>
              </a: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b="1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56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251C72-63BA-45FF-A2B8-9AF71D48073C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>
                <a:latin typeface="Courier New" panose="02070309020205020404" pitchFamily="49" charset="0"/>
              </a:rPr>
              <a:t>if/else</a:t>
            </a:r>
            <a:r>
              <a:rPr lang="en-US" altLang="en-US" noProof="1"/>
              <a:t> Selection Structure</a:t>
            </a:r>
            <a:endParaRPr lang="en-US" altLang="en-US"/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if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Performs action if condition true</a:t>
            </a:r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if/else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Different actions if conditions true or false</a:t>
            </a:r>
          </a:p>
          <a:p>
            <a:pPr>
              <a:lnSpc>
                <a:spcPct val="90000"/>
              </a:lnSpc>
            </a:pPr>
            <a:r>
              <a:rPr lang="en-US" altLang="en-US"/>
              <a:t>Pseudocode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if student’s grade is greater than or equal to 60</a:t>
            </a:r>
            <a:br>
              <a:rPr lang="en-US" altLang="en-US" i="1">
                <a:solidFill>
                  <a:schemeClr val="accent2"/>
                </a:solidFill>
              </a:rPr>
            </a:br>
            <a:r>
              <a:rPr lang="en-US" altLang="en-US" i="1">
                <a:solidFill>
                  <a:schemeClr val="accent2"/>
                </a:solidFill>
              </a:rPr>
              <a:t>print “Passed”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else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	print “Failed” </a:t>
            </a:r>
          </a:p>
          <a:p>
            <a:pPr>
              <a:lnSpc>
                <a:spcPct val="90000"/>
              </a:lnSpc>
            </a:pPr>
            <a:r>
              <a:rPr lang="en-US" altLang="en-US"/>
              <a:t>C++ code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anose="02070309020205020404" pitchFamily="49" charset="0"/>
              </a:rPr>
              <a:t>if ( grade &gt;= 60 ) 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   cout &lt;&lt; "Passed";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else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   cout &lt;&lt; "Failed";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8423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66EE5-749D-45B8-AF33-71F3628B5434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>
                <a:latin typeface="Courier New" panose="02070309020205020404" pitchFamily="49" charset="0"/>
              </a:rPr>
              <a:t>if/else</a:t>
            </a:r>
            <a:r>
              <a:rPr lang="en-US" altLang="en-US" noProof="1"/>
              <a:t> Selection Structure</a:t>
            </a:r>
            <a:endParaRPr lang="en-US" altLang="en-US"/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Ternary conditional operator (</a:t>
            </a:r>
            <a:r>
              <a:rPr lang="en-US" altLang="en-US" b="1">
                <a:latin typeface="Courier New" panose="02070309020205020404" pitchFamily="49" charset="0"/>
              </a:rPr>
              <a:t>?:</a:t>
            </a:r>
            <a:r>
              <a:rPr lang="en-US" altLang="en-US"/>
              <a:t>)</a:t>
            </a:r>
          </a:p>
          <a:p>
            <a:pPr lvl="1"/>
            <a:r>
              <a:rPr lang="en-US" altLang="en-US"/>
              <a:t>Three arguments (condition, value if </a:t>
            </a:r>
            <a:r>
              <a:rPr lang="en-US" altLang="en-US" b="1">
                <a:latin typeface="Courier New" panose="02070309020205020404" pitchFamily="49" charset="0"/>
              </a:rPr>
              <a:t>true</a:t>
            </a:r>
            <a:r>
              <a:rPr lang="en-US" altLang="en-US"/>
              <a:t>, value if </a:t>
            </a:r>
            <a:r>
              <a:rPr lang="en-US" altLang="en-US" b="1">
                <a:latin typeface="Courier New" panose="02070309020205020404" pitchFamily="49" charset="0"/>
              </a:rPr>
              <a:t>false</a:t>
            </a:r>
            <a:r>
              <a:rPr lang="en-US" altLang="en-US"/>
              <a:t>)</a:t>
            </a:r>
          </a:p>
          <a:p>
            <a:r>
              <a:rPr lang="en-US" altLang="en-US"/>
              <a:t>Code could be written:</a:t>
            </a:r>
          </a:p>
          <a:p>
            <a:pPr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	cout &lt;&lt; ( grade &gt;= 60 ? “Passed” : “Failed” );</a:t>
            </a:r>
          </a:p>
          <a:p>
            <a:endParaRPr lang="en-US" altLang="en-US" sz="1800"/>
          </a:p>
        </p:txBody>
      </p:sp>
      <p:grpSp>
        <p:nvGrpSpPr>
          <p:cNvPr id="419844" name="Group 4"/>
          <p:cNvGrpSpPr>
            <a:grpSpLocks/>
          </p:cNvGrpSpPr>
          <p:nvPr/>
        </p:nvGrpSpPr>
        <p:grpSpPr bwMode="auto">
          <a:xfrm>
            <a:off x="1905000" y="3962400"/>
            <a:ext cx="8458200" cy="2438400"/>
            <a:chOff x="312" y="2345"/>
            <a:chExt cx="2256" cy="954"/>
          </a:xfrm>
        </p:grpSpPr>
        <p:sp>
          <p:nvSpPr>
            <p:cNvPr id="419845" name="Freeform 5"/>
            <p:cNvSpPr>
              <a:spLocks/>
            </p:cNvSpPr>
            <p:nvPr/>
          </p:nvSpPr>
          <p:spPr bwMode="auto">
            <a:xfrm>
              <a:off x="1471" y="3072"/>
              <a:ext cx="836" cy="0"/>
            </a:xfrm>
            <a:custGeom>
              <a:avLst/>
              <a:gdLst>
                <a:gd name="T0" fmla="*/ 19990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90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46" name="Rectangle 6"/>
            <p:cNvSpPr>
              <a:spLocks noChangeArrowheads="1"/>
            </p:cNvSpPr>
            <p:nvPr/>
          </p:nvSpPr>
          <p:spPr bwMode="auto">
            <a:xfrm>
              <a:off x="1841" y="2630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400">
                <a:latin typeface="Courier New" panose="02070309020205020404" pitchFamily="49" charset="0"/>
              </a:endParaRPr>
            </a:p>
          </p:txBody>
        </p:sp>
        <p:sp>
          <p:nvSpPr>
            <p:cNvPr id="419847" name="Freeform 7"/>
            <p:cNvSpPr>
              <a:spLocks/>
            </p:cNvSpPr>
            <p:nvPr/>
          </p:nvSpPr>
          <p:spPr bwMode="auto">
            <a:xfrm>
              <a:off x="580" y="3072"/>
              <a:ext cx="843" cy="0"/>
            </a:xfrm>
            <a:custGeom>
              <a:avLst/>
              <a:gdLst>
                <a:gd name="T0" fmla="*/ 19991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91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48" name="Freeform 8"/>
            <p:cNvSpPr>
              <a:spLocks/>
            </p:cNvSpPr>
            <p:nvPr/>
          </p:nvSpPr>
          <p:spPr bwMode="auto">
            <a:xfrm>
              <a:off x="578" y="2954"/>
              <a:ext cx="0" cy="11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32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49" name="Rectangle 9"/>
            <p:cNvSpPr>
              <a:spLocks noChangeArrowheads="1"/>
            </p:cNvSpPr>
            <p:nvPr/>
          </p:nvSpPr>
          <p:spPr bwMode="auto">
            <a:xfrm>
              <a:off x="891" y="2630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400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400">
                <a:latin typeface="Courier New" panose="02070309020205020404" pitchFamily="49" charset="0"/>
              </a:endParaRPr>
            </a:p>
          </p:txBody>
        </p:sp>
        <p:sp>
          <p:nvSpPr>
            <p:cNvPr id="419850" name="Freeform 10"/>
            <p:cNvSpPr>
              <a:spLocks/>
            </p:cNvSpPr>
            <p:nvPr/>
          </p:nvSpPr>
          <p:spPr bwMode="auto">
            <a:xfrm>
              <a:off x="2304" y="2717"/>
              <a:ext cx="0" cy="141"/>
            </a:xfrm>
            <a:custGeom>
              <a:avLst/>
              <a:gdLst>
                <a:gd name="T0" fmla="*/ 0 w 20000"/>
                <a:gd name="T1" fmla="*/ 19943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3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51" name="Freeform 11"/>
            <p:cNvSpPr>
              <a:spLocks/>
            </p:cNvSpPr>
            <p:nvPr/>
          </p:nvSpPr>
          <p:spPr bwMode="auto">
            <a:xfrm>
              <a:off x="576" y="2717"/>
              <a:ext cx="0" cy="141"/>
            </a:xfrm>
            <a:custGeom>
              <a:avLst/>
              <a:gdLst>
                <a:gd name="T0" fmla="*/ 0 w 20000"/>
                <a:gd name="T1" fmla="*/ 19943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3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52" name="Freeform 12"/>
            <p:cNvSpPr>
              <a:spLocks/>
            </p:cNvSpPr>
            <p:nvPr/>
          </p:nvSpPr>
          <p:spPr bwMode="auto">
            <a:xfrm>
              <a:off x="2306" y="2954"/>
              <a:ext cx="0" cy="11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32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9853" name="Group 13"/>
            <p:cNvGrpSpPr>
              <a:grpSpLocks/>
            </p:cNvGrpSpPr>
            <p:nvPr/>
          </p:nvGrpSpPr>
          <p:grpSpPr bwMode="auto">
            <a:xfrm>
              <a:off x="312" y="2859"/>
              <a:ext cx="528" cy="96"/>
              <a:chOff x="0" y="0"/>
              <a:chExt cx="20000" cy="20000"/>
            </a:xfrm>
          </p:grpSpPr>
          <p:sp>
            <p:nvSpPr>
              <p:cNvPr id="419854" name="Rectangle 14"/>
              <p:cNvSpPr>
                <a:spLocks noChangeArrowheads="1"/>
              </p:cNvSpPr>
              <p:nvPr/>
            </p:nvSpPr>
            <p:spPr bwMode="auto">
              <a:xfrm>
                <a:off x="1985" y="4583"/>
                <a:ext cx="16000" cy="14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4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print “Failed”</a:t>
                </a:r>
              </a:p>
              <a:p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419855" name="Freeform 15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17 h 20000"/>
                  <a:gd name="T4" fmla="*/ 0 w 20000"/>
                  <a:gd name="T5" fmla="*/ 19917 h 20000"/>
                  <a:gd name="T6" fmla="*/ 0 w 20000"/>
                  <a:gd name="T7" fmla="*/ 0 h 20000"/>
                  <a:gd name="T8" fmla="*/ 19985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9856" name="Rectangle 16"/>
            <p:cNvSpPr>
              <a:spLocks noChangeArrowheads="1"/>
            </p:cNvSpPr>
            <p:nvPr/>
          </p:nvSpPr>
          <p:spPr bwMode="auto">
            <a:xfrm>
              <a:off x="2090" y="2881"/>
              <a:ext cx="43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US" altLang="en-US" sz="1400">
                  <a:solidFill>
                    <a:srgbClr val="000000"/>
                  </a:solidFill>
                  <a:latin typeface="Courier New" panose="02070309020205020404" pitchFamily="49" charset="0"/>
                </a:rPr>
                <a:t>print “Passed”</a:t>
              </a:r>
            </a:p>
            <a:p>
              <a:endParaRPr lang="en-US" altLang="en-US" sz="1400">
                <a:latin typeface="Courier New" panose="02070309020205020404" pitchFamily="49" charset="0"/>
              </a:endParaRPr>
            </a:p>
          </p:txBody>
        </p:sp>
        <p:sp>
          <p:nvSpPr>
            <p:cNvPr id="419857" name="Freeform 17"/>
            <p:cNvSpPr>
              <a:spLocks/>
            </p:cNvSpPr>
            <p:nvPr/>
          </p:nvSpPr>
          <p:spPr bwMode="auto">
            <a:xfrm>
              <a:off x="2040" y="2859"/>
              <a:ext cx="528" cy="96"/>
            </a:xfrm>
            <a:custGeom>
              <a:avLst/>
              <a:gdLst>
                <a:gd name="T0" fmla="*/ 19985 w 20000"/>
                <a:gd name="T1" fmla="*/ 0 h 20000"/>
                <a:gd name="T2" fmla="*/ 19985 w 20000"/>
                <a:gd name="T3" fmla="*/ 19917 h 20000"/>
                <a:gd name="T4" fmla="*/ 0 w 20000"/>
                <a:gd name="T5" fmla="*/ 19917 h 20000"/>
                <a:gd name="T6" fmla="*/ 0 w 20000"/>
                <a:gd name="T7" fmla="*/ 0 h 20000"/>
                <a:gd name="T8" fmla="*/ 19985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85" y="0"/>
                  </a:moveTo>
                  <a:lnTo>
                    <a:pt x="19985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85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9858" name="Group 18"/>
            <p:cNvGrpSpPr>
              <a:grpSpLocks/>
            </p:cNvGrpSpPr>
            <p:nvPr/>
          </p:nvGrpSpPr>
          <p:grpSpPr bwMode="auto">
            <a:xfrm>
              <a:off x="1422" y="3050"/>
              <a:ext cx="49" cy="249"/>
              <a:chOff x="-25" y="0"/>
              <a:chExt cx="20049" cy="20000"/>
            </a:xfrm>
          </p:grpSpPr>
          <p:sp>
            <p:nvSpPr>
              <p:cNvPr id="419859" name="Freeform 19"/>
              <p:cNvSpPr>
                <a:spLocks/>
              </p:cNvSpPr>
              <p:nvPr/>
            </p:nvSpPr>
            <p:spPr bwMode="auto">
              <a:xfrm>
                <a:off x="10081" y="3981"/>
                <a:ext cx="163" cy="12135"/>
              </a:xfrm>
              <a:custGeom>
                <a:avLst/>
                <a:gdLst>
                  <a:gd name="T0" fmla="*/ 0 w 20000"/>
                  <a:gd name="T1" fmla="*/ 19947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47"/>
                    </a:move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860" name="Oval 20"/>
              <p:cNvSpPr>
                <a:spLocks noChangeArrowheads="1"/>
              </p:cNvSpPr>
              <p:nvPr/>
            </p:nvSpPr>
            <p:spPr bwMode="auto">
              <a:xfrm>
                <a:off x="-25" y="16116"/>
                <a:ext cx="19723" cy="3884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861" name="Oval 21"/>
              <p:cNvSpPr>
                <a:spLocks noChangeArrowheads="1"/>
              </p:cNvSpPr>
              <p:nvPr/>
            </p:nvSpPr>
            <p:spPr bwMode="auto">
              <a:xfrm>
                <a:off x="301" y="0"/>
                <a:ext cx="19723" cy="3885"/>
              </a:xfrm>
              <a:prstGeom prst="ellips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9862" name="Group 22"/>
            <p:cNvGrpSpPr>
              <a:grpSpLocks/>
            </p:cNvGrpSpPr>
            <p:nvPr/>
          </p:nvGrpSpPr>
          <p:grpSpPr bwMode="auto">
            <a:xfrm>
              <a:off x="576" y="2345"/>
              <a:ext cx="1728" cy="542"/>
              <a:chOff x="1363" y="0"/>
              <a:chExt cx="17280" cy="20001"/>
            </a:xfrm>
          </p:grpSpPr>
          <p:grpSp>
            <p:nvGrpSpPr>
              <p:cNvPr id="419863" name="Group 23"/>
              <p:cNvGrpSpPr>
                <a:grpSpLocks/>
              </p:cNvGrpSpPr>
              <p:nvPr/>
            </p:nvGrpSpPr>
            <p:grpSpPr bwMode="auto">
              <a:xfrm>
                <a:off x="9779" y="0"/>
                <a:ext cx="484" cy="7257"/>
                <a:chOff x="1409" y="0"/>
                <a:chExt cx="17182" cy="20000"/>
              </a:xfrm>
            </p:grpSpPr>
            <p:sp>
              <p:nvSpPr>
                <p:cNvPr id="419864" name="Freeform 24"/>
                <p:cNvSpPr>
                  <a:spLocks/>
                </p:cNvSpPr>
                <p:nvPr/>
              </p:nvSpPr>
              <p:spPr bwMode="auto">
                <a:xfrm>
                  <a:off x="9929" y="5041"/>
                  <a:ext cx="142" cy="14959"/>
                </a:xfrm>
                <a:custGeom>
                  <a:avLst/>
                  <a:gdLst>
                    <a:gd name="T0" fmla="*/ 0 w 20000"/>
                    <a:gd name="T1" fmla="*/ 19946 h 20000"/>
                    <a:gd name="T2" fmla="*/ 0 w 20000"/>
                    <a:gd name="T3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0000" h="20000">
                      <a:moveTo>
                        <a:pt x="0" y="1994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865" name="Oval 25"/>
                <p:cNvSpPr>
                  <a:spLocks noChangeArrowheads="1"/>
                </p:cNvSpPr>
                <p:nvPr/>
              </p:nvSpPr>
              <p:spPr bwMode="auto">
                <a:xfrm>
                  <a:off x="1409" y="0"/>
                  <a:ext cx="17182" cy="4920"/>
                </a:xfrm>
                <a:prstGeom prst="ellips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9866" name="Group 26"/>
              <p:cNvGrpSpPr>
                <a:grpSpLocks/>
              </p:cNvGrpSpPr>
              <p:nvPr/>
            </p:nvGrpSpPr>
            <p:grpSpPr bwMode="auto">
              <a:xfrm>
                <a:off x="1363" y="7257"/>
                <a:ext cx="17280" cy="12744"/>
                <a:chOff x="-2" y="-195"/>
                <a:chExt cx="20002" cy="20390"/>
              </a:xfrm>
            </p:grpSpPr>
            <p:sp>
              <p:nvSpPr>
                <p:cNvPr id="419867" name="Freeform 27"/>
                <p:cNvSpPr>
                  <a:spLocks/>
                </p:cNvSpPr>
                <p:nvPr/>
              </p:nvSpPr>
              <p:spPr bwMode="auto">
                <a:xfrm>
                  <a:off x="14444" y="10000"/>
                  <a:ext cx="5556" cy="24"/>
                </a:xfrm>
                <a:custGeom>
                  <a:avLst/>
                  <a:gdLst>
                    <a:gd name="T0" fmla="*/ 19983 w 20000"/>
                    <a:gd name="T1" fmla="*/ 0 h 20000"/>
                    <a:gd name="T2" fmla="*/ 0 w 20000"/>
                    <a:gd name="T3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0000" h="20000">
                      <a:moveTo>
                        <a:pt x="1998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868" name="Freeform 28"/>
                <p:cNvSpPr>
                  <a:spLocks/>
                </p:cNvSpPr>
                <p:nvPr/>
              </p:nvSpPr>
              <p:spPr bwMode="auto">
                <a:xfrm>
                  <a:off x="-2" y="10000"/>
                  <a:ext cx="5556" cy="24"/>
                </a:xfrm>
                <a:custGeom>
                  <a:avLst/>
                  <a:gdLst>
                    <a:gd name="T0" fmla="*/ 19983 w 20000"/>
                    <a:gd name="T1" fmla="*/ 0 h 20000"/>
                    <a:gd name="T2" fmla="*/ 0 w 20000"/>
                    <a:gd name="T3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0000" h="20000">
                      <a:moveTo>
                        <a:pt x="1998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19869" name="Group 29"/>
                <p:cNvGrpSpPr>
                  <a:grpSpLocks/>
                </p:cNvGrpSpPr>
                <p:nvPr/>
              </p:nvGrpSpPr>
              <p:grpSpPr bwMode="auto">
                <a:xfrm>
                  <a:off x="5536" y="-195"/>
                  <a:ext cx="8889" cy="20390"/>
                  <a:chOff x="0" y="0"/>
                  <a:chExt cx="20000" cy="20000"/>
                </a:xfrm>
              </p:grpSpPr>
              <p:sp>
                <p:nvSpPr>
                  <p:cNvPr id="419870" name="Freeform 30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20000"/>
                  </a:xfrm>
                  <a:custGeom>
                    <a:avLst/>
                    <a:gdLst>
                      <a:gd name="T0" fmla="*/ 19990 w 20000"/>
                      <a:gd name="T1" fmla="*/ 10000 h 20000"/>
                      <a:gd name="T2" fmla="*/ 9990 w 20000"/>
                      <a:gd name="T3" fmla="*/ 19977 h 20000"/>
                      <a:gd name="T4" fmla="*/ 0 w 20000"/>
                      <a:gd name="T5" fmla="*/ 10000 h 20000"/>
                      <a:gd name="T6" fmla="*/ 9990 w 20000"/>
                      <a:gd name="T7" fmla="*/ 0 h 20000"/>
                      <a:gd name="T8" fmla="*/ 19990 w 20000"/>
                      <a:gd name="T9" fmla="*/ 1000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000" h="20000">
                        <a:moveTo>
                          <a:pt x="19990" y="10000"/>
                        </a:moveTo>
                        <a:lnTo>
                          <a:pt x="9990" y="19977"/>
                        </a:lnTo>
                        <a:lnTo>
                          <a:pt x="0" y="10000"/>
                        </a:lnTo>
                        <a:lnTo>
                          <a:pt x="9990" y="0"/>
                        </a:lnTo>
                        <a:lnTo>
                          <a:pt x="19990" y="1000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987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4365" y="8287"/>
                    <a:ext cx="11261" cy="43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pPr algn="ctr" eaLnBrk="1" hangingPunct="1"/>
                    <a:r>
                      <a:rPr lang="en-US" altLang="en-US" sz="1400">
                        <a:solidFill>
                          <a:srgbClr val="000000"/>
                        </a:solidFill>
                        <a:latin typeface="Courier New" panose="02070309020205020404" pitchFamily="49" charset="0"/>
                      </a:rPr>
                      <a:t>grade &gt;= 60</a:t>
                    </a:r>
                  </a:p>
                  <a:p>
                    <a:endParaRPr lang="en-US" altLang="en-US" sz="1400">
                      <a:latin typeface="Courier New" panose="02070309020205020404" pitchFamily="49" charset="0"/>
                    </a:endParaRPr>
                  </a:p>
                </p:txBody>
              </p:sp>
            </p:grpSp>
          </p:grpSp>
        </p:grpSp>
      </p:grpSp>
      <p:grpSp>
        <p:nvGrpSpPr>
          <p:cNvPr id="419872" name="Group 32"/>
          <p:cNvGrpSpPr>
            <a:grpSpLocks/>
          </p:cNvGrpSpPr>
          <p:nvPr/>
        </p:nvGrpSpPr>
        <p:grpSpPr bwMode="auto">
          <a:xfrm>
            <a:off x="3657600" y="2940050"/>
            <a:ext cx="5562600" cy="793750"/>
            <a:chOff x="1344" y="1852"/>
            <a:chExt cx="3504" cy="500"/>
          </a:xfrm>
        </p:grpSpPr>
        <p:sp>
          <p:nvSpPr>
            <p:cNvPr id="419873" name="Text Box 33"/>
            <p:cNvSpPr txBox="1">
              <a:spLocks noChangeArrowheads="1"/>
            </p:cNvSpPr>
            <p:nvPr/>
          </p:nvSpPr>
          <p:spPr bwMode="auto">
            <a:xfrm>
              <a:off x="1344" y="2140"/>
              <a:ext cx="11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Helvetica" panose="020B0604020202020204" pitchFamily="34" charset="0"/>
                </a:rPr>
                <a:t>Condition</a:t>
              </a:r>
            </a:p>
          </p:txBody>
        </p:sp>
        <p:sp>
          <p:nvSpPr>
            <p:cNvPr id="419874" name="Text Box 34"/>
            <p:cNvSpPr txBox="1">
              <a:spLocks noChangeArrowheads="1"/>
            </p:cNvSpPr>
            <p:nvPr/>
          </p:nvSpPr>
          <p:spPr bwMode="auto">
            <a:xfrm>
              <a:off x="2496" y="2140"/>
              <a:ext cx="11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Helvetica" panose="020B0604020202020204" pitchFamily="34" charset="0"/>
                </a:rPr>
                <a:t>Value if true</a:t>
              </a:r>
            </a:p>
          </p:txBody>
        </p:sp>
        <p:sp>
          <p:nvSpPr>
            <p:cNvPr id="419875" name="Text Box 35"/>
            <p:cNvSpPr txBox="1">
              <a:spLocks noChangeArrowheads="1"/>
            </p:cNvSpPr>
            <p:nvPr/>
          </p:nvSpPr>
          <p:spPr bwMode="auto">
            <a:xfrm>
              <a:off x="3696" y="2140"/>
              <a:ext cx="11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Helvetica" panose="020B0604020202020204" pitchFamily="34" charset="0"/>
                </a:rPr>
                <a:t>Value if false</a:t>
              </a:r>
            </a:p>
          </p:txBody>
        </p:sp>
        <p:sp>
          <p:nvSpPr>
            <p:cNvPr id="419876" name="Line 36"/>
            <p:cNvSpPr>
              <a:spLocks noChangeShapeType="1"/>
            </p:cNvSpPr>
            <p:nvPr/>
          </p:nvSpPr>
          <p:spPr bwMode="auto">
            <a:xfrm flipV="1">
              <a:off x="1872" y="18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9877" name="Line 37"/>
            <p:cNvSpPr>
              <a:spLocks noChangeShapeType="1"/>
            </p:cNvSpPr>
            <p:nvPr/>
          </p:nvSpPr>
          <p:spPr bwMode="auto">
            <a:xfrm flipV="1">
              <a:off x="3120" y="18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9878" name="Line 38"/>
            <p:cNvSpPr>
              <a:spLocks noChangeShapeType="1"/>
            </p:cNvSpPr>
            <p:nvPr/>
          </p:nvSpPr>
          <p:spPr bwMode="auto">
            <a:xfrm flipV="1">
              <a:off x="4176" y="18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0663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C6B1E-8BA8-452A-A5A1-771C6ED1DB8B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>
                <a:latin typeface="Courier New" panose="02070309020205020404" pitchFamily="49" charset="0"/>
              </a:rPr>
              <a:t>if/else</a:t>
            </a:r>
            <a:r>
              <a:rPr lang="en-US" altLang="en-US" noProof="1"/>
              <a:t> Selection Structure</a:t>
            </a:r>
            <a:endParaRPr lang="en-US" altLang="en-US"/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Nested </a:t>
            </a:r>
            <a:r>
              <a:rPr lang="en-US" altLang="en-US" b="1">
                <a:latin typeface="Courier New" panose="02070309020205020404" pitchFamily="49" charset="0"/>
              </a:rPr>
              <a:t>if/else</a:t>
            </a:r>
            <a:r>
              <a:rPr lang="en-US" altLang="en-US"/>
              <a:t> structures</a:t>
            </a:r>
          </a:p>
          <a:p>
            <a:pPr lvl="1"/>
            <a:r>
              <a:rPr lang="en-US" altLang="en-US"/>
              <a:t>One inside another, test for multiple cases </a:t>
            </a:r>
          </a:p>
          <a:p>
            <a:pPr lvl="1"/>
            <a:r>
              <a:rPr lang="en-US" altLang="en-US"/>
              <a:t>Once condition met, other statements skipped</a:t>
            </a:r>
          </a:p>
          <a:p>
            <a:pPr lvl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</a:rPr>
              <a:t>if student’s grade is greater than or equal to 90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   Print “A”</a:t>
            </a:r>
          </a:p>
          <a:p>
            <a:pPr lvl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</a:rPr>
              <a:t>else 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   if student’s grade is greater than or equal to 80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	   Print “B”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	else 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      if student’s grade is greater than or equal to 70 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	      Print “C”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	   else 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	      if student’s grade is greater than or equal to 60 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	         Print “D”</a:t>
            </a:r>
            <a:br>
              <a:rPr lang="en-US" altLang="en-US" sz="1800" i="1">
                <a:solidFill>
                  <a:schemeClr val="accent2"/>
                </a:solidFill>
              </a:rPr>
            </a:br>
            <a:r>
              <a:rPr lang="en-US" altLang="en-US" sz="1800" i="1">
                <a:solidFill>
                  <a:schemeClr val="accent2"/>
                </a:solidFill>
              </a:rPr>
              <a:t>         else</a:t>
            </a:r>
          </a:p>
          <a:p>
            <a:pPr lvl="2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</a:rPr>
              <a:t>                Print “F”</a:t>
            </a:r>
            <a:endParaRPr lang="en-US" altLang="en-US" sz="1800"/>
          </a:p>
          <a:p>
            <a:pPr lvl="1"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965276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A6C29-48AE-4DA2-8AD6-236A7A066E05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>
                <a:latin typeface="Courier New" panose="02070309020205020404" pitchFamily="49" charset="0"/>
              </a:rPr>
              <a:t>if/else</a:t>
            </a:r>
            <a:r>
              <a:rPr lang="en-US" altLang="en-US" noProof="1"/>
              <a:t> Selection Structure</a:t>
            </a:r>
            <a:endParaRPr lang="en-US" altLang="en-US"/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altLang="en-US"/>
              <a:t>Example</a:t>
            </a:r>
            <a:r>
              <a:rPr lang="en-US" altLang="en-US" sz="2000" b="1">
                <a:latin typeface="Courier" pitchFamily="49" charset="0"/>
              </a:rPr>
              <a:t>	</a:t>
            </a:r>
          </a:p>
          <a:p>
            <a:pPr>
              <a:spcBef>
                <a:spcPts val="800"/>
              </a:spcBef>
              <a:spcAft>
                <a:spcPts val="800"/>
              </a:spcAft>
              <a:buNone/>
            </a:pPr>
            <a:r>
              <a:rPr lang="en-US" altLang="en-US" sz="2000" b="1">
                <a:latin typeface="Courier" pitchFamily="49" charset="0"/>
              </a:rPr>
              <a:t>	</a:t>
            </a:r>
            <a:r>
              <a:rPr lang="en-US" altLang="en-US" sz="2000" b="1">
                <a:latin typeface="Courier New" panose="02070309020205020404" pitchFamily="49" charset="0"/>
              </a:rPr>
              <a:t>if ( grade &gt;= 90 )       // 90 and above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   cout &lt;&lt; "A";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else if ( grade &gt;= 80 )  // 80-89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   cout &lt;&lt; "B";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else if ( grade &gt;= 70 )  // 70-79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   cout &lt;&lt; "C";  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else if ( grade &gt;= 60 )  // 60-69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   cout &lt;&lt; "D";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else                     // less than 60</a:t>
            </a:r>
            <a:br>
              <a:rPr lang="en-US" altLang="en-US" sz="20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   cout &lt;&lt; "F";</a:t>
            </a:r>
          </a:p>
          <a:p>
            <a:endParaRPr lang="en-US" altLang="en-US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160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7B1D3-E83B-4CBB-9D8F-C9EB8A6E1FB5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>
                <a:latin typeface="Courier New" panose="02070309020205020404" pitchFamily="49" charset="0"/>
              </a:rPr>
              <a:t>if/else</a:t>
            </a:r>
            <a:r>
              <a:rPr lang="en-US" altLang="en-US" noProof="1"/>
              <a:t> Selection Structure</a:t>
            </a:r>
            <a:endParaRPr lang="en-US" altLang="en-US"/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Compound statement</a:t>
            </a:r>
          </a:p>
          <a:p>
            <a:pPr lvl="1"/>
            <a:r>
              <a:rPr lang="en-US" altLang="en-US"/>
              <a:t>Set of statements within a pair of braces</a:t>
            </a:r>
          </a:p>
          <a:p>
            <a:pPr lvl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if ( grade &gt;= 60 )</a:t>
            </a:r>
            <a:br>
              <a:rPr lang="en-US" altLang="en-US" sz="1800" b="1">
                <a:latin typeface="Courier New" panose="02070309020205020404" pitchFamily="49" charset="0"/>
              </a:rPr>
            </a:br>
            <a:r>
              <a:rPr lang="en-US" altLang="en-US" sz="1800" b="1">
                <a:latin typeface="Courier New" panose="02070309020205020404" pitchFamily="49" charset="0"/>
              </a:rPr>
              <a:t>   cout &lt;&lt; "Passed.\n";	</a:t>
            </a:r>
            <a:br>
              <a:rPr lang="en-US" altLang="en-US" sz="1800" b="1">
                <a:latin typeface="Courier New" panose="02070309020205020404" pitchFamily="49" charset="0"/>
              </a:rPr>
            </a:br>
            <a:r>
              <a:rPr lang="en-US" altLang="en-US" sz="1800" b="1">
                <a:latin typeface="Courier New" panose="02070309020205020404" pitchFamily="49" charset="0"/>
              </a:rPr>
              <a:t>else {</a:t>
            </a:r>
            <a:br>
              <a:rPr lang="en-US" altLang="en-US" sz="1800" b="1">
                <a:latin typeface="Courier New" panose="02070309020205020404" pitchFamily="49" charset="0"/>
              </a:rPr>
            </a:br>
            <a:r>
              <a:rPr lang="en-US" altLang="en-US" sz="1800" b="1">
                <a:latin typeface="Courier New" panose="02070309020205020404" pitchFamily="49" charset="0"/>
              </a:rPr>
              <a:t>   cout &lt;&lt; "Failed.\n";</a:t>
            </a:r>
            <a:br>
              <a:rPr lang="en-US" altLang="en-US" sz="1800" b="1">
                <a:latin typeface="Courier New" panose="02070309020205020404" pitchFamily="49" charset="0"/>
              </a:rPr>
            </a:br>
            <a:r>
              <a:rPr lang="en-US" altLang="en-US" sz="1800" b="1">
                <a:latin typeface="Courier New" panose="02070309020205020404" pitchFamily="49" charset="0"/>
              </a:rPr>
              <a:t>   cout &lt;&lt; "You must take this course again.\n";</a:t>
            </a:r>
            <a:br>
              <a:rPr lang="en-US" altLang="en-US" sz="1800" b="1">
                <a:latin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</a:rPr>
              <a:t>} </a:t>
            </a:r>
          </a:p>
          <a:p>
            <a:pPr lvl="1"/>
            <a:r>
              <a:rPr lang="en-US" altLang="en-US"/>
              <a:t>Without braces,</a:t>
            </a:r>
          </a:p>
          <a:p>
            <a:pPr lvl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cout &lt;&lt; "You must take this course again.\n";</a:t>
            </a:r>
          </a:p>
          <a:p>
            <a:pPr lvl="1">
              <a:buFontTx/>
              <a:buNone/>
            </a:pPr>
            <a:r>
              <a:rPr lang="en-US" altLang="en-US"/>
              <a:t>always executed</a:t>
            </a:r>
          </a:p>
          <a:p>
            <a:r>
              <a:rPr lang="en-US" altLang="en-US"/>
              <a:t>Block</a:t>
            </a:r>
          </a:p>
          <a:p>
            <a:pPr lvl="1"/>
            <a:r>
              <a:rPr lang="en-US" altLang="en-US"/>
              <a:t>Set of statements within braces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270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81F8E0-844A-4DA0-86D3-20053AF9889A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while</a:t>
            </a:r>
            <a:r>
              <a:rPr lang="en-US" altLang="en-US" noProof="1"/>
              <a:t> Repetition Structure</a:t>
            </a:r>
            <a:endParaRPr lang="en-US" altLang="en-US"/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Repetition structure</a:t>
            </a:r>
          </a:p>
          <a:p>
            <a:pPr lvl="1"/>
            <a:r>
              <a:rPr lang="en-US" altLang="en-US"/>
              <a:t>Action repeated while some condition remains true</a:t>
            </a:r>
          </a:p>
          <a:p>
            <a:pPr lvl="1"/>
            <a:r>
              <a:rPr lang="en-US" altLang="en-US"/>
              <a:t>Psuedocode</a:t>
            </a:r>
          </a:p>
          <a:p>
            <a:pPr lvl="2"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while there are more items on my shopping list</a:t>
            </a:r>
          </a:p>
          <a:p>
            <a:pPr lvl="2">
              <a:buFontTx/>
              <a:buNone/>
            </a:pPr>
            <a:r>
              <a:rPr lang="en-US" altLang="en-US" i="1">
                <a:solidFill>
                  <a:schemeClr val="accent2"/>
                </a:solidFill>
              </a:rPr>
              <a:t>   Purchase next item and cross it off my list</a:t>
            </a:r>
            <a:r>
              <a:rPr lang="en-US" altLang="en-US"/>
              <a:t> </a:t>
            </a:r>
          </a:p>
          <a:p>
            <a:pPr lvl="1"/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/>
              <a:t> loop repeated until condition becomes false</a:t>
            </a:r>
          </a:p>
          <a:p>
            <a:r>
              <a:rPr lang="en-US" altLang="en-US"/>
              <a:t>Example</a:t>
            </a:r>
          </a:p>
          <a:p>
            <a:pPr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product = 2;</a:t>
            </a:r>
          </a:p>
          <a:p>
            <a:pPr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while ( product &lt;= 1000 )</a:t>
            </a:r>
          </a:p>
          <a:p>
            <a:pPr lvl="3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product = 2 * product;</a:t>
            </a:r>
            <a:endParaRPr lang="en-US" altLang="en-US"/>
          </a:p>
        </p:txBody>
      </p:sp>
      <p:sp>
        <p:nvSpPr>
          <p:cNvPr id="423940" name="Rectangle 4"/>
          <p:cNvSpPr>
            <a:spLocks noChangeArrowheads="1"/>
          </p:cNvSpPr>
          <p:nvPr/>
        </p:nvSpPr>
        <p:spPr bwMode="auto">
          <a:xfrm>
            <a:off x="1524000" y="2184400"/>
            <a:ext cx="548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3941" name="Rectangle 5"/>
          <p:cNvSpPr>
            <a:spLocks noChangeArrowheads="1"/>
          </p:cNvSpPr>
          <p:nvPr/>
        </p:nvSpPr>
        <p:spPr bwMode="auto">
          <a:xfrm>
            <a:off x="1524000" y="3262314"/>
            <a:ext cx="5486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 </a:t>
            </a: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23942" name="Rectangle 6"/>
          <p:cNvSpPr>
            <a:spLocks noChangeArrowheads="1"/>
          </p:cNvSpPr>
          <p:nvPr/>
        </p:nvSpPr>
        <p:spPr bwMode="auto">
          <a:xfrm>
            <a:off x="1524000" y="3567113"/>
            <a:ext cx="91440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/>
            </a:r>
            <a:br>
              <a:rPr lang="en-US" altLang="en-US" sz="1400">
                <a:latin typeface="Times New Roman" panose="02020603050405020304" pitchFamily="18" charset="0"/>
              </a:rPr>
            </a:b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4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A0DD2-BD6B-4201-A74D-5FF8F711042F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while</a:t>
            </a:r>
            <a:r>
              <a:rPr lang="en-US" altLang="en-US" noProof="1"/>
              <a:t> Repetition Structure</a:t>
            </a:r>
            <a:endParaRPr lang="en-US" altLang="en-US"/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Flowchart of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/>
              <a:t> loop</a:t>
            </a:r>
          </a:p>
        </p:txBody>
      </p:sp>
      <p:grpSp>
        <p:nvGrpSpPr>
          <p:cNvPr id="424964" name="Group 4"/>
          <p:cNvGrpSpPr>
            <a:grpSpLocks/>
          </p:cNvGrpSpPr>
          <p:nvPr/>
        </p:nvGrpSpPr>
        <p:grpSpPr bwMode="auto">
          <a:xfrm>
            <a:off x="3124200" y="2057401"/>
            <a:ext cx="4876800" cy="2047875"/>
            <a:chOff x="545" y="2231"/>
            <a:chExt cx="1791" cy="714"/>
          </a:xfrm>
        </p:grpSpPr>
        <p:sp>
          <p:nvSpPr>
            <p:cNvPr id="424965" name="Freeform 5"/>
            <p:cNvSpPr>
              <a:spLocks/>
            </p:cNvSpPr>
            <p:nvPr/>
          </p:nvSpPr>
          <p:spPr bwMode="auto">
            <a:xfrm>
              <a:off x="545" y="2424"/>
              <a:ext cx="768" cy="349"/>
            </a:xfrm>
            <a:custGeom>
              <a:avLst/>
              <a:gdLst>
                <a:gd name="T0" fmla="*/ 19990 w 20000"/>
                <a:gd name="T1" fmla="*/ 9989 h 20000"/>
                <a:gd name="T2" fmla="*/ 9990 w 20000"/>
                <a:gd name="T3" fmla="*/ 19977 h 20000"/>
                <a:gd name="T4" fmla="*/ 0 w 20000"/>
                <a:gd name="T5" fmla="*/ 9989 h 20000"/>
                <a:gd name="T6" fmla="*/ 9990 w 20000"/>
                <a:gd name="T7" fmla="*/ 0 h 20000"/>
                <a:gd name="T8" fmla="*/ 19990 w 20000"/>
                <a:gd name="T9" fmla="*/ 9989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90" y="9989"/>
                  </a:moveTo>
                  <a:lnTo>
                    <a:pt x="9990" y="19977"/>
                  </a:lnTo>
                  <a:lnTo>
                    <a:pt x="0" y="9989"/>
                  </a:lnTo>
                  <a:lnTo>
                    <a:pt x="9990" y="0"/>
                  </a:lnTo>
                  <a:lnTo>
                    <a:pt x="19990" y="9989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966" name="Rectangle 6"/>
            <p:cNvSpPr>
              <a:spLocks noChangeArrowheads="1"/>
            </p:cNvSpPr>
            <p:nvPr/>
          </p:nvSpPr>
          <p:spPr bwMode="auto">
            <a:xfrm>
              <a:off x="637" y="2569"/>
              <a:ext cx="583" cy="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US" altLang="en-US" sz="1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product &lt;= 1000</a:t>
              </a:r>
            </a:p>
            <a:p>
              <a:endParaRPr lang="en-US" altLang="en-US" sz="1200" b="1">
                <a:latin typeface="Courier New" panose="02070309020205020404" pitchFamily="49" charset="0"/>
              </a:endParaRPr>
            </a:p>
          </p:txBody>
        </p:sp>
        <p:sp>
          <p:nvSpPr>
            <p:cNvPr id="424967" name="Freeform 7"/>
            <p:cNvSpPr>
              <a:spLocks/>
            </p:cNvSpPr>
            <p:nvPr/>
          </p:nvSpPr>
          <p:spPr bwMode="auto">
            <a:xfrm>
              <a:off x="928" y="2280"/>
              <a:ext cx="0" cy="146"/>
            </a:xfrm>
            <a:custGeom>
              <a:avLst/>
              <a:gdLst>
                <a:gd name="T0" fmla="*/ 0 w 20000"/>
                <a:gd name="T1" fmla="*/ 19945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968" name="Freeform 8"/>
            <p:cNvSpPr>
              <a:spLocks/>
            </p:cNvSpPr>
            <p:nvPr/>
          </p:nvSpPr>
          <p:spPr bwMode="auto">
            <a:xfrm>
              <a:off x="928" y="2773"/>
              <a:ext cx="0" cy="123"/>
            </a:xfrm>
            <a:custGeom>
              <a:avLst/>
              <a:gdLst>
                <a:gd name="T0" fmla="*/ 0 w 20000"/>
                <a:gd name="T1" fmla="*/ 19935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3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969" name="Oval 9"/>
            <p:cNvSpPr>
              <a:spLocks noChangeArrowheads="1"/>
            </p:cNvSpPr>
            <p:nvPr/>
          </p:nvSpPr>
          <p:spPr bwMode="auto">
            <a:xfrm>
              <a:off x="904" y="2231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970" name="Oval 10"/>
            <p:cNvSpPr>
              <a:spLocks noChangeArrowheads="1"/>
            </p:cNvSpPr>
            <p:nvPr/>
          </p:nvSpPr>
          <p:spPr bwMode="auto">
            <a:xfrm>
              <a:off x="904" y="2897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971" name="Freeform 11"/>
            <p:cNvSpPr>
              <a:spLocks/>
            </p:cNvSpPr>
            <p:nvPr/>
          </p:nvSpPr>
          <p:spPr bwMode="auto">
            <a:xfrm>
              <a:off x="1313" y="2601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972" name="Rectangle 12"/>
            <p:cNvSpPr>
              <a:spLocks noChangeArrowheads="1"/>
            </p:cNvSpPr>
            <p:nvPr/>
          </p:nvSpPr>
          <p:spPr bwMode="auto">
            <a:xfrm>
              <a:off x="1520" y="2570"/>
              <a:ext cx="800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US" altLang="en-US" sz="1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product = 2 * product</a:t>
              </a:r>
            </a:p>
            <a:p>
              <a:endParaRPr lang="en-US" altLang="en-US" sz="1200" b="1">
                <a:latin typeface="Courier New" panose="02070309020205020404" pitchFamily="49" charset="0"/>
              </a:endParaRPr>
            </a:p>
          </p:txBody>
        </p:sp>
        <p:sp>
          <p:nvSpPr>
            <p:cNvPr id="424973" name="Freeform 13"/>
            <p:cNvSpPr>
              <a:spLocks/>
            </p:cNvSpPr>
            <p:nvPr/>
          </p:nvSpPr>
          <p:spPr bwMode="auto">
            <a:xfrm>
              <a:off x="1505" y="2548"/>
              <a:ext cx="831" cy="106"/>
            </a:xfrm>
            <a:custGeom>
              <a:avLst/>
              <a:gdLst>
                <a:gd name="T0" fmla="*/ 19990 w 20000"/>
                <a:gd name="T1" fmla="*/ 0 h 20000"/>
                <a:gd name="T2" fmla="*/ 19990 w 20000"/>
                <a:gd name="T3" fmla="*/ 19925 h 20000"/>
                <a:gd name="T4" fmla="*/ 0 w 20000"/>
                <a:gd name="T5" fmla="*/ 19925 h 20000"/>
                <a:gd name="T6" fmla="*/ 0 w 20000"/>
                <a:gd name="T7" fmla="*/ 0 h 20000"/>
                <a:gd name="T8" fmla="*/ 19990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90" y="0"/>
                  </a:moveTo>
                  <a:lnTo>
                    <a:pt x="19990" y="19925"/>
                  </a:lnTo>
                  <a:lnTo>
                    <a:pt x="0" y="19925"/>
                  </a:lnTo>
                  <a:lnTo>
                    <a:pt x="0" y="0"/>
                  </a:lnTo>
                  <a:lnTo>
                    <a:pt x="19990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974" name="Rectangle 14"/>
            <p:cNvSpPr>
              <a:spLocks noChangeArrowheads="1"/>
            </p:cNvSpPr>
            <p:nvPr/>
          </p:nvSpPr>
          <p:spPr bwMode="auto">
            <a:xfrm>
              <a:off x="1320" y="2510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200" b="1">
                <a:latin typeface="Courier New" panose="02070309020205020404" pitchFamily="49" charset="0"/>
              </a:endParaRPr>
            </a:p>
          </p:txBody>
        </p:sp>
        <p:sp>
          <p:nvSpPr>
            <p:cNvPr id="424975" name="Rectangle 15"/>
            <p:cNvSpPr>
              <a:spLocks noChangeArrowheads="1"/>
            </p:cNvSpPr>
            <p:nvPr/>
          </p:nvSpPr>
          <p:spPr bwMode="auto">
            <a:xfrm>
              <a:off x="976" y="2775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200" b="1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200" b="1">
                <a:latin typeface="Courier New" panose="02070309020205020404" pitchFamily="49" charset="0"/>
              </a:endParaRPr>
            </a:p>
          </p:txBody>
        </p:sp>
        <p:sp>
          <p:nvSpPr>
            <p:cNvPr id="424976" name="Freeform 16"/>
            <p:cNvSpPr>
              <a:spLocks/>
            </p:cNvSpPr>
            <p:nvPr/>
          </p:nvSpPr>
          <p:spPr bwMode="auto">
            <a:xfrm>
              <a:off x="934" y="2336"/>
              <a:ext cx="991" cy="0"/>
            </a:xfrm>
            <a:custGeom>
              <a:avLst/>
              <a:gdLst>
                <a:gd name="T0" fmla="*/ 1999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9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977" name="Freeform 17"/>
            <p:cNvSpPr>
              <a:spLocks/>
            </p:cNvSpPr>
            <p:nvPr/>
          </p:nvSpPr>
          <p:spPr bwMode="auto">
            <a:xfrm>
              <a:off x="1922" y="2336"/>
              <a:ext cx="0" cy="2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62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7614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C8FC-076F-465D-B620-515A579292F6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Counter-Controlled Repetition</a:t>
            </a:r>
            <a:endParaRPr lang="en-US" altLang="en-US"/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Counter-controlled repetition</a:t>
            </a:r>
          </a:p>
          <a:p>
            <a:pPr lvl="1"/>
            <a:r>
              <a:rPr lang="en-US" altLang="en-US"/>
              <a:t>Loop repeated until counter reaches certain value</a:t>
            </a:r>
          </a:p>
          <a:p>
            <a:r>
              <a:rPr lang="en-US" altLang="en-US"/>
              <a:t>Definite repetition</a:t>
            </a:r>
          </a:p>
          <a:p>
            <a:pPr lvl="1"/>
            <a:r>
              <a:rPr lang="en-US" altLang="en-US"/>
              <a:t>Number of repetitions known </a:t>
            </a:r>
          </a:p>
          <a:p>
            <a:r>
              <a:rPr lang="en-US" altLang="en-US"/>
              <a:t>Example</a:t>
            </a:r>
          </a:p>
          <a:p>
            <a:pPr lvl="1">
              <a:buFontTx/>
              <a:buNone/>
            </a:pPr>
            <a:r>
              <a:rPr lang="en-US" altLang="en-US" i="1"/>
              <a:t>    A class of ten students took a quiz. The grades (integers in the range 0 to 100) for this quiz are available to you. Determine the class average on the quiz. </a:t>
            </a:r>
          </a:p>
        </p:txBody>
      </p:sp>
    </p:spTree>
    <p:extLst>
      <p:ext uri="{BB962C8B-B14F-4D97-AF65-F5344CB8AC3E}">
        <p14:creationId xmlns:p14="http://schemas.microsoft.com/office/powerpoint/2010/main" val="370124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BCA50C-90AF-479D-AC0C-A13B29B1E580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Sentinel-Controlled Repetition</a:t>
            </a:r>
            <a:endParaRPr lang="en-US" altLang="en-US"/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Suppose problem becomes:  </a:t>
            </a:r>
          </a:p>
          <a:p>
            <a:pPr lvl="1">
              <a:buFontTx/>
              <a:buNone/>
            </a:pPr>
            <a:r>
              <a:rPr lang="en-US" altLang="en-US"/>
              <a:t>	</a:t>
            </a:r>
            <a:r>
              <a:rPr lang="en-US" altLang="en-US" i="1"/>
              <a:t>Develop a class-averaging program that will process an arbitrary number of grades each time the program is run</a:t>
            </a:r>
          </a:p>
          <a:p>
            <a:pPr lvl="1"/>
            <a:r>
              <a:rPr lang="en-US" altLang="en-US"/>
              <a:t>Unknown number of students</a:t>
            </a:r>
          </a:p>
          <a:p>
            <a:pPr lvl="1"/>
            <a:r>
              <a:rPr lang="en-US" altLang="en-US"/>
              <a:t>How will program know when to end?</a:t>
            </a:r>
          </a:p>
          <a:p>
            <a:r>
              <a:rPr lang="en-US" altLang="en-US"/>
              <a:t>Sentinel value</a:t>
            </a:r>
          </a:p>
          <a:p>
            <a:pPr lvl="1"/>
            <a:r>
              <a:rPr lang="en-US" altLang="en-US"/>
              <a:t>Indicates “end of data entry”</a:t>
            </a:r>
          </a:p>
          <a:p>
            <a:pPr lvl="1"/>
            <a:r>
              <a:rPr lang="en-US" altLang="en-US"/>
              <a:t>Loop ends when sentinel input</a:t>
            </a:r>
          </a:p>
          <a:p>
            <a:pPr lvl="1"/>
            <a:r>
              <a:rPr lang="en-US" altLang="en-US"/>
              <a:t>Sentinel chosen so it cannot be confused with regular input </a:t>
            </a:r>
          </a:p>
          <a:p>
            <a:pPr lvl="2"/>
            <a:r>
              <a:rPr lang="en-US" altLang="en-US"/>
              <a:t>-1 in this case</a:t>
            </a:r>
          </a:p>
        </p:txBody>
      </p:sp>
    </p:spTree>
    <p:extLst>
      <p:ext uri="{BB962C8B-B14F-4D97-AF65-F5344CB8AC3E}">
        <p14:creationId xmlns:p14="http://schemas.microsoft.com/office/powerpoint/2010/main" val="2963533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FC452A-BB13-4787-B4E3-F9670FB59A64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en-US" b="1" noProof="1"/>
              <a:t>switch </a:t>
            </a:r>
            <a:r>
              <a:rPr lang="en-US" altLang="en-US" noProof="1"/>
              <a:t>Multiple-Selection Structure</a:t>
            </a:r>
            <a:endParaRPr lang="en-US" altLang="en-US" dirty="0"/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610600" cy="5334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9999"/>
                </a:solidFill>
                <a:latin typeface="Courier New" panose="02070309020205020404" pitchFamily="49" charset="0"/>
              </a:rPr>
              <a:t>switch</a:t>
            </a:r>
            <a:endParaRPr lang="en-US" altLang="en-US" dirty="0">
              <a:solidFill>
                <a:srgbClr val="009999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Test variable for multiple values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Series of </a:t>
            </a:r>
            <a:r>
              <a:rPr lang="en-US" altLang="en-US" b="1" dirty="0">
                <a:solidFill>
                  <a:srgbClr val="009999"/>
                </a:solidFill>
                <a:latin typeface="Courier New" panose="02070309020205020404" pitchFamily="49" charset="0"/>
              </a:rPr>
              <a:t>case</a:t>
            </a:r>
            <a:r>
              <a:rPr lang="en-US" altLang="en-US" dirty="0"/>
              <a:t> labels and optional </a:t>
            </a:r>
            <a:r>
              <a:rPr lang="en-US" altLang="en-US" b="1" dirty="0">
                <a:solidFill>
                  <a:srgbClr val="009999"/>
                </a:solidFill>
                <a:latin typeface="Courier New" panose="02070309020205020404" pitchFamily="49" charset="0"/>
              </a:rPr>
              <a:t>default</a:t>
            </a:r>
            <a:r>
              <a:rPr lang="en-US" altLang="en-US" dirty="0"/>
              <a:t> case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 ( variable ) {</a:t>
            </a:r>
            <a:b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case value1:      // </a:t>
            </a:r>
            <a:r>
              <a:rPr lang="en-US" altLang="en-US" sz="1600" dirty="0">
                <a:cs typeface="Courier New" panose="02070309020205020404" pitchFamily="49" charset="0"/>
              </a:rPr>
              <a:t>taken if variable == value1</a:t>
            </a:r>
            <a:endParaRPr lang="en-US" altLang="en-US" sz="16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	statements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break;     // </a:t>
            </a:r>
            <a:r>
              <a:rPr lang="en-US" altLang="en-US" sz="1600" dirty="0">
                <a:cs typeface="Courier New" panose="02070309020205020404" pitchFamily="49" charset="0"/>
              </a:rPr>
              <a:t>necessary to exit switch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case value2: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case value3:	   // </a:t>
            </a:r>
            <a:r>
              <a:rPr lang="en-US" altLang="en-US" sz="1600" dirty="0">
                <a:cs typeface="Courier New" panose="02070309020205020404" pitchFamily="49" charset="0"/>
              </a:rPr>
              <a:t>taken if variable == value2 or == value3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	statements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	break;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600" b="1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default:          // </a:t>
            </a:r>
            <a:r>
              <a:rPr lang="en-US" altLang="en-US" sz="1600" dirty="0">
                <a:cs typeface="Courier New" panose="02070309020205020404" pitchFamily="49" charset="0"/>
              </a:rPr>
              <a:t>taken if none matches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		statements</a:t>
            </a:r>
            <a:b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 	break;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	}</a:t>
            </a:r>
            <a:endParaRPr lang="en-US" altLang="en-US" sz="1800" dirty="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1524000" y="387350"/>
            <a:ext cx="548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1524000" y="4308475"/>
            <a:ext cx="91440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/>
            </a:r>
            <a:br>
              <a:rPr lang="en-US" altLang="en-US" sz="1400">
                <a:latin typeface="Times New Roman" panose="02020603050405020304" pitchFamily="18" charset="0"/>
              </a:rPr>
            </a:b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48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640AD-76A4-439E-B1EE-A171834EA549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switch</a:t>
            </a:r>
            <a:r>
              <a:rPr lang="en-US" altLang="en-US" noProof="1"/>
              <a:t> Multiple-Selection Structure</a:t>
            </a:r>
            <a:endParaRPr lang="en-US" altLang="en-US"/>
          </a:p>
        </p:txBody>
      </p:sp>
      <p:grpSp>
        <p:nvGrpSpPr>
          <p:cNvPr id="440323" name="Group 3"/>
          <p:cNvGrpSpPr>
            <a:grpSpLocks/>
          </p:cNvGrpSpPr>
          <p:nvPr/>
        </p:nvGrpSpPr>
        <p:grpSpPr bwMode="auto">
          <a:xfrm>
            <a:off x="3429000" y="1447800"/>
            <a:ext cx="5715000" cy="4114800"/>
            <a:chOff x="344" y="2025"/>
            <a:chExt cx="2198" cy="2051"/>
          </a:xfrm>
        </p:grpSpPr>
        <p:sp>
          <p:nvSpPr>
            <p:cNvPr id="440324" name="Freeform 4"/>
            <p:cNvSpPr>
              <a:spLocks/>
            </p:cNvSpPr>
            <p:nvPr/>
          </p:nvSpPr>
          <p:spPr bwMode="auto">
            <a:xfrm>
              <a:off x="648" y="2076"/>
              <a:ext cx="0" cy="146"/>
            </a:xfrm>
            <a:custGeom>
              <a:avLst/>
              <a:gdLst>
                <a:gd name="T0" fmla="*/ 0 w 20000"/>
                <a:gd name="T1" fmla="*/ 19945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25" name="Oval 5"/>
            <p:cNvSpPr>
              <a:spLocks noChangeArrowheads="1"/>
            </p:cNvSpPr>
            <p:nvPr/>
          </p:nvSpPr>
          <p:spPr bwMode="auto">
            <a:xfrm>
              <a:off x="624" y="2025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26" name="Freeform 6"/>
            <p:cNvSpPr>
              <a:spLocks/>
            </p:cNvSpPr>
            <p:nvPr/>
          </p:nvSpPr>
          <p:spPr bwMode="auto">
            <a:xfrm>
              <a:off x="936" y="2321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27" name="Rectangle 7"/>
            <p:cNvSpPr>
              <a:spLocks noChangeArrowheads="1"/>
            </p:cNvSpPr>
            <p:nvPr/>
          </p:nvSpPr>
          <p:spPr bwMode="auto">
            <a:xfrm>
              <a:off x="918" y="2238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440328" name="Freeform 8"/>
            <p:cNvSpPr>
              <a:spLocks/>
            </p:cNvSpPr>
            <p:nvPr/>
          </p:nvSpPr>
          <p:spPr bwMode="auto">
            <a:xfrm>
              <a:off x="1672" y="2321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29" name="Oval 9"/>
            <p:cNvSpPr>
              <a:spLocks noChangeArrowheads="1"/>
            </p:cNvSpPr>
            <p:nvPr/>
          </p:nvSpPr>
          <p:spPr bwMode="auto">
            <a:xfrm>
              <a:off x="624" y="4028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30" name="Freeform 10"/>
            <p:cNvSpPr>
              <a:spLocks/>
            </p:cNvSpPr>
            <p:nvPr/>
          </p:nvSpPr>
          <p:spPr bwMode="auto">
            <a:xfrm>
              <a:off x="648" y="2810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31" name="Rectangle 11"/>
            <p:cNvSpPr>
              <a:spLocks noChangeArrowheads="1"/>
            </p:cNvSpPr>
            <p:nvPr/>
          </p:nvSpPr>
          <p:spPr bwMode="auto">
            <a:xfrm>
              <a:off x="696" y="2811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440332" name="Rectangle 12"/>
            <p:cNvSpPr>
              <a:spLocks noChangeArrowheads="1"/>
            </p:cNvSpPr>
            <p:nvPr/>
          </p:nvSpPr>
          <p:spPr bwMode="auto">
            <a:xfrm>
              <a:off x="624" y="3014"/>
              <a:ext cx="4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US" altLang="en-US" sz="1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.</a:t>
              </a:r>
              <a:endParaRPr lang="en-US" altLang="en-US" sz="1000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pPr algn="ctr"/>
              <a:r>
                <a:rPr lang="en-US" altLang="en-US" sz="1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.</a:t>
              </a:r>
              <a:endParaRPr lang="en-US" altLang="en-US" sz="1000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pPr algn="ctr"/>
              <a:r>
                <a:rPr lang="en-US" altLang="en-US" sz="1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.</a:t>
              </a:r>
              <a:endParaRPr lang="en-US" altLang="en-US" sz="1000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440333" name="Freeform 13"/>
            <p:cNvSpPr>
              <a:spLocks/>
            </p:cNvSpPr>
            <p:nvPr/>
          </p:nvSpPr>
          <p:spPr bwMode="auto">
            <a:xfrm>
              <a:off x="2392" y="2321"/>
              <a:ext cx="144" cy="0"/>
            </a:xfrm>
            <a:custGeom>
              <a:avLst/>
              <a:gdLst>
                <a:gd name="T0" fmla="*/ 19944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34" name="Freeform 14"/>
            <p:cNvSpPr>
              <a:spLocks/>
            </p:cNvSpPr>
            <p:nvPr/>
          </p:nvSpPr>
          <p:spPr bwMode="auto">
            <a:xfrm>
              <a:off x="2541" y="2321"/>
              <a:ext cx="0" cy="1627"/>
            </a:xfrm>
            <a:custGeom>
              <a:avLst/>
              <a:gdLst>
                <a:gd name="T0" fmla="*/ 0 w 20000"/>
                <a:gd name="T1" fmla="*/ 19995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9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35" name="Freeform 15"/>
            <p:cNvSpPr>
              <a:spLocks/>
            </p:cNvSpPr>
            <p:nvPr/>
          </p:nvSpPr>
          <p:spPr bwMode="auto">
            <a:xfrm>
              <a:off x="654" y="3948"/>
              <a:ext cx="1888" cy="0"/>
            </a:xfrm>
            <a:custGeom>
              <a:avLst/>
              <a:gdLst>
                <a:gd name="T0" fmla="*/ 0 w 20000"/>
                <a:gd name="T1" fmla="*/ 0 h 20000"/>
                <a:gd name="T2" fmla="*/ 19996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9996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0336" name="Group 16"/>
            <p:cNvGrpSpPr>
              <a:grpSpLocks/>
            </p:cNvGrpSpPr>
            <p:nvPr/>
          </p:nvGrpSpPr>
          <p:grpSpPr bwMode="auto">
            <a:xfrm>
              <a:off x="360" y="2222"/>
              <a:ext cx="576" cy="197"/>
              <a:chOff x="0" y="0"/>
              <a:chExt cx="20000" cy="20000"/>
            </a:xfrm>
          </p:grpSpPr>
          <p:sp>
            <p:nvSpPr>
              <p:cNvPr id="440337" name="Freeform 17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6 w 20000"/>
                  <a:gd name="T1" fmla="*/ 9980 h 20000"/>
                  <a:gd name="T2" fmla="*/ 9986 w 20000"/>
                  <a:gd name="T3" fmla="*/ 19959 h 20000"/>
                  <a:gd name="T4" fmla="*/ 0 w 20000"/>
                  <a:gd name="T5" fmla="*/ 9980 h 20000"/>
                  <a:gd name="T6" fmla="*/ 9986 w 20000"/>
                  <a:gd name="T7" fmla="*/ 0 h 20000"/>
                  <a:gd name="T8" fmla="*/ 19986 w 20000"/>
                  <a:gd name="T9" fmla="*/ 998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6" y="9980"/>
                    </a:moveTo>
                    <a:lnTo>
                      <a:pt x="9986" y="19959"/>
                    </a:lnTo>
                    <a:lnTo>
                      <a:pt x="0" y="9980"/>
                    </a:lnTo>
                    <a:lnTo>
                      <a:pt x="9986" y="0"/>
                    </a:lnTo>
                    <a:lnTo>
                      <a:pt x="19986" y="998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338" name="Rectangle 18"/>
              <p:cNvSpPr>
                <a:spLocks noChangeArrowheads="1"/>
              </p:cNvSpPr>
              <p:nvPr/>
            </p:nvSpPr>
            <p:spPr bwMode="auto">
              <a:xfrm>
                <a:off x="3319" y="7708"/>
                <a:ext cx="13348" cy="6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</a:t>
                </a:r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a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440339" name="Group 19"/>
            <p:cNvGrpSpPr>
              <a:grpSpLocks/>
            </p:cNvGrpSpPr>
            <p:nvPr/>
          </p:nvGrpSpPr>
          <p:grpSpPr bwMode="auto">
            <a:xfrm>
              <a:off x="1128" y="2278"/>
              <a:ext cx="544" cy="85"/>
              <a:chOff x="0" y="0"/>
              <a:chExt cx="20000" cy="20000"/>
            </a:xfrm>
          </p:grpSpPr>
          <p:sp>
            <p:nvSpPr>
              <p:cNvPr id="440340" name="Rectangle 20"/>
              <p:cNvSpPr>
                <a:spLocks noChangeArrowheads="1"/>
              </p:cNvSpPr>
              <p:nvPr/>
            </p:nvSpPr>
            <p:spPr bwMode="auto">
              <a:xfrm>
                <a:off x="588" y="4695"/>
                <a:ext cx="18809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 a action(s)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440341" name="Freeform 21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342" name="Group 22"/>
            <p:cNvGrpSpPr>
              <a:grpSpLocks/>
            </p:cNvGrpSpPr>
            <p:nvPr/>
          </p:nvGrpSpPr>
          <p:grpSpPr bwMode="auto">
            <a:xfrm>
              <a:off x="1864" y="2278"/>
              <a:ext cx="528" cy="85"/>
              <a:chOff x="0" y="0"/>
              <a:chExt cx="20000" cy="20000"/>
            </a:xfrm>
          </p:grpSpPr>
          <p:sp>
            <p:nvSpPr>
              <p:cNvPr id="440343" name="Rectangle 23"/>
              <p:cNvSpPr>
                <a:spLocks noChangeArrowheads="1"/>
              </p:cNvSpPr>
              <p:nvPr/>
            </p:nvSpPr>
            <p:spPr bwMode="auto">
              <a:xfrm>
                <a:off x="591" y="4695"/>
                <a:ext cx="18803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break</a:t>
                </a:r>
                <a:endPara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440344" name="Freeform 24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0345" name="Freeform 25"/>
            <p:cNvSpPr>
              <a:spLocks/>
            </p:cNvSpPr>
            <p:nvPr/>
          </p:nvSpPr>
          <p:spPr bwMode="auto">
            <a:xfrm>
              <a:off x="648" y="2417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46" name="Freeform 26"/>
            <p:cNvSpPr>
              <a:spLocks/>
            </p:cNvSpPr>
            <p:nvPr/>
          </p:nvSpPr>
          <p:spPr bwMode="auto">
            <a:xfrm>
              <a:off x="936" y="2708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47" name="Freeform 27"/>
            <p:cNvSpPr>
              <a:spLocks/>
            </p:cNvSpPr>
            <p:nvPr/>
          </p:nvSpPr>
          <p:spPr bwMode="auto">
            <a:xfrm>
              <a:off x="1672" y="2708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48" name="Freeform 28"/>
            <p:cNvSpPr>
              <a:spLocks/>
            </p:cNvSpPr>
            <p:nvPr/>
          </p:nvSpPr>
          <p:spPr bwMode="auto">
            <a:xfrm>
              <a:off x="2392" y="2708"/>
              <a:ext cx="144" cy="0"/>
            </a:xfrm>
            <a:custGeom>
              <a:avLst/>
              <a:gdLst>
                <a:gd name="T0" fmla="*/ 19944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0349" name="Group 29"/>
            <p:cNvGrpSpPr>
              <a:grpSpLocks/>
            </p:cNvGrpSpPr>
            <p:nvPr/>
          </p:nvGrpSpPr>
          <p:grpSpPr bwMode="auto">
            <a:xfrm>
              <a:off x="360" y="2609"/>
              <a:ext cx="576" cy="197"/>
              <a:chOff x="0" y="0"/>
              <a:chExt cx="20000" cy="20000"/>
            </a:xfrm>
          </p:grpSpPr>
          <p:sp>
            <p:nvSpPr>
              <p:cNvPr id="440350" name="Freeform 30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6 w 20000"/>
                  <a:gd name="T1" fmla="*/ 9980 h 20000"/>
                  <a:gd name="T2" fmla="*/ 9986 w 20000"/>
                  <a:gd name="T3" fmla="*/ 19959 h 20000"/>
                  <a:gd name="T4" fmla="*/ 0 w 20000"/>
                  <a:gd name="T5" fmla="*/ 9980 h 20000"/>
                  <a:gd name="T6" fmla="*/ 9986 w 20000"/>
                  <a:gd name="T7" fmla="*/ 0 h 20000"/>
                  <a:gd name="T8" fmla="*/ 19986 w 20000"/>
                  <a:gd name="T9" fmla="*/ 998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6" y="9980"/>
                    </a:moveTo>
                    <a:lnTo>
                      <a:pt x="9986" y="19959"/>
                    </a:lnTo>
                    <a:lnTo>
                      <a:pt x="0" y="9980"/>
                    </a:lnTo>
                    <a:lnTo>
                      <a:pt x="9986" y="0"/>
                    </a:lnTo>
                    <a:lnTo>
                      <a:pt x="19986" y="998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351" name="Rectangle 31"/>
              <p:cNvSpPr>
                <a:spLocks noChangeArrowheads="1"/>
              </p:cNvSpPr>
              <p:nvPr/>
            </p:nvSpPr>
            <p:spPr bwMode="auto">
              <a:xfrm>
                <a:off x="3319" y="7708"/>
                <a:ext cx="13348" cy="6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</a:t>
                </a:r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b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440352" name="Group 32"/>
            <p:cNvGrpSpPr>
              <a:grpSpLocks/>
            </p:cNvGrpSpPr>
            <p:nvPr/>
          </p:nvGrpSpPr>
          <p:grpSpPr bwMode="auto">
            <a:xfrm>
              <a:off x="1128" y="2665"/>
              <a:ext cx="544" cy="85"/>
              <a:chOff x="0" y="0"/>
              <a:chExt cx="20000" cy="20000"/>
            </a:xfrm>
          </p:grpSpPr>
          <p:sp>
            <p:nvSpPr>
              <p:cNvPr id="440353" name="Rectangle 33"/>
              <p:cNvSpPr>
                <a:spLocks noChangeArrowheads="1"/>
              </p:cNvSpPr>
              <p:nvPr/>
            </p:nvSpPr>
            <p:spPr bwMode="auto">
              <a:xfrm>
                <a:off x="588" y="4695"/>
                <a:ext cx="18809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 b action(s)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440354" name="Freeform 34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355" name="Group 35"/>
            <p:cNvGrpSpPr>
              <a:grpSpLocks/>
            </p:cNvGrpSpPr>
            <p:nvPr/>
          </p:nvGrpSpPr>
          <p:grpSpPr bwMode="auto">
            <a:xfrm>
              <a:off x="1864" y="2665"/>
              <a:ext cx="528" cy="85"/>
              <a:chOff x="0" y="0"/>
              <a:chExt cx="20000" cy="20000"/>
            </a:xfrm>
          </p:grpSpPr>
          <p:sp>
            <p:nvSpPr>
              <p:cNvPr id="440356" name="Rectangle 36"/>
              <p:cNvSpPr>
                <a:spLocks noChangeArrowheads="1"/>
              </p:cNvSpPr>
              <p:nvPr/>
            </p:nvSpPr>
            <p:spPr bwMode="auto">
              <a:xfrm>
                <a:off x="591" y="4695"/>
                <a:ext cx="18803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break</a:t>
                </a:r>
                <a:endPara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440357" name="Freeform 37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0358" name="Rectangle 38"/>
            <p:cNvSpPr>
              <a:spLocks noChangeArrowheads="1"/>
            </p:cNvSpPr>
            <p:nvPr/>
          </p:nvSpPr>
          <p:spPr bwMode="auto">
            <a:xfrm>
              <a:off x="696" y="2436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440359" name="Freeform 39"/>
            <p:cNvSpPr>
              <a:spLocks/>
            </p:cNvSpPr>
            <p:nvPr/>
          </p:nvSpPr>
          <p:spPr bwMode="auto">
            <a:xfrm>
              <a:off x="648" y="3884"/>
              <a:ext cx="0" cy="143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60" name="Rectangle 40"/>
            <p:cNvSpPr>
              <a:spLocks noChangeArrowheads="1"/>
            </p:cNvSpPr>
            <p:nvPr/>
          </p:nvSpPr>
          <p:spPr bwMode="auto">
            <a:xfrm>
              <a:off x="696" y="3611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440361" name="Freeform 41"/>
            <p:cNvSpPr>
              <a:spLocks/>
            </p:cNvSpPr>
            <p:nvPr/>
          </p:nvSpPr>
          <p:spPr bwMode="auto">
            <a:xfrm>
              <a:off x="648" y="3217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62" name="Freeform 42"/>
            <p:cNvSpPr>
              <a:spLocks/>
            </p:cNvSpPr>
            <p:nvPr/>
          </p:nvSpPr>
          <p:spPr bwMode="auto">
            <a:xfrm>
              <a:off x="936" y="3508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63" name="Freeform 43"/>
            <p:cNvSpPr>
              <a:spLocks/>
            </p:cNvSpPr>
            <p:nvPr/>
          </p:nvSpPr>
          <p:spPr bwMode="auto">
            <a:xfrm>
              <a:off x="1672" y="3508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64" name="Freeform 44"/>
            <p:cNvSpPr>
              <a:spLocks/>
            </p:cNvSpPr>
            <p:nvPr/>
          </p:nvSpPr>
          <p:spPr bwMode="auto">
            <a:xfrm>
              <a:off x="2392" y="3508"/>
              <a:ext cx="144" cy="0"/>
            </a:xfrm>
            <a:custGeom>
              <a:avLst/>
              <a:gdLst>
                <a:gd name="T0" fmla="*/ 19944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0365" name="Group 45"/>
            <p:cNvGrpSpPr>
              <a:grpSpLocks/>
            </p:cNvGrpSpPr>
            <p:nvPr/>
          </p:nvGrpSpPr>
          <p:grpSpPr bwMode="auto">
            <a:xfrm>
              <a:off x="360" y="3409"/>
              <a:ext cx="576" cy="197"/>
              <a:chOff x="0" y="0"/>
              <a:chExt cx="20000" cy="20000"/>
            </a:xfrm>
          </p:grpSpPr>
          <p:sp>
            <p:nvSpPr>
              <p:cNvPr id="440366" name="Freeform 46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6 w 20000"/>
                  <a:gd name="T1" fmla="*/ 9980 h 20000"/>
                  <a:gd name="T2" fmla="*/ 9986 w 20000"/>
                  <a:gd name="T3" fmla="*/ 19959 h 20000"/>
                  <a:gd name="T4" fmla="*/ 0 w 20000"/>
                  <a:gd name="T5" fmla="*/ 9980 h 20000"/>
                  <a:gd name="T6" fmla="*/ 9986 w 20000"/>
                  <a:gd name="T7" fmla="*/ 0 h 20000"/>
                  <a:gd name="T8" fmla="*/ 19986 w 20000"/>
                  <a:gd name="T9" fmla="*/ 998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6" y="9980"/>
                    </a:moveTo>
                    <a:lnTo>
                      <a:pt x="9986" y="19959"/>
                    </a:lnTo>
                    <a:lnTo>
                      <a:pt x="0" y="9980"/>
                    </a:lnTo>
                    <a:lnTo>
                      <a:pt x="9986" y="0"/>
                    </a:lnTo>
                    <a:lnTo>
                      <a:pt x="19986" y="998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367" name="Rectangle 47"/>
              <p:cNvSpPr>
                <a:spLocks noChangeArrowheads="1"/>
              </p:cNvSpPr>
              <p:nvPr/>
            </p:nvSpPr>
            <p:spPr bwMode="auto">
              <a:xfrm>
                <a:off x="3319" y="7708"/>
                <a:ext cx="13348" cy="6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</a:t>
                </a:r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z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440368" name="Group 48"/>
            <p:cNvGrpSpPr>
              <a:grpSpLocks/>
            </p:cNvGrpSpPr>
            <p:nvPr/>
          </p:nvGrpSpPr>
          <p:grpSpPr bwMode="auto">
            <a:xfrm>
              <a:off x="1128" y="3465"/>
              <a:ext cx="544" cy="85"/>
              <a:chOff x="0" y="0"/>
              <a:chExt cx="20000" cy="20000"/>
            </a:xfrm>
          </p:grpSpPr>
          <p:sp>
            <p:nvSpPr>
              <p:cNvPr id="440369" name="Rectangle 49"/>
              <p:cNvSpPr>
                <a:spLocks noChangeArrowheads="1"/>
              </p:cNvSpPr>
              <p:nvPr/>
            </p:nvSpPr>
            <p:spPr bwMode="auto">
              <a:xfrm>
                <a:off x="588" y="4695"/>
                <a:ext cx="18809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case z action(s)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440370" name="Freeform 50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371" name="Group 51"/>
            <p:cNvGrpSpPr>
              <a:grpSpLocks/>
            </p:cNvGrpSpPr>
            <p:nvPr/>
          </p:nvGrpSpPr>
          <p:grpSpPr bwMode="auto">
            <a:xfrm>
              <a:off x="1864" y="3465"/>
              <a:ext cx="528" cy="85"/>
              <a:chOff x="0" y="0"/>
              <a:chExt cx="20000" cy="20000"/>
            </a:xfrm>
          </p:grpSpPr>
          <p:sp>
            <p:nvSpPr>
              <p:cNvPr id="440372" name="Rectangle 52"/>
              <p:cNvSpPr>
                <a:spLocks noChangeArrowheads="1"/>
              </p:cNvSpPr>
              <p:nvPr/>
            </p:nvSpPr>
            <p:spPr bwMode="auto">
              <a:xfrm>
                <a:off x="591" y="4695"/>
                <a:ext cx="18803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break</a:t>
                </a:r>
                <a:endPara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440373" name="Freeform 53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5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0374" name="Rectangle 54"/>
            <p:cNvSpPr>
              <a:spLocks noChangeArrowheads="1"/>
            </p:cNvSpPr>
            <p:nvPr/>
          </p:nvSpPr>
          <p:spPr bwMode="auto">
            <a:xfrm>
              <a:off x="918" y="2628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440375" name="Rectangle 55"/>
            <p:cNvSpPr>
              <a:spLocks noChangeArrowheads="1"/>
            </p:cNvSpPr>
            <p:nvPr/>
          </p:nvSpPr>
          <p:spPr bwMode="auto">
            <a:xfrm>
              <a:off x="918" y="3427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000">
                <a:latin typeface="Courier New" panose="02070309020205020404" pitchFamily="49" charset="0"/>
              </a:endParaRPr>
            </a:p>
          </p:txBody>
        </p:sp>
        <p:sp>
          <p:nvSpPr>
            <p:cNvPr id="440376" name="Freeform 56"/>
            <p:cNvSpPr>
              <a:spLocks/>
            </p:cNvSpPr>
            <p:nvPr/>
          </p:nvSpPr>
          <p:spPr bwMode="auto">
            <a:xfrm>
              <a:off x="648" y="3606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0377" name="Group 57"/>
            <p:cNvGrpSpPr>
              <a:grpSpLocks/>
            </p:cNvGrpSpPr>
            <p:nvPr/>
          </p:nvGrpSpPr>
          <p:grpSpPr bwMode="auto">
            <a:xfrm>
              <a:off x="344" y="3798"/>
              <a:ext cx="608" cy="85"/>
              <a:chOff x="0" y="0"/>
              <a:chExt cx="20000" cy="20000"/>
            </a:xfrm>
          </p:grpSpPr>
          <p:sp>
            <p:nvSpPr>
              <p:cNvPr id="440378" name="Rectangle 58"/>
              <p:cNvSpPr>
                <a:spLocks noChangeArrowheads="1"/>
              </p:cNvSpPr>
              <p:nvPr/>
            </p:nvSpPr>
            <p:spPr bwMode="auto">
              <a:xfrm>
                <a:off x="592" y="4695"/>
                <a:ext cx="18803" cy="14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default</a:t>
                </a:r>
                <a:r>
                  <a:rPr lang="en-US" altLang="en-US" sz="10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action(s)</a:t>
                </a:r>
              </a:p>
              <a:p>
                <a:endParaRPr lang="en-US" altLang="en-US" sz="1000">
                  <a:latin typeface="Courier New" panose="02070309020205020404" pitchFamily="49" charset="0"/>
                </a:endParaRPr>
              </a:p>
            </p:txBody>
          </p:sp>
          <p:sp>
            <p:nvSpPr>
              <p:cNvPr id="440379" name="Freeform 59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7 w 20000"/>
                  <a:gd name="T1" fmla="*/ 0 h 20000"/>
                  <a:gd name="T2" fmla="*/ 19987 w 20000"/>
                  <a:gd name="T3" fmla="*/ 19906 h 20000"/>
                  <a:gd name="T4" fmla="*/ 0 w 20000"/>
                  <a:gd name="T5" fmla="*/ 19906 h 20000"/>
                  <a:gd name="T6" fmla="*/ 0 w 20000"/>
                  <a:gd name="T7" fmla="*/ 0 h 20000"/>
                  <a:gd name="T8" fmla="*/ 19987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7" y="0"/>
                    </a:moveTo>
                    <a:lnTo>
                      <a:pt x="19987" y="19906"/>
                    </a:lnTo>
                    <a:lnTo>
                      <a:pt x="0" y="19906"/>
                    </a:lnTo>
                    <a:lnTo>
                      <a:pt x="0" y="0"/>
                    </a:lnTo>
                    <a:lnTo>
                      <a:pt x="19987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459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8C015-C52D-40F3-A51A-A16D3BBE9BC1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switch</a:t>
            </a:r>
            <a:r>
              <a:rPr lang="en-US" altLang="en-US" noProof="1"/>
              <a:t> Multiple-Selection Structure</a:t>
            </a:r>
            <a:endParaRPr lang="en-US" altLang="en-US"/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Example upcoming</a:t>
            </a:r>
          </a:p>
          <a:p>
            <a:pPr lvl="1"/>
            <a:r>
              <a:rPr lang="en-US" altLang="en-US"/>
              <a:t>Program to read grades (A-F)</a:t>
            </a:r>
          </a:p>
          <a:p>
            <a:pPr lvl="1"/>
            <a:r>
              <a:rPr lang="en-US" altLang="en-US"/>
              <a:t>Display number of each grade entered</a:t>
            </a:r>
          </a:p>
          <a:p>
            <a:r>
              <a:rPr lang="en-US" altLang="en-US"/>
              <a:t>Details about characters</a:t>
            </a:r>
          </a:p>
          <a:p>
            <a:pPr lvl="1"/>
            <a:r>
              <a:rPr lang="en-US" altLang="en-US"/>
              <a:t>Single characters typically stored in a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char</a:t>
            </a:r>
            <a:r>
              <a:rPr lang="en-US" altLang="en-US"/>
              <a:t> data type</a:t>
            </a:r>
          </a:p>
          <a:p>
            <a:pPr lvl="2"/>
            <a:r>
              <a:rPr lang="en-US" altLang="en-US" b="1">
                <a:latin typeface="Courier New" panose="02070309020205020404" pitchFamily="49" charset="0"/>
              </a:rPr>
              <a:t>char</a:t>
            </a:r>
            <a:r>
              <a:rPr lang="en-US" altLang="en-US"/>
              <a:t> a 1-byte integer, so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char</a:t>
            </a:r>
            <a:r>
              <a:rPr lang="en-US" altLang="en-US"/>
              <a:t>s can be stored as </a:t>
            </a:r>
            <a:r>
              <a:rPr lang="en-US" altLang="en-US" b="1">
                <a:latin typeface="Courier New" panose="02070309020205020404" pitchFamily="49" charset="0"/>
              </a:rPr>
              <a:t>int</a:t>
            </a:r>
            <a:r>
              <a:rPr lang="en-US" altLang="en-US"/>
              <a:t>s</a:t>
            </a:r>
          </a:p>
          <a:p>
            <a:pPr lvl="1"/>
            <a:r>
              <a:rPr lang="en-US" altLang="en-US"/>
              <a:t>Can treat character as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char</a:t>
            </a:r>
          </a:p>
          <a:p>
            <a:pPr lvl="2"/>
            <a:r>
              <a:rPr lang="en-US" altLang="en-US"/>
              <a:t>97 is the numerical representation of lowercase ‘a’ (ASCII)</a:t>
            </a:r>
          </a:p>
          <a:p>
            <a:pPr lvl="2"/>
            <a:r>
              <a:rPr lang="en-US" altLang="en-US"/>
              <a:t>Use </a:t>
            </a:r>
            <a:r>
              <a:rPr lang="en-US" altLang="en-US" i="1"/>
              <a:t>single quotes</a:t>
            </a:r>
            <a:r>
              <a:rPr lang="en-US" altLang="en-US"/>
              <a:t> to get numerical representation of character</a:t>
            </a:r>
          </a:p>
          <a:p>
            <a:pPr lvl="2"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cout &lt;&lt; "The character (" &lt;&lt; 'a' &lt;&lt; ") has the value " </a:t>
            </a:r>
            <a:b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&lt;&lt; static_cast&lt; int &gt; ( 'a' ) &lt;&lt; endl;</a:t>
            </a:r>
            <a:r>
              <a:rPr lang="en-US" altLang="en-US" sz="1600" b="1">
                <a:latin typeface="Courier New" panose="02070309020205020404" pitchFamily="49" charset="0"/>
              </a:rPr>
              <a:t> </a:t>
            </a:r>
          </a:p>
          <a:p>
            <a:pPr lvl="2">
              <a:buFontTx/>
              <a:buNone/>
            </a:pPr>
            <a:r>
              <a:rPr lang="en-US" altLang="en-US"/>
              <a:t>Prints</a:t>
            </a:r>
          </a:p>
          <a:p>
            <a:pPr lvl="2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The character (a) has the value 97</a:t>
            </a:r>
            <a:r>
              <a:rPr lang="en-US" altLang="en-US" sz="1800" b="1">
                <a:latin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710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35B19-B655-43BF-8437-4B36F85DEAC3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do/while</a:t>
            </a:r>
            <a:r>
              <a:rPr lang="en-US" altLang="en-US" noProof="1"/>
              <a:t> Repetition Structure</a:t>
            </a:r>
            <a:endParaRPr lang="en-US" altLang="en-US"/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Similar to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/>
              <a:t> structure</a:t>
            </a:r>
          </a:p>
          <a:p>
            <a:pPr lvl="1"/>
            <a:r>
              <a:rPr lang="en-US" altLang="en-US"/>
              <a:t>Makes loop continuation test at end, not beginning</a:t>
            </a:r>
          </a:p>
          <a:p>
            <a:pPr lvl="1"/>
            <a:r>
              <a:rPr lang="en-US" altLang="en-US"/>
              <a:t>Loop body executes at least once</a:t>
            </a:r>
          </a:p>
          <a:p>
            <a:r>
              <a:rPr lang="en-US" altLang="en-US"/>
              <a:t>Format</a:t>
            </a:r>
          </a:p>
          <a:p>
            <a:pPr lvl="2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do {</a:t>
            </a:r>
          </a:p>
          <a:p>
            <a:pPr lvl="2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statement</a:t>
            </a:r>
          </a:p>
          <a:p>
            <a:pPr lvl="2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} while ( condition );</a:t>
            </a:r>
          </a:p>
          <a:p>
            <a:endParaRPr lang="en-US" altLang="en-US" b="1">
              <a:latin typeface="Courier New" panose="02070309020205020404" pitchFamily="49" charset="0"/>
            </a:endParaRPr>
          </a:p>
        </p:txBody>
      </p:sp>
      <p:grpSp>
        <p:nvGrpSpPr>
          <p:cNvPr id="446468" name="Group 4"/>
          <p:cNvGrpSpPr>
            <a:grpSpLocks/>
          </p:cNvGrpSpPr>
          <p:nvPr/>
        </p:nvGrpSpPr>
        <p:grpSpPr bwMode="auto">
          <a:xfrm>
            <a:off x="7010400" y="2971800"/>
            <a:ext cx="2743200" cy="3276600"/>
            <a:chOff x="48" y="2269"/>
            <a:chExt cx="772" cy="950"/>
          </a:xfrm>
        </p:grpSpPr>
        <p:sp>
          <p:nvSpPr>
            <p:cNvPr id="446469" name="Freeform 5"/>
            <p:cNvSpPr>
              <a:spLocks/>
            </p:cNvSpPr>
            <p:nvPr/>
          </p:nvSpPr>
          <p:spPr bwMode="auto">
            <a:xfrm>
              <a:off x="336" y="2317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470" name="Oval 6"/>
            <p:cNvSpPr>
              <a:spLocks noChangeArrowheads="1"/>
            </p:cNvSpPr>
            <p:nvPr/>
          </p:nvSpPr>
          <p:spPr bwMode="auto">
            <a:xfrm>
              <a:off x="312" y="2269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471" name="Rectangle 7"/>
            <p:cNvSpPr>
              <a:spLocks noChangeArrowheads="1"/>
            </p:cNvSpPr>
            <p:nvPr/>
          </p:nvSpPr>
          <p:spPr bwMode="auto">
            <a:xfrm>
              <a:off x="628" y="2789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true</a:t>
              </a:r>
            </a:p>
            <a:p>
              <a:endParaRPr lang="en-US" altLang="en-US" sz="1000" b="1">
                <a:latin typeface="Courier New" panose="02070309020205020404" pitchFamily="49" charset="0"/>
              </a:endParaRPr>
            </a:p>
          </p:txBody>
        </p:sp>
        <p:sp>
          <p:nvSpPr>
            <p:cNvPr id="446472" name="Freeform 8"/>
            <p:cNvSpPr>
              <a:spLocks/>
            </p:cNvSpPr>
            <p:nvPr/>
          </p:nvSpPr>
          <p:spPr bwMode="auto">
            <a:xfrm>
              <a:off x="336" y="2979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473" name="Freeform 9"/>
            <p:cNvSpPr>
              <a:spLocks/>
            </p:cNvSpPr>
            <p:nvPr/>
          </p:nvSpPr>
          <p:spPr bwMode="auto">
            <a:xfrm>
              <a:off x="336" y="2589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474" name="Oval 10"/>
            <p:cNvSpPr>
              <a:spLocks noChangeArrowheads="1"/>
            </p:cNvSpPr>
            <p:nvPr/>
          </p:nvSpPr>
          <p:spPr bwMode="auto">
            <a:xfrm>
              <a:off x="312" y="3171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475" name="Rectangle 11"/>
            <p:cNvSpPr>
              <a:spLocks noChangeArrowheads="1"/>
            </p:cNvSpPr>
            <p:nvPr/>
          </p:nvSpPr>
          <p:spPr bwMode="auto">
            <a:xfrm>
              <a:off x="356" y="2981"/>
              <a:ext cx="20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false</a:t>
              </a:r>
            </a:p>
            <a:p>
              <a:endParaRPr lang="en-US" altLang="en-US" sz="1000" b="1">
                <a:latin typeface="Courier New" panose="02070309020205020404" pitchFamily="49" charset="0"/>
              </a:endParaRPr>
            </a:p>
          </p:txBody>
        </p:sp>
        <p:sp>
          <p:nvSpPr>
            <p:cNvPr id="446476" name="Freeform 12"/>
            <p:cNvSpPr>
              <a:spLocks/>
            </p:cNvSpPr>
            <p:nvPr/>
          </p:nvSpPr>
          <p:spPr bwMode="auto">
            <a:xfrm>
              <a:off x="628" y="2880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477" name="Freeform 13"/>
            <p:cNvSpPr>
              <a:spLocks/>
            </p:cNvSpPr>
            <p:nvPr/>
          </p:nvSpPr>
          <p:spPr bwMode="auto">
            <a:xfrm>
              <a:off x="820" y="2420"/>
              <a:ext cx="0" cy="4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83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8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6478" name="Freeform 14"/>
            <p:cNvSpPr>
              <a:spLocks/>
            </p:cNvSpPr>
            <p:nvPr/>
          </p:nvSpPr>
          <p:spPr bwMode="auto">
            <a:xfrm>
              <a:off x="340" y="2420"/>
              <a:ext cx="480" cy="0"/>
            </a:xfrm>
            <a:custGeom>
              <a:avLst/>
              <a:gdLst>
                <a:gd name="T0" fmla="*/ 0 w 20000"/>
                <a:gd name="T1" fmla="*/ 0 h 20000"/>
                <a:gd name="T2" fmla="*/ 19983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1998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6479" name="Group 15"/>
            <p:cNvGrpSpPr>
              <a:grpSpLocks/>
            </p:cNvGrpSpPr>
            <p:nvPr/>
          </p:nvGrpSpPr>
          <p:grpSpPr bwMode="auto">
            <a:xfrm>
              <a:off x="72" y="2509"/>
              <a:ext cx="528" cy="82"/>
              <a:chOff x="0" y="0"/>
              <a:chExt cx="20000" cy="20000"/>
            </a:xfrm>
          </p:grpSpPr>
          <p:sp>
            <p:nvSpPr>
              <p:cNvPr id="446480" name="Freeform 16"/>
              <p:cNvSpPr>
                <a:spLocks/>
              </p:cNvSpPr>
              <p:nvPr/>
            </p:nvSpPr>
            <p:spPr bwMode="auto">
              <a:xfrm>
                <a:off x="0" y="0"/>
                <a:ext cx="20000" cy="19417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0 h 20000"/>
                  <a:gd name="T4" fmla="*/ 0 w 20000"/>
                  <a:gd name="T5" fmla="*/ 19900 h 20000"/>
                  <a:gd name="T6" fmla="*/ 0 w 20000"/>
                  <a:gd name="T7" fmla="*/ 0 h 20000"/>
                  <a:gd name="T8" fmla="*/ 19985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5" y="0"/>
                    </a:moveTo>
                    <a:lnTo>
                      <a:pt x="19985" y="19900"/>
                    </a:lnTo>
                    <a:lnTo>
                      <a:pt x="0" y="19900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481" name="Rectangle 17"/>
              <p:cNvSpPr>
                <a:spLocks noChangeArrowheads="1"/>
              </p:cNvSpPr>
              <p:nvPr/>
            </p:nvSpPr>
            <p:spPr bwMode="auto">
              <a:xfrm>
                <a:off x="2712" y="3301"/>
                <a:ext cx="14561" cy="166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action(s)</a:t>
                </a:r>
              </a:p>
              <a:p>
                <a:endParaRPr lang="en-US" altLang="en-US" sz="10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446482" name="Group 18"/>
            <p:cNvGrpSpPr>
              <a:grpSpLocks/>
            </p:cNvGrpSpPr>
            <p:nvPr/>
          </p:nvGrpSpPr>
          <p:grpSpPr bwMode="auto">
            <a:xfrm>
              <a:off x="48" y="2781"/>
              <a:ext cx="576" cy="198"/>
              <a:chOff x="0" y="0"/>
              <a:chExt cx="20000" cy="20000"/>
            </a:xfrm>
          </p:grpSpPr>
          <p:sp>
            <p:nvSpPr>
              <p:cNvPr id="446483" name="Freeform 19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6 w 20000"/>
                  <a:gd name="T1" fmla="*/ 9980 h 20000"/>
                  <a:gd name="T2" fmla="*/ 9986 w 20000"/>
                  <a:gd name="T3" fmla="*/ 19960 h 20000"/>
                  <a:gd name="T4" fmla="*/ 0 w 20000"/>
                  <a:gd name="T5" fmla="*/ 9980 h 20000"/>
                  <a:gd name="T6" fmla="*/ 9986 w 20000"/>
                  <a:gd name="T7" fmla="*/ 0 h 20000"/>
                  <a:gd name="T8" fmla="*/ 19986 w 20000"/>
                  <a:gd name="T9" fmla="*/ 998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86" y="9980"/>
                    </a:moveTo>
                    <a:lnTo>
                      <a:pt x="9986" y="19960"/>
                    </a:lnTo>
                    <a:lnTo>
                      <a:pt x="0" y="9980"/>
                    </a:lnTo>
                    <a:lnTo>
                      <a:pt x="9986" y="0"/>
                    </a:lnTo>
                    <a:lnTo>
                      <a:pt x="19986" y="998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484" name="Rectangle 20"/>
              <p:cNvSpPr>
                <a:spLocks noChangeArrowheads="1"/>
              </p:cNvSpPr>
              <p:nvPr/>
            </p:nvSpPr>
            <p:spPr bwMode="auto">
              <a:xfrm>
                <a:off x="3319" y="7273"/>
                <a:ext cx="13348" cy="7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 eaLnBrk="1" hangingPunct="1"/>
                <a:r>
                  <a:rPr lang="en-US" altLang="en-US" sz="10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condition</a:t>
                </a:r>
              </a:p>
              <a:p>
                <a:endParaRPr lang="en-US" altLang="en-US" sz="1000" b="1">
                  <a:latin typeface="Courier New" panose="020703090202050204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889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7A80A-9603-4750-9E2F-090334B63B17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noProof="1"/>
              <a:t>break</a:t>
            </a:r>
            <a:r>
              <a:rPr lang="en-US" altLang="en-US" noProof="1"/>
              <a:t> and </a:t>
            </a:r>
            <a:r>
              <a:rPr lang="en-US" altLang="en-US" b="1" noProof="1"/>
              <a:t>continue</a:t>
            </a:r>
            <a:r>
              <a:rPr lang="en-US" altLang="en-US" noProof="1"/>
              <a:t> Statements</a:t>
            </a:r>
            <a:endParaRPr lang="en-US" altLang="en-US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break</a:t>
            </a:r>
            <a:r>
              <a:rPr lang="en-US" altLang="en-US"/>
              <a:t> statement</a:t>
            </a:r>
          </a:p>
          <a:p>
            <a:pPr lvl="1"/>
            <a:r>
              <a:rPr lang="en-US" altLang="en-US"/>
              <a:t>Immediate exit from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>
                <a:solidFill>
                  <a:srgbClr val="009999"/>
                </a:solidFill>
              </a:rPr>
              <a:t>,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>
                <a:solidFill>
                  <a:srgbClr val="009999"/>
                </a:solidFill>
              </a:rPr>
              <a:t>,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do/while</a:t>
            </a:r>
            <a:r>
              <a:rPr lang="en-US" altLang="en-US">
                <a:solidFill>
                  <a:srgbClr val="009999"/>
                </a:solidFill>
              </a:rPr>
              <a:t>,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switch</a:t>
            </a:r>
          </a:p>
          <a:p>
            <a:pPr lvl="1"/>
            <a:r>
              <a:rPr lang="en-US" altLang="en-US"/>
              <a:t>Program continues with first statement after structure</a:t>
            </a:r>
            <a:endParaRPr lang="en-US" altLang="en-US" b="1">
              <a:latin typeface="Courier New" panose="02070309020205020404" pitchFamily="49" charset="0"/>
            </a:endParaRPr>
          </a:p>
          <a:p>
            <a:r>
              <a:rPr lang="en-US" altLang="en-US"/>
              <a:t>Common uses</a:t>
            </a:r>
          </a:p>
          <a:p>
            <a:pPr lvl="1"/>
            <a:r>
              <a:rPr lang="en-US" altLang="en-US"/>
              <a:t>Escape early from a loop</a:t>
            </a:r>
          </a:p>
          <a:p>
            <a:pPr lvl="1"/>
            <a:r>
              <a:rPr lang="en-US" altLang="en-US"/>
              <a:t>Skip the remainder of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switch</a:t>
            </a:r>
            <a:endParaRPr lang="en-US" altLang="en-US">
              <a:solidFill>
                <a:srgbClr val="009999"/>
              </a:solidFill>
            </a:endParaRPr>
          </a:p>
          <a:p>
            <a:pPr lvl="1"/>
            <a:endParaRPr lang="en-US" altLang="en-US" b="1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91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D2930-E67F-497C-A552-903CCACC5B52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Logical Operators</a:t>
            </a:r>
            <a:endParaRPr lang="en-US" altLang="en-US"/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Used as conditions in loops, </a:t>
            </a:r>
            <a:r>
              <a:rPr lang="en-US" altLang="en-US" b="1"/>
              <a:t>if</a:t>
            </a:r>
            <a:r>
              <a:rPr lang="en-US" altLang="en-US"/>
              <a:t> statements</a:t>
            </a:r>
            <a:endParaRPr lang="en-US" altLang="en-US" b="1">
              <a:latin typeface="Courier New" panose="02070309020205020404" pitchFamily="49" charset="0"/>
            </a:endParaRPr>
          </a:p>
          <a:p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&amp;&amp;</a:t>
            </a:r>
            <a:r>
              <a:rPr lang="en-US" altLang="en-US"/>
              <a:t> (logical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AND</a:t>
            </a:r>
            <a:r>
              <a:rPr lang="en-US" altLang="en-US"/>
              <a:t>)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true</a:t>
            </a:r>
            <a:r>
              <a:rPr lang="en-US" altLang="en-US"/>
              <a:t> if both conditions are </a:t>
            </a:r>
            <a:r>
              <a:rPr lang="en-US" altLang="en-US" b="1">
                <a:latin typeface="Courier New" panose="02070309020205020404" pitchFamily="49" charset="0"/>
              </a:rPr>
              <a:t>true</a:t>
            </a:r>
          </a:p>
          <a:p>
            <a:pPr lvl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	if ( gender == 1 &amp;&amp; age &gt;= 65 )</a:t>
            </a:r>
            <a:b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   ++seniorFemales;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||</a:t>
            </a:r>
            <a:r>
              <a:rPr lang="en-US" altLang="en-US"/>
              <a:t> (logical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OR</a:t>
            </a:r>
            <a:r>
              <a:rPr lang="en-US" altLang="en-US"/>
              <a:t>)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true</a:t>
            </a:r>
            <a:r>
              <a:rPr lang="en-US" altLang="en-US"/>
              <a:t> if either of condition is </a:t>
            </a:r>
            <a:r>
              <a:rPr lang="en-US" altLang="en-US" b="1">
                <a:latin typeface="Courier New" panose="02070309020205020404" pitchFamily="49" charset="0"/>
              </a:rPr>
              <a:t>true</a:t>
            </a:r>
          </a:p>
          <a:p>
            <a:pPr lvl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	if ( semesterAverage &gt;= 90 || finalExam &gt;= 90 )</a:t>
            </a:r>
            <a:b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</a:br>
            <a:r>
              <a:rPr lang="en-US" altLang="en-US" sz="1800" b="1">
                <a:latin typeface="Courier New" panose="02070309020205020404" pitchFamily="49" charset="0"/>
                <a:cs typeface="Times New Roman" panose="02020603050405020304" pitchFamily="18" charset="0"/>
              </a:rPr>
              <a:t>   cout &lt;&lt; "Student grade is A" &lt;&lt; endl; </a:t>
            </a:r>
            <a:endParaRPr lang="en-US" altLang="en-US" sz="1800" b="1">
              <a:latin typeface="Courier New" panose="02070309020205020404" pitchFamily="49" charset="0"/>
            </a:endParaRP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38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3D5ED-D63D-470B-BCC4-4418EBCDD145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Logical Operators</a:t>
            </a:r>
            <a:endParaRPr lang="en-US" altLang="en-US"/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!</a:t>
            </a:r>
            <a:r>
              <a:rPr lang="en-US" altLang="en-US"/>
              <a:t> (logical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NOT</a:t>
            </a:r>
            <a:r>
              <a:rPr lang="en-US" altLang="en-US"/>
              <a:t>, logical negation)</a:t>
            </a:r>
          </a:p>
          <a:p>
            <a:pPr lvl="1"/>
            <a:r>
              <a:rPr lang="en-US" altLang="en-US"/>
              <a:t>Returns </a:t>
            </a:r>
            <a:r>
              <a:rPr lang="en-US" altLang="en-US" b="1">
                <a:latin typeface="Courier New" panose="02070309020205020404" pitchFamily="49" charset="0"/>
              </a:rPr>
              <a:t>true</a:t>
            </a:r>
            <a:r>
              <a:rPr lang="en-US" altLang="en-US"/>
              <a:t> when its condition is </a:t>
            </a:r>
            <a:r>
              <a:rPr lang="en-US" altLang="en-US" b="1">
                <a:latin typeface="Courier New" panose="02070309020205020404" pitchFamily="49" charset="0"/>
              </a:rPr>
              <a:t>false</a:t>
            </a:r>
            <a:r>
              <a:rPr lang="en-US" altLang="en-US"/>
              <a:t>, &amp; vice versa</a:t>
            </a:r>
          </a:p>
          <a:p>
            <a:pPr lvl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	if ( !( grade == sentinelValue ) )</a:t>
            </a:r>
            <a:b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cout &lt;&lt; "The next grade is " &lt;&lt; grade &lt;&lt; endl;</a:t>
            </a:r>
          </a:p>
          <a:p>
            <a:pPr lvl="1">
              <a:buFontTx/>
              <a:buNone/>
            </a:pPr>
            <a:r>
              <a:rPr lang="en-US" altLang="en-US">
                <a:cs typeface="Courier New" panose="02070309020205020404" pitchFamily="49" charset="0"/>
              </a:rPr>
              <a:t>Alternative:</a:t>
            </a:r>
          </a:p>
          <a:p>
            <a:pPr lvl="1"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	if ( grade != sentinelValue )</a:t>
            </a:r>
            <a:b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cout &lt;&lt; "The next grade is " &lt;&lt; grade &lt;&lt; endl;</a:t>
            </a:r>
            <a:r>
              <a:rPr lang="en-US" altLang="en-US" sz="1800" b="1"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419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242581-35F2-4668-B011-D9CFD7928A3C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Confusing Equality (==) and Assignment (=) Operators</a:t>
            </a:r>
            <a:endParaRPr lang="en-US" altLang="en-US"/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Common error</a:t>
            </a:r>
          </a:p>
          <a:p>
            <a:pPr lvl="1"/>
            <a:r>
              <a:rPr lang="en-US" altLang="en-US"/>
              <a:t>Does not typically cause syntax errors</a:t>
            </a:r>
          </a:p>
          <a:p>
            <a:r>
              <a:rPr lang="en-US" altLang="en-US"/>
              <a:t>Aspects of problem</a:t>
            </a:r>
          </a:p>
          <a:p>
            <a:pPr lvl="1"/>
            <a:r>
              <a:rPr lang="en-US" altLang="en-US"/>
              <a:t>Expressions that have a value can be used for decision</a:t>
            </a:r>
          </a:p>
          <a:p>
            <a:pPr lvl="2"/>
            <a:r>
              <a:rPr lang="en-US" altLang="en-US"/>
              <a:t>Zero = false, nonzero = true</a:t>
            </a:r>
          </a:p>
          <a:p>
            <a:pPr lvl="1"/>
            <a:r>
              <a:rPr lang="en-US" altLang="en-US"/>
              <a:t>Assignment statements produce a value (the value to be assigned)</a:t>
            </a:r>
          </a:p>
        </p:txBody>
      </p:sp>
    </p:spTree>
    <p:extLst>
      <p:ext uri="{BB962C8B-B14F-4D97-AF65-F5344CB8AC3E}">
        <p14:creationId xmlns:p14="http://schemas.microsoft.com/office/powerpoint/2010/main" val="153673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9A563-4353-453F-A33B-7E3109983367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Confusing Equality (==) and Assignment (=) Operators</a:t>
            </a:r>
            <a:endParaRPr lang="en-US" altLang="en-US"/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  <a:p>
            <a:pPr lvl="2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 ( payCode == 4 )</a:t>
            </a:r>
          </a:p>
          <a:p>
            <a:pPr lvl="2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cout &lt;&lt; "You get a bonus!" &lt;&lt; endl;</a:t>
            </a:r>
          </a:p>
          <a:p>
            <a:pPr lvl="1"/>
            <a:r>
              <a:rPr lang="en-US" altLang="en-US"/>
              <a:t>If paycode is 4, bonus given</a:t>
            </a:r>
          </a:p>
          <a:p>
            <a:pPr lvl="2"/>
            <a:endParaRPr lang="en-US" altLang="en-US"/>
          </a:p>
          <a:p>
            <a:r>
              <a:rPr lang="en-US" altLang="en-US"/>
              <a:t>If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==</a:t>
            </a:r>
            <a:r>
              <a:rPr lang="en-US" altLang="en-US"/>
              <a:t> was replaced with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=</a:t>
            </a:r>
          </a:p>
          <a:p>
            <a:pPr lvl="2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if ( payCode = 4 )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 cout &lt;&lt; "You get a bonus!" &lt;&lt; endl;</a:t>
            </a:r>
            <a:endParaRPr lang="en-US" altLang="en-US"/>
          </a:p>
          <a:p>
            <a:pPr lvl="1"/>
            <a:r>
              <a:rPr lang="en-US" altLang="en-US"/>
              <a:t>Paycode set to 4 (no matter what it was before)</a:t>
            </a:r>
          </a:p>
          <a:p>
            <a:pPr lvl="1"/>
            <a:r>
              <a:rPr lang="en-US" altLang="en-US"/>
              <a:t>Statement is true (since 4 is non-zero)</a:t>
            </a:r>
          </a:p>
          <a:p>
            <a:pPr lvl="1"/>
            <a:r>
              <a:rPr lang="en-US" altLang="en-US"/>
              <a:t>Bonus given in every case</a:t>
            </a:r>
          </a:p>
        </p:txBody>
      </p:sp>
    </p:spTree>
    <p:extLst>
      <p:ext uri="{BB962C8B-B14F-4D97-AF65-F5344CB8AC3E}">
        <p14:creationId xmlns:p14="http://schemas.microsoft.com/office/powerpoint/2010/main" val="379651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9BC5E-6A2F-431A-9841-ABF481A45998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Confusing Equality (==) and Assignment (=) Operators</a:t>
            </a:r>
            <a:endParaRPr lang="en-US" altLang="en-US"/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Lvalues</a:t>
            </a:r>
          </a:p>
          <a:p>
            <a:pPr lvl="1"/>
            <a:r>
              <a:rPr lang="en-US" altLang="en-US"/>
              <a:t>Expressions that can appear on left side of equation</a:t>
            </a:r>
          </a:p>
          <a:p>
            <a:pPr lvl="1"/>
            <a:r>
              <a:rPr lang="en-US" altLang="en-US"/>
              <a:t>Can be changed (I.e., variables)</a:t>
            </a:r>
          </a:p>
          <a:p>
            <a:pPr lvl="2">
              <a:buFontTx/>
              <a:buNone/>
            </a:pP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x = 4</a:t>
            </a:r>
            <a:r>
              <a:rPr lang="en-US" altLang="en-US" b="1">
                <a:latin typeface="Courier New" panose="02070309020205020404" pitchFamily="49" charset="0"/>
              </a:rPr>
              <a:t>;</a:t>
            </a:r>
            <a:endParaRPr lang="en-US" altLang="en-US"/>
          </a:p>
          <a:p>
            <a:r>
              <a:rPr lang="en-US" altLang="en-US"/>
              <a:t>Rvalues</a:t>
            </a:r>
          </a:p>
          <a:p>
            <a:pPr lvl="1"/>
            <a:r>
              <a:rPr lang="en-US" altLang="en-US"/>
              <a:t>Only appear on right side of equation</a:t>
            </a:r>
          </a:p>
          <a:p>
            <a:pPr lvl="1"/>
            <a:r>
              <a:rPr lang="en-US" altLang="en-US"/>
              <a:t>Constants, such as numbers (i.e. cannot write </a:t>
            </a:r>
            <a:r>
              <a:rPr lang="en-US" altLang="en-US" b="1">
                <a:solidFill>
                  <a:srgbClr val="009999"/>
                </a:solidFill>
                <a:latin typeface="Courier New" panose="02070309020205020404" pitchFamily="49" charset="0"/>
              </a:rPr>
              <a:t>4 = x</a:t>
            </a:r>
            <a:r>
              <a:rPr lang="en-US" altLang="en-US" b="1">
                <a:latin typeface="Courier New" panose="02070309020205020404" pitchFamily="49" charset="0"/>
              </a:rPr>
              <a:t>;</a:t>
            </a:r>
            <a:r>
              <a:rPr lang="en-US" altLang="en-US"/>
              <a:t>)</a:t>
            </a:r>
          </a:p>
          <a:p>
            <a:r>
              <a:rPr lang="en-US" altLang="en-US"/>
              <a:t>Lvalues can be used as rvalues, but not vice versa</a:t>
            </a:r>
          </a:p>
        </p:txBody>
      </p:sp>
    </p:spTree>
    <p:extLst>
      <p:ext uri="{BB962C8B-B14F-4D97-AF65-F5344CB8AC3E}">
        <p14:creationId xmlns:p14="http://schemas.microsoft.com/office/powerpoint/2010/main" val="133344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F3B5-2E89-4F85-A9F6-7B787A18A175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Structured-Programming Summary</a:t>
            </a:r>
            <a:endParaRPr lang="en-US" altLang="en-US"/>
          </a:p>
        </p:txBody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Structured programming</a:t>
            </a:r>
          </a:p>
          <a:p>
            <a:pPr lvl="1"/>
            <a:r>
              <a:rPr lang="en-US" altLang="en-US"/>
              <a:t>Programs easier to understand, test, debug and modify</a:t>
            </a:r>
          </a:p>
          <a:p>
            <a:r>
              <a:rPr lang="en-US" altLang="en-US"/>
              <a:t>Rules for structured programming</a:t>
            </a:r>
          </a:p>
          <a:p>
            <a:pPr lvl="1"/>
            <a:r>
              <a:rPr lang="en-US" altLang="en-US"/>
              <a:t>Only use single-entry/single-exit control structures</a:t>
            </a:r>
          </a:p>
          <a:p>
            <a:pPr lvl="1"/>
            <a:r>
              <a:rPr lang="en-US" altLang="en-US"/>
              <a:t>Rules</a:t>
            </a:r>
          </a:p>
          <a:p>
            <a:pPr lvl="2">
              <a:buFontTx/>
              <a:buNone/>
            </a:pPr>
            <a:r>
              <a:rPr lang="en-US" altLang="en-US"/>
              <a:t>1)  Begin with the “simplest flowchart”</a:t>
            </a:r>
          </a:p>
          <a:p>
            <a:pPr lvl="2">
              <a:buFontTx/>
              <a:buNone/>
            </a:pPr>
            <a:r>
              <a:rPr lang="en-US" altLang="en-US"/>
              <a:t>2)  Any rectangle (action) can be replaced by two rectangles (actions) in sequence</a:t>
            </a:r>
          </a:p>
          <a:p>
            <a:pPr lvl="2">
              <a:buFontTx/>
              <a:buNone/>
            </a:pPr>
            <a:r>
              <a:rPr lang="en-US" altLang="en-US"/>
              <a:t>3)  Any rectangle (action) can be replaced by any control structure (sequence, if, if/else, switch, while, do/while or for)</a:t>
            </a:r>
          </a:p>
          <a:p>
            <a:pPr lvl="2">
              <a:buFontTx/>
              <a:buNone/>
            </a:pPr>
            <a:r>
              <a:rPr lang="en-US" altLang="en-US"/>
              <a:t>4)  Rules 2 and 3 can be applied in any order and multiple times</a:t>
            </a:r>
          </a:p>
        </p:txBody>
      </p:sp>
      <p:sp>
        <p:nvSpPr>
          <p:cNvPr id="455684" name="Rectangle 4"/>
          <p:cNvSpPr>
            <a:spLocks noChangeArrowheads="1"/>
          </p:cNvSpPr>
          <p:nvPr/>
        </p:nvSpPr>
        <p:spPr bwMode="auto">
          <a:xfrm>
            <a:off x="1524000" y="1771650"/>
            <a:ext cx="548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55685" name="Rectangle 5"/>
          <p:cNvSpPr>
            <a:spLocks noChangeArrowheads="1"/>
          </p:cNvSpPr>
          <p:nvPr/>
        </p:nvSpPr>
        <p:spPr bwMode="auto">
          <a:xfrm>
            <a:off x="1524000" y="2971801"/>
            <a:ext cx="5486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altLang="en-US" sz="1200">
              <a:latin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55686" name="Rectangle 6"/>
          <p:cNvSpPr>
            <a:spLocks noChangeArrowheads="1"/>
          </p:cNvSpPr>
          <p:nvPr/>
        </p:nvSpPr>
        <p:spPr bwMode="auto">
          <a:xfrm>
            <a:off x="1524000" y="3962400"/>
            <a:ext cx="91440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/>
            </a:r>
            <a:br>
              <a:rPr lang="en-US" altLang="en-US" sz="1400">
                <a:latin typeface="Times New Roman" panose="02020603050405020304" pitchFamily="18" charset="0"/>
              </a:rPr>
            </a:b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55687" name="Rectangle 7"/>
          <p:cNvSpPr>
            <a:spLocks noChangeArrowheads="1"/>
          </p:cNvSpPr>
          <p:nvPr/>
        </p:nvSpPr>
        <p:spPr bwMode="auto">
          <a:xfrm>
            <a:off x="1524000" y="517525"/>
            <a:ext cx="548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55688" name="Rectangle 8"/>
          <p:cNvSpPr>
            <a:spLocks noChangeArrowheads="1"/>
          </p:cNvSpPr>
          <p:nvPr/>
        </p:nvSpPr>
        <p:spPr bwMode="auto">
          <a:xfrm>
            <a:off x="1524000" y="1717676"/>
            <a:ext cx="5486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 </a:t>
            </a: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55689" name="Rectangle 9"/>
          <p:cNvSpPr>
            <a:spLocks noChangeArrowheads="1"/>
          </p:cNvSpPr>
          <p:nvPr/>
        </p:nvSpPr>
        <p:spPr bwMode="auto">
          <a:xfrm>
            <a:off x="1524000" y="5672138"/>
            <a:ext cx="91440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/>
            </a:r>
            <a:br>
              <a:rPr lang="en-US" altLang="en-US" sz="1400">
                <a:latin typeface="Times New Roman" panose="02020603050405020304" pitchFamily="18" charset="0"/>
              </a:rPr>
            </a:b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1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7161E-9E3A-4B18-A8A6-522E96C2FCC6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Structured-Programming Summary</a:t>
            </a:r>
            <a:endParaRPr lang="en-US" altLang="en-US"/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grpSp>
        <p:nvGrpSpPr>
          <p:cNvPr id="456708" name="Group 4"/>
          <p:cNvGrpSpPr>
            <a:grpSpLocks/>
          </p:cNvGrpSpPr>
          <p:nvPr/>
        </p:nvGrpSpPr>
        <p:grpSpPr bwMode="auto">
          <a:xfrm>
            <a:off x="2971800" y="1905000"/>
            <a:ext cx="6705600" cy="4419600"/>
            <a:chOff x="232" y="1259"/>
            <a:chExt cx="2416" cy="2688"/>
          </a:xfrm>
        </p:grpSpPr>
        <p:sp>
          <p:nvSpPr>
            <p:cNvPr id="456709" name="AutoShape 5"/>
            <p:cNvSpPr>
              <a:spLocks noChangeArrowheads="1"/>
            </p:cNvSpPr>
            <p:nvPr/>
          </p:nvSpPr>
          <p:spPr bwMode="auto">
            <a:xfrm>
              <a:off x="408" y="1259"/>
              <a:ext cx="288" cy="96"/>
            </a:xfrm>
            <a:prstGeom prst="roundRect">
              <a:avLst>
                <a:gd name="adj" fmla="val 16667"/>
              </a:avLst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0" name="Freeform 6"/>
            <p:cNvSpPr>
              <a:spLocks/>
            </p:cNvSpPr>
            <p:nvPr/>
          </p:nvSpPr>
          <p:spPr bwMode="auto">
            <a:xfrm>
              <a:off x="552" y="1355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1" name="Freeform 7"/>
            <p:cNvSpPr>
              <a:spLocks/>
            </p:cNvSpPr>
            <p:nvPr/>
          </p:nvSpPr>
          <p:spPr bwMode="auto">
            <a:xfrm>
              <a:off x="408" y="1499"/>
              <a:ext cx="288" cy="96"/>
            </a:xfrm>
            <a:custGeom>
              <a:avLst/>
              <a:gdLst>
                <a:gd name="T0" fmla="*/ 19972 w 20000"/>
                <a:gd name="T1" fmla="*/ 0 h 20000"/>
                <a:gd name="T2" fmla="*/ 19972 w 20000"/>
                <a:gd name="T3" fmla="*/ 19917 h 20000"/>
                <a:gd name="T4" fmla="*/ 0 w 20000"/>
                <a:gd name="T5" fmla="*/ 19917 h 20000"/>
                <a:gd name="T6" fmla="*/ 0 w 20000"/>
                <a:gd name="T7" fmla="*/ 0 h 20000"/>
                <a:gd name="T8" fmla="*/ 1997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19972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2" name="Freeform 8"/>
            <p:cNvSpPr>
              <a:spLocks/>
            </p:cNvSpPr>
            <p:nvPr/>
          </p:nvSpPr>
          <p:spPr bwMode="auto">
            <a:xfrm>
              <a:off x="552" y="1595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3" name="AutoShape 9"/>
            <p:cNvSpPr>
              <a:spLocks noChangeArrowheads="1"/>
            </p:cNvSpPr>
            <p:nvPr/>
          </p:nvSpPr>
          <p:spPr bwMode="auto">
            <a:xfrm>
              <a:off x="408" y="1739"/>
              <a:ext cx="288" cy="96"/>
            </a:xfrm>
            <a:prstGeom prst="roundRect">
              <a:avLst>
                <a:gd name="adj" fmla="val 16667"/>
              </a:avLst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4" name="AutoShape 10"/>
            <p:cNvSpPr>
              <a:spLocks noChangeArrowheads="1"/>
            </p:cNvSpPr>
            <p:nvPr/>
          </p:nvSpPr>
          <p:spPr bwMode="auto">
            <a:xfrm>
              <a:off x="1832" y="1611"/>
              <a:ext cx="288" cy="96"/>
            </a:xfrm>
            <a:prstGeom prst="roundRect">
              <a:avLst>
                <a:gd name="adj" fmla="val 16667"/>
              </a:avLst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5" name="Freeform 11"/>
            <p:cNvSpPr>
              <a:spLocks/>
            </p:cNvSpPr>
            <p:nvPr/>
          </p:nvSpPr>
          <p:spPr bwMode="auto">
            <a:xfrm>
              <a:off x="1976" y="1707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6" name="Freeform 12"/>
            <p:cNvSpPr>
              <a:spLocks/>
            </p:cNvSpPr>
            <p:nvPr/>
          </p:nvSpPr>
          <p:spPr bwMode="auto">
            <a:xfrm>
              <a:off x="1976" y="2283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7" name="AutoShape 13"/>
            <p:cNvSpPr>
              <a:spLocks noChangeArrowheads="1"/>
            </p:cNvSpPr>
            <p:nvPr/>
          </p:nvSpPr>
          <p:spPr bwMode="auto">
            <a:xfrm>
              <a:off x="1832" y="2427"/>
              <a:ext cx="288" cy="96"/>
            </a:xfrm>
            <a:prstGeom prst="roundRect">
              <a:avLst>
                <a:gd name="adj" fmla="val 16667"/>
              </a:avLst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18" name="Freeform 14"/>
            <p:cNvSpPr>
              <a:spLocks/>
            </p:cNvSpPr>
            <p:nvPr/>
          </p:nvSpPr>
          <p:spPr bwMode="auto">
            <a:xfrm>
              <a:off x="1784" y="1851"/>
              <a:ext cx="384" cy="96"/>
            </a:xfrm>
            <a:custGeom>
              <a:avLst/>
              <a:gdLst>
                <a:gd name="T0" fmla="*/ 19979 w 20000"/>
                <a:gd name="T1" fmla="*/ 10000 h 20000"/>
                <a:gd name="T2" fmla="*/ 9979 w 20000"/>
                <a:gd name="T3" fmla="*/ 19917 h 20000"/>
                <a:gd name="T4" fmla="*/ 0 w 20000"/>
                <a:gd name="T5" fmla="*/ 10000 h 20000"/>
                <a:gd name="T6" fmla="*/ 9979 w 20000"/>
                <a:gd name="T7" fmla="*/ 0 h 20000"/>
                <a:gd name="T8" fmla="*/ 19979 w 20000"/>
                <a:gd name="T9" fmla="*/ 1000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9" y="10000"/>
                  </a:moveTo>
                  <a:lnTo>
                    <a:pt x="9979" y="19917"/>
                  </a:lnTo>
                  <a:lnTo>
                    <a:pt x="0" y="10000"/>
                  </a:lnTo>
                  <a:lnTo>
                    <a:pt x="9979" y="0"/>
                  </a:lnTo>
                  <a:lnTo>
                    <a:pt x="19979" y="10000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19" name="Freeform 15"/>
            <p:cNvSpPr>
              <a:spLocks/>
            </p:cNvSpPr>
            <p:nvPr/>
          </p:nvSpPr>
          <p:spPr bwMode="auto">
            <a:xfrm>
              <a:off x="2168" y="1899"/>
              <a:ext cx="288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20" name="Freeform 16"/>
            <p:cNvSpPr>
              <a:spLocks/>
            </p:cNvSpPr>
            <p:nvPr/>
          </p:nvSpPr>
          <p:spPr bwMode="auto">
            <a:xfrm>
              <a:off x="1496" y="1899"/>
              <a:ext cx="288" cy="0"/>
            </a:xfrm>
            <a:custGeom>
              <a:avLst/>
              <a:gdLst>
                <a:gd name="T0" fmla="*/ 19972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21" name="Freeform 17"/>
            <p:cNvSpPr>
              <a:spLocks/>
            </p:cNvSpPr>
            <p:nvPr/>
          </p:nvSpPr>
          <p:spPr bwMode="auto">
            <a:xfrm>
              <a:off x="1496" y="1899"/>
              <a:ext cx="0" cy="96"/>
            </a:xfrm>
            <a:custGeom>
              <a:avLst/>
              <a:gdLst>
                <a:gd name="T0" fmla="*/ 0 w 20000"/>
                <a:gd name="T1" fmla="*/ 19917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17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22" name="Freeform 18"/>
            <p:cNvSpPr>
              <a:spLocks/>
            </p:cNvSpPr>
            <p:nvPr/>
          </p:nvSpPr>
          <p:spPr bwMode="auto">
            <a:xfrm>
              <a:off x="2456" y="1899"/>
              <a:ext cx="0" cy="96"/>
            </a:xfrm>
            <a:custGeom>
              <a:avLst/>
              <a:gdLst>
                <a:gd name="T0" fmla="*/ 0 w 20000"/>
                <a:gd name="T1" fmla="*/ 19917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17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23" name="Freeform 19"/>
            <p:cNvSpPr>
              <a:spLocks/>
            </p:cNvSpPr>
            <p:nvPr/>
          </p:nvSpPr>
          <p:spPr bwMode="auto">
            <a:xfrm>
              <a:off x="1352" y="1995"/>
              <a:ext cx="288" cy="96"/>
            </a:xfrm>
            <a:custGeom>
              <a:avLst/>
              <a:gdLst>
                <a:gd name="T0" fmla="*/ 19972 w 20000"/>
                <a:gd name="T1" fmla="*/ 0 h 20000"/>
                <a:gd name="T2" fmla="*/ 19972 w 20000"/>
                <a:gd name="T3" fmla="*/ 19917 h 20000"/>
                <a:gd name="T4" fmla="*/ 0 w 20000"/>
                <a:gd name="T5" fmla="*/ 19917 h 20000"/>
                <a:gd name="T6" fmla="*/ 0 w 20000"/>
                <a:gd name="T7" fmla="*/ 0 h 20000"/>
                <a:gd name="T8" fmla="*/ 1997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19972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24" name="Freeform 20"/>
            <p:cNvSpPr>
              <a:spLocks/>
            </p:cNvSpPr>
            <p:nvPr/>
          </p:nvSpPr>
          <p:spPr bwMode="auto">
            <a:xfrm>
              <a:off x="2312" y="1995"/>
              <a:ext cx="288" cy="96"/>
            </a:xfrm>
            <a:custGeom>
              <a:avLst/>
              <a:gdLst>
                <a:gd name="T0" fmla="*/ 19972 w 20000"/>
                <a:gd name="T1" fmla="*/ 0 h 20000"/>
                <a:gd name="T2" fmla="*/ 19972 w 20000"/>
                <a:gd name="T3" fmla="*/ 19917 h 20000"/>
                <a:gd name="T4" fmla="*/ 0 w 20000"/>
                <a:gd name="T5" fmla="*/ 19917 h 20000"/>
                <a:gd name="T6" fmla="*/ 0 w 20000"/>
                <a:gd name="T7" fmla="*/ 0 h 20000"/>
                <a:gd name="T8" fmla="*/ 1997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19972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25" name="Freeform 21"/>
            <p:cNvSpPr>
              <a:spLocks/>
            </p:cNvSpPr>
            <p:nvPr/>
          </p:nvSpPr>
          <p:spPr bwMode="auto">
            <a:xfrm>
              <a:off x="1496" y="2091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26" name="Freeform 22"/>
            <p:cNvSpPr>
              <a:spLocks/>
            </p:cNvSpPr>
            <p:nvPr/>
          </p:nvSpPr>
          <p:spPr bwMode="auto">
            <a:xfrm>
              <a:off x="1496" y="2235"/>
              <a:ext cx="432" cy="0"/>
            </a:xfrm>
            <a:custGeom>
              <a:avLst/>
              <a:gdLst>
                <a:gd name="T0" fmla="*/ 19981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27" name="Freeform 23"/>
            <p:cNvSpPr>
              <a:spLocks/>
            </p:cNvSpPr>
            <p:nvPr/>
          </p:nvSpPr>
          <p:spPr bwMode="auto">
            <a:xfrm>
              <a:off x="2456" y="2091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28" name="Freeform 24"/>
            <p:cNvSpPr>
              <a:spLocks/>
            </p:cNvSpPr>
            <p:nvPr/>
          </p:nvSpPr>
          <p:spPr bwMode="auto">
            <a:xfrm>
              <a:off x="2024" y="2235"/>
              <a:ext cx="432" cy="0"/>
            </a:xfrm>
            <a:custGeom>
              <a:avLst/>
              <a:gdLst>
                <a:gd name="T0" fmla="*/ 19981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29" name="Oval 25"/>
            <p:cNvSpPr>
              <a:spLocks noChangeArrowheads="1"/>
            </p:cNvSpPr>
            <p:nvPr/>
          </p:nvSpPr>
          <p:spPr bwMode="auto">
            <a:xfrm>
              <a:off x="1928" y="2187"/>
              <a:ext cx="96" cy="96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30" name="AutoShape 26"/>
            <p:cNvSpPr>
              <a:spLocks noChangeArrowheads="1"/>
            </p:cNvSpPr>
            <p:nvPr/>
          </p:nvSpPr>
          <p:spPr bwMode="auto">
            <a:xfrm>
              <a:off x="1192" y="2603"/>
              <a:ext cx="288" cy="96"/>
            </a:xfrm>
            <a:prstGeom prst="roundRect">
              <a:avLst>
                <a:gd name="adj" fmla="val 16667"/>
              </a:avLst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31" name="Freeform 27"/>
            <p:cNvSpPr>
              <a:spLocks/>
            </p:cNvSpPr>
            <p:nvPr/>
          </p:nvSpPr>
          <p:spPr bwMode="auto">
            <a:xfrm>
              <a:off x="1336" y="2699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32" name="Freeform 28"/>
            <p:cNvSpPr>
              <a:spLocks/>
            </p:cNvSpPr>
            <p:nvPr/>
          </p:nvSpPr>
          <p:spPr bwMode="auto">
            <a:xfrm>
              <a:off x="1336" y="3707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33" name="AutoShape 29"/>
            <p:cNvSpPr>
              <a:spLocks noChangeArrowheads="1"/>
            </p:cNvSpPr>
            <p:nvPr/>
          </p:nvSpPr>
          <p:spPr bwMode="auto">
            <a:xfrm>
              <a:off x="1192" y="3851"/>
              <a:ext cx="288" cy="96"/>
            </a:xfrm>
            <a:prstGeom prst="roundRect">
              <a:avLst>
                <a:gd name="adj" fmla="val 16667"/>
              </a:avLst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34" name="Freeform 30"/>
            <p:cNvSpPr>
              <a:spLocks/>
            </p:cNvSpPr>
            <p:nvPr/>
          </p:nvSpPr>
          <p:spPr bwMode="auto">
            <a:xfrm>
              <a:off x="1144" y="2843"/>
              <a:ext cx="384" cy="96"/>
            </a:xfrm>
            <a:custGeom>
              <a:avLst/>
              <a:gdLst>
                <a:gd name="T0" fmla="*/ 19979 w 20000"/>
                <a:gd name="T1" fmla="*/ 10000 h 20000"/>
                <a:gd name="T2" fmla="*/ 9979 w 20000"/>
                <a:gd name="T3" fmla="*/ 19917 h 20000"/>
                <a:gd name="T4" fmla="*/ 0 w 20000"/>
                <a:gd name="T5" fmla="*/ 10000 h 20000"/>
                <a:gd name="T6" fmla="*/ 9979 w 20000"/>
                <a:gd name="T7" fmla="*/ 0 h 20000"/>
                <a:gd name="T8" fmla="*/ 19979 w 20000"/>
                <a:gd name="T9" fmla="*/ 1000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9" y="10000"/>
                  </a:moveTo>
                  <a:lnTo>
                    <a:pt x="9979" y="19917"/>
                  </a:lnTo>
                  <a:lnTo>
                    <a:pt x="0" y="10000"/>
                  </a:lnTo>
                  <a:lnTo>
                    <a:pt x="9979" y="0"/>
                  </a:lnTo>
                  <a:lnTo>
                    <a:pt x="19979" y="10000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35" name="Freeform 31"/>
            <p:cNvSpPr>
              <a:spLocks/>
            </p:cNvSpPr>
            <p:nvPr/>
          </p:nvSpPr>
          <p:spPr bwMode="auto">
            <a:xfrm>
              <a:off x="1528" y="2891"/>
              <a:ext cx="384" cy="0"/>
            </a:xfrm>
            <a:custGeom>
              <a:avLst/>
              <a:gdLst>
                <a:gd name="T0" fmla="*/ 19979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36" name="Freeform 32"/>
            <p:cNvSpPr>
              <a:spLocks/>
            </p:cNvSpPr>
            <p:nvPr/>
          </p:nvSpPr>
          <p:spPr bwMode="auto">
            <a:xfrm>
              <a:off x="760" y="2891"/>
              <a:ext cx="384" cy="0"/>
            </a:xfrm>
            <a:custGeom>
              <a:avLst/>
              <a:gdLst>
                <a:gd name="T0" fmla="*/ 19979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37" name="Freeform 33"/>
            <p:cNvSpPr>
              <a:spLocks/>
            </p:cNvSpPr>
            <p:nvPr/>
          </p:nvSpPr>
          <p:spPr bwMode="auto">
            <a:xfrm>
              <a:off x="760" y="2891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38" name="Freeform 34"/>
            <p:cNvSpPr>
              <a:spLocks/>
            </p:cNvSpPr>
            <p:nvPr/>
          </p:nvSpPr>
          <p:spPr bwMode="auto">
            <a:xfrm>
              <a:off x="1912" y="2891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39" name="Freeform 35"/>
            <p:cNvSpPr>
              <a:spLocks/>
            </p:cNvSpPr>
            <p:nvPr/>
          </p:nvSpPr>
          <p:spPr bwMode="auto">
            <a:xfrm>
              <a:off x="760" y="3515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0" name="Freeform 36"/>
            <p:cNvSpPr>
              <a:spLocks/>
            </p:cNvSpPr>
            <p:nvPr/>
          </p:nvSpPr>
          <p:spPr bwMode="auto">
            <a:xfrm>
              <a:off x="760" y="3659"/>
              <a:ext cx="528" cy="0"/>
            </a:xfrm>
            <a:custGeom>
              <a:avLst/>
              <a:gdLst>
                <a:gd name="T0" fmla="*/ 19985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8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1" name="Freeform 37"/>
            <p:cNvSpPr>
              <a:spLocks/>
            </p:cNvSpPr>
            <p:nvPr/>
          </p:nvSpPr>
          <p:spPr bwMode="auto">
            <a:xfrm>
              <a:off x="1912" y="3515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2" name="Freeform 38"/>
            <p:cNvSpPr>
              <a:spLocks/>
            </p:cNvSpPr>
            <p:nvPr/>
          </p:nvSpPr>
          <p:spPr bwMode="auto">
            <a:xfrm>
              <a:off x="1384" y="3659"/>
              <a:ext cx="528" cy="0"/>
            </a:xfrm>
            <a:custGeom>
              <a:avLst/>
              <a:gdLst>
                <a:gd name="T0" fmla="*/ 19985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8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3" name="Oval 39"/>
            <p:cNvSpPr>
              <a:spLocks noChangeArrowheads="1"/>
            </p:cNvSpPr>
            <p:nvPr/>
          </p:nvSpPr>
          <p:spPr bwMode="auto">
            <a:xfrm>
              <a:off x="1288" y="3611"/>
              <a:ext cx="96" cy="96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44" name="Freeform 40"/>
            <p:cNvSpPr>
              <a:spLocks/>
            </p:cNvSpPr>
            <p:nvPr/>
          </p:nvSpPr>
          <p:spPr bwMode="auto">
            <a:xfrm>
              <a:off x="568" y="3083"/>
              <a:ext cx="384" cy="96"/>
            </a:xfrm>
            <a:custGeom>
              <a:avLst/>
              <a:gdLst>
                <a:gd name="T0" fmla="*/ 19979 w 20000"/>
                <a:gd name="T1" fmla="*/ 10000 h 20000"/>
                <a:gd name="T2" fmla="*/ 9979 w 20000"/>
                <a:gd name="T3" fmla="*/ 19917 h 20000"/>
                <a:gd name="T4" fmla="*/ 0 w 20000"/>
                <a:gd name="T5" fmla="*/ 10000 h 20000"/>
                <a:gd name="T6" fmla="*/ 9979 w 20000"/>
                <a:gd name="T7" fmla="*/ 0 h 20000"/>
                <a:gd name="T8" fmla="*/ 19979 w 20000"/>
                <a:gd name="T9" fmla="*/ 1000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9" y="10000"/>
                  </a:moveTo>
                  <a:lnTo>
                    <a:pt x="9979" y="19917"/>
                  </a:lnTo>
                  <a:lnTo>
                    <a:pt x="0" y="10000"/>
                  </a:lnTo>
                  <a:lnTo>
                    <a:pt x="9979" y="0"/>
                  </a:lnTo>
                  <a:lnTo>
                    <a:pt x="19979" y="10000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5" name="Freeform 41"/>
            <p:cNvSpPr>
              <a:spLocks/>
            </p:cNvSpPr>
            <p:nvPr/>
          </p:nvSpPr>
          <p:spPr bwMode="auto">
            <a:xfrm>
              <a:off x="952" y="3131"/>
              <a:ext cx="96" cy="0"/>
            </a:xfrm>
            <a:custGeom>
              <a:avLst/>
              <a:gdLst>
                <a:gd name="T0" fmla="*/ 19917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17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6" name="Freeform 42"/>
            <p:cNvSpPr>
              <a:spLocks/>
            </p:cNvSpPr>
            <p:nvPr/>
          </p:nvSpPr>
          <p:spPr bwMode="auto">
            <a:xfrm>
              <a:off x="472" y="3131"/>
              <a:ext cx="96" cy="0"/>
            </a:xfrm>
            <a:custGeom>
              <a:avLst/>
              <a:gdLst>
                <a:gd name="T0" fmla="*/ 19917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17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7" name="Freeform 43"/>
            <p:cNvSpPr>
              <a:spLocks/>
            </p:cNvSpPr>
            <p:nvPr/>
          </p:nvSpPr>
          <p:spPr bwMode="auto">
            <a:xfrm>
              <a:off x="472" y="3131"/>
              <a:ext cx="0" cy="96"/>
            </a:xfrm>
            <a:custGeom>
              <a:avLst/>
              <a:gdLst>
                <a:gd name="T0" fmla="*/ 0 w 20000"/>
                <a:gd name="T1" fmla="*/ 19917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17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8" name="Freeform 44"/>
            <p:cNvSpPr>
              <a:spLocks/>
            </p:cNvSpPr>
            <p:nvPr/>
          </p:nvSpPr>
          <p:spPr bwMode="auto">
            <a:xfrm>
              <a:off x="1048" y="3131"/>
              <a:ext cx="0" cy="96"/>
            </a:xfrm>
            <a:custGeom>
              <a:avLst/>
              <a:gdLst>
                <a:gd name="T0" fmla="*/ 0 w 20000"/>
                <a:gd name="T1" fmla="*/ 19917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17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49" name="Freeform 45"/>
            <p:cNvSpPr>
              <a:spLocks/>
            </p:cNvSpPr>
            <p:nvPr/>
          </p:nvSpPr>
          <p:spPr bwMode="auto">
            <a:xfrm>
              <a:off x="328" y="3227"/>
              <a:ext cx="288" cy="96"/>
            </a:xfrm>
            <a:custGeom>
              <a:avLst/>
              <a:gdLst>
                <a:gd name="T0" fmla="*/ 19972 w 20000"/>
                <a:gd name="T1" fmla="*/ 0 h 20000"/>
                <a:gd name="T2" fmla="*/ 19972 w 20000"/>
                <a:gd name="T3" fmla="*/ 19917 h 20000"/>
                <a:gd name="T4" fmla="*/ 0 w 20000"/>
                <a:gd name="T5" fmla="*/ 19917 h 20000"/>
                <a:gd name="T6" fmla="*/ 0 w 20000"/>
                <a:gd name="T7" fmla="*/ 0 h 20000"/>
                <a:gd name="T8" fmla="*/ 1997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19972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50" name="Freeform 46"/>
            <p:cNvSpPr>
              <a:spLocks/>
            </p:cNvSpPr>
            <p:nvPr/>
          </p:nvSpPr>
          <p:spPr bwMode="auto">
            <a:xfrm>
              <a:off x="904" y="3227"/>
              <a:ext cx="288" cy="96"/>
            </a:xfrm>
            <a:custGeom>
              <a:avLst/>
              <a:gdLst>
                <a:gd name="T0" fmla="*/ 19972 w 20000"/>
                <a:gd name="T1" fmla="*/ 0 h 20000"/>
                <a:gd name="T2" fmla="*/ 19972 w 20000"/>
                <a:gd name="T3" fmla="*/ 19917 h 20000"/>
                <a:gd name="T4" fmla="*/ 0 w 20000"/>
                <a:gd name="T5" fmla="*/ 19917 h 20000"/>
                <a:gd name="T6" fmla="*/ 0 w 20000"/>
                <a:gd name="T7" fmla="*/ 0 h 20000"/>
                <a:gd name="T8" fmla="*/ 1997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19972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51" name="Freeform 47"/>
            <p:cNvSpPr>
              <a:spLocks/>
            </p:cNvSpPr>
            <p:nvPr/>
          </p:nvSpPr>
          <p:spPr bwMode="auto">
            <a:xfrm>
              <a:off x="472" y="3323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52" name="Freeform 48"/>
            <p:cNvSpPr>
              <a:spLocks/>
            </p:cNvSpPr>
            <p:nvPr/>
          </p:nvSpPr>
          <p:spPr bwMode="auto">
            <a:xfrm>
              <a:off x="472" y="3467"/>
              <a:ext cx="240" cy="0"/>
            </a:xfrm>
            <a:custGeom>
              <a:avLst/>
              <a:gdLst>
                <a:gd name="T0" fmla="*/ 19967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67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53" name="Freeform 49"/>
            <p:cNvSpPr>
              <a:spLocks/>
            </p:cNvSpPr>
            <p:nvPr/>
          </p:nvSpPr>
          <p:spPr bwMode="auto">
            <a:xfrm>
              <a:off x="1048" y="3323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54" name="Freeform 50"/>
            <p:cNvSpPr>
              <a:spLocks/>
            </p:cNvSpPr>
            <p:nvPr/>
          </p:nvSpPr>
          <p:spPr bwMode="auto">
            <a:xfrm>
              <a:off x="808" y="3467"/>
              <a:ext cx="240" cy="0"/>
            </a:xfrm>
            <a:custGeom>
              <a:avLst/>
              <a:gdLst>
                <a:gd name="T0" fmla="*/ 19967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67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55" name="Oval 51"/>
            <p:cNvSpPr>
              <a:spLocks noChangeArrowheads="1"/>
            </p:cNvSpPr>
            <p:nvPr/>
          </p:nvSpPr>
          <p:spPr bwMode="auto">
            <a:xfrm>
              <a:off x="712" y="3419"/>
              <a:ext cx="96" cy="96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56" name="Freeform 52"/>
            <p:cNvSpPr>
              <a:spLocks/>
            </p:cNvSpPr>
            <p:nvPr/>
          </p:nvSpPr>
          <p:spPr bwMode="auto">
            <a:xfrm>
              <a:off x="1720" y="3083"/>
              <a:ext cx="384" cy="96"/>
            </a:xfrm>
            <a:custGeom>
              <a:avLst/>
              <a:gdLst>
                <a:gd name="T0" fmla="*/ 19979 w 20000"/>
                <a:gd name="T1" fmla="*/ 10000 h 20000"/>
                <a:gd name="T2" fmla="*/ 9979 w 20000"/>
                <a:gd name="T3" fmla="*/ 19917 h 20000"/>
                <a:gd name="T4" fmla="*/ 0 w 20000"/>
                <a:gd name="T5" fmla="*/ 10000 h 20000"/>
                <a:gd name="T6" fmla="*/ 9979 w 20000"/>
                <a:gd name="T7" fmla="*/ 0 h 20000"/>
                <a:gd name="T8" fmla="*/ 19979 w 20000"/>
                <a:gd name="T9" fmla="*/ 1000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9" y="10000"/>
                  </a:moveTo>
                  <a:lnTo>
                    <a:pt x="9979" y="19917"/>
                  </a:lnTo>
                  <a:lnTo>
                    <a:pt x="0" y="10000"/>
                  </a:lnTo>
                  <a:lnTo>
                    <a:pt x="9979" y="0"/>
                  </a:lnTo>
                  <a:lnTo>
                    <a:pt x="19979" y="10000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57" name="Freeform 53"/>
            <p:cNvSpPr>
              <a:spLocks/>
            </p:cNvSpPr>
            <p:nvPr/>
          </p:nvSpPr>
          <p:spPr bwMode="auto">
            <a:xfrm>
              <a:off x="2104" y="3131"/>
              <a:ext cx="96" cy="0"/>
            </a:xfrm>
            <a:custGeom>
              <a:avLst/>
              <a:gdLst>
                <a:gd name="T0" fmla="*/ 19917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17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58" name="Freeform 54"/>
            <p:cNvSpPr>
              <a:spLocks/>
            </p:cNvSpPr>
            <p:nvPr/>
          </p:nvSpPr>
          <p:spPr bwMode="auto">
            <a:xfrm>
              <a:off x="1624" y="3131"/>
              <a:ext cx="96" cy="0"/>
            </a:xfrm>
            <a:custGeom>
              <a:avLst/>
              <a:gdLst>
                <a:gd name="T0" fmla="*/ 19917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17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59" name="Freeform 55"/>
            <p:cNvSpPr>
              <a:spLocks/>
            </p:cNvSpPr>
            <p:nvPr/>
          </p:nvSpPr>
          <p:spPr bwMode="auto">
            <a:xfrm>
              <a:off x="1624" y="3131"/>
              <a:ext cx="0" cy="96"/>
            </a:xfrm>
            <a:custGeom>
              <a:avLst/>
              <a:gdLst>
                <a:gd name="T0" fmla="*/ 0 w 20000"/>
                <a:gd name="T1" fmla="*/ 19917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17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60" name="Freeform 56"/>
            <p:cNvSpPr>
              <a:spLocks/>
            </p:cNvSpPr>
            <p:nvPr/>
          </p:nvSpPr>
          <p:spPr bwMode="auto">
            <a:xfrm>
              <a:off x="2200" y="3131"/>
              <a:ext cx="0" cy="96"/>
            </a:xfrm>
            <a:custGeom>
              <a:avLst/>
              <a:gdLst>
                <a:gd name="T0" fmla="*/ 0 w 20000"/>
                <a:gd name="T1" fmla="*/ 19917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17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6761" name="Freeform 57"/>
            <p:cNvSpPr>
              <a:spLocks/>
            </p:cNvSpPr>
            <p:nvPr/>
          </p:nvSpPr>
          <p:spPr bwMode="auto">
            <a:xfrm>
              <a:off x="1480" y="3227"/>
              <a:ext cx="288" cy="96"/>
            </a:xfrm>
            <a:custGeom>
              <a:avLst/>
              <a:gdLst>
                <a:gd name="T0" fmla="*/ 19972 w 20000"/>
                <a:gd name="T1" fmla="*/ 0 h 20000"/>
                <a:gd name="T2" fmla="*/ 19972 w 20000"/>
                <a:gd name="T3" fmla="*/ 19917 h 20000"/>
                <a:gd name="T4" fmla="*/ 0 w 20000"/>
                <a:gd name="T5" fmla="*/ 19917 h 20000"/>
                <a:gd name="T6" fmla="*/ 0 w 20000"/>
                <a:gd name="T7" fmla="*/ 0 h 20000"/>
                <a:gd name="T8" fmla="*/ 1997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19972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62" name="Freeform 58"/>
            <p:cNvSpPr>
              <a:spLocks/>
            </p:cNvSpPr>
            <p:nvPr/>
          </p:nvSpPr>
          <p:spPr bwMode="auto">
            <a:xfrm>
              <a:off x="2056" y="3227"/>
              <a:ext cx="288" cy="96"/>
            </a:xfrm>
            <a:custGeom>
              <a:avLst/>
              <a:gdLst>
                <a:gd name="T0" fmla="*/ 19972 w 20000"/>
                <a:gd name="T1" fmla="*/ 0 h 20000"/>
                <a:gd name="T2" fmla="*/ 19972 w 20000"/>
                <a:gd name="T3" fmla="*/ 19917 h 20000"/>
                <a:gd name="T4" fmla="*/ 0 w 20000"/>
                <a:gd name="T5" fmla="*/ 19917 h 20000"/>
                <a:gd name="T6" fmla="*/ 0 w 20000"/>
                <a:gd name="T7" fmla="*/ 0 h 20000"/>
                <a:gd name="T8" fmla="*/ 1997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72" y="0"/>
                  </a:moveTo>
                  <a:lnTo>
                    <a:pt x="19972" y="19917"/>
                  </a:lnTo>
                  <a:lnTo>
                    <a:pt x="0" y="19917"/>
                  </a:lnTo>
                  <a:lnTo>
                    <a:pt x="0" y="0"/>
                  </a:lnTo>
                  <a:lnTo>
                    <a:pt x="1997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63" name="Freeform 59"/>
            <p:cNvSpPr>
              <a:spLocks/>
            </p:cNvSpPr>
            <p:nvPr/>
          </p:nvSpPr>
          <p:spPr bwMode="auto">
            <a:xfrm>
              <a:off x="1624" y="3323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64" name="Freeform 60"/>
            <p:cNvSpPr>
              <a:spLocks/>
            </p:cNvSpPr>
            <p:nvPr/>
          </p:nvSpPr>
          <p:spPr bwMode="auto">
            <a:xfrm>
              <a:off x="1624" y="3467"/>
              <a:ext cx="240" cy="0"/>
            </a:xfrm>
            <a:custGeom>
              <a:avLst/>
              <a:gdLst>
                <a:gd name="T0" fmla="*/ 19967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67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65" name="Freeform 61"/>
            <p:cNvSpPr>
              <a:spLocks/>
            </p:cNvSpPr>
            <p:nvPr/>
          </p:nvSpPr>
          <p:spPr bwMode="auto">
            <a:xfrm>
              <a:off x="2200" y="3323"/>
              <a:ext cx="0" cy="144"/>
            </a:xfrm>
            <a:custGeom>
              <a:avLst/>
              <a:gdLst>
                <a:gd name="T0" fmla="*/ 0 w 20000"/>
                <a:gd name="T1" fmla="*/ 19944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44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66" name="Freeform 62"/>
            <p:cNvSpPr>
              <a:spLocks/>
            </p:cNvSpPr>
            <p:nvPr/>
          </p:nvSpPr>
          <p:spPr bwMode="auto">
            <a:xfrm>
              <a:off x="1960" y="3467"/>
              <a:ext cx="240" cy="0"/>
            </a:xfrm>
            <a:custGeom>
              <a:avLst/>
              <a:gdLst>
                <a:gd name="T0" fmla="*/ 19967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67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67" name="Oval 63"/>
            <p:cNvSpPr>
              <a:spLocks noChangeArrowheads="1"/>
            </p:cNvSpPr>
            <p:nvPr/>
          </p:nvSpPr>
          <p:spPr bwMode="auto">
            <a:xfrm>
              <a:off x="1864" y="3419"/>
              <a:ext cx="96" cy="96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68" name="Freeform 64"/>
            <p:cNvSpPr>
              <a:spLocks/>
            </p:cNvSpPr>
            <p:nvPr/>
          </p:nvSpPr>
          <p:spPr bwMode="auto">
            <a:xfrm>
              <a:off x="744" y="1547"/>
              <a:ext cx="704" cy="176"/>
            </a:xfrm>
            <a:custGeom>
              <a:avLst/>
              <a:gdLst>
                <a:gd name="T0" fmla="*/ 19989 w 20000"/>
                <a:gd name="T1" fmla="*/ 19955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89" y="1995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ysDot"/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69" name="Freeform 65"/>
            <p:cNvSpPr>
              <a:spLocks/>
            </p:cNvSpPr>
            <p:nvPr/>
          </p:nvSpPr>
          <p:spPr bwMode="auto">
            <a:xfrm>
              <a:off x="1304" y="1755"/>
              <a:ext cx="1344" cy="576"/>
            </a:xfrm>
            <a:custGeom>
              <a:avLst/>
              <a:gdLst>
                <a:gd name="T0" fmla="*/ 19994 w 20000"/>
                <a:gd name="T1" fmla="*/ 0 h 20000"/>
                <a:gd name="T2" fmla="*/ 19994 w 20000"/>
                <a:gd name="T3" fmla="*/ 19986 h 20000"/>
                <a:gd name="T4" fmla="*/ 0 w 20000"/>
                <a:gd name="T5" fmla="*/ 19986 h 20000"/>
                <a:gd name="T6" fmla="*/ 0 w 20000"/>
                <a:gd name="T7" fmla="*/ 0 h 20000"/>
                <a:gd name="T8" fmla="*/ 1999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94" y="0"/>
                  </a:moveTo>
                  <a:lnTo>
                    <a:pt x="19994" y="19986"/>
                  </a:lnTo>
                  <a:lnTo>
                    <a:pt x="0" y="19986"/>
                  </a:lnTo>
                  <a:lnTo>
                    <a:pt x="0" y="0"/>
                  </a:lnTo>
                  <a:lnTo>
                    <a:pt x="19994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70" name="Freeform 66"/>
            <p:cNvSpPr>
              <a:spLocks/>
            </p:cNvSpPr>
            <p:nvPr/>
          </p:nvSpPr>
          <p:spPr bwMode="auto">
            <a:xfrm>
              <a:off x="1432" y="2987"/>
              <a:ext cx="960" cy="576"/>
            </a:xfrm>
            <a:custGeom>
              <a:avLst/>
              <a:gdLst>
                <a:gd name="T0" fmla="*/ 19992 w 20000"/>
                <a:gd name="T1" fmla="*/ 0 h 20000"/>
                <a:gd name="T2" fmla="*/ 19992 w 20000"/>
                <a:gd name="T3" fmla="*/ 19986 h 20000"/>
                <a:gd name="T4" fmla="*/ 0 w 20000"/>
                <a:gd name="T5" fmla="*/ 19986 h 20000"/>
                <a:gd name="T6" fmla="*/ 0 w 20000"/>
                <a:gd name="T7" fmla="*/ 0 h 20000"/>
                <a:gd name="T8" fmla="*/ 1999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92" y="0"/>
                  </a:moveTo>
                  <a:lnTo>
                    <a:pt x="19992" y="19986"/>
                  </a:lnTo>
                  <a:lnTo>
                    <a:pt x="0" y="19986"/>
                  </a:lnTo>
                  <a:lnTo>
                    <a:pt x="0" y="0"/>
                  </a:lnTo>
                  <a:lnTo>
                    <a:pt x="1999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71" name="Freeform 67"/>
            <p:cNvSpPr>
              <a:spLocks/>
            </p:cNvSpPr>
            <p:nvPr/>
          </p:nvSpPr>
          <p:spPr bwMode="auto">
            <a:xfrm>
              <a:off x="280" y="2987"/>
              <a:ext cx="960" cy="576"/>
            </a:xfrm>
            <a:custGeom>
              <a:avLst/>
              <a:gdLst>
                <a:gd name="T0" fmla="*/ 19992 w 20000"/>
                <a:gd name="T1" fmla="*/ 0 h 20000"/>
                <a:gd name="T2" fmla="*/ 19992 w 20000"/>
                <a:gd name="T3" fmla="*/ 19986 h 20000"/>
                <a:gd name="T4" fmla="*/ 0 w 20000"/>
                <a:gd name="T5" fmla="*/ 19986 h 20000"/>
                <a:gd name="T6" fmla="*/ 0 w 20000"/>
                <a:gd name="T7" fmla="*/ 0 h 20000"/>
                <a:gd name="T8" fmla="*/ 19992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92" y="0"/>
                  </a:moveTo>
                  <a:lnTo>
                    <a:pt x="19992" y="19986"/>
                  </a:lnTo>
                  <a:lnTo>
                    <a:pt x="0" y="19986"/>
                  </a:lnTo>
                  <a:lnTo>
                    <a:pt x="0" y="0"/>
                  </a:lnTo>
                  <a:lnTo>
                    <a:pt x="19992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72" name="Freeform 68"/>
            <p:cNvSpPr>
              <a:spLocks/>
            </p:cNvSpPr>
            <p:nvPr/>
          </p:nvSpPr>
          <p:spPr bwMode="auto">
            <a:xfrm>
              <a:off x="232" y="2747"/>
              <a:ext cx="2208" cy="1008"/>
            </a:xfrm>
            <a:custGeom>
              <a:avLst/>
              <a:gdLst>
                <a:gd name="T0" fmla="*/ 19996 w 20000"/>
                <a:gd name="T1" fmla="*/ 0 h 20000"/>
                <a:gd name="T2" fmla="*/ 19996 w 20000"/>
                <a:gd name="T3" fmla="*/ 19992 h 20000"/>
                <a:gd name="T4" fmla="*/ 0 w 20000"/>
                <a:gd name="T5" fmla="*/ 19992 h 20000"/>
                <a:gd name="T6" fmla="*/ 0 w 20000"/>
                <a:gd name="T7" fmla="*/ 0 h 20000"/>
                <a:gd name="T8" fmla="*/ 19996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96" y="0"/>
                  </a:moveTo>
                  <a:lnTo>
                    <a:pt x="19996" y="19992"/>
                  </a:lnTo>
                  <a:lnTo>
                    <a:pt x="0" y="19992"/>
                  </a:lnTo>
                  <a:lnTo>
                    <a:pt x="0" y="0"/>
                  </a:lnTo>
                  <a:lnTo>
                    <a:pt x="19996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73" name="Freeform 69"/>
            <p:cNvSpPr>
              <a:spLocks/>
            </p:cNvSpPr>
            <p:nvPr/>
          </p:nvSpPr>
          <p:spPr bwMode="auto">
            <a:xfrm>
              <a:off x="568" y="2139"/>
              <a:ext cx="880" cy="816"/>
            </a:xfrm>
            <a:custGeom>
              <a:avLst/>
              <a:gdLst>
                <a:gd name="T0" fmla="*/ 0 w 20000"/>
                <a:gd name="T1" fmla="*/ 19990 h 20000"/>
                <a:gd name="T2" fmla="*/ 19991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90"/>
                  </a:moveTo>
                  <a:lnTo>
                    <a:pt x="19991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ysDot"/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74" name="Freeform 70"/>
            <p:cNvSpPr>
              <a:spLocks/>
            </p:cNvSpPr>
            <p:nvPr/>
          </p:nvSpPr>
          <p:spPr bwMode="auto">
            <a:xfrm>
              <a:off x="2136" y="2139"/>
              <a:ext cx="368" cy="816"/>
            </a:xfrm>
            <a:custGeom>
              <a:avLst/>
              <a:gdLst>
                <a:gd name="T0" fmla="*/ 0 w 20000"/>
                <a:gd name="T1" fmla="*/ 19990 h 20000"/>
                <a:gd name="T2" fmla="*/ 19978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90"/>
                  </a:moveTo>
                  <a:lnTo>
                    <a:pt x="19978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ysDot"/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6775" name="Rectangle 71"/>
            <p:cNvSpPr>
              <a:spLocks noChangeArrowheads="1"/>
            </p:cNvSpPr>
            <p:nvPr/>
          </p:nvSpPr>
          <p:spPr bwMode="auto">
            <a:xfrm>
              <a:off x="1055" y="1528"/>
              <a:ext cx="24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AvantGarde" pitchFamily="34" charset="0"/>
                </a:rPr>
                <a:t>Rule 3</a:t>
              </a:r>
              <a:endPara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456776" name="Rectangle 72"/>
            <p:cNvSpPr>
              <a:spLocks noChangeArrowheads="1"/>
            </p:cNvSpPr>
            <p:nvPr/>
          </p:nvSpPr>
          <p:spPr bwMode="auto">
            <a:xfrm>
              <a:off x="2376" y="2504"/>
              <a:ext cx="24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AvantGarde" pitchFamily="34" charset="0"/>
                </a:rPr>
                <a:t>Rule 3</a:t>
              </a:r>
              <a:endPara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456777" name="Rectangle 73"/>
            <p:cNvSpPr>
              <a:spLocks noChangeArrowheads="1"/>
            </p:cNvSpPr>
            <p:nvPr/>
          </p:nvSpPr>
          <p:spPr bwMode="auto">
            <a:xfrm>
              <a:off x="760" y="2504"/>
              <a:ext cx="24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AvantGarde" pitchFamily="34" charset="0"/>
                </a:rPr>
                <a:t>Rule 3</a:t>
              </a:r>
              <a:endPara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endParaRPr lang="en-US" altLang="en-US" sz="1200">
                <a:latin typeface="Times New Roman" panose="02020603050405020304" pitchFamily="18" charset="0"/>
              </a:endParaRPr>
            </a:p>
          </p:txBody>
        </p:sp>
      </p:grpSp>
      <p:sp>
        <p:nvSpPr>
          <p:cNvPr id="456778" name="Text Box 74"/>
          <p:cNvSpPr txBox="1">
            <a:spLocks noChangeArrowheads="1"/>
          </p:cNvSpPr>
          <p:nvPr/>
        </p:nvSpPr>
        <p:spPr bwMode="auto">
          <a:xfrm>
            <a:off x="2514600" y="1371600"/>
            <a:ext cx="7924800" cy="376238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Representation of Rule 3 (replacing any rectangle with a control structure)</a:t>
            </a:r>
          </a:p>
        </p:txBody>
      </p:sp>
    </p:spTree>
    <p:extLst>
      <p:ext uri="{BB962C8B-B14F-4D97-AF65-F5344CB8AC3E}">
        <p14:creationId xmlns:p14="http://schemas.microsoft.com/office/powerpoint/2010/main" val="165139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82FC0-7662-4C8D-AC06-643F4C59CD66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1"/>
              <a:t>Structured-Programming Summary</a:t>
            </a:r>
            <a:endParaRPr lang="en-US" altLang="en-US"/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All programs broken down into</a:t>
            </a:r>
          </a:p>
          <a:p>
            <a:pPr lvl="1"/>
            <a:r>
              <a:rPr lang="en-US" altLang="en-US"/>
              <a:t>Sequence</a:t>
            </a:r>
          </a:p>
          <a:p>
            <a:pPr lvl="1"/>
            <a:r>
              <a:rPr lang="en-US" altLang="en-US"/>
              <a:t>Selection</a:t>
            </a:r>
          </a:p>
          <a:p>
            <a:pPr lvl="2"/>
            <a:r>
              <a:rPr lang="en-US" altLang="en-US" b="1">
                <a:latin typeface="Courier New" panose="02070309020205020404" pitchFamily="49" charset="0"/>
              </a:rPr>
              <a:t>if</a:t>
            </a:r>
            <a:r>
              <a:rPr lang="en-US" altLang="en-US"/>
              <a:t>, </a:t>
            </a:r>
            <a:r>
              <a:rPr lang="en-US" altLang="en-US" b="1">
                <a:latin typeface="Courier New" panose="02070309020205020404" pitchFamily="49" charset="0"/>
              </a:rPr>
              <a:t>if/else</a:t>
            </a:r>
            <a:r>
              <a:rPr lang="en-US" altLang="en-US"/>
              <a:t>, or </a:t>
            </a:r>
            <a:r>
              <a:rPr lang="en-US" altLang="en-US" b="1">
                <a:latin typeface="Courier New" panose="02070309020205020404" pitchFamily="49" charset="0"/>
              </a:rPr>
              <a:t>switch</a:t>
            </a:r>
            <a:r>
              <a:rPr lang="en-US" altLang="en-US"/>
              <a:t> </a:t>
            </a:r>
          </a:p>
          <a:p>
            <a:pPr lvl="2"/>
            <a:r>
              <a:rPr lang="en-US" altLang="en-US"/>
              <a:t>Any selection can be rewritten as an </a:t>
            </a:r>
            <a:r>
              <a:rPr lang="en-US" altLang="en-US" b="1">
                <a:latin typeface="Courier New" panose="02070309020205020404" pitchFamily="49" charset="0"/>
              </a:rPr>
              <a:t>if</a:t>
            </a:r>
            <a:r>
              <a:rPr lang="en-US" altLang="en-US"/>
              <a:t> statement</a:t>
            </a:r>
          </a:p>
          <a:p>
            <a:pPr lvl="1"/>
            <a:r>
              <a:rPr lang="en-US" altLang="en-US"/>
              <a:t>Repetition</a:t>
            </a:r>
          </a:p>
          <a:p>
            <a:pPr lvl="2"/>
            <a:r>
              <a:rPr lang="en-US" altLang="en-US" b="1">
                <a:latin typeface="Courier New" panose="02070309020205020404" pitchFamily="49" charset="0"/>
              </a:rPr>
              <a:t>while</a:t>
            </a:r>
            <a:r>
              <a:rPr lang="en-US" altLang="en-US"/>
              <a:t>, </a:t>
            </a:r>
            <a:r>
              <a:rPr lang="en-US" altLang="en-US" b="1">
                <a:latin typeface="Courier New" panose="02070309020205020404" pitchFamily="49" charset="0"/>
              </a:rPr>
              <a:t>do/while</a:t>
            </a:r>
            <a:r>
              <a:rPr lang="en-US" altLang="en-US"/>
              <a:t> or </a:t>
            </a:r>
            <a:r>
              <a:rPr lang="en-US" altLang="en-US" b="1">
                <a:latin typeface="Courier New" panose="02070309020205020404" pitchFamily="49" charset="0"/>
              </a:rPr>
              <a:t>for</a:t>
            </a:r>
          </a:p>
          <a:p>
            <a:pPr lvl="2"/>
            <a:r>
              <a:rPr lang="en-US" altLang="en-US"/>
              <a:t>Any repetition structure can be rewritten as a </a:t>
            </a:r>
            <a:r>
              <a:rPr lang="en-US" altLang="en-US" b="1">
                <a:latin typeface="Courier New" panose="02070309020205020404" pitchFamily="49" charset="0"/>
              </a:rPr>
              <a:t>while</a:t>
            </a:r>
            <a:r>
              <a:rPr lang="en-US" altLang="en-US"/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353819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2212</Words>
  <Application>Microsoft Office PowerPoint</Application>
  <PresentationFormat>Widescreen</PresentationFormat>
  <Paragraphs>625</Paragraphs>
  <Slides>52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Mincho</vt:lpstr>
      <vt:lpstr>Arial</vt:lpstr>
      <vt:lpstr>AvantGarde</vt:lpstr>
      <vt:lpstr>Calibri</vt:lpstr>
      <vt:lpstr>Calibri Light</vt:lpstr>
      <vt:lpstr>Courier</vt:lpstr>
      <vt:lpstr>Courier New</vt:lpstr>
      <vt:lpstr>Helvetica</vt:lpstr>
      <vt:lpstr>Times</vt:lpstr>
      <vt:lpstr>Times New Roman</vt:lpstr>
      <vt:lpstr>Office Theme</vt:lpstr>
      <vt:lpstr>Microsoft Word Document</vt:lpstr>
      <vt:lpstr>Introduction to Programming Fundamental C++</vt:lpstr>
      <vt:lpstr>Computer Languages</vt:lpstr>
      <vt:lpstr>Computer Languages</vt:lpstr>
      <vt:lpstr>Computer Languages</vt:lpstr>
      <vt:lpstr>History of C and C++</vt:lpstr>
      <vt:lpstr>History of C and C++</vt:lpstr>
      <vt:lpstr>C++ Standard Library</vt:lpstr>
      <vt:lpstr>Java</vt:lpstr>
      <vt:lpstr>Structured Programming</vt:lpstr>
      <vt:lpstr>The Key Software Trend: Object Technology</vt:lpstr>
      <vt:lpstr>Basics of a Typical C++ Environment</vt:lpstr>
      <vt:lpstr>Basics of a Typical C++ Environment</vt:lpstr>
      <vt:lpstr>Basics of a Typical C++ Environment</vt:lpstr>
      <vt:lpstr>A Simple Program: Printing a Line of Text</vt:lpstr>
      <vt:lpstr>A Simple Program: Printing a Line of Text</vt:lpstr>
      <vt:lpstr>A Simple Program: Printing a Line of Text</vt:lpstr>
      <vt:lpstr>Another Simple Program: Adding Two Integers </vt:lpstr>
      <vt:lpstr>Another Simple Program: Adding Two Integers</vt:lpstr>
      <vt:lpstr>Memory Concepts</vt:lpstr>
      <vt:lpstr>Arithmetic</vt:lpstr>
      <vt:lpstr>Decision Making: Equality and Relational Operators</vt:lpstr>
      <vt:lpstr>Decision Making: Equality and Relational Operators</vt:lpstr>
      <vt:lpstr>Algorithms </vt:lpstr>
      <vt:lpstr>Pseudocode </vt:lpstr>
      <vt:lpstr>Control Structures</vt:lpstr>
      <vt:lpstr>Keywords</vt:lpstr>
      <vt:lpstr>Control Structures</vt:lpstr>
      <vt:lpstr>if Selection Structure</vt:lpstr>
      <vt:lpstr>if Selection Structure</vt:lpstr>
      <vt:lpstr>if Selection Structure</vt:lpstr>
      <vt:lpstr>if/else Selection Structure</vt:lpstr>
      <vt:lpstr>if/else Selection Structure</vt:lpstr>
      <vt:lpstr>if/else Selection Structure</vt:lpstr>
      <vt:lpstr>if/else Selection Structure</vt:lpstr>
      <vt:lpstr>if/else Selection Structure</vt:lpstr>
      <vt:lpstr>while Repetition Structure</vt:lpstr>
      <vt:lpstr>while Repetition Structure</vt:lpstr>
      <vt:lpstr>Counter-Controlled Repetition</vt:lpstr>
      <vt:lpstr>Sentinel-Controlled Repetition</vt:lpstr>
      <vt:lpstr>switch Multiple-Selection Structure</vt:lpstr>
      <vt:lpstr>switch Multiple-Selection Structure</vt:lpstr>
      <vt:lpstr>switch Multiple-Selection Structure</vt:lpstr>
      <vt:lpstr>do/while Repetition Structure</vt:lpstr>
      <vt:lpstr>break and continue Statements</vt:lpstr>
      <vt:lpstr>Logical Operators</vt:lpstr>
      <vt:lpstr>Logical Operators</vt:lpstr>
      <vt:lpstr>Confusing Equality (==) and Assignment (=) Operators</vt:lpstr>
      <vt:lpstr>Confusing Equality (==) and Assignment (=) Operators</vt:lpstr>
      <vt:lpstr>Confusing Equality (==) and Assignment (=) Operators</vt:lpstr>
      <vt:lpstr>Structured-Programming Summary</vt:lpstr>
      <vt:lpstr>Structured-Programming Summary</vt:lpstr>
      <vt:lpstr>Structured-Programming 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Fundamental C++</dc:title>
  <dc:creator>Noor Nabi</dc:creator>
  <cp:lastModifiedBy>Noor Nabi</cp:lastModifiedBy>
  <cp:revision>1</cp:revision>
  <dcterms:created xsi:type="dcterms:W3CDTF">2020-08-13T06:33:20Z</dcterms:created>
  <dcterms:modified xsi:type="dcterms:W3CDTF">2020-08-13T06:37:16Z</dcterms:modified>
</cp:coreProperties>
</file>