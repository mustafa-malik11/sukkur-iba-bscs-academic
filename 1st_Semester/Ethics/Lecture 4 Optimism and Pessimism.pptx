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68" r:id="rId3"/>
    <p:sldId id="257" r:id="rId4"/>
    <p:sldId id="258" r:id="rId5"/>
    <p:sldId id="259" r:id="rId6"/>
    <p:sldId id="260" r:id="rId7"/>
    <p:sldId id="262" r:id="rId8"/>
    <p:sldId id="263" r:id="rId9"/>
    <p:sldId id="264" r:id="rId10"/>
    <p:sldId id="267"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7CD428-68F1-4E50-8E20-6FD8E2960ADE}"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1915875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7CD428-68F1-4E50-8E20-6FD8E2960ADE}"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1328578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7CD428-68F1-4E50-8E20-6FD8E2960ADE}"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27509199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7CD428-68F1-4E50-8E20-6FD8E2960ADE}" type="datetimeFigureOut">
              <a:rPr lang="en-GB" smtClean="0"/>
              <a:t>04/11/2025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20138909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7CD428-68F1-4E50-8E20-6FD8E2960ADE}" type="datetimeFigureOut">
              <a:rPr lang="en-GB" smtClean="0"/>
              <a:t>04/11/2025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618678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57CD428-68F1-4E50-8E20-6FD8E2960ADE}" type="datetimeFigureOut">
              <a:rPr lang="en-GB" smtClean="0"/>
              <a:t>04/11/2025</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5462273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57CD428-68F1-4E50-8E20-6FD8E2960ADE}" type="datetimeFigureOut">
              <a:rPr lang="en-GB" smtClean="0"/>
              <a:t>04/11/2025</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2585545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57CD428-68F1-4E50-8E20-6FD8E2960ADE}" type="datetimeFigureOut">
              <a:rPr lang="en-GB" smtClean="0"/>
              <a:t>04/11/2025</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4161032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7CD428-68F1-4E50-8E20-6FD8E2960ADE}" type="datetimeFigureOut">
              <a:rPr lang="en-GB" smtClean="0"/>
              <a:t>04/11/2025</a:t>
            </a:fld>
            <a:endParaRPr lang="en-GB"/>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3845810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7CD428-68F1-4E50-8E20-6FD8E2960ADE}" type="datetimeFigureOut">
              <a:rPr lang="en-GB" smtClean="0"/>
              <a:t>04/11/2025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273576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57CD428-68F1-4E50-8E20-6FD8E2960ADE}"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1938990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57CD428-68F1-4E50-8E20-6FD8E2960ADE}"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83D427-0485-4F4A-A50F-641149F284D2}" type="slidenum">
              <a:rPr lang="en-GB" smtClean="0"/>
              <a:t>‹#›</a:t>
            </a:fld>
            <a:endParaRPr lang="en-GB"/>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032351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7CD428-68F1-4E50-8E20-6FD8E2960ADE}"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14273594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57CD428-68F1-4E50-8E20-6FD8E2960ADE}" type="datetimeFigureOut">
              <a:rPr lang="en-GB" smtClean="0"/>
              <a:t>04/11/2025</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19967499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57CD428-68F1-4E50-8E20-6FD8E2960ADE}" type="datetimeFigureOut">
              <a:rPr lang="en-GB" smtClean="0"/>
              <a:t>04/11/2025</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2812462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7CD428-68F1-4E50-8E20-6FD8E2960ADE}"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334858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7CD428-68F1-4E50-8E20-6FD8E2960ADE}" type="datetimeFigureOut">
              <a:rPr lang="en-GB" smtClean="0"/>
              <a:t>04/11/2025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683D427-0485-4F4A-A50F-641149F284D2}" type="slidenum">
              <a:rPr lang="en-GB" smtClean="0"/>
              <a:t>‹#›</a:t>
            </a:fld>
            <a:endParaRPr lang="en-GB"/>
          </a:p>
        </p:txBody>
      </p:sp>
    </p:spTree>
    <p:extLst>
      <p:ext uri="{BB962C8B-B14F-4D97-AF65-F5344CB8AC3E}">
        <p14:creationId xmlns:p14="http://schemas.microsoft.com/office/powerpoint/2010/main" val="33782213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57CD428-68F1-4E50-8E20-6FD8E2960ADE}" type="datetimeFigureOut">
              <a:rPr lang="en-GB" smtClean="0"/>
              <a:t>04/11/2025</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683D427-0485-4F4A-A50F-641149F284D2}" type="slidenum">
              <a:rPr lang="en-GB" smtClean="0"/>
              <a:t>‹#›</a:t>
            </a:fld>
            <a:endParaRPr lang="en-GB"/>
          </a:p>
        </p:txBody>
      </p:sp>
    </p:spTree>
    <p:extLst>
      <p:ext uri="{BB962C8B-B14F-4D97-AF65-F5344CB8AC3E}">
        <p14:creationId xmlns:p14="http://schemas.microsoft.com/office/powerpoint/2010/main" val="444549729"/>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fif"/><Relationship Id="rId2" Type="http://schemas.openxmlformats.org/officeDocument/2006/relationships/image" Target="../media/image11.jfif"/><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A18BB5-F7DC-8730-F47D-15D5888869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9906" y="1284050"/>
            <a:ext cx="5402094" cy="5330758"/>
          </a:xfrm>
          <a:prstGeom prst="rect">
            <a:avLst/>
          </a:prstGeom>
        </p:spPr>
      </p:pic>
      <p:sp>
        <p:nvSpPr>
          <p:cNvPr id="2" name="Title 1">
            <a:extLst>
              <a:ext uri="{FF2B5EF4-FFF2-40B4-BE49-F238E27FC236}">
                <a16:creationId xmlns:a16="http://schemas.microsoft.com/office/drawing/2014/main" id="{1F45E92E-A609-815D-1CD9-90CDE02949DB}"/>
              </a:ext>
            </a:extLst>
          </p:cNvPr>
          <p:cNvSpPr>
            <a:spLocks noGrp="1"/>
          </p:cNvSpPr>
          <p:nvPr>
            <p:ph type="ctrTitle"/>
          </p:nvPr>
        </p:nvSpPr>
        <p:spPr>
          <a:xfrm>
            <a:off x="269738" y="457202"/>
            <a:ext cx="8825658" cy="3329581"/>
          </a:xfrm>
        </p:spPr>
        <p:txBody>
          <a:bodyPr>
            <a:normAutofit fontScale="90000"/>
          </a:bodyPr>
          <a:lstStyle/>
          <a:p>
            <a:r>
              <a:rPr lang="en-US" b="1" dirty="0"/>
              <a:t>Lecture 4: Opti</a:t>
            </a:r>
            <a:r>
              <a:rPr lang="en-US" b="1" dirty="0">
                <a:solidFill>
                  <a:schemeClr val="bg1"/>
                </a:solidFill>
              </a:rPr>
              <a:t>mism</a:t>
            </a:r>
            <a:r>
              <a:rPr lang="en-US" b="1" dirty="0"/>
              <a:t> and Pessimism</a:t>
            </a:r>
            <a:br>
              <a:rPr lang="en-US" b="1" dirty="0"/>
            </a:br>
            <a:r>
              <a:rPr lang="en-US" sz="2800" b="1" dirty="0"/>
              <a:t>in Ethical Thought</a:t>
            </a:r>
            <a:endParaRPr lang="en-GB" dirty="0"/>
          </a:p>
        </p:txBody>
      </p:sp>
      <p:sp>
        <p:nvSpPr>
          <p:cNvPr id="4" name="Subtitle 2">
            <a:extLst>
              <a:ext uri="{FF2B5EF4-FFF2-40B4-BE49-F238E27FC236}">
                <a16:creationId xmlns:a16="http://schemas.microsoft.com/office/drawing/2014/main" id="{058B9725-13F7-710A-01BB-9CBEA12F26FB}"/>
              </a:ext>
            </a:extLst>
          </p:cNvPr>
          <p:cNvSpPr txBox="1">
            <a:spLocks noGrp="1"/>
          </p:cNvSpPr>
          <p:nvPr>
            <p:ph type="subTitle" idx="1"/>
          </p:nvPr>
        </p:nvSpPr>
        <p:spPr>
          <a:xfrm>
            <a:off x="269738" y="4728740"/>
            <a:ext cx="6325615" cy="1526143"/>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rgbClr val="8E3D78"/>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rgbClr val="8E3D78"/>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rgbClr val="8E3D78"/>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rgbClr val="8E3D78"/>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rgbClr val="8E3D78"/>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Font typeface="Arial" panose="020B0604020202020204" pitchFamily="34" charset="0"/>
              <a:buNone/>
              <a:defRPr/>
            </a:pPr>
            <a:r>
              <a:rPr lang="en-US" sz="1600" dirty="0">
                <a:solidFill>
                  <a:schemeClr val="tx1"/>
                </a:solidFill>
                <a:latin typeface="+mj-lt"/>
              </a:rPr>
              <a:t>Instructor</a:t>
            </a:r>
            <a:r>
              <a:rPr lang="en-GB" sz="1600" dirty="0">
                <a:solidFill>
                  <a:schemeClr val="tx1"/>
                </a:solidFill>
                <a:latin typeface="+mj-lt"/>
              </a:rPr>
              <a:t>:</a:t>
            </a:r>
            <a:r>
              <a:rPr lang="en-US" sz="1600" dirty="0">
                <a:solidFill>
                  <a:schemeClr val="tx1"/>
                </a:solidFill>
                <a:latin typeface="+mj-lt"/>
              </a:rPr>
              <a:t> Ali Raza Abbass</a:t>
            </a:r>
          </a:p>
          <a:p>
            <a:pPr marL="0" indent="0" fontAlgn="auto">
              <a:spcAft>
                <a:spcPts val="0"/>
              </a:spcAft>
              <a:buFont typeface="Arial" panose="020B0604020202020204" pitchFamily="34" charset="0"/>
              <a:buNone/>
              <a:defRPr/>
            </a:pPr>
            <a:r>
              <a:rPr lang="en-US" sz="1600" dirty="0">
                <a:solidFill>
                  <a:schemeClr val="tx1"/>
                </a:solidFill>
                <a:latin typeface="+mj-lt"/>
              </a:rPr>
              <a:t>MBA (UK), PGD. Strategic Management &amp; Leadership (UK), BBA (Pak)</a:t>
            </a:r>
          </a:p>
          <a:p>
            <a:pPr marL="0" indent="0" fontAlgn="auto">
              <a:spcAft>
                <a:spcPts val="0"/>
              </a:spcAft>
              <a:buFont typeface="Arial" panose="020B0604020202020204" pitchFamily="34" charset="0"/>
              <a:buNone/>
              <a:defRPr/>
            </a:pPr>
            <a:r>
              <a:rPr lang="en-GB" sz="1600" dirty="0">
                <a:solidFill>
                  <a:schemeClr val="tx1"/>
                </a:solidFill>
                <a:latin typeface="+mj-lt"/>
              </a:rPr>
              <a:t>Certified Digital Marketer (META, Google, DMI UK)</a:t>
            </a:r>
          </a:p>
          <a:p>
            <a:pPr marL="0" indent="0" fontAlgn="auto">
              <a:spcAft>
                <a:spcPts val="0"/>
              </a:spcAft>
              <a:buFont typeface="Arial" panose="020B0604020202020204" pitchFamily="34" charset="0"/>
              <a:buNone/>
              <a:defRPr/>
            </a:pPr>
            <a:r>
              <a:rPr lang="en-GB" sz="1600" dirty="0">
                <a:solidFill>
                  <a:schemeClr val="tx1"/>
                </a:solidFill>
                <a:latin typeface="+mj-lt"/>
              </a:rPr>
              <a:t>Master Trainer</a:t>
            </a:r>
          </a:p>
        </p:txBody>
      </p:sp>
    </p:spTree>
    <p:extLst>
      <p:ext uri="{BB962C8B-B14F-4D97-AF65-F5344CB8AC3E}">
        <p14:creationId xmlns:p14="http://schemas.microsoft.com/office/powerpoint/2010/main" val="1746899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B83DA-8BB6-F00A-2857-006B7251CCF8}"/>
              </a:ext>
            </a:extLst>
          </p:cNvPr>
          <p:cNvSpPr>
            <a:spLocks noGrp="1"/>
          </p:cNvSpPr>
          <p:nvPr>
            <p:ph type="title"/>
          </p:nvPr>
        </p:nvSpPr>
        <p:spPr/>
        <p:txBody>
          <a:bodyPr/>
          <a:lstStyle/>
          <a:p>
            <a:r>
              <a:rPr lang="en-US" dirty="0"/>
              <a:t>The Eternal Debate</a:t>
            </a:r>
            <a:endParaRPr lang="en-GB" dirty="0"/>
          </a:p>
        </p:txBody>
      </p:sp>
      <p:pic>
        <p:nvPicPr>
          <p:cNvPr id="5" name="Content Placeholder 4">
            <a:extLst>
              <a:ext uri="{FF2B5EF4-FFF2-40B4-BE49-F238E27FC236}">
                <a16:creationId xmlns:a16="http://schemas.microsoft.com/office/drawing/2014/main" id="{44419F79-DC1E-A8DE-F793-AE58077187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1015" y="1663532"/>
            <a:ext cx="10176066" cy="4741750"/>
          </a:xfrm>
        </p:spPr>
      </p:pic>
    </p:spTree>
    <p:extLst>
      <p:ext uri="{BB962C8B-B14F-4D97-AF65-F5344CB8AC3E}">
        <p14:creationId xmlns:p14="http://schemas.microsoft.com/office/powerpoint/2010/main" val="3117478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A0313-47CA-55E5-A016-BD212ADF028E}"/>
              </a:ext>
            </a:extLst>
          </p:cNvPr>
          <p:cNvSpPr>
            <a:spLocks noGrp="1"/>
          </p:cNvSpPr>
          <p:nvPr>
            <p:ph type="title"/>
          </p:nvPr>
        </p:nvSpPr>
        <p:spPr/>
        <p:txBody>
          <a:bodyPr/>
          <a:lstStyle/>
          <a:p>
            <a:r>
              <a:rPr lang="en-US" dirty="0"/>
              <a:t>Optimism</a:t>
            </a:r>
            <a:endParaRPr lang="en-GB" dirty="0"/>
          </a:p>
        </p:txBody>
      </p:sp>
      <p:sp>
        <p:nvSpPr>
          <p:cNvPr id="3" name="Content Placeholder 2">
            <a:extLst>
              <a:ext uri="{FF2B5EF4-FFF2-40B4-BE49-F238E27FC236}">
                <a16:creationId xmlns:a16="http://schemas.microsoft.com/office/drawing/2014/main" id="{A69CCE39-549B-D9CD-9435-496ED50FFB42}"/>
              </a:ext>
            </a:extLst>
          </p:cNvPr>
          <p:cNvSpPr>
            <a:spLocks noGrp="1"/>
          </p:cNvSpPr>
          <p:nvPr>
            <p:ph idx="1"/>
          </p:nvPr>
        </p:nvSpPr>
        <p:spPr>
          <a:xfrm>
            <a:off x="364010" y="1853248"/>
            <a:ext cx="7612671" cy="5004752"/>
          </a:xfrm>
        </p:spPr>
        <p:txBody>
          <a:bodyPr>
            <a:normAutofit/>
          </a:bodyPr>
          <a:lstStyle/>
          <a:p>
            <a:r>
              <a:rPr lang="en-US" b="1" dirty="0"/>
              <a:t>Optimism:</a:t>
            </a:r>
            <a:r>
              <a:rPr lang="en-US" dirty="0"/>
              <a:t> A general tendency to expect good outcomes or to focus on the positive aspects of a situation. It's not mere wishful thinking but often involves a belief in one's ability to influence future events positively.</a:t>
            </a:r>
          </a:p>
          <a:p>
            <a:pPr lvl="1"/>
            <a:r>
              <a:rPr lang="en-US" b="1" dirty="0"/>
              <a:t>Dispositional Optimism:</a:t>
            </a:r>
            <a:r>
              <a:rPr lang="en-US" dirty="0"/>
              <a:t> A stable personality trait reflecting a general expectation that good things will happen.</a:t>
            </a:r>
          </a:p>
          <a:p>
            <a:pPr marL="457200" lvl="1" indent="0">
              <a:buNone/>
            </a:pPr>
            <a:endParaRPr lang="en-US" dirty="0"/>
          </a:p>
          <a:p>
            <a:r>
              <a:rPr lang="en-US" b="1" dirty="0"/>
              <a:t>Key Characteristics:</a:t>
            </a:r>
            <a:r>
              <a:rPr lang="en-US" dirty="0"/>
              <a:t> Hope, resilience, positive expectation, proactivity, belief in progress.</a:t>
            </a:r>
          </a:p>
          <a:p>
            <a:r>
              <a:rPr lang="en-US" b="1" dirty="0"/>
              <a:t>Ethical Link:</a:t>
            </a:r>
            <a:r>
              <a:rPr lang="en-US" dirty="0"/>
              <a:t> Can foster courage, promote perseverance in the face of injustice, and inspire collective action for positive change.</a:t>
            </a:r>
          </a:p>
          <a:p>
            <a:endParaRPr lang="en-GB" dirty="0"/>
          </a:p>
        </p:txBody>
      </p:sp>
      <p:pic>
        <p:nvPicPr>
          <p:cNvPr id="5" name="Picture 4">
            <a:extLst>
              <a:ext uri="{FF2B5EF4-FFF2-40B4-BE49-F238E27FC236}">
                <a16:creationId xmlns:a16="http://schemas.microsoft.com/office/drawing/2014/main" id="{213D6C6E-F9AB-1094-9525-EA9078B985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901" y="1853248"/>
            <a:ext cx="3183285" cy="4552034"/>
          </a:xfrm>
          <a:prstGeom prst="rect">
            <a:avLst/>
          </a:prstGeom>
        </p:spPr>
      </p:pic>
    </p:spTree>
    <p:extLst>
      <p:ext uri="{BB962C8B-B14F-4D97-AF65-F5344CB8AC3E}">
        <p14:creationId xmlns:p14="http://schemas.microsoft.com/office/powerpoint/2010/main" val="14024657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E6A9A-24F8-DBD5-EACF-58E994871984}"/>
              </a:ext>
            </a:extLst>
          </p:cNvPr>
          <p:cNvSpPr>
            <a:spLocks noGrp="1"/>
          </p:cNvSpPr>
          <p:nvPr>
            <p:ph type="title"/>
          </p:nvPr>
        </p:nvSpPr>
        <p:spPr/>
        <p:txBody>
          <a:bodyPr/>
          <a:lstStyle/>
          <a:p>
            <a:r>
              <a:rPr lang="en-US" dirty="0"/>
              <a:t>Pessimism</a:t>
            </a:r>
            <a:endParaRPr lang="en-GB" dirty="0"/>
          </a:p>
        </p:txBody>
      </p:sp>
      <p:sp>
        <p:nvSpPr>
          <p:cNvPr id="3" name="Content Placeholder 2">
            <a:extLst>
              <a:ext uri="{FF2B5EF4-FFF2-40B4-BE49-F238E27FC236}">
                <a16:creationId xmlns:a16="http://schemas.microsoft.com/office/drawing/2014/main" id="{C2128E98-E96A-D0AE-656A-D48362AF569D}"/>
              </a:ext>
            </a:extLst>
          </p:cNvPr>
          <p:cNvSpPr>
            <a:spLocks noGrp="1"/>
          </p:cNvSpPr>
          <p:nvPr>
            <p:ph idx="1"/>
          </p:nvPr>
        </p:nvSpPr>
        <p:spPr>
          <a:xfrm>
            <a:off x="641831" y="1851572"/>
            <a:ext cx="7013837" cy="4649043"/>
          </a:xfrm>
        </p:spPr>
        <p:txBody>
          <a:bodyPr>
            <a:normAutofit lnSpcReduction="10000"/>
          </a:bodyPr>
          <a:lstStyle/>
          <a:p>
            <a:r>
              <a:rPr lang="en-US" b="1" dirty="0"/>
              <a:t>Pessimism:</a:t>
            </a:r>
            <a:r>
              <a:rPr lang="en-US" dirty="0"/>
              <a:t> A general tendency to expect bad outcomes or to focus on the negative aspects of a situation. Often characterized by a belief that things will go wrong, or that efforts are futile.</a:t>
            </a:r>
          </a:p>
          <a:p>
            <a:pPr lvl="1"/>
            <a:r>
              <a:rPr lang="en-US" b="1" dirty="0"/>
              <a:t>Dispositional Pessimism:</a:t>
            </a:r>
            <a:r>
              <a:rPr lang="en-US" dirty="0"/>
              <a:t> A stable personality trait reflecting a general expectation that bad things will happen.</a:t>
            </a:r>
          </a:p>
          <a:p>
            <a:pPr marL="457200" lvl="1" indent="0">
              <a:buNone/>
            </a:pPr>
            <a:endParaRPr lang="en-US" dirty="0"/>
          </a:p>
          <a:p>
            <a:r>
              <a:rPr lang="en-US" b="1" dirty="0"/>
              <a:t>Key Characteristics:</a:t>
            </a:r>
            <a:r>
              <a:rPr lang="en-US" dirty="0"/>
              <a:t> Cynicism, caution, skepticism, resignation, focus on potential threats and failures.</a:t>
            </a:r>
          </a:p>
          <a:p>
            <a:r>
              <a:rPr lang="en-US" b="1" dirty="0"/>
              <a:t>Ethical Link:</a:t>
            </a:r>
            <a:r>
              <a:rPr lang="en-US" dirty="0"/>
              <a:t> Can promote critical thinking, prevent naive idealism, and encourage preparedness for potential dangers or setbacks. Can also lead to inaction or despair.</a:t>
            </a:r>
          </a:p>
        </p:txBody>
      </p:sp>
      <p:pic>
        <p:nvPicPr>
          <p:cNvPr id="5" name="Picture 4">
            <a:extLst>
              <a:ext uri="{FF2B5EF4-FFF2-40B4-BE49-F238E27FC236}">
                <a16:creationId xmlns:a16="http://schemas.microsoft.com/office/drawing/2014/main" id="{FF66FA38-30D9-1502-27E5-FFA5C492AB82}"/>
              </a:ext>
            </a:extLst>
          </p:cNvPr>
          <p:cNvPicPr>
            <a:picLocks noChangeAspect="1"/>
          </p:cNvPicPr>
          <p:nvPr/>
        </p:nvPicPr>
        <p:blipFill>
          <a:blip r:embed="rId2">
            <a:extLst>
              <a:ext uri="{28A0092B-C50C-407E-A947-70E740481C1C}">
                <a14:useLocalDpi xmlns:a14="http://schemas.microsoft.com/office/drawing/2010/main" val="0"/>
              </a:ext>
            </a:extLst>
          </a:blip>
          <a:srcRect l="14038" r="7117"/>
          <a:stretch>
            <a:fillRect/>
          </a:stretch>
        </p:blipFill>
        <p:spPr>
          <a:xfrm>
            <a:off x="7900511" y="1851572"/>
            <a:ext cx="3889413" cy="4649043"/>
          </a:xfrm>
          <a:prstGeom prst="rect">
            <a:avLst/>
          </a:prstGeom>
        </p:spPr>
      </p:pic>
    </p:spTree>
    <p:extLst>
      <p:ext uri="{BB962C8B-B14F-4D97-AF65-F5344CB8AC3E}">
        <p14:creationId xmlns:p14="http://schemas.microsoft.com/office/powerpoint/2010/main" val="15536969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4B817-5CB6-7498-D115-F079191A743A}"/>
              </a:ext>
            </a:extLst>
          </p:cNvPr>
          <p:cNvSpPr>
            <a:spLocks noGrp="1"/>
          </p:cNvSpPr>
          <p:nvPr>
            <p:ph type="title"/>
          </p:nvPr>
        </p:nvSpPr>
        <p:spPr/>
        <p:txBody>
          <a:bodyPr>
            <a:normAutofit fontScale="90000"/>
          </a:bodyPr>
          <a:lstStyle/>
          <a:p>
            <a:r>
              <a:rPr lang="en-US" b="1" dirty="0"/>
              <a:t>Famous Philosopher's Views - Ancient Roots</a:t>
            </a:r>
            <a:br>
              <a:rPr lang="en-US" b="1" dirty="0"/>
            </a:br>
            <a:endParaRPr lang="en-GB" dirty="0"/>
          </a:p>
        </p:txBody>
      </p:sp>
      <p:sp>
        <p:nvSpPr>
          <p:cNvPr id="3" name="Content Placeholder 2">
            <a:extLst>
              <a:ext uri="{FF2B5EF4-FFF2-40B4-BE49-F238E27FC236}">
                <a16:creationId xmlns:a16="http://schemas.microsoft.com/office/drawing/2014/main" id="{8E6457F9-B602-5FCF-5443-6B0966987E39}"/>
              </a:ext>
            </a:extLst>
          </p:cNvPr>
          <p:cNvSpPr>
            <a:spLocks noGrp="1"/>
          </p:cNvSpPr>
          <p:nvPr>
            <p:ph idx="1"/>
          </p:nvPr>
        </p:nvSpPr>
        <p:spPr>
          <a:xfrm>
            <a:off x="388912" y="2093976"/>
            <a:ext cx="7509948" cy="4050792"/>
          </a:xfrm>
        </p:spPr>
        <p:txBody>
          <a:bodyPr>
            <a:normAutofit fontScale="85000" lnSpcReduction="20000"/>
          </a:bodyPr>
          <a:lstStyle/>
          <a:p>
            <a:r>
              <a:rPr lang="en-US" b="1" dirty="0"/>
              <a:t>Stoicism (Seneca, Marcus Aurelius):</a:t>
            </a:r>
            <a:r>
              <a:rPr lang="en-US" dirty="0"/>
              <a:t> While not explicitly "pessimistic," Stoicism advocates for accepting what cannot be changed and focusing on what is within one's control. It teaches </a:t>
            </a:r>
            <a:r>
              <a:rPr lang="en-US" i="1" dirty="0">
                <a:solidFill>
                  <a:schemeClr val="bg1"/>
                </a:solidFill>
                <a:highlight>
                  <a:srgbClr val="FFFF00"/>
                </a:highlight>
              </a:rPr>
              <a:t>amor </a:t>
            </a:r>
            <a:r>
              <a:rPr lang="en-US" i="1" dirty="0" err="1">
                <a:solidFill>
                  <a:schemeClr val="bg1"/>
                </a:solidFill>
                <a:highlight>
                  <a:srgbClr val="FFFF00"/>
                </a:highlight>
              </a:rPr>
              <a:t>fati</a:t>
            </a:r>
            <a:r>
              <a:rPr lang="en-US" dirty="0">
                <a:solidFill>
                  <a:schemeClr val="bg1"/>
                </a:solidFill>
                <a:highlight>
                  <a:srgbClr val="FFFF00"/>
                </a:highlight>
              </a:rPr>
              <a:t> (love of fate) </a:t>
            </a:r>
            <a:r>
              <a:rPr lang="en-US" dirty="0"/>
              <a:t>and emphasizes virtue regardless of external circumstances. This can be seen as a realistic, perhaps even a "prepared pessimism," where one anticipates challenges to build resilience.</a:t>
            </a:r>
          </a:p>
          <a:p>
            <a:pPr lvl="1"/>
            <a:r>
              <a:rPr lang="en-US" i="1" dirty="0"/>
              <a:t>Ethical Implication:</a:t>
            </a:r>
            <a:r>
              <a:rPr lang="en-US" dirty="0"/>
              <a:t> Cultivating inner peace and virtue, detaching from uncontrollable outcomes.</a:t>
            </a:r>
          </a:p>
          <a:p>
            <a:r>
              <a:rPr lang="en-US" b="1" dirty="0"/>
              <a:t>Epicureanism (Epicurus):</a:t>
            </a:r>
            <a:r>
              <a:rPr lang="en-US" dirty="0"/>
              <a:t> Sought to achieve </a:t>
            </a:r>
            <a:r>
              <a:rPr lang="en-US" i="1" dirty="0">
                <a:solidFill>
                  <a:schemeClr val="bg1"/>
                </a:solidFill>
                <a:highlight>
                  <a:srgbClr val="FFFF00"/>
                </a:highlight>
              </a:rPr>
              <a:t>ataraxia</a:t>
            </a:r>
            <a:r>
              <a:rPr lang="en-US" dirty="0"/>
              <a:t> (freedom from disturbance) and </a:t>
            </a:r>
            <a:r>
              <a:rPr lang="en-US" i="1" dirty="0">
                <a:solidFill>
                  <a:schemeClr val="bg1"/>
                </a:solidFill>
                <a:highlight>
                  <a:srgbClr val="FFFF00"/>
                </a:highlight>
              </a:rPr>
              <a:t>aponia</a:t>
            </a:r>
            <a:r>
              <a:rPr lang="en-US" dirty="0"/>
              <a:t> (absence of pain). While often misconstrued, Epicureanism advocated for simple pleasures and minimizing pain, not boundless optimism. A careful, somewhat cautious approach to life's pleasures and pains.</a:t>
            </a:r>
          </a:p>
          <a:p>
            <a:pPr lvl="1"/>
            <a:r>
              <a:rPr lang="en-US" i="1" dirty="0"/>
              <a:t>Ethical Implication:</a:t>
            </a:r>
            <a:r>
              <a:rPr lang="en-US" dirty="0"/>
              <a:t> Pursuit of moderate, sustainable happiness and avoidance of unnecessary suffering</a:t>
            </a:r>
          </a:p>
        </p:txBody>
      </p:sp>
      <p:pic>
        <p:nvPicPr>
          <p:cNvPr id="5" name="Picture 4">
            <a:extLst>
              <a:ext uri="{FF2B5EF4-FFF2-40B4-BE49-F238E27FC236}">
                <a16:creationId xmlns:a16="http://schemas.microsoft.com/office/drawing/2014/main" id="{16B03842-6765-7D55-10E4-46EB39A5F0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8339" y="2093976"/>
            <a:ext cx="4319081" cy="4050792"/>
          </a:xfrm>
          <a:prstGeom prst="rect">
            <a:avLst/>
          </a:prstGeom>
        </p:spPr>
      </p:pic>
    </p:spTree>
    <p:extLst>
      <p:ext uri="{BB962C8B-B14F-4D97-AF65-F5344CB8AC3E}">
        <p14:creationId xmlns:p14="http://schemas.microsoft.com/office/powerpoint/2010/main" val="3213711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BE3BA-74FF-7742-67BC-2EC398389B8E}"/>
              </a:ext>
            </a:extLst>
          </p:cNvPr>
          <p:cNvSpPr>
            <a:spLocks noGrp="1"/>
          </p:cNvSpPr>
          <p:nvPr>
            <p:ph type="title"/>
          </p:nvPr>
        </p:nvSpPr>
        <p:spPr/>
        <p:txBody>
          <a:bodyPr/>
          <a:lstStyle/>
          <a:p>
            <a:r>
              <a:rPr lang="en-US" b="1" dirty="0"/>
              <a:t>Famous Philosopher's Views - Enlightenment &amp; Beyond</a:t>
            </a:r>
            <a:endParaRPr lang="en-GB" dirty="0"/>
          </a:p>
        </p:txBody>
      </p:sp>
      <p:sp>
        <p:nvSpPr>
          <p:cNvPr id="3" name="Content Placeholder 2">
            <a:extLst>
              <a:ext uri="{FF2B5EF4-FFF2-40B4-BE49-F238E27FC236}">
                <a16:creationId xmlns:a16="http://schemas.microsoft.com/office/drawing/2014/main" id="{66D4B66B-8471-9CBD-3FDC-2B621C44EF43}"/>
              </a:ext>
            </a:extLst>
          </p:cNvPr>
          <p:cNvSpPr>
            <a:spLocks noGrp="1"/>
          </p:cNvSpPr>
          <p:nvPr>
            <p:ph idx="1"/>
          </p:nvPr>
        </p:nvSpPr>
        <p:spPr>
          <a:xfrm>
            <a:off x="301361" y="2210707"/>
            <a:ext cx="8472987" cy="4647293"/>
          </a:xfrm>
        </p:spPr>
        <p:txBody>
          <a:bodyPr>
            <a:normAutofit fontScale="85000" lnSpcReduction="20000"/>
          </a:bodyPr>
          <a:lstStyle/>
          <a:p>
            <a:r>
              <a:rPr lang="en-US" b="1" dirty="0"/>
              <a:t>Immanuel Kant (Optimistic Rationalism):</a:t>
            </a:r>
            <a:r>
              <a:rPr lang="en-US" dirty="0"/>
              <a:t> Believed in the power of human reason to establish universal moral laws (Categorical Imperative) and achieve moral progress. His philosophy inherently carries an optimistic view of human potential for good and rational self-governance.</a:t>
            </a:r>
          </a:p>
          <a:p>
            <a:pPr lvl="1"/>
            <a:r>
              <a:rPr lang="en-US" i="1" dirty="0"/>
              <a:t>Ethical Implication:</a:t>
            </a:r>
            <a:r>
              <a:rPr lang="en-US" dirty="0"/>
              <a:t> Duty-bound actions based on reason, belief in moral autonomy and progress.</a:t>
            </a:r>
          </a:p>
          <a:p>
            <a:r>
              <a:rPr lang="en-US" b="1" dirty="0"/>
              <a:t>Arthur Schopenhauer (Profound Pessimism):</a:t>
            </a:r>
            <a:r>
              <a:rPr lang="en-US" dirty="0"/>
              <a:t> Argued that life is inherently suffering, driven by a blind, irrational "Will." Happiness is merely the temporary absence of pain. Saw existence as a constant striving and suffering.</a:t>
            </a:r>
          </a:p>
          <a:p>
            <a:pPr lvl="1"/>
            <a:r>
              <a:rPr lang="en-US" i="1" dirty="0"/>
              <a:t>Ethical Implication:</a:t>
            </a:r>
            <a:r>
              <a:rPr lang="en-US" dirty="0"/>
              <a:t> Compassion for the suffering of others (shared human condition), asceticism, denial of the Will as a path to peace.</a:t>
            </a:r>
          </a:p>
          <a:p>
            <a:r>
              <a:rPr lang="en-US" b="1" dirty="0"/>
              <a:t>Friedrich Nietzsche (Active Pessimism/Tragic Optimism):</a:t>
            </a:r>
            <a:r>
              <a:rPr lang="en-US" dirty="0"/>
              <a:t> Criticized Schopenhauer's passive pessimism. Acknowledged the suffering and meaninglessness of existence (nihilism) but called for an </a:t>
            </a:r>
            <a:r>
              <a:rPr lang="en-US" i="1" dirty="0"/>
              <a:t>affirmation of life</a:t>
            </a:r>
            <a:r>
              <a:rPr lang="en-US" dirty="0"/>
              <a:t> despite it, creating one's own values and meaning. Embracing struggle as a path to self-overcoming (Will to Power).</a:t>
            </a:r>
          </a:p>
          <a:p>
            <a:pPr lvl="1"/>
            <a:r>
              <a:rPr lang="en-US" i="1" dirty="0"/>
              <a:t>Ethical Implication:</a:t>
            </a:r>
            <a:r>
              <a:rPr lang="en-US" dirty="0"/>
              <a:t> Radical individualism, self-creation, courage in the face of existential absurdity, challenging conventional morality.</a:t>
            </a:r>
          </a:p>
        </p:txBody>
      </p:sp>
      <p:pic>
        <p:nvPicPr>
          <p:cNvPr id="5" name="Picture 4">
            <a:extLst>
              <a:ext uri="{FF2B5EF4-FFF2-40B4-BE49-F238E27FC236}">
                <a16:creationId xmlns:a16="http://schemas.microsoft.com/office/drawing/2014/main" id="{E310E18B-239B-A43F-0472-E8370C910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9003805" y="1396048"/>
            <a:ext cx="2251098" cy="1803366"/>
          </a:xfrm>
          <a:prstGeom prst="rect">
            <a:avLst/>
          </a:prstGeom>
        </p:spPr>
      </p:pic>
      <p:pic>
        <p:nvPicPr>
          <p:cNvPr id="7" name="Picture 6">
            <a:extLst>
              <a:ext uri="{FF2B5EF4-FFF2-40B4-BE49-F238E27FC236}">
                <a16:creationId xmlns:a16="http://schemas.microsoft.com/office/drawing/2014/main" id="{F4EF346C-4AF5-4FE6-093D-CA89A3C1EE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3805" y="3312268"/>
            <a:ext cx="2251098" cy="1803365"/>
          </a:xfrm>
          <a:prstGeom prst="rect">
            <a:avLst/>
          </a:prstGeom>
        </p:spPr>
      </p:pic>
      <p:pic>
        <p:nvPicPr>
          <p:cNvPr id="9" name="Picture 8">
            <a:extLst>
              <a:ext uri="{FF2B5EF4-FFF2-40B4-BE49-F238E27FC236}">
                <a16:creationId xmlns:a16="http://schemas.microsoft.com/office/drawing/2014/main" id="{74A8DF71-8543-0DD6-D1CF-7FD6E75267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03805" y="5228487"/>
            <a:ext cx="2251098" cy="1522508"/>
          </a:xfrm>
          <a:prstGeom prst="rect">
            <a:avLst/>
          </a:prstGeom>
        </p:spPr>
      </p:pic>
    </p:spTree>
    <p:extLst>
      <p:ext uri="{BB962C8B-B14F-4D97-AF65-F5344CB8AC3E}">
        <p14:creationId xmlns:p14="http://schemas.microsoft.com/office/powerpoint/2010/main" val="31818046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C1249-E413-A0EB-4439-D99CD34A5A53}"/>
              </a:ext>
            </a:extLst>
          </p:cNvPr>
          <p:cNvSpPr>
            <a:spLocks noGrp="1"/>
          </p:cNvSpPr>
          <p:nvPr>
            <p:ph type="title"/>
          </p:nvPr>
        </p:nvSpPr>
        <p:spPr/>
        <p:txBody>
          <a:bodyPr/>
          <a:lstStyle/>
          <a:p>
            <a:r>
              <a:rPr lang="en-US" b="1" dirty="0"/>
              <a:t>Impacts on Youth - The Optimistic Path</a:t>
            </a:r>
            <a:endParaRPr lang="en-GB" dirty="0"/>
          </a:p>
        </p:txBody>
      </p:sp>
      <p:sp>
        <p:nvSpPr>
          <p:cNvPr id="3" name="Content Placeholder 2">
            <a:extLst>
              <a:ext uri="{FF2B5EF4-FFF2-40B4-BE49-F238E27FC236}">
                <a16:creationId xmlns:a16="http://schemas.microsoft.com/office/drawing/2014/main" id="{22D273D7-0753-FE2C-1303-02F5A3AE1F13}"/>
              </a:ext>
            </a:extLst>
          </p:cNvPr>
          <p:cNvSpPr>
            <a:spLocks noGrp="1"/>
          </p:cNvSpPr>
          <p:nvPr>
            <p:ph idx="1"/>
          </p:nvPr>
        </p:nvSpPr>
        <p:spPr/>
        <p:txBody>
          <a:bodyPr>
            <a:normAutofit fontScale="92500" lnSpcReduction="20000"/>
          </a:bodyPr>
          <a:lstStyle/>
          <a:p>
            <a:r>
              <a:rPr lang="en-US" b="1" dirty="0"/>
              <a:t>Positive Outcomes:</a:t>
            </a:r>
            <a:endParaRPr lang="en-US" dirty="0"/>
          </a:p>
          <a:p>
            <a:pPr lvl="1"/>
            <a:r>
              <a:rPr lang="en-US" b="1" dirty="0"/>
              <a:t>Mental Well-being:</a:t>
            </a:r>
            <a:r>
              <a:rPr lang="en-US" dirty="0"/>
              <a:t> Lower rates of depression and anxiety, higher self-esteem.</a:t>
            </a:r>
          </a:p>
          <a:p>
            <a:pPr lvl="1"/>
            <a:r>
              <a:rPr lang="en-US" b="1" dirty="0"/>
              <a:t>Academic Achievement:</a:t>
            </a:r>
            <a:r>
              <a:rPr lang="en-US" dirty="0"/>
              <a:t> Greater persistence, better problem-solving skills, higher motivation.</a:t>
            </a:r>
          </a:p>
          <a:p>
            <a:pPr lvl="1"/>
            <a:r>
              <a:rPr lang="en-US" b="1" dirty="0"/>
              <a:t>Physical Health:</a:t>
            </a:r>
            <a:r>
              <a:rPr lang="en-US" dirty="0"/>
              <a:t> Better coping mechanisms, stronger immune system, healthier lifestyle choices.</a:t>
            </a:r>
          </a:p>
          <a:p>
            <a:pPr lvl="1"/>
            <a:r>
              <a:rPr lang="en-US" b="1" dirty="0"/>
              <a:t>Social Development:</a:t>
            </a:r>
            <a:r>
              <a:rPr lang="en-US" dirty="0"/>
              <a:t> Stronger relationships, better conflict resolution, greater empathy.</a:t>
            </a:r>
          </a:p>
          <a:p>
            <a:pPr lvl="1"/>
            <a:r>
              <a:rPr lang="en-US" b="1" dirty="0"/>
              <a:t>Resilience:</a:t>
            </a:r>
            <a:r>
              <a:rPr lang="en-US" dirty="0"/>
              <a:t> Ability to bounce back from setbacks, view challenges as opportunities for growth.</a:t>
            </a:r>
          </a:p>
          <a:p>
            <a:r>
              <a:rPr lang="en-US" b="1" dirty="0"/>
              <a:t>Ethical Implications:</a:t>
            </a:r>
            <a:r>
              <a:rPr lang="en-US" dirty="0"/>
              <a:t> Fosters a proactive approach to personal and societal challenges, encourages engagement and belief in the possibility of positive change.</a:t>
            </a:r>
          </a:p>
        </p:txBody>
      </p:sp>
    </p:spTree>
    <p:extLst>
      <p:ext uri="{BB962C8B-B14F-4D97-AF65-F5344CB8AC3E}">
        <p14:creationId xmlns:p14="http://schemas.microsoft.com/office/powerpoint/2010/main" val="4004861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3905F-A649-76FC-7065-853E46C87382}"/>
              </a:ext>
            </a:extLst>
          </p:cNvPr>
          <p:cNvSpPr>
            <a:spLocks noGrp="1"/>
          </p:cNvSpPr>
          <p:nvPr>
            <p:ph type="title"/>
          </p:nvPr>
        </p:nvSpPr>
        <p:spPr/>
        <p:txBody>
          <a:bodyPr/>
          <a:lstStyle/>
          <a:p>
            <a:r>
              <a:rPr lang="en-US" b="1" dirty="0"/>
              <a:t>Impacts on Youth - The Pessimistic Path</a:t>
            </a:r>
            <a:endParaRPr lang="en-GB" dirty="0"/>
          </a:p>
        </p:txBody>
      </p:sp>
      <p:sp>
        <p:nvSpPr>
          <p:cNvPr id="3" name="Content Placeholder 2">
            <a:extLst>
              <a:ext uri="{FF2B5EF4-FFF2-40B4-BE49-F238E27FC236}">
                <a16:creationId xmlns:a16="http://schemas.microsoft.com/office/drawing/2014/main" id="{9E592CF6-2356-E31A-E4CE-E44EEBC0F501}"/>
              </a:ext>
            </a:extLst>
          </p:cNvPr>
          <p:cNvSpPr>
            <a:spLocks noGrp="1"/>
          </p:cNvSpPr>
          <p:nvPr>
            <p:ph idx="1"/>
          </p:nvPr>
        </p:nvSpPr>
        <p:spPr>
          <a:xfrm>
            <a:off x="1063752" y="2627246"/>
            <a:ext cx="10058400" cy="4050792"/>
          </a:xfrm>
        </p:spPr>
        <p:txBody>
          <a:bodyPr>
            <a:normAutofit/>
          </a:bodyPr>
          <a:lstStyle/>
          <a:p>
            <a:r>
              <a:rPr lang="en-US" b="1" dirty="0"/>
              <a:t>Negative Outcomes (if unchecked):</a:t>
            </a:r>
            <a:endParaRPr lang="en-US" dirty="0"/>
          </a:p>
          <a:p>
            <a:pPr lvl="1"/>
            <a:r>
              <a:rPr lang="en-US" b="1" dirty="0"/>
              <a:t>Mental Health:</a:t>
            </a:r>
            <a:r>
              <a:rPr lang="en-US" dirty="0"/>
              <a:t> Increased risk of depression, anxiety, learned helplessness, apathy.</a:t>
            </a:r>
          </a:p>
          <a:p>
            <a:pPr lvl="1"/>
            <a:r>
              <a:rPr lang="en-US" b="1" dirty="0"/>
              <a:t>Academic Performance:</a:t>
            </a:r>
            <a:r>
              <a:rPr lang="en-US" dirty="0"/>
              <a:t> Lower motivation, decreased effort, avoidance of challenging tasks.</a:t>
            </a:r>
          </a:p>
          <a:p>
            <a:pPr lvl="1"/>
            <a:r>
              <a:rPr lang="en-US" b="1" dirty="0"/>
              <a:t>Physical Health:</a:t>
            </a:r>
            <a:r>
              <a:rPr lang="en-US" dirty="0"/>
              <a:t> Increased stress, poorer health choices, higher rates of illness.</a:t>
            </a:r>
          </a:p>
          <a:p>
            <a:pPr lvl="1"/>
            <a:r>
              <a:rPr lang="en-US" b="1" dirty="0"/>
              <a:t>Social Isolation:</a:t>
            </a:r>
            <a:r>
              <a:rPr lang="en-US" dirty="0"/>
              <a:t> Difficulty forming connections, cynicism towards others' intentions.</a:t>
            </a:r>
          </a:p>
          <a:p>
            <a:pPr lvl="1"/>
            <a:r>
              <a:rPr lang="en-US" b="1" dirty="0"/>
              <a:t>Disengagement:</a:t>
            </a:r>
            <a:r>
              <a:rPr lang="en-US" dirty="0"/>
              <a:t> Resignation, belief that individual efforts are futile, leading to inaction.</a:t>
            </a:r>
          </a:p>
          <a:p>
            <a:r>
              <a:rPr lang="en-US" b="1" dirty="0"/>
              <a:t>Ethical Implications:</a:t>
            </a:r>
            <a:r>
              <a:rPr lang="en-US" dirty="0"/>
              <a:t> Can lead to moral paralysis, a retreat from responsibility, or a justification for inaction in the face of injustice due to a belief in futility.</a:t>
            </a:r>
          </a:p>
        </p:txBody>
      </p:sp>
    </p:spTree>
    <p:extLst>
      <p:ext uri="{BB962C8B-B14F-4D97-AF65-F5344CB8AC3E}">
        <p14:creationId xmlns:p14="http://schemas.microsoft.com/office/powerpoint/2010/main" val="34409460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F01A4-EF9A-123C-7F91-9AD280FB3646}"/>
              </a:ext>
            </a:extLst>
          </p:cNvPr>
          <p:cNvSpPr>
            <a:spLocks noGrp="1"/>
          </p:cNvSpPr>
          <p:nvPr>
            <p:ph type="title"/>
          </p:nvPr>
        </p:nvSpPr>
        <p:spPr/>
        <p:txBody>
          <a:bodyPr/>
          <a:lstStyle/>
          <a:p>
            <a:r>
              <a:rPr lang="en-US" b="1" dirty="0"/>
              <a:t>The Ethical Challenge: Naiveté vs. Cynicism</a:t>
            </a:r>
            <a:endParaRPr lang="en-GB" dirty="0"/>
          </a:p>
        </p:txBody>
      </p:sp>
      <p:sp>
        <p:nvSpPr>
          <p:cNvPr id="3" name="Content Placeholder 2">
            <a:extLst>
              <a:ext uri="{FF2B5EF4-FFF2-40B4-BE49-F238E27FC236}">
                <a16:creationId xmlns:a16="http://schemas.microsoft.com/office/drawing/2014/main" id="{42C1204D-9D4D-7776-6906-68D69C2D38E0}"/>
              </a:ext>
            </a:extLst>
          </p:cNvPr>
          <p:cNvSpPr>
            <a:spLocks noGrp="1"/>
          </p:cNvSpPr>
          <p:nvPr>
            <p:ph idx="1"/>
          </p:nvPr>
        </p:nvSpPr>
        <p:spPr/>
        <p:txBody>
          <a:bodyPr>
            <a:normAutofit fontScale="85000" lnSpcReduction="10000"/>
          </a:bodyPr>
          <a:lstStyle/>
          <a:p>
            <a:r>
              <a:rPr lang="en-US" b="1" dirty="0"/>
              <a:t>The Optimist's Blind Spots:</a:t>
            </a:r>
            <a:endParaRPr lang="en-US" dirty="0"/>
          </a:p>
          <a:p>
            <a:pPr lvl="1"/>
            <a:r>
              <a:rPr lang="en-US" b="1" dirty="0"/>
              <a:t>Naiveté:</a:t>
            </a:r>
            <a:r>
              <a:rPr lang="en-US" dirty="0"/>
              <a:t> Underestimation of risks, oversimplification of complex problems, unrealistic expectations.</a:t>
            </a:r>
          </a:p>
          <a:p>
            <a:pPr lvl="1"/>
            <a:r>
              <a:rPr lang="en-US" b="1" dirty="0"/>
              <a:t>Lack of Preparedness:</a:t>
            </a:r>
            <a:r>
              <a:rPr lang="en-US" dirty="0"/>
              <a:t> Failure to anticipate and plan for negative outcomes.</a:t>
            </a:r>
          </a:p>
          <a:p>
            <a:pPr lvl="1"/>
            <a:r>
              <a:rPr lang="en-US" b="1" dirty="0"/>
              <a:t>Dismissal of Valid Concerns:</a:t>
            </a:r>
            <a:r>
              <a:rPr lang="en-US" dirty="0"/>
              <a:t> Overlooking genuine threats or suffering in pursuit of a positive narrative.</a:t>
            </a:r>
          </a:p>
          <a:p>
            <a:pPr lvl="1"/>
            <a:r>
              <a:rPr lang="en-US" i="1" dirty="0"/>
              <a:t>Ethical Risk:</a:t>
            </a:r>
            <a:r>
              <a:rPr lang="en-US" dirty="0"/>
              <a:t> Unintended harm due to lack of foresight, overlooking systemic issues.</a:t>
            </a:r>
          </a:p>
          <a:p>
            <a:r>
              <a:rPr lang="en-US" b="1" dirty="0"/>
              <a:t>The Pessimist's Pitfalls:</a:t>
            </a:r>
            <a:endParaRPr lang="en-US" dirty="0"/>
          </a:p>
          <a:p>
            <a:pPr lvl="1"/>
            <a:r>
              <a:rPr lang="en-US" b="1" dirty="0"/>
              <a:t>Cynicism/Nihilism:</a:t>
            </a:r>
            <a:r>
              <a:rPr lang="en-US" dirty="0"/>
              <a:t> Belief that nothing matters, leading to apathy or destructive behavior.</a:t>
            </a:r>
          </a:p>
          <a:p>
            <a:pPr lvl="1"/>
            <a:r>
              <a:rPr lang="en-US" b="1" dirty="0"/>
              <a:t>Learned Helplessness:</a:t>
            </a:r>
            <a:r>
              <a:rPr lang="en-US" dirty="0"/>
              <a:t> Giving up before trying, belief that efforts are futile.</a:t>
            </a:r>
          </a:p>
          <a:p>
            <a:pPr lvl="1"/>
            <a:r>
              <a:rPr lang="en-US" b="1" dirty="0"/>
              <a:t>Self-Fulfilling Prophecy:</a:t>
            </a:r>
            <a:r>
              <a:rPr lang="en-US" dirty="0"/>
              <a:t> Negative expectations leading to negative outcomes.</a:t>
            </a:r>
          </a:p>
          <a:p>
            <a:pPr lvl="1"/>
            <a:r>
              <a:rPr lang="en-US" i="1" dirty="0"/>
              <a:t>Ethical Risk:</a:t>
            </a:r>
            <a:r>
              <a:rPr lang="en-US" dirty="0"/>
              <a:t> Inaction in the face of injustice, erosion of hope, justifying harm through perceived meaninglessness.</a:t>
            </a:r>
          </a:p>
        </p:txBody>
      </p:sp>
    </p:spTree>
    <p:extLst>
      <p:ext uri="{BB962C8B-B14F-4D97-AF65-F5344CB8AC3E}">
        <p14:creationId xmlns:p14="http://schemas.microsoft.com/office/powerpoint/2010/main" val="20709914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F9DB3-592A-A825-B0B5-0B12B61933BD}"/>
              </a:ext>
            </a:extLst>
          </p:cNvPr>
          <p:cNvSpPr>
            <a:spLocks noGrp="1"/>
          </p:cNvSpPr>
          <p:nvPr>
            <p:ph type="title"/>
          </p:nvPr>
        </p:nvSpPr>
        <p:spPr/>
        <p:txBody>
          <a:bodyPr/>
          <a:lstStyle/>
          <a:p>
            <a:r>
              <a:rPr lang="en-US" b="1" dirty="0"/>
              <a:t>Scientific Research Findings on Optimism &amp; Pessimism</a:t>
            </a:r>
            <a:endParaRPr lang="en-GB" dirty="0"/>
          </a:p>
        </p:txBody>
      </p:sp>
      <p:sp>
        <p:nvSpPr>
          <p:cNvPr id="3" name="Content Placeholder 2">
            <a:extLst>
              <a:ext uri="{FF2B5EF4-FFF2-40B4-BE49-F238E27FC236}">
                <a16:creationId xmlns:a16="http://schemas.microsoft.com/office/drawing/2014/main" id="{3A88E117-7EBA-C739-C4B3-F25835D55A77}"/>
              </a:ext>
            </a:extLst>
          </p:cNvPr>
          <p:cNvSpPr>
            <a:spLocks noGrp="1"/>
          </p:cNvSpPr>
          <p:nvPr>
            <p:ph idx="1"/>
          </p:nvPr>
        </p:nvSpPr>
        <p:spPr>
          <a:xfrm>
            <a:off x="645130" y="2052918"/>
            <a:ext cx="10541679" cy="4620256"/>
          </a:xfrm>
        </p:spPr>
        <p:txBody>
          <a:bodyPr>
            <a:normAutofit fontScale="85000" lnSpcReduction="10000"/>
          </a:bodyPr>
          <a:lstStyle/>
          <a:p>
            <a:r>
              <a:rPr lang="en-US" b="1" dirty="0"/>
              <a:t>Cognitive Biases:</a:t>
            </a:r>
            <a:endParaRPr lang="en-US" dirty="0"/>
          </a:p>
          <a:p>
            <a:pPr lvl="1"/>
            <a:r>
              <a:rPr lang="en-US" b="1" dirty="0"/>
              <a:t>Optimism Bias (Unrealistic Optimism):</a:t>
            </a:r>
            <a:r>
              <a:rPr lang="en-US" dirty="0"/>
              <a:t> People tend to overestimate the likelihood of positive events and underestimate the likelihood of negative events happening to them. This can lead to risky behaviors but also boosts motivation.</a:t>
            </a:r>
          </a:p>
          <a:p>
            <a:pPr lvl="1"/>
            <a:r>
              <a:rPr lang="en-US" b="1" dirty="0"/>
              <a:t>Confirmation Bias:</a:t>
            </a:r>
            <a:r>
              <a:rPr lang="en-US" dirty="0"/>
              <a:t> Individuals seek out and interpret information that confirms their existing beliefs (optimistic or pessimistic).</a:t>
            </a:r>
          </a:p>
          <a:p>
            <a:r>
              <a:rPr lang="en-US" b="1" dirty="0"/>
              <a:t>Psychological Studies:</a:t>
            </a:r>
            <a:endParaRPr lang="en-US" dirty="0"/>
          </a:p>
          <a:p>
            <a:pPr lvl="1"/>
            <a:r>
              <a:rPr lang="en-US" b="1" dirty="0"/>
              <a:t>Learned Helplessness (Seligman):</a:t>
            </a:r>
            <a:r>
              <a:rPr lang="en-US" dirty="0"/>
              <a:t> Pioneering work showed that repeated exposure to uncontrollable negative events can lead to a sense of helplessness and pessimism, even when control is later possible.</a:t>
            </a:r>
          </a:p>
          <a:p>
            <a:pPr lvl="1"/>
            <a:r>
              <a:rPr lang="en-US" b="1" dirty="0"/>
              <a:t>Personality Psychology:</a:t>
            </a:r>
            <a:r>
              <a:rPr lang="en-US" dirty="0"/>
              <a:t> Optimism and pessimism are often measured as stable personality traits using scales like the Life Orientation Test-Revised (LOT-R).</a:t>
            </a:r>
          </a:p>
          <a:p>
            <a:pPr lvl="1"/>
            <a:r>
              <a:rPr lang="en-US" b="1" dirty="0"/>
              <a:t>Health Psychology:</a:t>
            </a:r>
            <a:r>
              <a:rPr lang="en-US" dirty="0"/>
              <a:t> Longitudinal studies consistently link optimism to better physical health outcomes (e.g., cardiovascular health, immune function) and increased longevity. Pessimism is associated with higher stress levels and increased risk of chronic diseases.</a:t>
            </a:r>
          </a:p>
          <a:p>
            <a:r>
              <a:rPr lang="en-US" b="1" dirty="0"/>
              <a:t>Developmental Psychology:</a:t>
            </a:r>
            <a:r>
              <a:rPr lang="en-US" dirty="0"/>
              <a:t> Research indicates that explanatory styles (optimistic vs. pessimistic) can be influenced by parenting styles, educational experiences, and early life events</a:t>
            </a:r>
          </a:p>
        </p:txBody>
      </p:sp>
    </p:spTree>
    <p:extLst>
      <p:ext uri="{BB962C8B-B14F-4D97-AF65-F5344CB8AC3E}">
        <p14:creationId xmlns:p14="http://schemas.microsoft.com/office/powerpoint/2010/main" val="1243447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9B462-DEB1-FE9C-0CD4-460D59182514}"/>
              </a:ext>
            </a:extLst>
          </p:cNvPr>
          <p:cNvSpPr>
            <a:spLocks noGrp="1"/>
          </p:cNvSpPr>
          <p:nvPr>
            <p:ph type="title"/>
          </p:nvPr>
        </p:nvSpPr>
        <p:spPr/>
        <p:txBody>
          <a:bodyPr/>
          <a:lstStyle/>
          <a:p>
            <a:r>
              <a:rPr lang="en-GB" b="1" dirty="0"/>
              <a:t>Solutions - Cultivating Ethical Perspectives</a:t>
            </a:r>
            <a:endParaRPr lang="en-GB" dirty="0"/>
          </a:p>
        </p:txBody>
      </p:sp>
      <p:sp>
        <p:nvSpPr>
          <p:cNvPr id="3" name="Content Placeholder 2">
            <a:extLst>
              <a:ext uri="{FF2B5EF4-FFF2-40B4-BE49-F238E27FC236}">
                <a16:creationId xmlns:a16="http://schemas.microsoft.com/office/drawing/2014/main" id="{9111C421-25F5-D4BA-699A-E1A2A6AE9DCC}"/>
              </a:ext>
            </a:extLst>
          </p:cNvPr>
          <p:cNvSpPr>
            <a:spLocks noGrp="1"/>
          </p:cNvSpPr>
          <p:nvPr>
            <p:ph idx="1"/>
          </p:nvPr>
        </p:nvSpPr>
        <p:spPr/>
        <p:txBody>
          <a:bodyPr>
            <a:normAutofit fontScale="85000" lnSpcReduction="20000"/>
          </a:bodyPr>
          <a:lstStyle/>
          <a:p>
            <a:r>
              <a:rPr lang="en-US" b="1" dirty="0"/>
              <a:t>Balanced Realism:</a:t>
            </a:r>
            <a:r>
              <a:rPr lang="en-US" dirty="0"/>
              <a:t> Encourage a pragmatic view that acknowledges challenges while maintaining hope and agency. This is not about blind optimism or paralyzing pessimism.</a:t>
            </a:r>
          </a:p>
          <a:p>
            <a:r>
              <a:rPr lang="en-US" b="1" dirty="0"/>
              <a:t>Critical Optimism:</a:t>
            </a:r>
            <a:r>
              <a:rPr lang="en-US" dirty="0"/>
              <a:t> Promote hope that is grounded in evidence and critical analysis, recognizing barriers while actively seeking solutions.</a:t>
            </a:r>
          </a:p>
          <a:p>
            <a:r>
              <a:rPr lang="en-US" b="1" dirty="0"/>
              <a:t>Constructive Pessimism:</a:t>
            </a:r>
            <a:r>
              <a:rPr lang="en-US" dirty="0"/>
              <a:t> Use skepticism and foresight to identify potential problems and prepare for them, rather than to justify inaction.</a:t>
            </a:r>
          </a:p>
          <a:p>
            <a:r>
              <a:rPr lang="en-US" b="1" dirty="0"/>
              <a:t>Fostering Resilience:</a:t>
            </a:r>
            <a:r>
              <a:rPr lang="en-US" dirty="0"/>
              <a:t> Teach coping mechanisms, problem-solving skills, and adaptive thinking.</a:t>
            </a:r>
          </a:p>
          <a:p>
            <a:r>
              <a:rPr lang="en-US" b="1" dirty="0"/>
              <a:t>Emphasis on Agency and Responsibility:</a:t>
            </a:r>
            <a:r>
              <a:rPr lang="en-US" dirty="0"/>
              <a:t> Remind youth that while external circumstances exist, they have the power to choose their response and contribute to change.</a:t>
            </a:r>
          </a:p>
          <a:p>
            <a:r>
              <a:rPr lang="en-US" b="1" dirty="0"/>
              <a:t>Ethical Action:</a:t>
            </a:r>
            <a:r>
              <a:rPr lang="en-US" dirty="0"/>
              <a:t> Emphasize that both optimism and pessimism can lead to ethical or unethical actions depending on how they are channeled. The key is to act with intention and responsibility.</a:t>
            </a:r>
          </a:p>
        </p:txBody>
      </p:sp>
    </p:spTree>
    <p:extLst>
      <p:ext uri="{BB962C8B-B14F-4D97-AF65-F5344CB8AC3E}">
        <p14:creationId xmlns:p14="http://schemas.microsoft.com/office/powerpoint/2010/main" val="4234399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35B46-65E0-DCB3-FF0D-0A0589209B15}"/>
              </a:ext>
            </a:extLst>
          </p:cNvPr>
          <p:cNvSpPr>
            <a:spLocks noGrp="1"/>
          </p:cNvSpPr>
          <p:nvPr>
            <p:ph type="title"/>
          </p:nvPr>
        </p:nvSpPr>
        <p:spPr>
          <a:xfrm>
            <a:off x="2912658" y="2359084"/>
            <a:ext cx="8527070" cy="1400530"/>
          </a:xfrm>
        </p:spPr>
        <p:txBody>
          <a:bodyPr>
            <a:noAutofit/>
          </a:bodyPr>
          <a:lstStyle/>
          <a:p>
            <a:r>
              <a:rPr lang="en-US" altLang="en-US" sz="8000" dirty="0">
                <a:solidFill>
                  <a:srgbClr val="FFC000"/>
                </a:solidFill>
              </a:rPr>
              <a:t>That’s all</a:t>
            </a:r>
            <a:r>
              <a:rPr lang="en-US" altLang="en-US" sz="8000" dirty="0">
                <a:solidFill>
                  <a:schemeClr val="bg1"/>
                </a:solidFill>
              </a:rPr>
              <a:t> </a:t>
            </a:r>
            <a:r>
              <a:rPr lang="en-US" altLang="en-US" sz="8000" i="1" dirty="0">
                <a:solidFill>
                  <a:schemeClr val="tx1"/>
                </a:solidFill>
              </a:rPr>
              <a:t>for today</a:t>
            </a:r>
            <a:r>
              <a:rPr lang="en-US" altLang="en-US" sz="8000" dirty="0">
                <a:solidFill>
                  <a:schemeClr val="tx1"/>
                </a:solidFill>
              </a:rPr>
              <a:t> folks!!</a:t>
            </a:r>
            <a:endParaRPr lang="en-GB" sz="8000" dirty="0">
              <a:solidFill>
                <a:schemeClr val="tx1"/>
              </a:solidFill>
            </a:endParaRPr>
          </a:p>
        </p:txBody>
      </p:sp>
    </p:spTree>
    <p:extLst>
      <p:ext uri="{BB962C8B-B14F-4D97-AF65-F5344CB8AC3E}">
        <p14:creationId xmlns:p14="http://schemas.microsoft.com/office/powerpoint/2010/main" val="2709147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76</TotalTime>
  <Words>1309</Words>
  <Application>Microsoft Office PowerPoint</Application>
  <PresentationFormat>Widescreen</PresentationFormat>
  <Paragraphs>74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Gothic</vt:lpstr>
      <vt:lpstr>Wingdings 3</vt:lpstr>
      <vt:lpstr>Ion</vt:lpstr>
      <vt:lpstr>Lecture 4: Optimism and Pessimism in Ethical Thought</vt:lpstr>
      <vt:lpstr>The Eternal Debate</vt:lpstr>
      <vt:lpstr>Optimism</vt:lpstr>
      <vt:lpstr>Pessimism</vt:lpstr>
      <vt:lpstr>Famous Philosopher's Views - Ancient Roots </vt:lpstr>
      <vt:lpstr>Famous Philosopher's Views - Enlightenment &amp; Beyond</vt:lpstr>
      <vt:lpstr>Impacts on Youth - The Optimistic Path</vt:lpstr>
      <vt:lpstr>Impacts on Youth - The Pessimistic Path</vt:lpstr>
      <vt:lpstr>The Ethical Challenge: Naiveté vs. Cynicism</vt:lpstr>
      <vt:lpstr>Scientific Research Findings on Optimism &amp; Pessimism</vt:lpstr>
      <vt:lpstr>Solutions - Cultivating Ethical Perspectives</vt:lpstr>
      <vt:lpstr>That’s all for today folks!!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gandabacha69@gmail.com</dc:creator>
  <cp:lastModifiedBy>gandabacha69@gmail.com</cp:lastModifiedBy>
  <cp:revision>17</cp:revision>
  <dcterms:created xsi:type="dcterms:W3CDTF">2025-10-30T18:22:15Z</dcterms:created>
  <dcterms:modified xsi:type="dcterms:W3CDTF">2025-11-04T06:45:57Z</dcterms:modified>
</cp:coreProperties>
</file>