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7" r:id="rId1"/>
  </p:sldMasterIdLst>
  <p:notesMasterIdLst>
    <p:notesMasterId r:id="rId14"/>
  </p:notesMasterIdLst>
  <p:sldIdLst>
    <p:sldId id="269" r:id="rId2"/>
    <p:sldId id="259" r:id="rId3"/>
    <p:sldId id="271" r:id="rId4"/>
    <p:sldId id="260" r:id="rId5"/>
    <p:sldId id="267" r:id="rId6"/>
    <p:sldId id="261" r:id="rId7"/>
    <p:sldId id="272" r:id="rId8"/>
    <p:sldId id="262" r:id="rId9"/>
    <p:sldId id="274" r:id="rId10"/>
    <p:sldId id="263" r:id="rId11"/>
    <p:sldId id="264" r:id="rId12"/>
    <p:sldId id="38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79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6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050141-C4E8-473A-99C3-5E747E78E340}" type="datetimeFigureOut">
              <a:rPr lang="en-GB" smtClean="0"/>
              <a:t>02/09/2025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29E8E-E062-4D48-8675-0A7E7B483F4A}" type="slidenum">
              <a:rPr lang="en-GB" smtClean="0"/>
              <a:t>‹#›</a:t>
            </a:fld>
            <a:endParaRPr lang="en-GB"/>
          </a:p>
        </p:txBody>
      </p:sp>
    </p:spTree>
    <p:extLst>
      <p:ext uri="{BB962C8B-B14F-4D97-AF65-F5344CB8AC3E}">
        <p14:creationId xmlns:p14="http://schemas.microsoft.com/office/powerpoint/2010/main" val="509902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794ACCA6-2DAC-B5C1-6E6C-52FC2A1D74EC}"/>
              </a:ext>
            </a:extLst>
          </p:cNvPr>
          <p:cNvSpPr>
            <a:spLocks noGrp="1" noRot="1" noChangeAspect="1" noChangeArrowheads="1" noTextEdit="1"/>
          </p:cNvSpPr>
          <p:nvPr>
            <p:ph type="sldImg"/>
          </p:nvPr>
        </p:nvSpPr>
        <p:spPr>
          <a:ln/>
        </p:spPr>
      </p:sp>
      <p:sp>
        <p:nvSpPr>
          <p:cNvPr id="5123" name="Notes Placeholder 2">
            <a:extLst>
              <a:ext uri="{FF2B5EF4-FFF2-40B4-BE49-F238E27FC236}">
                <a16:creationId xmlns:a16="http://schemas.microsoft.com/office/drawing/2014/main" id="{877F0B31-AD21-6ABC-0555-B46021DF8A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
        <p:nvSpPr>
          <p:cNvPr id="5124" name="Slide Number Placeholder 3">
            <a:extLst>
              <a:ext uri="{FF2B5EF4-FFF2-40B4-BE49-F238E27FC236}">
                <a16:creationId xmlns:a16="http://schemas.microsoft.com/office/drawing/2014/main" id="{F7F8C282-3FCE-37DD-D13E-D0B07AF63B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fontAlgn="base">
              <a:spcBef>
                <a:spcPct val="0"/>
              </a:spcBef>
              <a:spcAft>
                <a:spcPct val="0"/>
              </a:spcAft>
              <a:defRPr>
                <a:solidFill>
                  <a:schemeClr val="tx1"/>
                </a:solidFill>
                <a:latin typeface="Trebuchet MS" panose="020B0603020202020204" pitchFamily="34" charset="0"/>
              </a:defRPr>
            </a:lvl6pPr>
            <a:lvl7pPr marL="2971800" indent="-228600" fontAlgn="base">
              <a:spcBef>
                <a:spcPct val="0"/>
              </a:spcBef>
              <a:spcAft>
                <a:spcPct val="0"/>
              </a:spcAft>
              <a:defRPr>
                <a:solidFill>
                  <a:schemeClr val="tx1"/>
                </a:solidFill>
                <a:latin typeface="Trebuchet MS" panose="020B0603020202020204" pitchFamily="34" charset="0"/>
              </a:defRPr>
            </a:lvl7pPr>
            <a:lvl8pPr marL="3429000" indent="-228600" fontAlgn="base">
              <a:spcBef>
                <a:spcPct val="0"/>
              </a:spcBef>
              <a:spcAft>
                <a:spcPct val="0"/>
              </a:spcAft>
              <a:defRPr>
                <a:solidFill>
                  <a:schemeClr val="tx1"/>
                </a:solidFill>
                <a:latin typeface="Trebuchet MS" panose="020B0603020202020204" pitchFamily="34" charset="0"/>
              </a:defRPr>
            </a:lvl8pPr>
            <a:lvl9pPr marL="3886200" indent="-228600" fontAlgn="base">
              <a:spcBef>
                <a:spcPct val="0"/>
              </a:spcBef>
              <a:spcAft>
                <a:spcPct val="0"/>
              </a:spcAft>
              <a:defRPr>
                <a:solidFill>
                  <a:schemeClr val="tx1"/>
                </a:solidFill>
                <a:latin typeface="Trebuchet MS" panose="020B0603020202020204" pitchFamily="34" charset="0"/>
              </a:defRPr>
            </a:lvl9pPr>
          </a:lstStyle>
          <a:p>
            <a:pPr fontAlgn="base">
              <a:spcBef>
                <a:spcPct val="0"/>
              </a:spcBef>
              <a:spcAft>
                <a:spcPct val="0"/>
              </a:spcAft>
            </a:pPr>
            <a:fld id="{EAD357FA-2DD9-4414-AC54-F44A08AACE00}" type="slidenum">
              <a:rPr lang="en-GB" altLang="en-US" smtClean="0">
                <a:latin typeface="Calibri" panose="020F0502020204030204" pitchFamily="34" charset="0"/>
              </a:rPr>
              <a:pPr fontAlgn="base">
                <a:spcBef>
                  <a:spcPct val="0"/>
                </a:spcBef>
                <a:spcAft>
                  <a:spcPct val="0"/>
                </a:spcAft>
              </a:pPr>
              <a:t>1</a:t>
            </a:fld>
            <a:endParaRPr lang="en-GB"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9090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smtClean="0"/>
              <a:pPr/>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503131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8915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smtClean="0"/>
              <a:pPr/>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8912667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smtClean="0"/>
              <a:pPr/>
              <a:t>9/2/2025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7964728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9/2/2025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12069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818C68F-D26B-8F47-958C-23B49CF8A634}" type="datetimeFigureOut">
              <a:rPr lang="en-US" smtClean="0"/>
              <a:pPr/>
              <a:t>9/2/2025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357062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0DF5E60-9974-AC48-9591-99C2BB44B7CF}" type="datetimeFigureOut">
              <a:rPr lang="en-US" smtClean="0"/>
              <a:pPr/>
              <a:t>9/2/2025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88406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smtClean="0"/>
              <a:pPr/>
              <a:t>9/2/2025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7311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smtClean="0"/>
              <a:pPr/>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08780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smtClean="0"/>
              <a:pPr/>
              <a:t>9/2/2025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255918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9B482E8-6E0E-1B4F-B1FD-C69DB9E858D9}" type="datetimeFigureOut">
              <a:rPr lang="en-US" smtClean="0"/>
              <a:pPr/>
              <a:t>9/2/2025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57F1E4F-1CFF-5643-939E-217C01CDF565}"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864472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0C6F509-7CAD-601A-C0B0-4B1C78140DF7}"/>
              </a:ext>
            </a:extLst>
          </p:cNvPr>
          <p:cNvSpPr>
            <a:spLocks noChangeArrowheads="1"/>
          </p:cNvSpPr>
          <p:nvPr/>
        </p:nvSpPr>
        <p:spPr bwMode="auto">
          <a:xfrm>
            <a:off x="2895600" y="3886200"/>
            <a:ext cx="6400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Trebuchet MS" panose="020B0603020202020204" pitchFamily="34" charset="0"/>
              </a:defRPr>
            </a:lvl1pPr>
            <a:lvl2pPr marL="742950" indent="-285750">
              <a:defRPr>
                <a:solidFill>
                  <a:schemeClr val="tx1"/>
                </a:solidFill>
                <a:latin typeface="Trebuchet MS" panose="020B0603020202020204" pitchFamily="34" charset="0"/>
              </a:defRPr>
            </a:lvl2pPr>
            <a:lvl3pPr marL="1143000" indent="-228600">
              <a:defRPr>
                <a:solidFill>
                  <a:schemeClr val="tx1"/>
                </a:solidFill>
                <a:latin typeface="Trebuchet MS" panose="020B0603020202020204" pitchFamily="34" charset="0"/>
              </a:defRPr>
            </a:lvl3pPr>
            <a:lvl4pPr marL="1600200" indent="-228600">
              <a:defRPr>
                <a:solidFill>
                  <a:schemeClr val="tx1"/>
                </a:solidFill>
                <a:latin typeface="Trebuchet MS" panose="020B0603020202020204" pitchFamily="34" charset="0"/>
              </a:defRPr>
            </a:lvl4pPr>
            <a:lvl5pPr marL="2057400" indent="-228600">
              <a:defRPr>
                <a:solidFill>
                  <a:schemeClr val="tx1"/>
                </a:solidFill>
                <a:latin typeface="Trebuchet MS" panose="020B0603020202020204" pitchFamily="34" charset="0"/>
              </a:defRPr>
            </a:lvl5pPr>
            <a:lvl6pPr marL="2514600" indent="-228600" fontAlgn="base">
              <a:spcBef>
                <a:spcPct val="0"/>
              </a:spcBef>
              <a:spcAft>
                <a:spcPct val="0"/>
              </a:spcAft>
              <a:defRPr>
                <a:solidFill>
                  <a:schemeClr val="tx1"/>
                </a:solidFill>
                <a:latin typeface="Trebuchet MS" panose="020B0603020202020204" pitchFamily="34" charset="0"/>
              </a:defRPr>
            </a:lvl6pPr>
            <a:lvl7pPr marL="2971800" indent="-228600" fontAlgn="base">
              <a:spcBef>
                <a:spcPct val="0"/>
              </a:spcBef>
              <a:spcAft>
                <a:spcPct val="0"/>
              </a:spcAft>
              <a:defRPr>
                <a:solidFill>
                  <a:schemeClr val="tx1"/>
                </a:solidFill>
                <a:latin typeface="Trebuchet MS" panose="020B0603020202020204" pitchFamily="34" charset="0"/>
              </a:defRPr>
            </a:lvl7pPr>
            <a:lvl8pPr marL="3429000" indent="-228600" fontAlgn="base">
              <a:spcBef>
                <a:spcPct val="0"/>
              </a:spcBef>
              <a:spcAft>
                <a:spcPct val="0"/>
              </a:spcAft>
              <a:defRPr>
                <a:solidFill>
                  <a:schemeClr val="tx1"/>
                </a:solidFill>
                <a:latin typeface="Trebuchet MS" panose="020B0603020202020204" pitchFamily="34" charset="0"/>
              </a:defRPr>
            </a:lvl8pPr>
            <a:lvl9pPr marL="3886200" indent="-228600" fontAlgn="base">
              <a:spcBef>
                <a:spcPct val="0"/>
              </a:spcBef>
              <a:spcAft>
                <a:spcPct val="0"/>
              </a:spcAft>
              <a:defRPr>
                <a:solidFill>
                  <a:schemeClr val="tx1"/>
                </a:solidFill>
                <a:latin typeface="Trebuchet MS" panose="020B0603020202020204" pitchFamily="34" charset="0"/>
              </a:defRPr>
            </a:lvl9pPr>
          </a:lstStyle>
          <a:p>
            <a:pPr algn="ctr" eaLnBrk="1" hangingPunct="1">
              <a:spcBef>
                <a:spcPct val="20000"/>
              </a:spcBef>
            </a:pPr>
            <a:endParaRPr lang="en-US" altLang="en-US" sz="3200">
              <a:latin typeface="Arial" panose="020B0604020202020204" pitchFamily="34" charset="0"/>
            </a:endParaRPr>
          </a:p>
        </p:txBody>
      </p:sp>
      <p:sp>
        <p:nvSpPr>
          <p:cNvPr id="2" name="Subtitle 2">
            <a:extLst>
              <a:ext uri="{FF2B5EF4-FFF2-40B4-BE49-F238E27FC236}">
                <a16:creationId xmlns:a16="http://schemas.microsoft.com/office/drawing/2014/main" id="{F5E2D385-BE15-EADD-D5D3-E3626D1DC5E0}"/>
              </a:ext>
            </a:extLst>
          </p:cNvPr>
          <p:cNvSpPr txBox="1">
            <a:spLocks/>
          </p:cNvSpPr>
          <p:nvPr/>
        </p:nvSpPr>
        <p:spPr>
          <a:xfrm>
            <a:off x="1066800" y="4762500"/>
            <a:ext cx="7891463" cy="1752600"/>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rgbClr val="8E3D78"/>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rgbClr val="8E3D78"/>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rgbClr val="8E3D78"/>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rgbClr val="8E3D78"/>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rgbClr val="8E3D78"/>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defRPr/>
            </a:pPr>
            <a:r>
              <a:rPr lang="en-US" dirty="0">
                <a:solidFill>
                  <a:srgbClr val="FF0000"/>
                </a:solidFill>
                <a:latin typeface="18thCentury" pitchFamily="2" charset="0"/>
              </a:rPr>
              <a:t>Instructor</a:t>
            </a:r>
            <a:r>
              <a:rPr lang="en-GB" dirty="0">
                <a:solidFill>
                  <a:srgbClr val="FF0000"/>
                </a:solidFill>
                <a:latin typeface="18thCentury" pitchFamily="2" charset="0"/>
              </a:rPr>
              <a:t>:</a:t>
            </a:r>
            <a:r>
              <a:rPr lang="en-US" dirty="0">
                <a:solidFill>
                  <a:srgbClr val="FF0000"/>
                </a:solidFill>
                <a:latin typeface="18thCentury" pitchFamily="2" charset="0"/>
              </a:rPr>
              <a:t> Ali Raza Abbass</a:t>
            </a:r>
          </a:p>
          <a:p>
            <a:pPr marL="0" indent="0">
              <a:buNone/>
              <a:defRPr/>
            </a:pPr>
            <a:r>
              <a:rPr lang="en-US" dirty="0">
                <a:solidFill>
                  <a:srgbClr val="FF0000"/>
                </a:solidFill>
                <a:latin typeface="18thCentury" pitchFamily="2" charset="0"/>
              </a:rPr>
              <a:t>MBA (UK), PGD. Strategic Management &amp; Leadership (UK), BBA (Pak)</a:t>
            </a:r>
          </a:p>
          <a:p>
            <a:pPr marL="0" indent="0">
              <a:buNone/>
              <a:defRPr/>
            </a:pPr>
            <a:r>
              <a:rPr lang="en-GB" dirty="0">
                <a:solidFill>
                  <a:srgbClr val="FF0000"/>
                </a:solidFill>
                <a:latin typeface="18thCentury" pitchFamily="2" charset="0"/>
              </a:rPr>
              <a:t>Certified Digital Marketer (META, Google, DMI UK)</a:t>
            </a:r>
          </a:p>
          <a:p>
            <a:pPr marL="0" indent="0">
              <a:buNone/>
              <a:defRPr/>
            </a:pPr>
            <a:r>
              <a:rPr lang="en-GB" dirty="0">
                <a:solidFill>
                  <a:srgbClr val="FF0000"/>
                </a:solidFill>
                <a:latin typeface="18thCentury" pitchFamily="2" charset="0"/>
              </a:rPr>
              <a:t>Master Trainer</a:t>
            </a:r>
          </a:p>
        </p:txBody>
      </p:sp>
      <p:sp>
        <p:nvSpPr>
          <p:cNvPr id="3" name="Title 1">
            <a:extLst>
              <a:ext uri="{FF2B5EF4-FFF2-40B4-BE49-F238E27FC236}">
                <a16:creationId xmlns:a16="http://schemas.microsoft.com/office/drawing/2014/main" id="{0C610AEE-DD0F-DD14-D884-90F09BB7CC20}"/>
              </a:ext>
            </a:extLst>
          </p:cNvPr>
          <p:cNvSpPr txBox="1">
            <a:spLocks/>
          </p:cNvSpPr>
          <p:nvPr/>
        </p:nvSpPr>
        <p:spPr>
          <a:xfrm>
            <a:off x="1066800" y="786245"/>
            <a:ext cx="10058400" cy="1106793"/>
          </a:xfrm>
          <a:prstGeom prst="rect">
            <a:avLst/>
          </a:prstGeom>
        </p:spPr>
        <p:txBody>
          <a:bodyPr>
            <a:normAutofit fontScale="85000" lnSpcReduction="2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5400" b="1" dirty="0">
                <a:solidFill>
                  <a:srgbClr val="FFC000"/>
                </a:solidFill>
                <a:latin typeface="18thCentury" pitchFamily="2" charset="0"/>
              </a:rPr>
              <a:t>  Lecture 2:</a:t>
            </a:r>
          </a:p>
          <a:p>
            <a:pPr algn="ctr"/>
            <a:r>
              <a:rPr lang="en-US" sz="5400" b="1" dirty="0">
                <a:solidFill>
                  <a:srgbClr val="FFC000"/>
                </a:solidFill>
                <a:latin typeface="18thCentury" pitchFamily="2" charset="0"/>
              </a:rPr>
              <a:t>Introduction to Popular Religions</a:t>
            </a:r>
          </a:p>
        </p:txBody>
      </p:sp>
      <p:pic>
        <p:nvPicPr>
          <p:cNvPr id="5" name="Picture 4">
            <a:extLst>
              <a:ext uri="{FF2B5EF4-FFF2-40B4-BE49-F238E27FC236}">
                <a16:creationId xmlns:a16="http://schemas.microsoft.com/office/drawing/2014/main" id="{42C8BF7B-296D-8725-A507-C1EB9B32FB60}"/>
              </a:ext>
            </a:extLst>
          </p:cNvPr>
          <p:cNvPicPr>
            <a:picLocks noChangeAspect="1"/>
          </p:cNvPicPr>
          <p:nvPr/>
        </p:nvPicPr>
        <p:blipFill>
          <a:blip r:embed="rId3"/>
          <a:srcRect l="16970" t="18720" b="29091"/>
          <a:stretch>
            <a:fillRect/>
          </a:stretch>
        </p:blipFill>
        <p:spPr>
          <a:xfrm>
            <a:off x="1066800" y="2143991"/>
            <a:ext cx="10123055" cy="24617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FC03E8-C6F4-9D0F-7E10-C2A9C86E0CF5}"/>
              </a:ext>
            </a:extLst>
          </p:cNvPr>
          <p:cNvPicPr>
            <a:picLocks noChangeAspect="1"/>
          </p:cNvPicPr>
          <p:nvPr/>
        </p:nvPicPr>
        <p:blipFill>
          <a:blip r:embed="rId2"/>
          <a:srcRect t="17836"/>
          <a:stretch>
            <a:fillRect/>
          </a:stretch>
        </p:blipFill>
        <p:spPr>
          <a:xfrm>
            <a:off x="3795220" y="1978708"/>
            <a:ext cx="8129852" cy="3757412"/>
          </a:xfrm>
          <a:prstGeom prst="rect">
            <a:avLst/>
          </a:prstGeom>
        </p:spPr>
      </p:pic>
      <p:sp>
        <p:nvSpPr>
          <p:cNvPr id="2" name="Title 1"/>
          <p:cNvSpPr>
            <a:spLocks noGrp="1"/>
          </p:cNvSpPr>
          <p:nvPr>
            <p:ph type="title"/>
          </p:nvPr>
        </p:nvSpPr>
        <p:spPr/>
        <p:txBody>
          <a:bodyPr/>
          <a:lstStyle/>
          <a:p>
            <a:r>
              <a:rPr lang="en-US" sz="6000" dirty="0">
                <a:solidFill>
                  <a:srgbClr val="00B0F0"/>
                </a:solidFill>
              </a:rPr>
              <a:t> World’s prominent religions</a:t>
            </a:r>
          </a:p>
        </p:txBody>
      </p:sp>
      <p:sp>
        <p:nvSpPr>
          <p:cNvPr id="3" name="Content Placeholder 2"/>
          <p:cNvSpPr>
            <a:spLocks noGrp="1"/>
          </p:cNvSpPr>
          <p:nvPr>
            <p:ph idx="1"/>
          </p:nvPr>
        </p:nvSpPr>
        <p:spPr>
          <a:xfrm>
            <a:off x="1097280" y="1845734"/>
            <a:ext cx="3825702" cy="4023360"/>
          </a:xfrm>
        </p:spPr>
        <p:txBody>
          <a:bodyPr>
            <a:normAutofit/>
          </a:bodyPr>
          <a:lstStyle/>
          <a:p>
            <a:r>
              <a:rPr lang="en-US" sz="3200" dirty="0">
                <a:solidFill>
                  <a:srgbClr val="00B0F0"/>
                </a:solidFill>
              </a:rPr>
              <a:t> Hinduism</a:t>
            </a:r>
          </a:p>
          <a:p>
            <a:r>
              <a:rPr lang="en-US" sz="3200" dirty="0">
                <a:solidFill>
                  <a:srgbClr val="00B0F0"/>
                </a:solidFill>
              </a:rPr>
              <a:t> Budhism</a:t>
            </a:r>
          </a:p>
          <a:p>
            <a:r>
              <a:rPr lang="en-US" sz="3200" dirty="0">
                <a:solidFill>
                  <a:srgbClr val="00B0F0"/>
                </a:solidFill>
              </a:rPr>
              <a:t> Judaism</a:t>
            </a:r>
          </a:p>
          <a:p>
            <a:r>
              <a:rPr lang="en-US" sz="3200" dirty="0">
                <a:solidFill>
                  <a:srgbClr val="00B0F0"/>
                </a:solidFill>
              </a:rPr>
              <a:t> Christianity</a:t>
            </a:r>
          </a:p>
          <a:p>
            <a:r>
              <a:rPr lang="en-US" sz="3200" dirty="0">
                <a:solidFill>
                  <a:srgbClr val="00B0F0"/>
                </a:solidFill>
              </a:rPr>
              <a:t> Islam</a:t>
            </a:r>
          </a:p>
        </p:txBody>
      </p:sp>
    </p:spTree>
    <p:extLst>
      <p:ext uri="{BB962C8B-B14F-4D97-AF65-F5344CB8AC3E}">
        <p14:creationId xmlns:p14="http://schemas.microsoft.com/office/powerpoint/2010/main" val="97697194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1000"/>
                                        <p:tgtEl>
                                          <p:spTgt spid="3">
                                            <p:txEl>
                                              <p:pRg st="4" end="4"/>
                                            </p:txEl>
                                          </p:spTgt>
                                        </p:tgtEl>
                                      </p:cBhvr>
                                    </p:animEffect>
                                    <p:anim calcmode="lin" valueType="num">
                                      <p:cBhvr>
                                        <p:cTn id="3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BCDFE-5B40-C8B3-B347-DEAD84335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F52BE-5863-9D39-4701-54D37DC32305}"/>
              </a:ext>
            </a:extLst>
          </p:cNvPr>
          <p:cNvSpPr>
            <a:spLocks noGrp="1"/>
          </p:cNvSpPr>
          <p:nvPr>
            <p:ph type="title"/>
          </p:nvPr>
        </p:nvSpPr>
        <p:spPr>
          <a:xfrm>
            <a:off x="810000" y="508148"/>
            <a:ext cx="10571998" cy="970450"/>
          </a:xfrm>
        </p:spPr>
        <p:txBody>
          <a:bodyPr/>
          <a:lstStyle/>
          <a:p>
            <a:r>
              <a:rPr lang="en-US" sz="6000" dirty="0">
                <a:solidFill>
                  <a:srgbClr val="00B0F0"/>
                </a:solidFill>
              </a:rPr>
              <a:t>Hinduism</a:t>
            </a:r>
          </a:p>
        </p:txBody>
      </p:sp>
      <p:pic>
        <p:nvPicPr>
          <p:cNvPr id="5" name="Picture 4">
            <a:extLst>
              <a:ext uri="{FF2B5EF4-FFF2-40B4-BE49-F238E27FC236}">
                <a16:creationId xmlns:a16="http://schemas.microsoft.com/office/drawing/2014/main" id="{D83FE8FA-7323-D4EF-7BA8-2212B545975E}"/>
              </a:ext>
            </a:extLst>
          </p:cNvPr>
          <p:cNvPicPr>
            <a:picLocks noChangeAspect="1"/>
          </p:cNvPicPr>
          <p:nvPr/>
        </p:nvPicPr>
        <p:blipFill>
          <a:blip r:embed="rId2"/>
          <a:stretch>
            <a:fillRect/>
          </a:stretch>
        </p:blipFill>
        <p:spPr>
          <a:xfrm>
            <a:off x="9237230" y="508148"/>
            <a:ext cx="2381250" cy="2381250"/>
          </a:xfrm>
          <a:prstGeom prst="rect">
            <a:avLst/>
          </a:prstGeom>
        </p:spPr>
      </p:pic>
      <p:sp>
        <p:nvSpPr>
          <p:cNvPr id="7" name="TextBox 6">
            <a:extLst>
              <a:ext uri="{FF2B5EF4-FFF2-40B4-BE49-F238E27FC236}">
                <a16:creationId xmlns:a16="http://schemas.microsoft.com/office/drawing/2014/main" id="{913330A3-F771-95FB-178E-19F663CD417B}"/>
              </a:ext>
            </a:extLst>
          </p:cNvPr>
          <p:cNvSpPr txBox="1"/>
          <p:nvPr/>
        </p:nvSpPr>
        <p:spPr>
          <a:xfrm>
            <a:off x="810000" y="2138648"/>
            <a:ext cx="9082145" cy="3901068"/>
          </a:xfrm>
          <a:prstGeom prst="rect">
            <a:avLst/>
          </a:prstGeom>
          <a:noFill/>
        </p:spPr>
        <p:txBody>
          <a:bodyPr wrap="square">
            <a:spAutoFit/>
          </a:bodyPr>
          <a:lstStyle/>
          <a:p>
            <a:r>
              <a:rPr lang="en-US" sz="2750" b="0" i="0" dirty="0">
                <a:solidFill>
                  <a:srgbClr val="001D35"/>
                </a:solidFill>
                <a:effectLst/>
                <a:latin typeface="Google Sans"/>
              </a:rPr>
              <a:t>Hinduism centers on </a:t>
            </a:r>
            <a:r>
              <a:rPr lang="en-US" sz="2750" b="0" i="0" dirty="0">
                <a:solidFill>
                  <a:srgbClr val="001D35"/>
                </a:solidFill>
                <a:effectLst/>
                <a:highlight>
                  <a:srgbClr val="FFFF00"/>
                </a:highlight>
                <a:latin typeface="Google Sans"/>
              </a:rPr>
              <a:t>Brahman</a:t>
            </a:r>
            <a:r>
              <a:rPr lang="en-US" sz="2750" b="0" i="0" dirty="0">
                <a:solidFill>
                  <a:srgbClr val="001D35"/>
                </a:solidFill>
                <a:effectLst/>
                <a:latin typeface="Google Sans"/>
              </a:rPr>
              <a:t>, the single, all-pervasive Supreme Reality, with individual souls (</a:t>
            </a:r>
            <a:r>
              <a:rPr lang="en-US" sz="2750" b="0" i="0" dirty="0" err="1">
                <a:solidFill>
                  <a:srgbClr val="001D35"/>
                </a:solidFill>
                <a:effectLst/>
                <a:latin typeface="Google Sans"/>
              </a:rPr>
              <a:t>atma</a:t>
            </a:r>
            <a:r>
              <a:rPr lang="en-US" sz="2750" b="0" i="0" dirty="0">
                <a:solidFill>
                  <a:srgbClr val="001D35"/>
                </a:solidFill>
                <a:effectLst/>
                <a:latin typeface="Google Sans"/>
              </a:rPr>
              <a:t>) being a part of it. Core beliefs include the immortal soul, eternal truth, divine scripture (the Vedas), and the cycle of reincarnation (samsara) determined by karma (actions and their consequences). The ultimate goal is </a:t>
            </a:r>
            <a:r>
              <a:rPr lang="en-US" sz="2750" b="0" i="0" dirty="0">
                <a:solidFill>
                  <a:srgbClr val="00B050"/>
                </a:solidFill>
                <a:effectLst/>
                <a:latin typeface="Google Sans"/>
              </a:rPr>
              <a:t>moksha</a:t>
            </a:r>
            <a:r>
              <a:rPr lang="en-US" sz="2750" b="0" i="0" dirty="0">
                <a:solidFill>
                  <a:srgbClr val="001D35"/>
                </a:solidFill>
                <a:effectLst/>
                <a:latin typeface="Google Sans"/>
              </a:rPr>
              <a:t>, liberation from this cycle and the merging of the soul with Brahman, achieved by living a life of </a:t>
            </a:r>
            <a:r>
              <a:rPr lang="en-US" sz="2750" b="0" i="0" dirty="0">
                <a:solidFill>
                  <a:srgbClr val="00B050"/>
                </a:solidFill>
                <a:effectLst/>
                <a:latin typeface="Google Sans"/>
              </a:rPr>
              <a:t>dharma</a:t>
            </a:r>
            <a:r>
              <a:rPr lang="en-US" sz="2750" b="0" i="0" dirty="0">
                <a:solidFill>
                  <a:srgbClr val="001D35"/>
                </a:solidFill>
                <a:effectLst/>
                <a:latin typeface="Google Sans"/>
              </a:rPr>
              <a:t> (righteous duty) and pursuing the four aims of life: dharma, </a:t>
            </a:r>
            <a:r>
              <a:rPr lang="en-US" sz="2750" b="0" i="0" dirty="0">
                <a:solidFill>
                  <a:srgbClr val="00B050"/>
                </a:solidFill>
                <a:effectLst/>
                <a:latin typeface="Google Sans"/>
              </a:rPr>
              <a:t>artha</a:t>
            </a:r>
            <a:r>
              <a:rPr lang="en-US" sz="2750" b="0" i="0" dirty="0">
                <a:solidFill>
                  <a:srgbClr val="001D35"/>
                </a:solidFill>
                <a:effectLst/>
                <a:latin typeface="Google Sans"/>
              </a:rPr>
              <a:t> (prosperity), </a:t>
            </a:r>
            <a:r>
              <a:rPr lang="en-US" sz="2750" b="0" i="0" dirty="0">
                <a:solidFill>
                  <a:srgbClr val="00B050"/>
                </a:solidFill>
                <a:effectLst/>
                <a:latin typeface="Google Sans"/>
              </a:rPr>
              <a:t>kama</a:t>
            </a:r>
            <a:r>
              <a:rPr lang="en-US" sz="2750" b="0" i="0" dirty="0">
                <a:solidFill>
                  <a:srgbClr val="001D35"/>
                </a:solidFill>
                <a:effectLst/>
                <a:latin typeface="Google Sans"/>
              </a:rPr>
              <a:t> (pleasure), and moksha.</a:t>
            </a:r>
            <a:endParaRPr lang="en-GB" sz="2750" dirty="0"/>
          </a:p>
        </p:txBody>
      </p:sp>
    </p:spTree>
    <p:extLst>
      <p:ext uri="{BB962C8B-B14F-4D97-AF65-F5344CB8AC3E}">
        <p14:creationId xmlns:p14="http://schemas.microsoft.com/office/powerpoint/2010/main" val="77741760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508148"/>
            <a:ext cx="10571998" cy="970450"/>
          </a:xfrm>
        </p:spPr>
        <p:txBody>
          <a:bodyPr/>
          <a:lstStyle/>
          <a:p>
            <a:r>
              <a:rPr lang="en-US" sz="6000" dirty="0">
                <a:solidFill>
                  <a:srgbClr val="00B0F0"/>
                </a:solidFill>
              </a:rPr>
              <a:t>Hinduism</a:t>
            </a:r>
          </a:p>
        </p:txBody>
      </p:sp>
      <p:sp>
        <p:nvSpPr>
          <p:cNvPr id="3" name="Content Placeholder 2"/>
          <p:cNvSpPr>
            <a:spLocks noGrp="1"/>
          </p:cNvSpPr>
          <p:nvPr>
            <p:ph idx="1"/>
          </p:nvPr>
        </p:nvSpPr>
        <p:spPr>
          <a:xfrm>
            <a:off x="810000" y="1990198"/>
            <a:ext cx="10554574" cy="4150768"/>
          </a:xfrm>
        </p:spPr>
        <p:txBody>
          <a:bodyPr>
            <a:normAutofit fontScale="62500" lnSpcReduction="20000"/>
          </a:bodyPr>
          <a:lstStyle/>
          <a:p>
            <a:pPr>
              <a:buFont typeface="Wingdings" panose="05000000000000000000" pitchFamily="2" charset="2"/>
              <a:buChar char="Ø"/>
            </a:pPr>
            <a:r>
              <a:rPr lang="en-US" sz="2000" dirty="0"/>
              <a:t> </a:t>
            </a:r>
            <a:r>
              <a:rPr lang="en-US" sz="2000" dirty="0">
                <a:solidFill>
                  <a:srgbClr val="002060"/>
                </a:solidFill>
              </a:rPr>
              <a:t>Developed over a span of some 4,000 years</a:t>
            </a:r>
          </a:p>
          <a:p>
            <a:pPr>
              <a:buFont typeface="Wingdings" panose="05000000000000000000" pitchFamily="2" charset="2"/>
              <a:buChar char="Ø"/>
            </a:pPr>
            <a:r>
              <a:rPr lang="en-US" sz="2000" dirty="0">
                <a:solidFill>
                  <a:srgbClr val="002060"/>
                </a:solidFill>
              </a:rPr>
              <a:t> </a:t>
            </a:r>
            <a:r>
              <a:rPr lang="en-US" sz="2400" dirty="0">
                <a:solidFill>
                  <a:srgbClr val="002060"/>
                </a:solidFill>
              </a:rPr>
              <a:t>(Polytheism)</a:t>
            </a:r>
          </a:p>
          <a:p>
            <a:pPr>
              <a:buFont typeface="Wingdings" panose="05000000000000000000" pitchFamily="2" charset="2"/>
              <a:buChar char="Ø"/>
            </a:pPr>
            <a:r>
              <a:rPr lang="en-US" sz="2400" dirty="0">
                <a:solidFill>
                  <a:srgbClr val="00B0F0"/>
                </a:solidFill>
              </a:rPr>
              <a:t> Books : 4 Vedas (Rag ved – Uttar ved – Sam ved – Yajar ved) Gita, Maha Bharat, </a:t>
            </a:r>
            <a:r>
              <a:rPr lang="en-US" sz="2400" dirty="0" err="1">
                <a:solidFill>
                  <a:srgbClr val="00B0F0"/>
                </a:solidFill>
              </a:rPr>
              <a:t>Ramayan</a:t>
            </a:r>
            <a:endParaRPr lang="en-US" sz="2400" dirty="0"/>
          </a:p>
          <a:p>
            <a:pPr>
              <a:buFont typeface="Wingdings" panose="05000000000000000000" pitchFamily="2" charset="2"/>
              <a:buChar char="Ø"/>
            </a:pPr>
            <a:r>
              <a:rPr lang="en-US" sz="2400" dirty="0"/>
              <a:t>Four stages of life:</a:t>
            </a:r>
          </a:p>
          <a:p>
            <a:pPr marL="0" indent="0">
              <a:buNone/>
            </a:pPr>
            <a:r>
              <a:rPr lang="en-US" sz="2400" dirty="0"/>
              <a:t>	</a:t>
            </a:r>
            <a:r>
              <a:rPr lang="en-US" sz="2400" dirty="0">
                <a:solidFill>
                  <a:srgbClr val="002060"/>
                </a:solidFill>
              </a:rPr>
              <a:t>1- Getting Education 			2- Family Life</a:t>
            </a:r>
          </a:p>
          <a:p>
            <a:pPr marL="0" indent="0">
              <a:buNone/>
            </a:pPr>
            <a:r>
              <a:rPr lang="en-US" sz="2400" dirty="0">
                <a:solidFill>
                  <a:srgbClr val="002060"/>
                </a:solidFill>
              </a:rPr>
              <a:t>	3- Dedication to Worship 		4- Shunning up of the worldly affairs</a:t>
            </a:r>
          </a:p>
          <a:p>
            <a:pPr>
              <a:buFont typeface="Wingdings" panose="05000000000000000000" pitchFamily="2" charset="2"/>
              <a:buChar char="Ø"/>
            </a:pPr>
            <a:r>
              <a:rPr lang="en-US" sz="2400" dirty="0">
                <a:solidFill>
                  <a:schemeClr val="accent4"/>
                </a:solidFill>
              </a:rPr>
              <a:t> </a:t>
            </a:r>
            <a:r>
              <a:rPr lang="en-US" sz="2400" dirty="0"/>
              <a:t>Great stress is given on  religious affairs</a:t>
            </a:r>
          </a:p>
          <a:p>
            <a:pPr>
              <a:buFont typeface="Wingdings" panose="05000000000000000000" pitchFamily="2" charset="2"/>
              <a:buChar char="Ø"/>
            </a:pPr>
            <a:r>
              <a:rPr lang="en-US" sz="2400" dirty="0">
                <a:solidFill>
                  <a:schemeClr val="accent4"/>
                </a:solidFill>
              </a:rPr>
              <a:t> </a:t>
            </a:r>
            <a:r>
              <a:rPr lang="en-US" sz="2400" dirty="0"/>
              <a:t>The caste system 				(1) Brahmins		 (2) </a:t>
            </a:r>
            <a:r>
              <a:rPr lang="en-US" sz="2400" dirty="0" err="1"/>
              <a:t>Shatriyas</a:t>
            </a:r>
            <a:endParaRPr lang="en-US" sz="2400" dirty="0"/>
          </a:p>
          <a:p>
            <a:pPr marL="0" indent="0">
              <a:buNone/>
            </a:pPr>
            <a:r>
              <a:rPr lang="en-US" sz="2400" dirty="0"/>
              <a:t>					(3) </a:t>
            </a:r>
            <a:r>
              <a:rPr lang="en-US" sz="2400" dirty="0" err="1"/>
              <a:t>Vaishyas</a:t>
            </a:r>
            <a:r>
              <a:rPr lang="en-US" sz="2400" dirty="0"/>
              <a:t>			 (4) </a:t>
            </a:r>
            <a:r>
              <a:rPr lang="en-US" sz="2400" dirty="0" err="1"/>
              <a:t>Sudras</a:t>
            </a:r>
            <a:endParaRPr lang="en-US" sz="2400" dirty="0"/>
          </a:p>
          <a:p>
            <a:pPr marL="0" indent="0">
              <a:buNone/>
            </a:pPr>
            <a:endParaRPr lang="en-US" sz="2400" dirty="0"/>
          </a:p>
          <a:p>
            <a:pPr>
              <a:buFont typeface="Wingdings" panose="05000000000000000000" pitchFamily="2" charset="2"/>
              <a:buChar char="Ø"/>
            </a:pPr>
            <a:r>
              <a:rPr lang="en-US" sz="2400" dirty="0"/>
              <a:t>Works:					1- worship 			2- protecting the country </a:t>
            </a:r>
          </a:p>
          <a:p>
            <a:pPr marL="0" indent="0">
              <a:buNone/>
            </a:pPr>
            <a:r>
              <a:rPr lang="en-US" sz="2400" dirty="0"/>
              <a:t>					3- trade and commerce 	4- to serve the other three castes</a:t>
            </a:r>
          </a:p>
        </p:txBody>
      </p:sp>
      <p:pic>
        <p:nvPicPr>
          <p:cNvPr id="5" name="Picture 4">
            <a:extLst>
              <a:ext uri="{FF2B5EF4-FFF2-40B4-BE49-F238E27FC236}">
                <a16:creationId xmlns:a16="http://schemas.microsoft.com/office/drawing/2014/main" id="{F7B15694-6C14-E897-9A04-370E5CB6DDA6}"/>
              </a:ext>
            </a:extLst>
          </p:cNvPr>
          <p:cNvPicPr>
            <a:picLocks noChangeAspect="1"/>
          </p:cNvPicPr>
          <p:nvPr/>
        </p:nvPicPr>
        <p:blipFill>
          <a:blip r:embed="rId2"/>
          <a:stretch>
            <a:fillRect/>
          </a:stretch>
        </p:blipFill>
        <p:spPr>
          <a:xfrm>
            <a:off x="9237230" y="508148"/>
            <a:ext cx="2381250" cy="2381250"/>
          </a:xfrm>
          <a:prstGeom prst="rect">
            <a:avLst/>
          </a:prstGeom>
        </p:spPr>
      </p:pic>
    </p:spTree>
    <p:extLst>
      <p:ext uri="{BB962C8B-B14F-4D97-AF65-F5344CB8AC3E}">
        <p14:creationId xmlns:p14="http://schemas.microsoft.com/office/powerpoint/2010/main" val="100492422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3">
                                            <p:txEl>
                                              <p:pRg st="10" end="10"/>
                                            </p:txEl>
                                          </p:spTgt>
                                        </p:tgtEl>
                                        <p:attrNameLst>
                                          <p:attrName>style.visibility</p:attrName>
                                        </p:attrNameLst>
                                      </p:cBhvr>
                                      <p:to>
                                        <p:strVal val="visible"/>
                                      </p:to>
                                    </p:set>
                                    <p:animEffect transition="in" filter="fade">
                                      <p:cBhvr>
                                        <p:cTn id="61" dur="1000"/>
                                        <p:tgtEl>
                                          <p:spTgt spid="3">
                                            <p:txEl>
                                              <p:pRg st="10" end="10"/>
                                            </p:txEl>
                                          </p:spTgt>
                                        </p:tgtEl>
                                      </p:cBhvr>
                                    </p:animEffect>
                                    <p:anim calcmode="lin" valueType="num">
                                      <p:cBhvr>
                                        <p:cTn id="62"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3">
                                            <p:txEl>
                                              <p:pRg st="11" end="11"/>
                                            </p:txEl>
                                          </p:spTgt>
                                        </p:tgtEl>
                                        <p:attrNameLst>
                                          <p:attrName>style.visibility</p:attrName>
                                        </p:attrNameLst>
                                      </p:cBhvr>
                                      <p:to>
                                        <p:strVal val="visible"/>
                                      </p:to>
                                    </p:set>
                                    <p:animEffect transition="in" filter="fade">
                                      <p:cBhvr>
                                        <p:cTn id="67" dur="1000"/>
                                        <p:tgtEl>
                                          <p:spTgt spid="3">
                                            <p:txEl>
                                              <p:pRg st="11" end="11"/>
                                            </p:txEl>
                                          </p:spTgt>
                                        </p:tgtEl>
                                      </p:cBhvr>
                                    </p:animEffect>
                                    <p:anim calcmode="lin" valueType="num">
                                      <p:cBhvr>
                                        <p:cTn id="68"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dirty="0">
                <a:solidFill>
                  <a:srgbClr val="00B0F0"/>
                </a:solidFill>
              </a:rPr>
              <a:t>Hinduism (cont.)</a:t>
            </a:r>
            <a:endParaRPr lang="en-US" sz="6000" dirty="0"/>
          </a:p>
        </p:txBody>
      </p:sp>
      <p:sp>
        <p:nvSpPr>
          <p:cNvPr id="3" name="Content Placeholder 2"/>
          <p:cNvSpPr>
            <a:spLocks noGrp="1"/>
          </p:cNvSpPr>
          <p:nvPr>
            <p:ph idx="1"/>
          </p:nvPr>
        </p:nvSpPr>
        <p:spPr>
          <a:xfrm>
            <a:off x="1066800" y="2215189"/>
            <a:ext cx="10058400" cy="4023360"/>
          </a:xfrm>
        </p:spPr>
        <p:txBody>
          <a:bodyPr/>
          <a:lstStyle/>
          <a:p>
            <a:pPr>
              <a:buFont typeface="Wingdings" panose="05000000000000000000" pitchFamily="2" charset="2"/>
              <a:buChar char="Ø"/>
            </a:pPr>
            <a:r>
              <a:rPr lang="en-US" dirty="0"/>
              <a:t>Supreme Deities (Brahma, Vishnu and Shiva)</a:t>
            </a:r>
          </a:p>
          <a:p>
            <a:pPr>
              <a:buFont typeface="Wingdings" panose="05000000000000000000" pitchFamily="2" charset="2"/>
              <a:buChar char="Ø"/>
            </a:pPr>
            <a:r>
              <a:rPr lang="en-US" dirty="0"/>
              <a:t>Idol worship</a:t>
            </a:r>
          </a:p>
          <a:p>
            <a:pPr>
              <a:buFont typeface="Wingdings" panose="05000000000000000000" pitchFamily="2" charset="2"/>
              <a:buChar char="Ø"/>
            </a:pPr>
            <a:r>
              <a:rPr lang="en-US" dirty="0"/>
              <a:t>Reincarnation</a:t>
            </a:r>
          </a:p>
          <a:p>
            <a:pPr>
              <a:buFont typeface="Wingdings" panose="05000000000000000000" pitchFamily="2" charset="2"/>
              <a:buChar char="Ø"/>
            </a:pPr>
            <a:r>
              <a:rPr lang="en-US" dirty="0" err="1"/>
              <a:t>Dewali</a:t>
            </a:r>
            <a:endParaRPr lang="en-US" dirty="0"/>
          </a:p>
          <a:p>
            <a:pPr>
              <a:buFont typeface="Wingdings" panose="05000000000000000000" pitchFamily="2" charset="2"/>
              <a:buChar char="Ø"/>
            </a:pPr>
            <a:r>
              <a:rPr lang="en-US" dirty="0" err="1"/>
              <a:t>Holi</a:t>
            </a:r>
            <a:endParaRPr lang="en-US" dirty="0"/>
          </a:p>
          <a:p>
            <a:pPr>
              <a:buFont typeface="Wingdings" panose="05000000000000000000" pitchFamily="2" charset="2"/>
              <a:buChar char="Ø"/>
            </a:pPr>
            <a:r>
              <a:rPr lang="en-US" dirty="0" err="1"/>
              <a:t>Dosehra</a:t>
            </a:r>
            <a:endParaRPr lang="en-US" dirty="0"/>
          </a:p>
          <a:p>
            <a:pPr>
              <a:buFont typeface="Wingdings" panose="05000000000000000000" pitchFamily="2" charset="2"/>
              <a:buChar char="Ø"/>
            </a:pPr>
            <a:r>
              <a:rPr lang="en-US" dirty="0"/>
              <a:t> </a:t>
            </a:r>
            <a:r>
              <a:rPr lang="en-US" dirty="0" err="1"/>
              <a:t>Satti</a:t>
            </a:r>
            <a:endParaRPr lang="en-US" dirty="0"/>
          </a:p>
          <a:p>
            <a:endParaRPr lang="en-US" dirty="0"/>
          </a:p>
        </p:txBody>
      </p:sp>
      <p:pic>
        <p:nvPicPr>
          <p:cNvPr id="4" name="Picture 3">
            <a:extLst>
              <a:ext uri="{FF2B5EF4-FFF2-40B4-BE49-F238E27FC236}">
                <a16:creationId xmlns:a16="http://schemas.microsoft.com/office/drawing/2014/main" id="{180D1625-AE0F-466B-57CC-6F227C5F8EE4}"/>
              </a:ext>
            </a:extLst>
          </p:cNvPr>
          <p:cNvPicPr>
            <a:picLocks noChangeAspect="1"/>
          </p:cNvPicPr>
          <p:nvPr/>
        </p:nvPicPr>
        <p:blipFill>
          <a:blip r:embed="rId2"/>
          <a:stretch>
            <a:fillRect/>
          </a:stretch>
        </p:blipFill>
        <p:spPr>
          <a:xfrm>
            <a:off x="9237230" y="508148"/>
            <a:ext cx="2381250" cy="2381250"/>
          </a:xfrm>
          <a:prstGeom prst="rect">
            <a:avLst/>
          </a:prstGeom>
        </p:spPr>
      </p:pic>
      <p:pic>
        <p:nvPicPr>
          <p:cNvPr id="6" name="Picture 5">
            <a:extLst>
              <a:ext uri="{FF2B5EF4-FFF2-40B4-BE49-F238E27FC236}">
                <a16:creationId xmlns:a16="http://schemas.microsoft.com/office/drawing/2014/main" id="{3BCB8812-26B4-62A6-1861-5CB56CA60572}"/>
              </a:ext>
            </a:extLst>
          </p:cNvPr>
          <p:cNvPicPr>
            <a:picLocks noChangeAspect="1"/>
          </p:cNvPicPr>
          <p:nvPr/>
        </p:nvPicPr>
        <p:blipFill>
          <a:blip r:embed="rId3"/>
          <a:stretch>
            <a:fillRect/>
          </a:stretch>
        </p:blipFill>
        <p:spPr>
          <a:xfrm>
            <a:off x="3340744" y="2853057"/>
            <a:ext cx="6238232" cy="3124411"/>
          </a:xfrm>
          <a:prstGeom prst="rect">
            <a:avLst/>
          </a:prstGeom>
        </p:spPr>
      </p:pic>
    </p:spTree>
    <p:extLst>
      <p:ext uri="{BB962C8B-B14F-4D97-AF65-F5344CB8AC3E}">
        <p14:creationId xmlns:p14="http://schemas.microsoft.com/office/powerpoint/2010/main" val="20627564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000" dirty="0">
                <a:solidFill>
                  <a:srgbClr val="00B0F0"/>
                </a:solidFill>
              </a:rPr>
              <a:t>Budhism</a:t>
            </a:r>
            <a:endParaRPr lang="en-US" sz="6000" dirty="0"/>
          </a:p>
        </p:txBody>
      </p:sp>
      <p:sp>
        <p:nvSpPr>
          <p:cNvPr id="7" name="TextBox 6">
            <a:extLst>
              <a:ext uri="{FF2B5EF4-FFF2-40B4-BE49-F238E27FC236}">
                <a16:creationId xmlns:a16="http://schemas.microsoft.com/office/drawing/2014/main" id="{2B663B24-68B0-F19A-F9BF-A279F147C982}"/>
              </a:ext>
            </a:extLst>
          </p:cNvPr>
          <p:cNvSpPr txBox="1"/>
          <p:nvPr/>
        </p:nvSpPr>
        <p:spPr>
          <a:xfrm>
            <a:off x="1097281" y="2434211"/>
            <a:ext cx="10058399" cy="3539430"/>
          </a:xfrm>
          <a:prstGeom prst="rect">
            <a:avLst/>
          </a:prstGeom>
          <a:noFill/>
        </p:spPr>
        <p:txBody>
          <a:bodyPr wrap="square">
            <a:spAutoFit/>
          </a:bodyPr>
          <a:lstStyle/>
          <a:p>
            <a:r>
              <a:rPr lang="en-US" sz="2800" b="0" i="0" dirty="0">
                <a:solidFill>
                  <a:srgbClr val="001D35"/>
                </a:solidFill>
                <a:effectLst/>
                <a:latin typeface="Google Sans"/>
              </a:rPr>
              <a:t>Buddhism is an ancient Indian religion and philosophy that originated over 2,500 years ago, founded by Siddhartha Gautama, known as the Buddha ("Awakened One"). It centers on the teachings of the Buddha, which focus on suffering, its causes, and the path to enlightenment (nirvana) through morality, meditation, and wisdom. Key principles include the </a:t>
            </a:r>
            <a:r>
              <a:rPr lang="en-US" sz="2800" b="0" i="0" dirty="0">
                <a:solidFill>
                  <a:srgbClr val="00B0F0"/>
                </a:solidFill>
                <a:effectLst/>
                <a:latin typeface="Google Sans"/>
              </a:rPr>
              <a:t>Four Noble Truths</a:t>
            </a:r>
            <a:r>
              <a:rPr lang="en-US" sz="2800" b="0" i="0" dirty="0">
                <a:solidFill>
                  <a:srgbClr val="001D35"/>
                </a:solidFill>
                <a:effectLst/>
                <a:latin typeface="Google Sans"/>
              </a:rPr>
              <a:t> and the </a:t>
            </a:r>
            <a:r>
              <a:rPr lang="en-US" sz="2800" b="0" i="0" dirty="0">
                <a:solidFill>
                  <a:srgbClr val="00B0F0"/>
                </a:solidFill>
                <a:effectLst/>
                <a:latin typeface="Google Sans"/>
              </a:rPr>
              <a:t>Noble Eightfold Path</a:t>
            </a:r>
            <a:r>
              <a:rPr lang="en-US" sz="2800" b="0" i="0" dirty="0">
                <a:solidFill>
                  <a:srgbClr val="001D35"/>
                </a:solidFill>
                <a:effectLst/>
                <a:latin typeface="Google Sans"/>
              </a:rPr>
              <a:t>, which guide followers toward inner peace and freedom from the cycle of reincarnation. </a:t>
            </a:r>
            <a:endParaRPr lang="en-GB" sz="2800" dirty="0"/>
          </a:p>
        </p:txBody>
      </p:sp>
      <p:pic>
        <p:nvPicPr>
          <p:cNvPr id="9" name="Picture 8">
            <a:extLst>
              <a:ext uri="{FF2B5EF4-FFF2-40B4-BE49-F238E27FC236}">
                <a16:creationId xmlns:a16="http://schemas.microsoft.com/office/drawing/2014/main" id="{0B01B837-11DC-E703-3455-A34821FD68EE}"/>
              </a:ext>
            </a:extLst>
          </p:cNvPr>
          <p:cNvPicPr>
            <a:picLocks noChangeAspect="1"/>
          </p:cNvPicPr>
          <p:nvPr/>
        </p:nvPicPr>
        <p:blipFill>
          <a:blip r:embed="rId2"/>
          <a:stretch>
            <a:fillRect/>
          </a:stretch>
        </p:blipFill>
        <p:spPr>
          <a:xfrm>
            <a:off x="9236363" y="404091"/>
            <a:ext cx="2810163" cy="2810163"/>
          </a:xfrm>
          <a:prstGeom prst="rect">
            <a:avLst/>
          </a:prstGeom>
        </p:spPr>
      </p:pic>
    </p:spTree>
    <p:extLst>
      <p:ext uri="{BB962C8B-B14F-4D97-AF65-F5344CB8AC3E}">
        <p14:creationId xmlns:p14="http://schemas.microsoft.com/office/powerpoint/2010/main" val="21017888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B50A-176E-AE61-7076-92D5FEA3B4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9071A-FDB2-26BC-B7B2-5D8212E73DF0}"/>
              </a:ext>
            </a:extLst>
          </p:cNvPr>
          <p:cNvSpPr>
            <a:spLocks noGrp="1"/>
          </p:cNvSpPr>
          <p:nvPr>
            <p:ph type="title"/>
          </p:nvPr>
        </p:nvSpPr>
        <p:spPr/>
        <p:txBody>
          <a:bodyPr/>
          <a:lstStyle/>
          <a:p>
            <a:r>
              <a:rPr lang="en-US" sz="6000" dirty="0">
                <a:solidFill>
                  <a:srgbClr val="00B0F0"/>
                </a:solidFill>
              </a:rPr>
              <a:t>Budhism</a:t>
            </a:r>
            <a:endParaRPr lang="en-US" sz="6000" dirty="0"/>
          </a:p>
        </p:txBody>
      </p:sp>
      <p:sp>
        <p:nvSpPr>
          <p:cNvPr id="3" name="Content Placeholder 2">
            <a:extLst>
              <a:ext uri="{FF2B5EF4-FFF2-40B4-BE49-F238E27FC236}">
                <a16:creationId xmlns:a16="http://schemas.microsoft.com/office/drawing/2014/main" id="{A1A72825-2FB5-480B-9506-C919B5819AA0}"/>
              </a:ext>
            </a:extLst>
          </p:cNvPr>
          <p:cNvSpPr>
            <a:spLocks noGrp="1"/>
          </p:cNvSpPr>
          <p:nvPr>
            <p:ph idx="1"/>
          </p:nvPr>
        </p:nvSpPr>
        <p:spPr>
          <a:xfrm>
            <a:off x="1097280" y="1845733"/>
            <a:ext cx="10058400" cy="4213321"/>
          </a:xfrm>
        </p:spPr>
        <p:txBody>
          <a:bodyPr>
            <a:normAutofit lnSpcReduction="10000"/>
          </a:bodyPr>
          <a:lstStyle/>
          <a:p>
            <a:pPr lvl="2">
              <a:buFont typeface="Wingdings" panose="05000000000000000000" pitchFamily="2" charset="2"/>
              <a:buChar char="Ø"/>
            </a:pPr>
            <a:r>
              <a:rPr lang="en-US" sz="2000" dirty="0"/>
              <a:t>Buddhism was founded in India about 2,500 years ago</a:t>
            </a:r>
          </a:p>
          <a:p>
            <a:pPr lvl="2">
              <a:buFont typeface="Wingdings" panose="05000000000000000000" pitchFamily="2" charset="2"/>
              <a:buChar char="Ø"/>
            </a:pPr>
            <a:r>
              <a:rPr lang="en-US" sz="2000" dirty="0"/>
              <a:t>Chieftain was </a:t>
            </a:r>
            <a:r>
              <a:rPr lang="en-US" sz="2000" dirty="0" err="1"/>
              <a:t>Gotama</a:t>
            </a:r>
            <a:r>
              <a:rPr lang="en-US" sz="2000" dirty="0"/>
              <a:t> Buddha</a:t>
            </a:r>
          </a:p>
          <a:p>
            <a:pPr lvl="2">
              <a:buFont typeface="Wingdings" panose="05000000000000000000" pitchFamily="2" charset="2"/>
              <a:buChar char="Ø"/>
            </a:pPr>
            <a:r>
              <a:rPr lang="en-US" sz="2000" dirty="0"/>
              <a:t>The main tenets of the Buddhist belief system include </a:t>
            </a:r>
          </a:p>
          <a:p>
            <a:pPr marL="0" indent="0">
              <a:buNone/>
            </a:pPr>
            <a:r>
              <a:rPr lang="en-US" dirty="0">
                <a:solidFill>
                  <a:srgbClr val="002060"/>
                </a:solidFill>
              </a:rPr>
              <a:t>	NEMMK </a:t>
            </a:r>
            <a:r>
              <a:rPr lang="en-US" dirty="0">
                <a:solidFill>
                  <a:srgbClr val="00B0F0"/>
                </a:solidFill>
              </a:rPr>
              <a:t>(Nonviolence, Ethical behavior, Moral purity, Meditation, Karma)</a:t>
            </a:r>
          </a:p>
          <a:p>
            <a:pPr marL="0" indent="0">
              <a:buNone/>
            </a:pPr>
            <a:r>
              <a:rPr lang="en-US" dirty="0">
                <a:solidFill>
                  <a:srgbClr val="00B0F0"/>
                </a:solidFill>
              </a:rPr>
              <a:t>	                          </a:t>
            </a:r>
            <a:r>
              <a:rPr lang="en-US" dirty="0">
                <a:solidFill>
                  <a:srgbClr val="7030A0"/>
                </a:solidFill>
              </a:rPr>
              <a:t>Pain--------Desire-------Giving up-------Simple life</a:t>
            </a:r>
            <a:endParaRPr lang="en-US" dirty="0">
              <a:solidFill>
                <a:srgbClr val="00B0F0"/>
              </a:solidFill>
            </a:endParaRPr>
          </a:p>
          <a:p>
            <a:pPr lvl="2">
              <a:buFont typeface="Wingdings" panose="05000000000000000000" pitchFamily="2" charset="2"/>
              <a:buChar char="Ø"/>
            </a:pPr>
            <a:r>
              <a:rPr lang="en-US" sz="2000" dirty="0"/>
              <a:t>Great stress is on religious obligations that worldly affairs are to be completely avoided</a:t>
            </a:r>
          </a:p>
          <a:p>
            <a:pPr lvl="2">
              <a:buFont typeface="Wingdings" panose="05000000000000000000" pitchFamily="2" charset="2"/>
              <a:buChar char="Ø"/>
            </a:pPr>
            <a:r>
              <a:rPr lang="en-US" sz="2000" dirty="0"/>
              <a:t>No system to earn their livelihood</a:t>
            </a:r>
          </a:p>
          <a:p>
            <a:pPr lvl="2">
              <a:buFont typeface="Wingdings" panose="05000000000000000000" pitchFamily="2" charset="2"/>
              <a:buChar char="Ø"/>
            </a:pPr>
            <a:r>
              <a:rPr lang="en-US" sz="2000" dirty="0"/>
              <a:t>Buddha never denied the existence of God, but he said that there was no need of supernatural power</a:t>
            </a:r>
          </a:p>
          <a:p>
            <a:pPr lvl="2">
              <a:buFont typeface="Wingdings" panose="05000000000000000000" pitchFamily="2" charset="2"/>
              <a:buChar char="Ø"/>
            </a:pPr>
            <a:r>
              <a:rPr lang="en-US" sz="2000" dirty="0"/>
              <a:t>Every man could win his inner self (spiritual character) by worshipping and salvation</a:t>
            </a:r>
          </a:p>
          <a:p>
            <a:pPr lvl="2">
              <a:buFont typeface="Wingdings" panose="05000000000000000000" pitchFamily="2" charset="2"/>
              <a:buChar char="Ø"/>
            </a:pPr>
            <a:r>
              <a:rPr lang="en-US" sz="2000" dirty="0">
                <a:solidFill>
                  <a:srgbClr val="00B0F0"/>
                </a:solidFill>
              </a:rPr>
              <a:t>Right speech, action, livelihood, effort, mindfulness, concentration, thought, and understanding</a:t>
            </a:r>
          </a:p>
        </p:txBody>
      </p:sp>
      <p:pic>
        <p:nvPicPr>
          <p:cNvPr id="4" name="Picture 3">
            <a:extLst>
              <a:ext uri="{FF2B5EF4-FFF2-40B4-BE49-F238E27FC236}">
                <a16:creationId xmlns:a16="http://schemas.microsoft.com/office/drawing/2014/main" id="{5A8B9A45-0CC7-9298-8D41-30B37823A092}"/>
              </a:ext>
            </a:extLst>
          </p:cNvPr>
          <p:cNvPicPr>
            <a:picLocks noChangeAspect="1"/>
          </p:cNvPicPr>
          <p:nvPr/>
        </p:nvPicPr>
        <p:blipFill>
          <a:blip r:embed="rId2"/>
          <a:stretch>
            <a:fillRect/>
          </a:stretch>
        </p:blipFill>
        <p:spPr>
          <a:xfrm>
            <a:off x="9236363" y="404091"/>
            <a:ext cx="2810163" cy="2810163"/>
          </a:xfrm>
          <a:prstGeom prst="rect">
            <a:avLst/>
          </a:prstGeom>
        </p:spPr>
      </p:pic>
    </p:spTree>
    <p:extLst>
      <p:ext uri="{BB962C8B-B14F-4D97-AF65-F5344CB8AC3E}">
        <p14:creationId xmlns:p14="http://schemas.microsoft.com/office/powerpoint/2010/main" val="295319456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Effect transition="in" filter="fade">
                                      <p:cBhvr>
                                        <p:cTn id="61" dur="1000"/>
                                        <p:tgtEl>
                                          <p:spTgt spid="3">
                                            <p:txEl>
                                              <p:pRg st="9" end="9"/>
                                            </p:txEl>
                                          </p:spTgt>
                                        </p:tgtEl>
                                      </p:cBhvr>
                                    </p:animEffect>
                                    <p:anim calcmode="lin" valueType="num">
                                      <p:cBhvr>
                                        <p:cTn id="6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E3C6D84-8087-5578-4A51-D2A90240E124}"/>
              </a:ext>
            </a:extLst>
          </p:cNvPr>
          <p:cNvPicPr>
            <a:picLocks noChangeAspect="1"/>
          </p:cNvPicPr>
          <p:nvPr/>
        </p:nvPicPr>
        <p:blipFill>
          <a:blip r:embed="rId2"/>
          <a:stretch>
            <a:fillRect/>
          </a:stretch>
        </p:blipFill>
        <p:spPr>
          <a:xfrm>
            <a:off x="9356436" y="479042"/>
            <a:ext cx="2461203" cy="2516636"/>
          </a:xfrm>
          <a:prstGeom prst="rect">
            <a:avLst/>
          </a:prstGeom>
        </p:spPr>
      </p:pic>
      <p:sp>
        <p:nvSpPr>
          <p:cNvPr id="2" name="Title 1"/>
          <p:cNvSpPr>
            <a:spLocks noGrp="1"/>
          </p:cNvSpPr>
          <p:nvPr>
            <p:ph type="title"/>
          </p:nvPr>
        </p:nvSpPr>
        <p:spPr/>
        <p:txBody>
          <a:bodyPr/>
          <a:lstStyle/>
          <a:p>
            <a:r>
              <a:rPr lang="en-US" sz="6000" dirty="0">
                <a:solidFill>
                  <a:srgbClr val="00B0F0"/>
                </a:solidFill>
              </a:rPr>
              <a:t>Judaism (Monotheism)</a:t>
            </a:r>
          </a:p>
        </p:txBody>
      </p:sp>
      <p:sp>
        <p:nvSpPr>
          <p:cNvPr id="7" name="TextBox 6">
            <a:extLst>
              <a:ext uri="{FF2B5EF4-FFF2-40B4-BE49-F238E27FC236}">
                <a16:creationId xmlns:a16="http://schemas.microsoft.com/office/drawing/2014/main" id="{48A6E11E-E394-1CAE-59A5-04229CF959AC}"/>
              </a:ext>
            </a:extLst>
          </p:cNvPr>
          <p:cNvSpPr txBox="1"/>
          <p:nvPr/>
        </p:nvSpPr>
        <p:spPr>
          <a:xfrm>
            <a:off x="1097279" y="2277147"/>
            <a:ext cx="9413703" cy="3539430"/>
          </a:xfrm>
          <a:prstGeom prst="rect">
            <a:avLst/>
          </a:prstGeom>
          <a:noFill/>
        </p:spPr>
        <p:txBody>
          <a:bodyPr wrap="square">
            <a:spAutoFit/>
          </a:bodyPr>
          <a:lstStyle/>
          <a:p>
            <a:r>
              <a:rPr lang="en-US" sz="2800" b="0" i="0" dirty="0">
                <a:solidFill>
                  <a:srgbClr val="001D35"/>
                </a:solidFill>
                <a:effectLst/>
                <a:latin typeface="Google Sans"/>
              </a:rPr>
              <a:t>Judaism is the oldest Abrahamic, monotheistic religion, serving as the foundation of Jewish spiritual, cultural, and legal traditions, centered on the belief in one God and a covenant with the Jewish people. Its central sacred text is the </a:t>
            </a:r>
            <a:r>
              <a:rPr lang="en-US" sz="2800" b="0" i="0" dirty="0">
                <a:solidFill>
                  <a:srgbClr val="0070C0"/>
                </a:solidFill>
                <a:effectLst/>
                <a:latin typeface="Google Sans"/>
              </a:rPr>
              <a:t>Torah</a:t>
            </a:r>
            <a:r>
              <a:rPr lang="en-US" sz="2800" b="0" i="0" dirty="0">
                <a:solidFill>
                  <a:srgbClr val="001D35"/>
                </a:solidFill>
                <a:effectLst/>
                <a:latin typeface="Google Sans"/>
              </a:rPr>
              <a:t> (the first five books of the Hebrew Bible), which contains God's laws revealed to Moses and forms the basis for Jewish life and practices. Judaism is both a religion and an ethnic identity, with an estimated 15 million followers worldwide.</a:t>
            </a:r>
            <a:endParaRPr lang="en-GB" sz="2800" dirty="0"/>
          </a:p>
        </p:txBody>
      </p:sp>
    </p:spTree>
    <p:extLst>
      <p:ext uri="{BB962C8B-B14F-4D97-AF65-F5344CB8AC3E}">
        <p14:creationId xmlns:p14="http://schemas.microsoft.com/office/powerpoint/2010/main" val="30869509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C81E-BB56-708D-C7B7-10A1EED1F61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AB8DBAF-8D45-1F12-09FE-7D9FFA1E36D2}"/>
              </a:ext>
            </a:extLst>
          </p:cNvPr>
          <p:cNvPicPr>
            <a:picLocks noChangeAspect="1"/>
          </p:cNvPicPr>
          <p:nvPr/>
        </p:nvPicPr>
        <p:blipFill>
          <a:blip r:embed="rId2"/>
          <a:stretch>
            <a:fillRect/>
          </a:stretch>
        </p:blipFill>
        <p:spPr>
          <a:xfrm>
            <a:off x="9356436" y="479042"/>
            <a:ext cx="2461203" cy="2516636"/>
          </a:xfrm>
          <a:prstGeom prst="rect">
            <a:avLst/>
          </a:prstGeom>
        </p:spPr>
      </p:pic>
      <p:sp>
        <p:nvSpPr>
          <p:cNvPr id="2" name="Title 1">
            <a:extLst>
              <a:ext uri="{FF2B5EF4-FFF2-40B4-BE49-F238E27FC236}">
                <a16:creationId xmlns:a16="http://schemas.microsoft.com/office/drawing/2014/main" id="{F1924D7C-EEE1-6AFF-7BCF-3D45B4B1674F}"/>
              </a:ext>
            </a:extLst>
          </p:cNvPr>
          <p:cNvSpPr>
            <a:spLocks noGrp="1"/>
          </p:cNvSpPr>
          <p:nvPr>
            <p:ph type="title"/>
          </p:nvPr>
        </p:nvSpPr>
        <p:spPr/>
        <p:txBody>
          <a:bodyPr/>
          <a:lstStyle/>
          <a:p>
            <a:r>
              <a:rPr lang="en-US" sz="6000" dirty="0">
                <a:solidFill>
                  <a:srgbClr val="00B0F0"/>
                </a:solidFill>
              </a:rPr>
              <a:t>Judaism (Monotheism)</a:t>
            </a:r>
          </a:p>
        </p:txBody>
      </p:sp>
      <p:sp>
        <p:nvSpPr>
          <p:cNvPr id="3" name="Content Placeholder 2">
            <a:extLst>
              <a:ext uri="{FF2B5EF4-FFF2-40B4-BE49-F238E27FC236}">
                <a16:creationId xmlns:a16="http://schemas.microsoft.com/office/drawing/2014/main" id="{2182EE47-218B-F84C-213F-EFC5AD33A090}"/>
              </a:ext>
            </a:extLst>
          </p:cNvPr>
          <p:cNvSpPr>
            <a:spLocks noGrp="1"/>
          </p:cNvSpPr>
          <p:nvPr>
            <p:ph idx="1"/>
          </p:nvPr>
        </p:nvSpPr>
        <p:spPr/>
        <p:txBody>
          <a:bodyPr>
            <a:normAutofit lnSpcReduction="10000"/>
          </a:bodyPr>
          <a:lstStyle/>
          <a:p>
            <a:pPr>
              <a:buFont typeface="Wingdings" panose="05000000000000000000" pitchFamily="2" charset="2"/>
              <a:buChar char="Ø"/>
            </a:pPr>
            <a:r>
              <a:rPr lang="en-US" dirty="0"/>
              <a:t> Followers of the Prophet Musa</a:t>
            </a:r>
          </a:p>
          <a:p>
            <a:pPr>
              <a:buFont typeface="Wingdings" panose="05000000000000000000" pitchFamily="2" charset="2"/>
              <a:buChar char="Ø"/>
            </a:pPr>
            <a:r>
              <a:rPr lang="en-US" dirty="0"/>
              <a:t> Descendants of tribe Israel (God’s man)</a:t>
            </a:r>
          </a:p>
          <a:p>
            <a:pPr>
              <a:buFont typeface="Wingdings" panose="05000000000000000000" pitchFamily="2" charset="2"/>
              <a:buChar char="Ø"/>
            </a:pPr>
            <a:r>
              <a:rPr lang="en-US" dirty="0"/>
              <a:t> Holy Book: Tanakh (Taurat)/ Old testament(1- Law, 2- Prophets, 3- Writings) </a:t>
            </a:r>
          </a:p>
          <a:p>
            <a:pPr>
              <a:buFont typeface="Wingdings" panose="05000000000000000000" pitchFamily="2" charset="2"/>
              <a:buChar char="Ø"/>
            </a:pPr>
            <a:r>
              <a:rPr lang="en-US" dirty="0"/>
              <a:t>Talmud(explanation of Tanakh includes the Mishnah – a code of Jewish law)</a:t>
            </a:r>
          </a:p>
          <a:p>
            <a:pPr>
              <a:buFont typeface="Wingdings" panose="05000000000000000000" pitchFamily="2" charset="2"/>
              <a:buChar char="Ø"/>
            </a:pPr>
            <a:r>
              <a:rPr lang="en-US" dirty="0"/>
              <a:t> Worships: Prayers</a:t>
            </a:r>
          </a:p>
          <a:p>
            <a:pPr>
              <a:buFont typeface="Wingdings" panose="05000000000000000000" pitchFamily="2" charset="2"/>
              <a:buChar char="Ø"/>
            </a:pPr>
            <a:r>
              <a:rPr lang="en-US" dirty="0"/>
              <a:t> Jesus was crucified for his claim to be divine</a:t>
            </a:r>
          </a:p>
          <a:p>
            <a:pPr>
              <a:buFont typeface="Wingdings" panose="05000000000000000000" pitchFamily="2" charset="2"/>
              <a:buChar char="Ø"/>
            </a:pPr>
            <a:r>
              <a:rPr lang="en-US" dirty="0"/>
              <a:t> The Jews say that they have a very personal relation with God and the are the best people of God.</a:t>
            </a:r>
          </a:p>
          <a:p>
            <a:pPr>
              <a:buFont typeface="Wingdings" panose="05000000000000000000" pitchFamily="2" charset="2"/>
              <a:buChar char="Ø"/>
            </a:pPr>
            <a:r>
              <a:rPr lang="en-US" dirty="0"/>
              <a:t>The principles of Jewism are also very rigid</a:t>
            </a:r>
          </a:p>
          <a:p>
            <a:pPr>
              <a:buFont typeface="Wingdings" panose="05000000000000000000" pitchFamily="2" charset="2"/>
              <a:buChar char="Ø"/>
            </a:pPr>
            <a:r>
              <a:rPr lang="en-US" dirty="0"/>
              <a:t>The concept of forgiveness has no place in it</a:t>
            </a:r>
          </a:p>
        </p:txBody>
      </p:sp>
    </p:spTree>
    <p:extLst>
      <p:ext uri="{BB962C8B-B14F-4D97-AF65-F5344CB8AC3E}">
        <p14:creationId xmlns:p14="http://schemas.microsoft.com/office/powerpoint/2010/main" val="16400167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615002-7AF9-5763-2AFA-C07DFB8796AD}"/>
              </a:ext>
            </a:extLst>
          </p:cNvPr>
          <p:cNvPicPr>
            <a:picLocks noChangeAspect="1"/>
          </p:cNvPicPr>
          <p:nvPr/>
        </p:nvPicPr>
        <p:blipFill>
          <a:blip r:embed="rId2"/>
          <a:srcRect b="7034"/>
          <a:stretch>
            <a:fillRect/>
          </a:stretch>
        </p:blipFill>
        <p:spPr>
          <a:xfrm>
            <a:off x="9107054" y="222872"/>
            <a:ext cx="2944466" cy="2947913"/>
          </a:xfrm>
          <a:prstGeom prst="rect">
            <a:avLst/>
          </a:prstGeom>
        </p:spPr>
      </p:pic>
      <p:sp>
        <p:nvSpPr>
          <p:cNvPr id="2" name="Title 1"/>
          <p:cNvSpPr>
            <a:spLocks noGrp="1"/>
          </p:cNvSpPr>
          <p:nvPr>
            <p:ph type="title"/>
          </p:nvPr>
        </p:nvSpPr>
        <p:spPr/>
        <p:txBody>
          <a:bodyPr/>
          <a:lstStyle/>
          <a:p>
            <a:r>
              <a:rPr lang="en-US" sz="6000" dirty="0">
                <a:solidFill>
                  <a:srgbClr val="00B0F0"/>
                </a:solidFill>
              </a:rPr>
              <a:t>Christianity (Polytheism)</a:t>
            </a:r>
            <a:endParaRPr lang="en-US" sz="6000" dirty="0"/>
          </a:p>
        </p:txBody>
      </p:sp>
      <p:sp>
        <p:nvSpPr>
          <p:cNvPr id="3" name="Content Placeholder 2"/>
          <p:cNvSpPr>
            <a:spLocks noGrp="1"/>
          </p:cNvSpPr>
          <p:nvPr>
            <p:ph idx="1"/>
          </p:nvPr>
        </p:nvSpPr>
        <p:spPr>
          <a:xfrm>
            <a:off x="849193" y="1737360"/>
            <a:ext cx="10554574" cy="4556210"/>
          </a:xfrm>
        </p:spPr>
        <p:txBody>
          <a:bodyPr>
            <a:normAutofit/>
          </a:bodyPr>
          <a:lstStyle/>
          <a:p>
            <a:pPr>
              <a:buFont typeface="Wingdings" panose="05000000000000000000" pitchFamily="2" charset="2"/>
              <a:buChar char="Ø"/>
            </a:pPr>
            <a:r>
              <a:rPr lang="en-US" dirty="0"/>
              <a:t> Followers of the Prophet Christ (2.2 Billion)</a:t>
            </a:r>
          </a:p>
          <a:p>
            <a:pPr>
              <a:buFont typeface="Wingdings" panose="05000000000000000000" pitchFamily="2" charset="2"/>
              <a:buChar char="Ø"/>
            </a:pPr>
            <a:r>
              <a:rPr lang="en-US" dirty="0"/>
              <a:t> World’s biggest religion</a:t>
            </a:r>
          </a:p>
          <a:p>
            <a:pPr>
              <a:buFont typeface="Wingdings" panose="05000000000000000000" pitchFamily="2" charset="2"/>
              <a:buChar char="Ø"/>
            </a:pPr>
            <a:r>
              <a:rPr lang="en-US" dirty="0"/>
              <a:t>Three main groups: Orthodox, Protestant, Roman Catholic</a:t>
            </a:r>
          </a:p>
          <a:p>
            <a:pPr>
              <a:buFont typeface="Wingdings" panose="05000000000000000000" pitchFamily="2" charset="2"/>
              <a:buChar char="Ø"/>
            </a:pPr>
            <a:r>
              <a:rPr lang="en-US" dirty="0"/>
              <a:t>Holy Book : The Bible 74 Books 	(New Testament 27 Books+ Old Testament 47 Books)</a:t>
            </a:r>
          </a:p>
          <a:p>
            <a:pPr>
              <a:buFont typeface="Wingdings" panose="05000000000000000000" pitchFamily="2" charset="2"/>
              <a:buChar char="Ø"/>
            </a:pPr>
            <a:r>
              <a:rPr lang="en-US" dirty="0"/>
              <a:t> Old Testament:	 Books before Christ ( Zabur – Taurat – Sahaif )</a:t>
            </a:r>
          </a:p>
          <a:p>
            <a:pPr>
              <a:buFont typeface="Wingdings" panose="05000000000000000000" pitchFamily="2" charset="2"/>
              <a:buChar char="Ø"/>
            </a:pPr>
            <a:r>
              <a:rPr lang="en-US" dirty="0"/>
              <a:t> New Testament:  Books after Christ ( 4 Gospels – Mathew – Loquats – Marques – Johanna )</a:t>
            </a:r>
          </a:p>
          <a:p>
            <a:pPr>
              <a:buFont typeface="Wingdings" panose="05000000000000000000" pitchFamily="2" charset="2"/>
              <a:buChar char="Ø"/>
            </a:pPr>
            <a:r>
              <a:rPr lang="en-US" dirty="0"/>
              <a:t>  Worships: Prayers</a:t>
            </a:r>
          </a:p>
          <a:p>
            <a:pPr>
              <a:buFont typeface="Wingdings" panose="05000000000000000000" pitchFamily="2" charset="2"/>
              <a:buChar char="Ø"/>
            </a:pPr>
            <a:r>
              <a:rPr lang="en-US" dirty="0"/>
              <a:t> Christianity considers the Prophet Christ as a son of God as he did not marry</a:t>
            </a:r>
          </a:p>
          <a:p>
            <a:pPr>
              <a:buFont typeface="Wingdings" panose="05000000000000000000" pitchFamily="2" charset="2"/>
              <a:buChar char="Ø"/>
            </a:pPr>
            <a:r>
              <a:rPr lang="en-US" dirty="0"/>
              <a:t>  Great stress is on spiritual worship</a:t>
            </a:r>
          </a:p>
        </p:txBody>
      </p:sp>
    </p:spTree>
    <p:extLst>
      <p:ext uri="{BB962C8B-B14F-4D97-AF65-F5344CB8AC3E}">
        <p14:creationId xmlns:p14="http://schemas.microsoft.com/office/powerpoint/2010/main" val="119352693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fade">
                                      <p:cBhvr>
                                        <p:cTn id="55" dur="1000"/>
                                        <p:tgtEl>
                                          <p:spTgt spid="3">
                                            <p:txEl>
                                              <p:pRg st="8" end="8"/>
                                            </p:txEl>
                                          </p:spTgt>
                                        </p:tgtEl>
                                      </p:cBhvr>
                                    </p:animEffect>
                                    <p:anim calcmode="lin" valueType="num">
                                      <p:cBhvr>
                                        <p:cTn id="5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EE382A-C09E-9360-93E2-C83DA3E5CBCE}"/>
              </a:ext>
            </a:extLst>
          </p:cNvPr>
          <p:cNvPicPr>
            <a:picLocks noChangeAspect="1"/>
          </p:cNvPicPr>
          <p:nvPr/>
        </p:nvPicPr>
        <p:blipFill>
          <a:blip r:embed="rId2"/>
          <a:stretch>
            <a:fillRect/>
          </a:stretch>
        </p:blipFill>
        <p:spPr>
          <a:xfrm>
            <a:off x="9611591" y="184898"/>
            <a:ext cx="2229428" cy="2404892"/>
          </a:xfrm>
          <a:prstGeom prst="rect">
            <a:avLst/>
          </a:prstGeom>
        </p:spPr>
      </p:pic>
      <p:sp>
        <p:nvSpPr>
          <p:cNvPr id="2" name="Title 1"/>
          <p:cNvSpPr>
            <a:spLocks noGrp="1"/>
          </p:cNvSpPr>
          <p:nvPr>
            <p:ph type="title"/>
          </p:nvPr>
        </p:nvSpPr>
        <p:spPr/>
        <p:txBody>
          <a:bodyPr/>
          <a:lstStyle/>
          <a:p>
            <a:r>
              <a:rPr lang="en-US" sz="6000" dirty="0">
                <a:solidFill>
                  <a:srgbClr val="00B0F0"/>
                </a:solidFill>
              </a:rPr>
              <a:t>Islam (Monotheism)</a:t>
            </a:r>
            <a:endParaRPr lang="en-US" sz="6000"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dirty="0"/>
              <a:t>1.8 Billions Followers, The most growing religion</a:t>
            </a:r>
          </a:p>
          <a:p>
            <a:pPr>
              <a:buFont typeface="Wingdings" panose="05000000000000000000" pitchFamily="2" charset="2"/>
              <a:buChar char="Ø"/>
            </a:pPr>
            <a:r>
              <a:rPr lang="en-US" dirty="0"/>
              <a:t>Islam covers each and every aspect of life as well as the spiritual gains</a:t>
            </a:r>
          </a:p>
          <a:p>
            <a:pPr>
              <a:buFont typeface="Wingdings" panose="05000000000000000000" pitchFamily="2" charset="2"/>
              <a:buChar char="Ø"/>
            </a:pPr>
            <a:r>
              <a:rPr lang="en-US" dirty="0"/>
              <a:t> Economic System-----------Islamic Banking (</a:t>
            </a:r>
            <a:r>
              <a:rPr lang="en-US" dirty="0" err="1"/>
              <a:t>Shirkat</a:t>
            </a:r>
            <a:r>
              <a:rPr lang="en-US" dirty="0"/>
              <a:t>---</a:t>
            </a:r>
            <a:r>
              <a:rPr lang="en-US" dirty="0" err="1"/>
              <a:t>Mudharbat</a:t>
            </a:r>
            <a:r>
              <a:rPr lang="en-US" dirty="0"/>
              <a:t>---</a:t>
            </a:r>
            <a:r>
              <a:rPr lang="en-US" dirty="0" err="1"/>
              <a:t>Murabaha</a:t>
            </a:r>
            <a:r>
              <a:rPr lang="en-US" dirty="0"/>
              <a:t>---</a:t>
            </a:r>
            <a:r>
              <a:rPr lang="en-US" dirty="0" err="1"/>
              <a:t>Ijarah</a:t>
            </a:r>
            <a:r>
              <a:rPr lang="en-US" dirty="0"/>
              <a:t>)</a:t>
            </a:r>
          </a:p>
          <a:p>
            <a:pPr>
              <a:buFont typeface="Wingdings" panose="05000000000000000000" pitchFamily="2" charset="2"/>
              <a:buChar char="Ø"/>
            </a:pPr>
            <a:r>
              <a:rPr lang="en-US" dirty="0"/>
              <a:t> Political System (</a:t>
            </a:r>
            <a:r>
              <a:rPr lang="en-US" dirty="0" err="1"/>
              <a:t>Khalifa</a:t>
            </a:r>
            <a:r>
              <a:rPr lang="en-US" dirty="0"/>
              <a:t>---Attributes---Selecting Criteria)</a:t>
            </a:r>
          </a:p>
          <a:p>
            <a:pPr>
              <a:buFont typeface="Wingdings" panose="05000000000000000000" pitchFamily="2" charset="2"/>
              <a:buChar char="Ø"/>
            </a:pPr>
            <a:r>
              <a:rPr lang="en-US" dirty="0"/>
              <a:t> Islamic Social System</a:t>
            </a:r>
          </a:p>
          <a:p>
            <a:pPr>
              <a:buFont typeface="Wingdings" panose="05000000000000000000" pitchFamily="2" charset="2"/>
              <a:buChar char="Ø"/>
            </a:pPr>
            <a:r>
              <a:rPr lang="en-US" dirty="0"/>
              <a:t> Neither stresses more on spiritualism nor on worldly affairs, keeps a balance in both, which is not found before Islam</a:t>
            </a:r>
          </a:p>
          <a:p>
            <a:pPr>
              <a:buFont typeface="Wingdings" panose="05000000000000000000" pitchFamily="2" charset="2"/>
              <a:buChar char="Ø"/>
            </a:pPr>
            <a:r>
              <a:rPr lang="en-US" dirty="0"/>
              <a:t>It is only Islam which is in its pure form even after passing of fourteen centuries</a:t>
            </a:r>
          </a:p>
          <a:p>
            <a:endParaRPr lang="en-US" dirty="0"/>
          </a:p>
        </p:txBody>
      </p:sp>
    </p:spTree>
    <p:extLst>
      <p:ext uri="{BB962C8B-B14F-4D97-AF65-F5344CB8AC3E}">
        <p14:creationId xmlns:p14="http://schemas.microsoft.com/office/powerpoint/2010/main" val="21777068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1000"/>
                                        <p:tgtEl>
                                          <p:spTgt spid="3">
                                            <p:txEl>
                                              <p:pRg st="5" end="5"/>
                                            </p:txEl>
                                          </p:spTgt>
                                        </p:tgtEl>
                                      </p:cBhvr>
                                    </p:animEffect>
                                    <p:anim calcmode="lin" valueType="num">
                                      <p:cBhvr>
                                        <p:cTn id="3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1000"/>
                                        <p:tgtEl>
                                          <p:spTgt spid="3">
                                            <p:txEl>
                                              <p:pRg st="6" end="6"/>
                                            </p:txEl>
                                          </p:spTgt>
                                        </p:tgtEl>
                                      </p:cBhvr>
                                    </p:animEffect>
                                    <p:anim calcmode="lin" valueType="num">
                                      <p:cBhvr>
                                        <p:cTn id="4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535BE283-6C5E-8499-95AE-F2E185C478B7}"/>
              </a:ext>
            </a:extLst>
          </p:cNvPr>
          <p:cNvSpPr>
            <a:spLocks noGrp="1" noChangeArrowheads="1"/>
          </p:cNvSpPr>
          <p:nvPr>
            <p:ph type="ctrTitle" idx="4294967295"/>
          </p:nvPr>
        </p:nvSpPr>
        <p:spPr>
          <a:xfrm>
            <a:off x="1524000" y="2130426"/>
            <a:ext cx="8382000" cy="2593975"/>
          </a:xfrm>
          <a:solidFill>
            <a:srgbClr val="FE7916"/>
          </a:solidFill>
          <a:ln>
            <a:solidFill>
              <a:srgbClr val="6E0025"/>
            </a:solidFill>
            <a:miter lim="800000"/>
            <a:headEnd/>
            <a:tailEnd/>
          </a:ln>
          <a:effectLst>
            <a:outerShdw dist="179605" dir="2700000" algn="ctr" rotWithShape="0">
              <a:schemeClr val="tx1"/>
            </a:outerShdw>
          </a:effectLst>
        </p:spPr>
        <p:txBody>
          <a:bodyPr/>
          <a:lstStyle/>
          <a:p>
            <a:r>
              <a:rPr lang="en-US" altLang="en-US" sz="6000" dirty="0">
                <a:solidFill>
                  <a:schemeClr val="tx1"/>
                </a:solidFill>
              </a:rPr>
              <a:t>That’s all</a:t>
            </a:r>
            <a:r>
              <a:rPr lang="en-US" altLang="en-US" sz="6000" dirty="0">
                <a:solidFill>
                  <a:schemeClr val="bg1"/>
                </a:solidFill>
              </a:rPr>
              <a:t> </a:t>
            </a:r>
            <a:r>
              <a:rPr lang="en-US" altLang="en-US" sz="6000" i="1" dirty="0">
                <a:solidFill>
                  <a:schemeClr val="bg1"/>
                </a:solidFill>
              </a:rPr>
              <a:t>for today</a:t>
            </a:r>
            <a:r>
              <a:rPr lang="en-US" altLang="en-US" sz="6000" dirty="0">
                <a:solidFill>
                  <a:schemeClr val="bg1"/>
                </a:solidFill>
              </a:rPr>
              <a:t> folks!!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312</TotalTime>
  <Words>952</Words>
  <Application>Microsoft Office PowerPoint</Application>
  <PresentationFormat>Widescreen</PresentationFormat>
  <Paragraphs>80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18thCentury</vt:lpstr>
      <vt:lpstr>Arial</vt:lpstr>
      <vt:lpstr>Calibri</vt:lpstr>
      <vt:lpstr>Calibri Light</vt:lpstr>
      <vt:lpstr>Google Sans</vt:lpstr>
      <vt:lpstr>Wingdings</vt:lpstr>
      <vt:lpstr>Retrospect</vt:lpstr>
      <vt:lpstr>PowerPoint Presentation</vt:lpstr>
      <vt:lpstr> World’s prominent religions</vt:lpstr>
      <vt:lpstr>Hinduism</vt:lpstr>
      <vt:lpstr>Hinduism</vt:lpstr>
      <vt:lpstr>Hinduism (cont.)</vt:lpstr>
      <vt:lpstr>Budhism</vt:lpstr>
      <vt:lpstr>Budhism</vt:lpstr>
      <vt:lpstr>Judaism (Monotheism)</vt:lpstr>
      <vt:lpstr>Judaism (Monotheism)</vt:lpstr>
      <vt:lpstr>Christianity (Polytheism)</vt:lpstr>
      <vt:lpstr>Islam (Monotheism)</vt:lpstr>
      <vt:lpstr>That’s all for today folks!!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analysis of Islam with other religions </dc:title>
  <dc:creator>ooops</dc:creator>
  <cp:lastModifiedBy>gandabacha69@gmail.com</cp:lastModifiedBy>
  <cp:revision>52</cp:revision>
  <dcterms:created xsi:type="dcterms:W3CDTF">2018-11-27T05:02:00Z</dcterms:created>
  <dcterms:modified xsi:type="dcterms:W3CDTF">2025-09-02T09:04:45Z</dcterms:modified>
</cp:coreProperties>
</file>