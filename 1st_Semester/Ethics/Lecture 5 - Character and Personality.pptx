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B330A4D-E188-4933-BA30-73D575D6D4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2B10CE8-3F99-43C9-A896-B3EB41265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808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0A4D-E188-4933-BA30-73D575D6D4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10CE8-3F99-43C9-A896-B3EB41265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806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B330A4D-E188-4933-BA30-73D575D6D4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2B10CE8-3F99-43C9-A896-B3EB41265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397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0A4D-E188-4933-BA30-73D575D6D4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10CE8-3F99-43C9-A896-B3EB41265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8052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0A4D-E188-4933-BA30-73D575D6D4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10CE8-3F99-43C9-A896-B3EB41265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8786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0A4D-E188-4933-BA30-73D575D6D4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10CE8-3F99-43C9-A896-B3EB41265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005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0A4D-E188-4933-BA30-73D575D6D4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10CE8-3F99-43C9-A896-B3EB41265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3457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0A4D-E188-4933-BA30-73D575D6D4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10CE8-3F99-43C9-A896-B3EB41265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415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0A4D-E188-4933-BA30-73D575D6D4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10CE8-3F99-43C9-A896-B3EB41265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3967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0A4D-E188-4933-BA30-73D575D6D4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10CE8-3F99-43C9-A896-B3EB41265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3503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B330A4D-E188-4933-BA30-73D575D6D4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2B10CE8-3F99-43C9-A896-B3EB41265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8654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B330A4D-E188-4933-BA30-73D575D6D4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2B10CE8-3F99-43C9-A896-B3EB41265BF9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327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B330A4D-E188-4933-BA30-73D575D6D4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2B10CE8-3F99-43C9-A896-B3EB41265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8001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0A4D-E188-4933-BA30-73D575D6D4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10CE8-3F99-43C9-A896-B3EB41265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801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0A4D-E188-4933-BA30-73D575D6D4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10CE8-3F99-43C9-A896-B3EB41265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3307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0A4D-E188-4933-BA30-73D575D6D4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10CE8-3F99-43C9-A896-B3EB41265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3689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B330A4D-E188-4933-BA30-73D575D6D4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2B10CE8-3F99-43C9-A896-B3EB41265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790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30A4D-E188-4933-BA30-73D575D6D4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10CE8-3F99-43C9-A896-B3EB41265B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1419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f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4C4C045-C585-6452-5705-ECEC7A736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25" r="12234" b="19858"/>
          <a:stretch>
            <a:fillRect/>
          </a:stretch>
        </p:blipFill>
        <p:spPr>
          <a:xfrm>
            <a:off x="3881336" y="1078706"/>
            <a:ext cx="8310664" cy="57792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1A84F9-3937-DF8A-5642-3FD32EC0F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52" y="1219745"/>
            <a:ext cx="5758774" cy="1825096"/>
          </a:xfrm>
          <a:noFill/>
        </p:spPr>
        <p:txBody>
          <a:bodyPr/>
          <a:lstStyle/>
          <a:p>
            <a:r>
              <a:rPr lang="en-US" dirty="0"/>
              <a:t>Personality &amp; </a:t>
            </a:r>
            <a:r>
              <a:rPr lang="en-US" dirty="0">
                <a:solidFill>
                  <a:srgbClr val="FFC000"/>
                </a:solidFill>
              </a:rPr>
              <a:t>Character</a:t>
            </a:r>
            <a:endParaRPr lang="en-GB" dirty="0">
              <a:solidFill>
                <a:srgbClr val="FFC000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E69B338-B9D4-966D-9B7F-8295D3C59E7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38720" y="3641928"/>
            <a:ext cx="3954293" cy="214603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rgbClr val="8E3D78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3D78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8E3D78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8E3D78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8E3D78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Instructor</a:t>
            </a:r>
            <a:r>
              <a:rPr lang="en-GB" sz="1600" dirty="0">
                <a:solidFill>
                  <a:schemeClr val="tx1"/>
                </a:solidFill>
                <a:latin typeface="+mj-lt"/>
              </a:rPr>
              <a:t>:</a:t>
            </a:r>
            <a:r>
              <a:rPr lang="en-US" sz="1600" dirty="0">
                <a:solidFill>
                  <a:schemeClr val="tx1"/>
                </a:solidFill>
                <a:latin typeface="+mj-lt"/>
              </a:rPr>
              <a:t> Ali Raza Abbass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MBA (UK), PGD. Strategic Management &amp; Leadership (UK), BBA (Pak)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sz="1600" dirty="0">
                <a:solidFill>
                  <a:schemeClr val="tx1"/>
                </a:solidFill>
                <a:latin typeface="+mj-lt"/>
              </a:rPr>
              <a:t>Certified Digital Marketer (META, Google, DMI UK)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sz="1600" dirty="0">
                <a:solidFill>
                  <a:schemeClr val="tx1"/>
                </a:solidFill>
                <a:latin typeface="+mj-lt"/>
              </a:rPr>
              <a:t>Master Trainer</a:t>
            </a:r>
          </a:p>
        </p:txBody>
      </p:sp>
    </p:spTree>
    <p:extLst>
      <p:ext uri="{BB962C8B-B14F-4D97-AF65-F5344CB8AC3E}">
        <p14:creationId xmlns:p14="http://schemas.microsoft.com/office/powerpoint/2010/main" val="4123913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879E3D-4853-22FC-D109-28A59849E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110" y="1974715"/>
            <a:ext cx="6687211" cy="4883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0B6809-B298-9740-26EB-AD5257337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– Foundation of Ethical Action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6B33E-5769-934C-B50D-A66C56698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17" y="2685216"/>
            <a:ext cx="7115783" cy="4775899"/>
          </a:xfrm>
        </p:spPr>
        <p:txBody>
          <a:bodyPr/>
          <a:lstStyle/>
          <a:p>
            <a:r>
              <a:rPr lang="en-US" b="1" dirty="0"/>
              <a:t>Character:</a:t>
            </a:r>
            <a:r>
              <a:rPr lang="en-US" dirty="0"/>
              <a:t> The sum of an individual's moral and ethical qualities; their consistent disposition towards good or bad actions. It's about </a:t>
            </a:r>
            <a:r>
              <a:rPr lang="en-US" i="1" dirty="0"/>
              <a:t>who you are</a:t>
            </a:r>
            <a:r>
              <a:rPr lang="en-US" dirty="0"/>
              <a:t> when no one is watching.</a:t>
            </a:r>
          </a:p>
          <a:p>
            <a:r>
              <a:rPr lang="en-US" b="1" dirty="0"/>
              <a:t>Personality:</a:t>
            </a:r>
            <a:r>
              <a:rPr lang="en-US" dirty="0"/>
              <a:t> The combination of characteristics or qualities that form an individual's distinct character. It's about </a:t>
            </a:r>
            <a:r>
              <a:rPr lang="en-US" i="1" dirty="0"/>
              <a:t>how you tend to behave and interact</a:t>
            </a:r>
            <a:r>
              <a:rPr lang="en-US" dirty="0"/>
              <a:t> with the world.</a:t>
            </a:r>
          </a:p>
          <a:p>
            <a:r>
              <a:rPr lang="en-US" b="1" dirty="0"/>
              <a:t>Why does this matter in Ethics?</a:t>
            </a:r>
            <a:r>
              <a:rPr lang="en-US" dirty="0"/>
              <a:t> Our character and personality profoundly influence our ethical decision-making and actions.</a:t>
            </a:r>
          </a:p>
        </p:txBody>
      </p:sp>
    </p:spTree>
    <p:extLst>
      <p:ext uri="{BB962C8B-B14F-4D97-AF65-F5344CB8AC3E}">
        <p14:creationId xmlns:p14="http://schemas.microsoft.com/office/powerpoint/2010/main" val="518433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0F6E95-754F-8581-3D73-A0AAFA453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41664"/>
            <a:ext cx="6209490" cy="49178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967799-05C9-9B0B-CCEF-EEAD1EEA4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– A deeper Dive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48D7D-2746-A09C-78B3-A10DAA810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059" y="2418297"/>
            <a:ext cx="7563255" cy="4024125"/>
          </a:xfrm>
        </p:spPr>
        <p:txBody>
          <a:bodyPr/>
          <a:lstStyle/>
          <a:p>
            <a:r>
              <a:rPr lang="en-US" b="1" dirty="0"/>
              <a:t>Virtues:</a:t>
            </a:r>
            <a:r>
              <a:rPr lang="en-US" dirty="0"/>
              <a:t> Positive character traits (e.g., honesty, courage, compassion, justice).</a:t>
            </a:r>
          </a:p>
          <a:p>
            <a:r>
              <a:rPr lang="en-US" b="1" dirty="0"/>
              <a:t>Vices:</a:t>
            </a:r>
            <a:r>
              <a:rPr lang="en-US" dirty="0"/>
              <a:t> Negative character traits (e.g., dishonesty, cowardice, cruelty, injustice).</a:t>
            </a:r>
          </a:p>
          <a:p>
            <a:r>
              <a:rPr lang="en-US" b="1" dirty="0"/>
              <a:t>Moral Character:</a:t>
            </a:r>
            <a:r>
              <a:rPr lang="en-US" dirty="0"/>
              <a:t> The strength and consistency of one's virtues. A person of strong moral character consistently acts in accordance with ethical principles.</a:t>
            </a:r>
          </a:p>
          <a:p>
            <a:r>
              <a:rPr lang="en-US" b="1" dirty="0"/>
              <a:t>The Development of Character:</a:t>
            </a:r>
            <a:r>
              <a:rPr lang="en-US" dirty="0"/>
              <a:t> Character isn't innate; it's developed over time through habituation, education, experience, and reflection.</a:t>
            </a:r>
          </a:p>
        </p:txBody>
      </p:sp>
    </p:spTree>
    <p:extLst>
      <p:ext uri="{BB962C8B-B14F-4D97-AF65-F5344CB8AC3E}">
        <p14:creationId xmlns:p14="http://schemas.microsoft.com/office/powerpoint/2010/main" val="1784048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5167ED-52EB-E5E0-7049-3B9AC9926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41"/>
          <a:stretch>
            <a:fillRect/>
          </a:stretch>
        </p:blipFill>
        <p:spPr>
          <a:xfrm>
            <a:off x="6770451" y="639316"/>
            <a:ext cx="5685877" cy="63743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817961-D26E-7A95-84A0-9B4183A26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Aristotle and Vir</a:t>
            </a:r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tue Ethi</a:t>
            </a:r>
            <a:r>
              <a:rPr lang="en-GB" dirty="0"/>
              <a:t>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002D-072F-0BB6-82AB-CB10AA9C0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7641077" cy="4024125"/>
          </a:xfrm>
        </p:spPr>
        <p:txBody>
          <a:bodyPr/>
          <a:lstStyle/>
          <a:p>
            <a:r>
              <a:rPr lang="en-US" b="1" dirty="0"/>
              <a:t>Central Idea:</a:t>
            </a:r>
            <a:r>
              <a:rPr lang="en-US" dirty="0"/>
              <a:t> Ethical action stems from good character. Focus on </a:t>
            </a:r>
            <a:r>
              <a:rPr lang="en-US" i="1" dirty="0"/>
              <a:t>being</a:t>
            </a:r>
            <a:r>
              <a:rPr lang="en-US" dirty="0"/>
              <a:t> a good person, rather than just </a:t>
            </a:r>
            <a:r>
              <a:rPr lang="en-US" i="1" dirty="0"/>
              <a:t>doing</a:t>
            </a:r>
            <a:r>
              <a:rPr lang="en-US" dirty="0"/>
              <a:t> good actions.</a:t>
            </a:r>
          </a:p>
          <a:p>
            <a:r>
              <a:rPr lang="en-US" b="1" dirty="0"/>
              <a:t>Eudaimonia (Flourishing):</a:t>
            </a:r>
            <a:r>
              <a:rPr lang="en-US" dirty="0"/>
              <a:t> The ultimate goal of human life, achieved through living a virtuous life.</a:t>
            </a:r>
          </a:p>
          <a:p>
            <a:r>
              <a:rPr lang="en-US" b="1" dirty="0"/>
              <a:t>The Golden Mean:</a:t>
            </a:r>
            <a:r>
              <a:rPr lang="en-US" dirty="0"/>
              <a:t> Virtues often lie between two extremes (vices).</a:t>
            </a:r>
          </a:p>
          <a:p>
            <a:pPr lvl="1"/>
            <a:r>
              <a:rPr lang="en-US" i="1" dirty="0"/>
              <a:t>Courage</a:t>
            </a:r>
            <a:r>
              <a:rPr lang="en-US" dirty="0"/>
              <a:t> is the mean between </a:t>
            </a:r>
            <a:r>
              <a:rPr lang="en-US" i="1" dirty="0"/>
              <a:t>cowardice</a:t>
            </a:r>
            <a:r>
              <a:rPr lang="en-US" dirty="0"/>
              <a:t> and </a:t>
            </a:r>
            <a:r>
              <a:rPr lang="en-US" i="1" dirty="0"/>
              <a:t>recklessness</a:t>
            </a:r>
            <a:r>
              <a:rPr lang="en-US" dirty="0"/>
              <a:t>.</a:t>
            </a:r>
          </a:p>
          <a:p>
            <a:pPr lvl="1"/>
            <a:r>
              <a:rPr lang="en-US" i="1" dirty="0"/>
              <a:t>Generosity</a:t>
            </a:r>
            <a:r>
              <a:rPr lang="en-US" dirty="0"/>
              <a:t> is the mean between </a:t>
            </a:r>
            <a:r>
              <a:rPr lang="en-US" i="1" dirty="0"/>
              <a:t>stinginess</a:t>
            </a:r>
            <a:r>
              <a:rPr lang="en-US" dirty="0"/>
              <a:t> and </a:t>
            </a:r>
            <a:r>
              <a:rPr lang="en-US" i="1" dirty="0"/>
              <a:t>profligacy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68521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BD6100-CCAB-5DF4-9053-E7A07D874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747" y="1651187"/>
            <a:ext cx="5033253" cy="52068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A4F678-16EA-CF64-F981-FDB27867F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Personality - How We Engage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F3A10-40E2-80CA-C72B-10EC21C9F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198" y="2057401"/>
            <a:ext cx="6921230" cy="5038926"/>
          </a:xfrm>
        </p:spPr>
        <p:txBody>
          <a:bodyPr>
            <a:normAutofit/>
          </a:bodyPr>
          <a:lstStyle/>
          <a:p>
            <a:r>
              <a:rPr lang="en-GB" b="1" dirty="0"/>
              <a:t>Big Five Personality Traits (OCEAN):</a:t>
            </a:r>
            <a:endParaRPr lang="en-GB" dirty="0"/>
          </a:p>
          <a:p>
            <a:pPr lvl="1"/>
            <a:r>
              <a:rPr lang="en-GB" b="1" dirty="0"/>
              <a:t>Openness to Experience:</a:t>
            </a:r>
            <a:r>
              <a:rPr lang="en-GB" dirty="0"/>
              <a:t> Imaginative, curious vs. practical, conventional.</a:t>
            </a:r>
          </a:p>
          <a:p>
            <a:pPr lvl="1"/>
            <a:r>
              <a:rPr lang="en-GB" b="1" dirty="0"/>
              <a:t>Conscientiousness:</a:t>
            </a:r>
            <a:r>
              <a:rPr lang="en-GB" dirty="0"/>
              <a:t> Organized, disciplined vs. careless, impulsive.</a:t>
            </a:r>
          </a:p>
          <a:p>
            <a:pPr lvl="1"/>
            <a:r>
              <a:rPr lang="en-GB" b="1" dirty="0"/>
              <a:t>Extraversion:</a:t>
            </a:r>
            <a:r>
              <a:rPr lang="en-GB" dirty="0"/>
              <a:t> Outgoing, energetic vs. solitary, reserved.</a:t>
            </a:r>
          </a:p>
          <a:p>
            <a:pPr lvl="1"/>
            <a:r>
              <a:rPr lang="en-GB" b="1" dirty="0"/>
              <a:t>Agreeableness:</a:t>
            </a:r>
            <a:r>
              <a:rPr lang="en-GB" dirty="0"/>
              <a:t> Compassionate, cooperative vs. antagonistic, uncooperative.</a:t>
            </a:r>
          </a:p>
          <a:p>
            <a:pPr lvl="1"/>
            <a:r>
              <a:rPr lang="en-GB" b="1" dirty="0"/>
              <a:t>Neuroticism:</a:t>
            </a:r>
            <a:r>
              <a:rPr lang="en-GB" dirty="0"/>
              <a:t> Anxious, insecure vs. calm, secure.</a:t>
            </a:r>
          </a:p>
          <a:p>
            <a:r>
              <a:rPr lang="en-GB" b="1" dirty="0"/>
              <a:t>Temperament:</a:t>
            </a:r>
            <a:r>
              <a:rPr lang="en-GB" dirty="0"/>
              <a:t> Innate aspects of personality, often genetically influenced (e.g., reactivity, mood).</a:t>
            </a:r>
          </a:p>
        </p:txBody>
      </p:sp>
    </p:spTree>
    <p:extLst>
      <p:ext uri="{BB962C8B-B14F-4D97-AF65-F5344CB8AC3E}">
        <p14:creationId xmlns:p14="http://schemas.microsoft.com/office/powerpoint/2010/main" val="983687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D1C9F4-8F05-3BB4-E8CC-E86CC1CDE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391" y="1249269"/>
            <a:ext cx="5762017" cy="57449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A894F2-2974-9E87-8322-1E6079D8B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Interplay: Character &amp; Personality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C03AA-0567-93C4-7207-B4841EDF0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234" y="1990279"/>
            <a:ext cx="6502940" cy="4867721"/>
          </a:xfrm>
        </p:spPr>
        <p:txBody>
          <a:bodyPr>
            <a:normAutofit/>
          </a:bodyPr>
          <a:lstStyle/>
          <a:p>
            <a:r>
              <a:rPr lang="en-US" dirty="0"/>
              <a:t>Personality traits can make certain ethical actions easier or harder.</a:t>
            </a:r>
          </a:p>
          <a:p>
            <a:pPr lvl="1"/>
            <a:r>
              <a:rPr lang="en-US" dirty="0"/>
              <a:t>An </a:t>
            </a:r>
            <a:r>
              <a:rPr lang="en-US" b="1" dirty="0"/>
              <a:t>agreeable</a:t>
            </a:r>
            <a:r>
              <a:rPr lang="en-US" dirty="0"/>
              <a:t> person might find compassion easier to express.</a:t>
            </a:r>
          </a:p>
          <a:p>
            <a:pPr lvl="1"/>
            <a:r>
              <a:rPr lang="en-US" dirty="0"/>
              <a:t>A highly </a:t>
            </a:r>
            <a:r>
              <a:rPr lang="en-US" b="1" dirty="0"/>
              <a:t>conscientious</a:t>
            </a:r>
            <a:r>
              <a:rPr lang="en-US" dirty="0"/>
              <a:t> person might be more reliable in fulfilling duties.</a:t>
            </a:r>
          </a:p>
          <a:p>
            <a:r>
              <a:rPr lang="en-US" dirty="0"/>
              <a:t>Character provides the </a:t>
            </a:r>
            <a:r>
              <a:rPr lang="en-US" i="1" dirty="0"/>
              <a:t>moral compass</a:t>
            </a:r>
            <a:r>
              <a:rPr lang="en-US" dirty="0"/>
              <a:t>; personality influences </a:t>
            </a:r>
            <a:r>
              <a:rPr lang="en-US" i="1" dirty="0"/>
              <a:t>how that compass is used</a:t>
            </a:r>
            <a:r>
              <a:rPr lang="en-US" dirty="0"/>
              <a:t> in real-world situations.</a:t>
            </a:r>
          </a:p>
          <a:p>
            <a:r>
              <a:rPr lang="en-US" b="1" dirty="0"/>
              <a:t>Example:</a:t>
            </a:r>
            <a:r>
              <a:rPr lang="en-US" dirty="0"/>
              <a:t> Two people may value honesty (character). One might be introverted (personality) and express honesty through quiet integrity, while another, extraverted, might be a vocal advocate for truth.</a:t>
            </a:r>
          </a:p>
        </p:txBody>
      </p:sp>
    </p:spTree>
    <p:extLst>
      <p:ext uri="{BB962C8B-B14F-4D97-AF65-F5344CB8AC3E}">
        <p14:creationId xmlns:p14="http://schemas.microsoft.com/office/powerpoint/2010/main" val="220520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09925E-2255-C5D2-341D-4C8B6FEF7C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012" y="2057401"/>
            <a:ext cx="7143988" cy="47202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12EF51-B833-4912-47F8-A7C80B4E2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Personality Challenges Character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F31D9-7D0B-6159-CE25-F0F0DB340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506" y="2405474"/>
            <a:ext cx="6609945" cy="4024125"/>
          </a:xfrm>
        </p:spPr>
        <p:txBody>
          <a:bodyPr/>
          <a:lstStyle/>
          <a:p>
            <a:r>
              <a:rPr lang="en-US" b="1" dirty="0"/>
              <a:t>Bias and Prejudice:</a:t>
            </a:r>
            <a:r>
              <a:rPr lang="en-US" dirty="0"/>
              <a:t> Personality traits can sometimes predispose individuals to biases that challenge ethical character (e.g., low openness leading to resistance to new ideas or groups).</a:t>
            </a:r>
          </a:p>
          <a:p>
            <a:r>
              <a:rPr lang="en-US" b="1" dirty="0"/>
              <a:t>Self-Serving Bias:</a:t>
            </a:r>
            <a:r>
              <a:rPr lang="en-US" dirty="0"/>
              <a:t> Our inherent desire to see ourselves positively can lead to rationalizing unethical behavior.</a:t>
            </a:r>
          </a:p>
          <a:p>
            <a:r>
              <a:rPr lang="en-US" b="1" dirty="0"/>
              <a:t>Situational Ethics:</a:t>
            </a:r>
            <a:r>
              <a:rPr lang="en-US" dirty="0"/>
              <a:t> While character should be consistent, our personality might make us more susceptible to situational pressures that compromise our ethical resolve.</a:t>
            </a:r>
          </a:p>
        </p:txBody>
      </p:sp>
    </p:spTree>
    <p:extLst>
      <p:ext uri="{BB962C8B-B14F-4D97-AF65-F5344CB8AC3E}">
        <p14:creationId xmlns:p14="http://schemas.microsoft.com/office/powerpoint/2010/main" val="3511508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49E63F-F37E-817E-3230-5149423FD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8"/>
          <a:stretch>
            <a:fillRect/>
          </a:stretch>
        </p:blipFill>
        <p:spPr>
          <a:xfrm>
            <a:off x="6167335" y="2091242"/>
            <a:ext cx="5943601" cy="49778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9B1FDA-A5C8-6AA2-5A23-D88659D28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Nature vs. Nurture - Shaping Our Moral Selves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F4DCB-AF2B-A9D3-69AE-C2274C94F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01177"/>
            <a:ext cx="7611894" cy="4722777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Nature (Innate Factors):</a:t>
            </a:r>
            <a:endParaRPr lang="en-US" dirty="0"/>
          </a:p>
          <a:p>
            <a:pPr lvl="1"/>
            <a:r>
              <a:rPr lang="en-US" b="1" dirty="0"/>
              <a:t>Genetics:</a:t>
            </a:r>
            <a:r>
              <a:rPr lang="en-US" dirty="0"/>
              <a:t> Some predispositions for temperament and certain personality traits (e.g., neuroticism, extraversion) have a genetic component.</a:t>
            </a:r>
          </a:p>
          <a:p>
            <a:pPr lvl="1"/>
            <a:r>
              <a:rPr lang="en-US" b="1" dirty="0"/>
              <a:t>Early Brain Development:</a:t>
            </a:r>
            <a:r>
              <a:rPr lang="en-US" dirty="0"/>
              <a:t> Biological factors can influence emotional regulation and impulse control.</a:t>
            </a:r>
          </a:p>
          <a:p>
            <a:pPr lvl="1"/>
            <a:r>
              <a:rPr lang="en-US" i="1" dirty="0"/>
              <a:t>Influence on Character:</a:t>
            </a:r>
            <a:r>
              <a:rPr lang="en-US" dirty="0"/>
              <a:t> May make some virtues or vices naturally harder or easier to cultivate.</a:t>
            </a:r>
          </a:p>
          <a:p>
            <a:r>
              <a:rPr lang="en-US" b="1" dirty="0"/>
              <a:t>Nurture (Environmental Factors):</a:t>
            </a:r>
            <a:endParaRPr lang="en-US" dirty="0"/>
          </a:p>
          <a:p>
            <a:pPr lvl="1"/>
            <a:r>
              <a:rPr lang="en-US" b="1" dirty="0"/>
              <a:t>Upbringing &amp; Parenting:</a:t>
            </a:r>
            <a:r>
              <a:rPr lang="en-US" dirty="0"/>
              <a:t> Values instilled, role modeling, discipline, and emotional support.</a:t>
            </a:r>
          </a:p>
          <a:p>
            <a:pPr lvl="1"/>
            <a:r>
              <a:rPr lang="en-US" b="1" dirty="0"/>
              <a:t>Education:</a:t>
            </a:r>
            <a:r>
              <a:rPr lang="en-US" dirty="0"/>
              <a:t> Formal learning, moral reasoning skills, exposure to diverse perspectives.</a:t>
            </a:r>
          </a:p>
          <a:p>
            <a:pPr lvl="1"/>
            <a:r>
              <a:rPr lang="en-US" b="1" dirty="0"/>
              <a:t>Social &amp; Cultural Environment:</a:t>
            </a:r>
            <a:r>
              <a:rPr lang="en-US" dirty="0"/>
              <a:t> Community norms, peer influence, societal expectations, media.</a:t>
            </a:r>
          </a:p>
          <a:p>
            <a:pPr lvl="1"/>
            <a:r>
              <a:rPr lang="en-US" b="1" dirty="0"/>
              <a:t>Life Experiences:</a:t>
            </a:r>
            <a:r>
              <a:rPr lang="en-US" dirty="0"/>
              <a:t> Major events, challenges, successes, and relationships.</a:t>
            </a:r>
          </a:p>
          <a:p>
            <a:pPr lvl="1"/>
            <a:r>
              <a:rPr lang="en-US" i="1" dirty="0"/>
              <a:t>Influence on Character:</a:t>
            </a:r>
            <a:r>
              <a:rPr lang="en-US" dirty="0"/>
              <a:t> Primarily shapes the development of virtues and the habituation of ethical behavior.</a:t>
            </a:r>
          </a:p>
          <a:p>
            <a:r>
              <a:rPr lang="en-US" b="1" dirty="0"/>
              <a:t>The Interaction:</a:t>
            </a:r>
            <a:r>
              <a:rPr lang="en-US" dirty="0"/>
              <a:t> It's rarely one or the other. Our innate predispositions interact with our environment to forge our unique character and personality.</a:t>
            </a:r>
          </a:p>
          <a:p>
            <a:pPr lvl="1"/>
            <a:r>
              <a:rPr lang="en-US" dirty="0"/>
              <a:t>A genetic predisposition for impulsivity (nature) might be mitigated or exacerbated by parental guidance and social norms (nurture).</a:t>
            </a:r>
          </a:p>
          <a:p>
            <a:pPr lvl="1"/>
            <a:r>
              <a:rPr lang="en-US" dirty="0"/>
              <a:t>Ethical development is a dynamic process of managing natural tendencies through learned moral frameworks and practices.</a:t>
            </a:r>
          </a:p>
        </p:txBody>
      </p:sp>
    </p:spTree>
    <p:extLst>
      <p:ext uri="{BB962C8B-B14F-4D97-AF65-F5344CB8AC3E}">
        <p14:creationId xmlns:p14="http://schemas.microsoft.com/office/powerpoint/2010/main" val="1923975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935A2A-B610-E350-2C90-0FE2A6B464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997" y="1759896"/>
            <a:ext cx="5441004" cy="54410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1C5E7A-D149-7A0C-11FF-09B043A1F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Cultivating Ethical Character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06BDC-9FF3-66F5-9E75-D5C071792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055" y="2603121"/>
            <a:ext cx="7903724" cy="4024125"/>
          </a:xfrm>
        </p:spPr>
        <p:txBody>
          <a:bodyPr/>
          <a:lstStyle/>
          <a:p>
            <a:r>
              <a:rPr lang="en-US" b="1" dirty="0"/>
              <a:t>Self-Awareness:</a:t>
            </a:r>
            <a:r>
              <a:rPr lang="en-US" dirty="0"/>
              <a:t> Understanding your own biases, strengths, and weaknesses.</a:t>
            </a:r>
          </a:p>
          <a:p>
            <a:r>
              <a:rPr lang="en-US" b="1" dirty="0"/>
              <a:t>Moral Imagination:</a:t>
            </a:r>
            <a:r>
              <a:rPr lang="en-US" dirty="0"/>
              <a:t> The ability to envision various ethical outcomes and perspectives.</a:t>
            </a:r>
          </a:p>
          <a:p>
            <a:r>
              <a:rPr lang="en-US" b="1" dirty="0"/>
              <a:t>Practice and Habituation:</a:t>
            </a:r>
            <a:r>
              <a:rPr lang="en-US" dirty="0"/>
              <a:t> Regularly choosing virtuous actions, even small ones, strengthens character.</a:t>
            </a:r>
          </a:p>
          <a:p>
            <a:r>
              <a:rPr lang="en-US" b="1" dirty="0"/>
              <a:t>Reflection:</a:t>
            </a:r>
            <a:r>
              <a:rPr lang="en-US" dirty="0"/>
              <a:t> Learning from ethical dilemmas and personal failures.</a:t>
            </a:r>
          </a:p>
          <a:p>
            <a:r>
              <a:rPr lang="en-US" b="1" dirty="0"/>
              <a:t>Seeking Role Models:</a:t>
            </a:r>
            <a:r>
              <a:rPr lang="en-US" dirty="0"/>
              <a:t> Observing and learning from individuals with strong moral character.</a:t>
            </a:r>
          </a:p>
        </p:txBody>
      </p:sp>
    </p:spTree>
    <p:extLst>
      <p:ext uri="{BB962C8B-B14F-4D97-AF65-F5344CB8AC3E}">
        <p14:creationId xmlns:p14="http://schemas.microsoft.com/office/powerpoint/2010/main" val="2292943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EF215-61DC-92B5-B2D1-284117CD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Personality Be Changed for the Better Ethically?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C681C-C367-F67D-C0A1-B0DFF1334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64" y="2401857"/>
            <a:ext cx="6853136" cy="4024125"/>
          </a:xfrm>
        </p:spPr>
        <p:txBody>
          <a:bodyPr/>
          <a:lstStyle/>
          <a:p>
            <a:r>
              <a:rPr lang="en-US" b="1" dirty="0"/>
              <a:t>Core Traits vs. Behaviors:</a:t>
            </a:r>
            <a:r>
              <a:rPr lang="en-US" dirty="0"/>
              <a:t> While core personality traits are relatively stable, our behaviors and habits can be modified.</a:t>
            </a:r>
          </a:p>
          <a:p>
            <a:r>
              <a:rPr lang="en-US" b="1" dirty="0"/>
              <a:t>Growth Mindset:</a:t>
            </a:r>
            <a:r>
              <a:rPr lang="en-US" dirty="0"/>
              <a:t> Believing that one's abilities and intelligence can be developed through dedication and hard work (Dweck). This applies to ethical growth too!</a:t>
            </a:r>
          </a:p>
          <a:p>
            <a:r>
              <a:rPr lang="en-US" b="1" dirty="0"/>
              <a:t>Targeted Development:</a:t>
            </a:r>
            <a:r>
              <a:rPr lang="en-US" dirty="0"/>
              <a:t> Focusing on specific areas where personality might hinder ethical action (e.g., consciously practicing empathy if naturally low in agreeableness).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408608-68C8-F84D-56DC-C5020D33D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021" y="2401857"/>
            <a:ext cx="4377447" cy="398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263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50A15-D13D-1F9C-4B08-08B9669B1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&amp; Personality in Professional Ethics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7EDAA-A58D-147B-8D11-D40958FE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608" y="2579548"/>
            <a:ext cx="5870643" cy="4024125"/>
          </a:xfrm>
        </p:spPr>
        <p:txBody>
          <a:bodyPr/>
          <a:lstStyle/>
          <a:p>
            <a:r>
              <a:rPr lang="en-US" b="1" dirty="0"/>
              <a:t>Integrity:</a:t>
            </a:r>
            <a:r>
              <a:rPr lang="en-US" dirty="0"/>
              <a:t> Essential for trust in any profession.</a:t>
            </a:r>
          </a:p>
          <a:p>
            <a:r>
              <a:rPr lang="en-US" b="1" dirty="0"/>
              <a:t>Responsibility:</a:t>
            </a:r>
            <a:r>
              <a:rPr lang="en-US" dirty="0"/>
              <a:t> Taking ownership of actions and their consequences.</a:t>
            </a:r>
          </a:p>
          <a:p>
            <a:r>
              <a:rPr lang="en-US" b="1" dirty="0"/>
              <a:t>Professionalism:</a:t>
            </a:r>
            <a:r>
              <a:rPr lang="en-US" dirty="0"/>
              <a:t> Behaving in a manner consistent with ethical standards, regardless of personal feelings.</a:t>
            </a:r>
          </a:p>
          <a:p>
            <a:r>
              <a:rPr lang="en-US" b="1" dirty="0"/>
              <a:t>Ethical Leadership:</a:t>
            </a:r>
            <a:r>
              <a:rPr lang="en-US" dirty="0"/>
              <a:t> Leaders with strong character inspire moral behavior in others.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F147B7-379D-3B6A-3DD0-8708910BB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19"/>
          <a:stretch>
            <a:fillRect/>
          </a:stretch>
        </p:blipFill>
        <p:spPr>
          <a:xfrm>
            <a:off x="6847356" y="2305455"/>
            <a:ext cx="4902036" cy="429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594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35B46-65E0-DCB3-FF0D-0A0589209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683" y="3069203"/>
            <a:ext cx="8527070" cy="1400530"/>
          </a:xfrm>
        </p:spPr>
        <p:txBody>
          <a:bodyPr>
            <a:noAutofit/>
          </a:bodyPr>
          <a:lstStyle/>
          <a:p>
            <a:r>
              <a:rPr lang="en-US" altLang="en-US" sz="8000" dirty="0">
                <a:solidFill>
                  <a:srgbClr val="FFC000"/>
                </a:solidFill>
              </a:rPr>
              <a:t>That’s all</a:t>
            </a:r>
            <a:r>
              <a:rPr lang="en-US" altLang="en-US" sz="8000" dirty="0">
                <a:solidFill>
                  <a:schemeClr val="bg1"/>
                </a:solidFill>
              </a:rPr>
              <a:t> </a:t>
            </a:r>
            <a:r>
              <a:rPr lang="en-US" altLang="en-US" sz="8000" b="1" i="1" dirty="0">
                <a:solidFill>
                  <a:schemeClr val="tx1"/>
                </a:solidFill>
              </a:rPr>
              <a:t>for today</a:t>
            </a:r>
            <a:r>
              <a:rPr lang="en-US" altLang="en-US" sz="8000" b="1" dirty="0">
                <a:solidFill>
                  <a:schemeClr val="tx1"/>
                </a:solidFill>
              </a:rPr>
              <a:t> folks!!</a:t>
            </a:r>
            <a:endParaRPr lang="en-GB" sz="8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147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51</TotalTime>
  <Words>975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Century Gothic</vt:lpstr>
      <vt:lpstr>Vapor Trail</vt:lpstr>
      <vt:lpstr>Personality &amp; Character</vt:lpstr>
      <vt:lpstr>Introduction – Foundation of Ethical Action</vt:lpstr>
      <vt:lpstr>Character – A deeper Dive</vt:lpstr>
      <vt:lpstr>Aristotle and Virtue Ethics</vt:lpstr>
      <vt:lpstr>Personality - How We Engage</vt:lpstr>
      <vt:lpstr>The Interplay: Character &amp; Personality</vt:lpstr>
      <vt:lpstr>When Personality Challenges Character</vt:lpstr>
      <vt:lpstr>Nature vs. Nurture - Shaping Our Moral Selves</vt:lpstr>
      <vt:lpstr>Cultivating Ethical Character</vt:lpstr>
      <vt:lpstr>Can Personality Be Changed for the Better Ethically?</vt:lpstr>
      <vt:lpstr>Character &amp; Personality in Professional Ethics</vt:lpstr>
      <vt:lpstr>That’s all for today folks!!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gandabacha69@gmail.com</dc:creator>
  <cp:lastModifiedBy>gandabacha69@gmail.com</cp:lastModifiedBy>
  <cp:revision>13</cp:revision>
  <dcterms:created xsi:type="dcterms:W3CDTF">2025-11-04T07:16:45Z</dcterms:created>
  <dcterms:modified xsi:type="dcterms:W3CDTF">2025-11-04T08:07:51Z</dcterms:modified>
</cp:coreProperties>
</file>