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8" r:id="rId5"/>
    <p:sldId id="269" r:id="rId6"/>
    <p:sldId id="271" r:id="rId7"/>
    <p:sldId id="272" r:id="rId8"/>
    <p:sldId id="260" r:id="rId9"/>
    <p:sldId id="259" r:id="rId10"/>
    <p:sldId id="261" r:id="rId11"/>
    <p:sldId id="262" r:id="rId12"/>
    <p:sldId id="263" r:id="rId13"/>
    <p:sldId id="264" r:id="rId14"/>
    <p:sldId id="265" r:id="rId15"/>
    <p:sldId id="266"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1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1A1D1885-EEB6-477F-B07A-091C6B133E5A}"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1A1D1885-EEB6-477F-B07A-091C6B133E5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9FFEB4B-E0D7-493A-A1B5-97D3B6A253D3}" type="datetimeFigureOut">
              <a:rPr lang="en-US" smtClean="0"/>
              <a:pPr/>
              <a:t>10/31/2017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D9FFEB4B-E0D7-493A-A1B5-97D3B6A253D3}" type="datetimeFigureOut">
              <a:rPr lang="en-US" smtClean="0"/>
              <a:pPr/>
              <a:t>10/31/2017</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1A1D1885-EEB6-477F-B07A-091C6B133E5A}"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Fast</a:t>
            </a:r>
            <a:br>
              <a:rPr lang="en-US" dirty="0" smtClean="0"/>
            </a:br>
            <a:r>
              <a:rPr lang="en-US" dirty="0"/>
              <a:t/>
            </a:r>
            <a:br>
              <a:rPr lang="en-US" dirty="0"/>
            </a:br>
            <a:r>
              <a:rPr lang="en-US" dirty="0" smtClean="0"/>
              <a:t/>
            </a:r>
            <a:br>
              <a:rPr lang="en-US" dirty="0" smtClean="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Meaning and concept</a:t>
            </a:r>
            <a:endParaRPr lang="en-US" dirty="0"/>
          </a:p>
        </p:txBody>
      </p:sp>
      <p:sp>
        <p:nvSpPr>
          <p:cNvPr id="3" name="Content Placeholder 2"/>
          <p:cNvSpPr>
            <a:spLocks noGrp="1"/>
          </p:cNvSpPr>
          <p:nvPr>
            <p:ph idx="1"/>
          </p:nvPr>
        </p:nvSpPr>
        <p:spPr/>
        <p:txBody>
          <a:bodyPr/>
          <a:lstStyle/>
          <a:p>
            <a:r>
              <a:rPr lang="en-US" dirty="0" smtClean="0"/>
              <a:t>It is the 4</a:t>
            </a:r>
            <a:r>
              <a:rPr lang="en-US" baseline="30000" dirty="0" smtClean="0"/>
              <a:t>th</a:t>
            </a:r>
            <a:r>
              <a:rPr lang="en-US" dirty="0" smtClean="0"/>
              <a:t> filler of Islam, the word </a:t>
            </a:r>
            <a:r>
              <a:rPr lang="en-US" dirty="0" err="1" smtClean="0"/>
              <a:t>saum</a:t>
            </a:r>
            <a:r>
              <a:rPr lang="en-US" dirty="0" smtClean="0"/>
              <a:t>/ </a:t>
            </a:r>
            <a:r>
              <a:rPr lang="en-US" dirty="0" err="1" smtClean="0"/>
              <a:t>siyam</a:t>
            </a:r>
            <a:r>
              <a:rPr lang="en-US" dirty="0" smtClean="0"/>
              <a:t> means to stop or to halt.</a:t>
            </a:r>
          </a:p>
          <a:p>
            <a:r>
              <a:rPr lang="en-US" dirty="0" smtClean="0"/>
              <a:t>In Islamic Terminology: to stop oneself from eating, drinking and conjugal relations from dawn to dusk.</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Importance in the light of Holy  Quran</a:t>
            </a:r>
            <a:endParaRPr lang="en-US" dirty="0"/>
          </a:p>
        </p:txBody>
      </p:sp>
      <p:sp>
        <p:nvSpPr>
          <p:cNvPr id="3" name="Content Placeholder 2"/>
          <p:cNvSpPr>
            <a:spLocks noGrp="1"/>
          </p:cNvSpPr>
          <p:nvPr>
            <p:ph idx="1"/>
          </p:nvPr>
        </p:nvSpPr>
        <p:spPr/>
        <p:txBody>
          <a:bodyPr>
            <a:normAutofit/>
          </a:bodyPr>
          <a:lstStyle/>
          <a:p>
            <a:r>
              <a:rPr lang="fa-IR" dirty="0"/>
              <a:t>يٰٓاَيُّهَا الَّذِيْنَ اٰمَنُوْا كُتِبَ عَلَيْكُمُ الصِّيَامُ كَمَا كُتِبَ عَلَي الَّذِيْنَ مِنْ قَبْلِكُمْ لَعَلَّكُمْ تَتَّقُوْنَ </a:t>
            </a:r>
            <a:endParaRPr lang="en-US" dirty="0" smtClean="0"/>
          </a:p>
          <a:p>
            <a:r>
              <a:rPr lang="en-US" dirty="0" smtClean="0"/>
              <a:t>It is obligatory on you as was on the previous people, so that you may gain piety.</a:t>
            </a:r>
          </a:p>
          <a:p>
            <a:r>
              <a:rPr lang="ar-AE" dirty="0"/>
              <a:t>فَمَن شَهِدَ مِنكُمُ الشَّهْرَ فَلْيَصُمْهُ </a:t>
            </a:r>
            <a:endParaRPr lang="en-US" dirty="0" smtClean="0"/>
          </a:p>
          <a:p>
            <a:r>
              <a:rPr lang="en-US" dirty="0" smtClean="0"/>
              <a:t>Whoever finds this month, he should fast</a:t>
            </a:r>
          </a:p>
          <a:p>
            <a:endParaRPr lang="en-US" dirty="0" smtClean="0"/>
          </a:p>
          <a:p>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Importance in the light of </a:t>
            </a:r>
            <a:r>
              <a:rPr lang="en-US" dirty="0" smtClean="0"/>
              <a:t>Hadith</a:t>
            </a:r>
            <a:endParaRPr lang="en-US" dirty="0"/>
          </a:p>
        </p:txBody>
      </p:sp>
      <p:sp>
        <p:nvSpPr>
          <p:cNvPr id="3" name="Content Placeholder 2"/>
          <p:cNvSpPr>
            <a:spLocks noGrp="1"/>
          </p:cNvSpPr>
          <p:nvPr>
            <p:ph idx="1"/>
          </p:nvPr>
        </p:nvSpPr>
        <p:spPr>
          <a:xfrm>
            <a:off x="457200" y="1600200"/>
            <a:ext cx="8229600" cy="5105400"/>
          </a:xfrm>
        </p:spPr>
        <p:txBody>
          <a:bodyPr>
            <a:normAutofit fontScale="70000" lnSpcReduction="20000"/>
          </a:bodyPr>
          <a:lstStyle/>
          <a:p>
            <a:r>
              <a:rPr lang="en-US" dirty="0" smtClean="0"/>
              <a:t>Each and everything has a zakat and the zakat of body is fast. ( </a:t>
            </a:r>
            <a:r>
              <a:rPr lang="en-US" dirty="0" err="1" smtClean="0"/>
              <a:t>ibne</a:t>
            </a:r>
            <a:r>
              <a:rPr lang="en-US" dirty="0" smtClean="0"/>
              <a:t> </a:t>
            </a:r>
            <a:r>
              <a:rPr lang="en-US" dirty="0" err="1" smtClean="0"/>
              <a:t>Maja</a:t>
            </a:r>
            <a:r>
              <a:rPr lang="en-US" dirty="0" smtClean="0"/>
              <a:t>)</a:t>
            </a:r>
          </a:p>
          <a:p>
            <a:r>
              <a:rPr lang="ar-AE" dirty="0" smtClean="0"/>
              <a:t>الصِّيَامُ </a:t>
            </a:r>
            <a:r>
              <a:rPr lang="ar-AE" dirty="0"/>
              <a:t>جُنَّةٌ</a:t>
            </a:r>
            <a:endParaRPr lang="en-US" dirty="0"/>
          </a:p>
          <a:p>
            <a:r>
              <a:rPr lang="en-US" dirty="0" smtClean="0"/>
              <a:t> </a:t>
            </a:r>
            <a:r>
              <a:rPr lang="en-US" dirty="0"/>
              <a:t>Fast is a shield</a:t>
            </a:r>
            <a:r>
              <a:rPr lang="en-US" dirty="0" smtClean="0"/>
              <a:t>.</a:t>
            </a:r>
          </a:p>
          <a:p>
            <a:r>
              <a:rPr lang="en-US" dirty="0"/>
              <a:t>Each act would be earn from ten to 700 virtue, except fast, it is for Me and I would award for it</a:t>
            </a:r>
            <a:r>
              <a:rPr lang="en-US" dirty="0" smtClean="0"/>
              <a:t>.</a:t>
            </a:r>
          </a:p>
          <a:p>
            <a:r>
              <a:rPr lang="ar-AE" dirty="0" smtClean="0"/>
              <a:t>الصِّيَامُ </a:t>
            </a:r>
            <a:r>
              <a:rPr lang="ar-AE" dirty="0"/>
              <a:t>لِي، وَأَنَا أَجْزِي </a:t>
            </a:r>
            <a:r>
              <a:rPr lang="ar-AE" dirty="0" smtClean="0"/>
              <a:t>بِهِ</a:t>
            </a:r>
            <a:r>
              <a:rPr lang="en-US" dirty="0" smtClean="0"/>
              <a:t>  </a:t>
            </a:r>
          </a:p>
          <a:p>
            <a:r>
              <a:rPr lang="en-US" dirty="0"/>
              <a:t>There is a gate in Paradise called </a:t>
            </a:r>
            <a:r>
              <a:rPr lang="en-US" dirty="0" err="1"/>
              <a:t>Ar-Raiyan</a:t>
            </a:r>
            <a:r>
              <a:rPr lang="en-US" dirty="0"/>
              <a:t>, and those who observe fasts will enter through it  </a:t>
            </a:r>
            <a:endParaRPr lang="en-US" dirty="0" smtClean="0"/>
          </a:p>
          <a:p>
            <a:r>
              <a:rPr lang="ar-AE" dirty="0" smtClean="0"/>
              <a:t>إِنَّ </a:t>
            </a:r>
            <a:r>
              <a:rPr lang="ar-AE" dirty="0"/>
              <a:t>فِي الْجَنَّةِ بَابًا يُقَالُ لَهُ الرَّيَّانُ، يَدْخُلُ مِنْهُ </a:t>
            </a:r>
            <a:r>
              <a:rPr lang="ar-AE" dirty="0" smtClean="0"/>
              <a:t>الصَّائِمُونَ</a:t>
            </a:r>
            <a:r>
              <a:rPr lang="en-US" dirty="0" smtClean="0"/>
              <a:t>   </a:t>
            </a:r>
          </a:p>
          <a:p>
            <a:r>
              <a:rPr lang="en-US" dirty="0" smtClean="0"/>
              <a:t>  </a:t>
            </a:r>
            <a:r>
              <a:rPr lang="en-US" dirty="0"/>
              <a:t>"When the month of Ramadan starts, the gates of the heaven are opened and the gates of Hell are closed and the devils are chained."</a:t>
            </a:r>
            <a:r>
              <a:rPr lang="en-US" dirty="0" smtClean="0"/>
              <a:t>        </a:t>
            </a:r>
          </a:p>
          <a:p>
            <a:r>
              <a:rPr lang="ar-AE" dirty="0" smtClean="0"/>
              <a:t>إِذَا </a:t>
            </a:r>
            <a:r>
              <a:rPr lang="ar-AE" dirty="0"/>
              <a:t>دَخَلَ شَهْرُ رَمَضَانَ فُتِّحَتْ أَبْوَابُ السَّمَاءِ، وَغُلِّقَتْ أَبْوَابُ جَهَنَّمَ، وَسُلْسِلَتِ </a:t>
            </a:r>
            <a:r>
              <a:rPr lang="ar-AE" dirty="0" smtClean="0"/>
              <a:t>الشَّيَاطِينُ</a:t>
            </a:r>
            <a:endParaRPr lang="en-US" dirty="0" smtClean="0"/>
          </a:p>
          <a:p>
            <a:endParaRPr lang="en-US" dirty="0"/>
          </a:p>
          <a:p>
            <a:r>
              <a:rPr lang="en-US" dirty="0" smtClean="0"/>
              <a:t>Month </a:t>
            </a:r>
            <a:r>
              <a:rPr lang="en-US" dirty="0"/>
              <a:t>o </a:t>
            </a:r>
            <a:r>
              <a:rPr lang="en-US" dirty="0" err="1"/>
              <a:t>Ramdhan</a:t>
            </a:r>
            <a:r>
              <a:rPr lang="en-US" dirty="0"/>
              <a:t> is the month of repentance, month of forgiveness and month of reward.</a:t>
            </a:r>
          </a:p>
          <a:p>
            <a:endParaRPr lang="en-US" dirty="0"/>
          </a:p>
        </p:txBody>
      </p:sp>
    </p:spTree>
    <p:extLst>
      <p:ext uri="{BB962C8B-B14F-4D97-AF65-F5344CB8AC3E}">
        <p14:creationId xmlns:p14="http://schemas.microsoft.com/office/powerpoint/2010/main" val="3163238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137160" indent="0" algn="r">
              <a:buNone/>
            </a:pPr>
            <a:r>
              <a:rPr lang="ar-AE" dirty="0" smtClean="0"/>
              <a:t>مَنِ </a:t>
            </a:r>
            <a:r>
              <a:rPr lang="ar-AE" dirty="0"/>
              <a:t>اسْتَطَاعَ الْبَاءَةَ فَلْيَتَزَوَّجْ، فَإِنَّهُ أَغَضُّ لِلْبَصَرِ وَأَحْصَنُ لِلْفَرْجِ، وَمَنْ لَمْ يَسْتَطِعْ فَعَلَيْهِ بِالصَّوْمِ، فَإِنَّهُ لَهُ وِجَاءٌ </a:t>
            </a:r>
            <a:r>
              <a:rPr lang="ar-AE" dirty="0" smtClean="0"/>
              <a:t>‏‏</a:t>
            </a:r>
            <a:endParaRPr lang="en-US" dirty="0" smtClean="0"/>
          </a:p>
          <a:p>
            <a:r>
              <a:rPr lang="en-US" smtClean="0"/>
              <a:t>He </a:t>
            </a:r>
            <a:r>
              <a:rPr lang="en-US" dirty="0"/>
              <a:t>who can afford to marry should marry, because it will help him refrain from looking at other women, and save his private parts from committing illegal sexual relation; </a:t>
            </a:r>
            <a:r>
              <a:rPr lang="en-US" dirty="0">
                <a:solidFill>
                  <a:srgbClr val="FF0000"/>
                </a:solidFill>
              </a:rPr>
              <a:t>and he who cannot afford to marry is advised to fast, </a:t>
            </a:r>
            <a:r>
              <a:rPr lang="en-US" dirty="0">
                <a:solidFill>
                  <a:srgbClr val="00B050"/>
                </a:solidFill>
              </a:rPr>
              <a:t>as fasting will diminish his sexual </a:t>
            </a:r>
            <a:r>
              <a:rPr lang="en-US">
                <a:solidFill>
                  <a:srgbClr val="00B050"/>
                </a:solidFill>
              </a:rPr>
              <a:t>power</a:t>
            </a:r>
            <a:r>
              <a:rPr lang="en-US" smtClean="0"/>
              <a:t>.</a:t>
            </a:r>
            <a:endParaRPr lang="en-US" dirty="0"/>
          </a:p>
        </p:txBody>
      </p:sp>
    </p:spTree>
    <p:extLst>
      <p:ext uri="{BB962C8B-B14F-4D97-AF65-F5344CB8AC3E}">
        <p14:creationId xmlns:p14="http://schemas.microsoft.com/office/powerpoint/2010/main" val="167271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ar-AE" dirty="0"/>
              <a:t>‏ لاَ يَزَالُ النَّاسُ بِخَيْرٍ مَا عَجَّلُوا الْفِطْرَ ‏"‏‏.</a:t>
            </a:r>
            <a:r>
              <a:rPr lang="ar-AE" dirty="0" smtClean="0"/>
              <a:t>‏</a:t>
            </a:r>
            <a:endParaRPr lang="en-US" dirty="0" smtClean="0"/>
          </a:p>
          <a:p>
            <a:r>
              <a:rPr lang="en-US" dirty="0"/>
              <a:t>"The people will remain on the right path as </a:t>
            </a:r>
            <a:r>
              <a:rPr lang="en-US" dirty="0" smtClean="0"/>
              <a:t>long </a:t>
            </a:r>
            <a:r>
              <a:rPr lang="en-US" dirty="0"/>
              <a:t>as they hasten the breaking of the fast</a:t>
            </a:r>
            <a:r>
              <a:rPr lang="en-US" dirty="0" smtClean="0"/>
              <a:t>.“</a:t>
            </a:r>
          </a:p>
          <a:p>
            <a:pPr algn="r"/>
            <a:r>
              <a:rPr lang="ar-AE" dirty="0"/>
              <a:t>تَسَحَّرُوا فَإِنَّ فِي السَّحُورِ بَرَكَةً ‏“</a:t>
            </a:r>
            <a:endParaRPr lang="en-US" dirty="0"/>
          </a:p>
          <a:p>
            <a:r>
              <a:rPr lang="en-US" dirty="0"/>
              <a:t>"Take </a:t>
            </a:r>
            <a:r>
              <a:rPr lang="en-US" dirty="0" err="1"/>
              <a:t>Suhur</a:t>
            </a:r>
            <a:r>
              <a:rPr lang="en-US" dirty="0"/>
              <a:t> as there is a blessing in it.“</a:t>
            </a:r>
          </a:p>
          <a:p>
            <a:endParaRPr lang="en-US" dirty="0"/>
          </a:p>
        </p:txBody>
      </p:sp>
    </p:spTree>
    <p:extLst>
      <p:ext uri="{BB962C8B-B14F-4D97-AF65-F5344CB8AC3E}">
        <p14:creationId xmlns:p14="http://schemas.microsoft.com/office/powerpoint/2010/main" val="2152947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Fast in other nations</a:t>
            </a:r>
            <a:endParaRPr lang="en-US" dirty="0"/>
          </a:p>
        </p:txBody>
      </p:sp>
      <p:sp>
        <p:nvSpPr>
          <p:cNvPr id="3" name="Content Placeholder 2"/>
          <p:cNvSpPr>
            <a:spLocks noGrp="1"/>
          </p:cNvSpPr>
          <p:nvPr>
            <p:ph idx="1"/>
          </p:nvPr>
        </p:nvSpPr>
        <p:spPr>
          <a:xfrm>
            <a:off x="457200" y="1828800"/>
            <a:ext cx="8229600" cy="4800600"/>
          </a:xfrm>
        </p:spPr>
        <p:txBody>
          <a:bodyPr>
            <a:normAutofit fontScale="92500" lnSpcReduction="10000"/>
          </a:bodyPr>
          <a:lstStyle/>
          <a:p>
            <a:r>
              <a:rPr lang="en-US" dirty="0" smtClean="0"/>
              <a:t>Greeks , Egyptians and Romans use to fast in order to get rid of different dieses.</a:t>
            </a:r>
          </a:p>
          <a:p>
            <a:r>
              <a:rPr lang="en-US" dirty="0" smtClean="0"/>
              <a:t>Egyptians believed that fasting thrice in a month is necessary in order keep oneself fit physically and mentally.</a:t>
            </a:r>
          </a:p>
          <a:p>
            <a:r>
              <a:rPr lang="en-US" dirty="0" smtClean="0"/>
              <a:t>Barbaric tribes of Red Indians of North America used to give weightage to fasting</a:t>
            </a:r>
          </a:p>
          <a:p>
            <a:r>
              <a:rPr lang="en-US" dirty="0"/>
              <a:t> </a:t>
            </a:r>
            <a:r>
              <a:rPr lang="en-US" dirty="0" smtClean="0"/>
              <a:t>Ancient  Athenian  philosopher, Socrates and Plato used to fast for the sake of learning (knowledge)</a:t>
            </a:r>
            <a:endParaRPr lang="en-US" dirty="0"/>
          </a:p>
          <a:p>
            <a:endParaRPr lang="en-US" dirty="0"/>
          </a:p>
          <a:p>
            <a:pPr marL="137160" indent="0">
              <a:buNone/>
            </a:pPr>
            <a:r>
              <a:rPr lang="en-US" dirty="0" smtClean="0"/>
              <a:t> </a:t>
            </a:r>
            <a:endParaRPr lang="en-US" dirty="0"/>
          </a:p>
        </p:txBody>
      </p:sp>
    </p:spTree>
    <p:extLst>
      <p:ext uri="{BB962C8B-B14F-4D97-AF65-F5344CB8AC3E}">
        <p14:creationId xmlns:p14="http://schemas.microsoft.com/office/powerpoint/2010/main" val="3279308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fast is not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It is not virtue to fast during travelling.</a:t>
            </a:r>
          </a:p>
          <a:p>
            <a:pPr algn="r"/>
            <a:r>
              <a:rPr lang="ar-AE" dirty="0"/>
              <a:t>انَ رَسُولُ اللَّهِ صلى الله عليه وسلم فِي سَفَرٍ، فَرَأَى زِحَامًا، وَرَجُلاً قَدْ ظُلِّلَ عَلَيْهِ، فَقَالَ ‏"‏ مَا هَذَا ‏"‏‏.‏ فَقَالُوا صَائِمٌ‏.‏ فَقَالَ ‏"‏ لَيْسَ مِنَ الْبِرِّ الصَّوْمُ فِي السَّفَرِ ‏“</a:t>
            </a:r>
            <a:endParaRPr lang="en-US" dirty="0"/>
          </a:p>
          <a:p>
            <a:r>
              <a:rPr lang="en-US" dirty="0"/>
              <a:t>Allah's Messenger (</a:t>
            </a:r>
            <a:r>
              <a:rPr lang="ar-AE" dirty="0"/>
              <a:t>ﷺ) </a:t>
            </a:r>
            <a:r>
              <a:rPr lang="en-US" dirty="0"/>
              <a:t>was on a journey and saw a crowd of people, and a man was being shaded (by them). He asked, "What is the matter?" They said, "He (the man) is fasting." The Prophet (</a:t>
            </a:r>
            <a:r>
              <a:rPr lang="ar-AE" dirty="0"/>
              <a:t>ﷺ) </a:t>
            </a:r>
            <a:r>
              <a:rPr lang="en-US" dirty="0"/>
              <a:t>said, "It is not righteousness that you fast on a journey."</a:t>
            </a:r>
            <a:r>
              <a:rPr lang="ar-AE" dirty="0" smtClean="0"/>
              <a:t>‏‏‏</a:t>
            </a:r>
            <a:endParaRPr lang="en-US" dirty="0" smtClean="0"/>
          </a:p>
          <a:p>
            <a:r>
              <a:rPr lang="en-US" dirty="0" smtClean="0"/>
              <a:t>Whoever did not give up lying and practicing falsehood, Allah is in no need of his giving up food and water.</a:t>
            </a:r>
          </a:p>
          <a:p>
            <a:pPr algn="r"/>
            <a:r>
              <a:rPr lang="ar-AE" dirty="0"/>
              <a:t>مَنْ لَمْ يَدَعْ قَوْلَ الزُّورِ وَالْعَمَلَ بِهِ فَلَيْسَ لِلَّهِ حَاجَةٌ فِي أَنْ يَدَعَ طَعَامَهُ وَشَرَابَهُ ‏“</a:t>
            </a:r>
            <a:endParaRPr lang="en-US" dirty="0"/>
          </a:p>
          <a:p>
            <a:r>
              <a:rPr lang="ar-AE" dirty="0"/>
              <a:t>لاَ صَامَ مَنْ صَامَ الأَبَدَ </a:t>
            </a:r>
            <a:endParaRPr lang="en-US" dirty="0" smtClean="0"/>
          </a:p>
          <a:p>
            <a:r>
              <a:rPr lang="en-US" dirty="0" smtClean="0"/>
              <a:t>Many are the faster whose fasting does not bring them anything except hunger and thirst.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Purposes of </a:t>
            </a:r>
            <a:r>
              <a:rPr lang="en-US" dirty="0" err="1" smtClean="0"/>
              <a:t>Saum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solidFill>
                  <a:srgbClr val="FFFF00"/>
                </a:solidFill>
              </a:rPr>
              <a:t>Fast, source of becoming pious</a:t>
            </a:r>
            <a:endParaRPr lang="en-US" dirty="0" smtClean="0">
              <a:solidFill>
                <a:srgbClr val="FFFF00"/>
              </a:solidFill>
            </a:endParaRPr>
          </a:p>
          <a:p>
            <a:r>
              <a:rPr lang="en-US" dirty="0" smtClean="0"/>
              <a:t>This is why Allah said after ordaining fasting :</a:t>
            </a:r>
            <a:br>
              <a:rPr lang="en-US" dirty="0" smtClean="0"/>
            </a:br>
            <a:r>
              <a:rPr lang="en-US" i="1" dirty="0" smtClean="0"/>
              <a:t>"</a:t>
            </a:r>
            <a:r>
              <a:rPr lang="en-US" i="1" dirty="0" err="1" smtClean="0"/>
              <a:t>La'allakum</a:t>
            </a:r>
            <a:r>
              <a:rPr lang="en-US" i="1" dirty="0" smtClean="0"/>
              <a:t> </a:t>
            </a:r>
            <a:r>
              <a:rPr lang="en-US" i="1" dirty="0" err="1" smtClean="0"/>
              <a:t>tattaqoon</a:t>
            </a:r>
            <a:r>
              <a:rPr lang="en-US" i="1" dirty="0" smtClean="0"/>
              <a:t>"</a:t>
            </a:r>
            <a:r>
              <a:rPr lang="en-US" dirty="0" smtClean="0"/>
              <a:t/>
            </a:r>
            <a:br>
              <a:rPr lang="en-US" dirty="0" smtClean="0"/>
            </a:br>
            <a:r>
              <a:rPr lang="en-US" dirty="0" smtClean="0"/>
              <a:t>i.e. fasting is made obligatory on you, may be you become pious and virtuous. It is not said that you will certainly become pious and virtuous because this outcome of fasting depends on the perception and intention of the man concerned. Whoever will understand its purpose and will try through it to achieve its objective, will become pious to the desired extent, but one who will not comprehend its purpose and will not even try to get at it, cannot hope to gain any thing out of it.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Abstention from lying</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Prophet Muhammad (peace be upon him) has drawn attention in various ways towards the real aim of fasting and has explained that to be hungry and thirsty without keeping in view the objective is in no way useful. He said :</a:t>
            </a:r>
          </a:p>
          <a:p>
            <a:r>
              <a:rPr lang="en-US" i="1" dirty="0" smtClean="0"/>
              <a:t>" Whoever did not give up lying and practicing falsehood, Allah is in no need of his giving up food and water."</a:t>
            </a:r>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Faith and self-scrutiny</a:t>
            </a:r>
            <a:endParaRPr lang="en-US" dirty="0" smtClean="0"/>
          </a:p>
        </p:txBody>
      </p:sp>
      <p:sp>
        <p:nvSpPr>
          <p:cNvPr id="3" name="Content Placeholder 2"/>
          <p:cNvSpPr>
            <a:spLocks noGrp="1"/>
          </p:cNvSpPr>
          <p:nvPr>
            <p:ph idx="1"/>
          </p:nvPr>
        </p:nvSpPr>
        <p:spPr/>
        <p:txBody>
          <a:bodyPr>
            <a:normAutofit/>
          </a:bodyPr>
          <a:lstStyle/>
          <a:p>
            <a:r>
              <a:rPr lang="en-US" dirty="0" smtClean="0"/>
              <a:t>The Prophet has drawn attention to the real aim of fasting thus :</a:t>
            </a:r>
          </a:p>
          <a:p>
            <a:pPr algn="r"/>
            <a:r>
              <a:rPr lang="ar-AE" dirty="0"/>
              <a:t>مَنْ لَمْ يَدَعْ قَوْلَ الزُّورِ وَالْعَمَلَ بِهِ فَلَيْسَ لِلَّهِ حَاجَةٌ فِي أَنْ يَدَعَ طَعَامَهُ وَشَرَابَهُ ‏“</a:t>
            </a:r>
            <a:endParaRPr lang="en-US" dirty="0"/>
          </a:p>
          <a:p>
            <a:r>
              <a:rPr lang="en-US" i="1" dirty="0" smtClean="0"/>
              <a:t>" Whoever observed fast imbued with faith and with the expectation of reward from Allah, all his past sins are forgiven".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Shield for protection from sins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In another </a:t>
            </a:r>
            <a:r>
              <a:rPr lang="en-US" dirty="0" err="1" smtClean="0"/>
              <a:t>Hadith</a:t>
            </a:r>
            <a:r>
              <a:rPr lang="en-US" dirty="0" smtClean="0"/>
              <a:t> it is said :</a:t>
            </a:r>
          </a:p>
          <a:p>
            <a:r>
              <a:rPr lang="en-US" dirty="0" smtClean="0"/>
              <a:t>" Fasts are like a shield (just as a shield is meant for protection from the enemy's assault, so is fasting for protection from Satan's attack). Therefore when a man observes fast he should (utilize this shield and) abstain from disorderly behavior. If anybody abused him or quarreled with him, the person who keeps fast should tell him: " Brother, I am fasting (do not expect from me that I shall take part in such activities of yours").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Temptation of goodness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Prophet (peace be on him) has directed in other </a:t>
            </a:r>
            <a:r>
              <a:rPr lang="en-US" dirty="0" err="1" smtClean="0"/>
              <a:t>Ahadith</a:t>
            </a:r>
            <a:r>
              <a:rPr lang="en-US" dirty="0" smtClean="0"/>
              <a:t> that man while fasting ought to do more and more good works and should be eager to perform benevolent acts. Particularly during fasting, he must develop with full intensity a sympathetic sentiment for his other brothers because being himself in the throes of hunger and thirst he can all the more realize what is befalling other slaves of God in their plight of destitution and misery. It is related by </a:t>
            </a:r>
            <a:r>
              <a:rPr lang="en-US" dirty="0" err="1" smtClean="0"/>
              <a:t>Hadrat</a:t>
            </a:r>
            <a:r>
              <a:rPr lang="en-US" dirty="0" smtClean="0"/>
              <a:t> </a:t>
            </a:r>
            <a:r>
              <a:rPr lang="en-US" dirty="0" err="1" smtClean="0"/>
              <a:t>Ibn</a:t>
            </a:r>
            <a:r>
              <a:rPr lang="en-US" dirty="0" smtClean="0"/>
              <a:t> '</a:t>
            </a:r>
            <a:r>
              <a:rPr lang="en-US" dirty="0" err="1" smtClean="0"/>
              <a:t>Abbas</a:t>
            </a:r>
            <a:r>
              <a:rPr lang="en-US" dirty="0" smtClean="0"/>
              <a:t> (Allah be pleased with him) that the Prophet (peace be on him) used to become especially kind and benevolent during Ramadan. No beggar in that period went empty-handed from his door, and the slaves secured emancipation.(freedom)</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Reward for providing '</a:t>
            </a:r>
            <a:r>
              <a:rPr lang="en-US" b="1" dirty="0" err="1" smtClean="0"/>
              <a:t>Iftar</a:t>
            </a:r>
            <a:r>
              <a:rPr lang="en-US" b="1" dirty="0" smtClean="0"/>
              <a:t>'</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According to a </a:t>
            </a:r>
            <a:r>
              <a:rPr lang="en-US" dirty="0" err="1" smtClean="0"/>
              <a:t>Hadith</a:t>
            </a:r>
            <a:r>
              <a:rPr lang="en-US" dirty="0" smtClean="0"/>
              <a:t> the Prophet ( peace be on him ) said :</a:t>
            </a:r>
            <a:br>
              <a:rPr lang="en-US" dirty="0" smtClean="0"/>
            </a:br>
            <a:r>
              <a:rPr lang="en-US" i="1" dirty="0" smtClean="0"/>
              <a:t>"Whoever in Ramadan provide a person who is keeping fast with </a:t>
            </a:r>
            <a:r>
              <a:rPr lang="en-US" i="1" dirty="0" err="1" smtClean="0"/>
              <a:t>Iftar</a:t>
            </a:r>
            <a:r>
              <a:rPr lang="en-US" i="1" dirty="0" smtClean="0"/>
              <a:t>, this act will become a source of forgiveness for his sins and safety from Hell Fire and he will get as much reward as will the keeper of fast get without any reduction in the recompense of the latter."</a:t>
            </a:r>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It creates sympathy and brotherhood.</a:t>
            </a:r>
          </a:p>
          <a:p>
            <a:r>
              <a:rPr lang="en-US" dirty="0" smtClean="0"/>
              <a:t>It creates equality</a:t>
            </a:r>
          </a:p>
          <a:p>
            <a:r>
              <a:rPr lang="en-US" dirty="0" smtClean="0"/>
              <a:t>It prepares a believer for the Jihad</a:t>
            </a:r>
          </a:p>
          <a:p>
            <a:r>
              <a:rPr lang="en-US" dirty="0" smtClean="0"/>
              <a:t>It creates the sense of united and </a:t>
            </a:r>
            <a:r>
              <a:rPr lang="en-US" smtClean="0"/>
              <a:t>one nation</a:t>
            </a: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Health benefits of fasting</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Pakistan biological science journal has published an article in 2007 saying that fasting may help </a:t>
            </a:r>
            <a:r>
              <a:rPr lang="en-US" dirty="0" smtClean="0">
                <a:solidFill>
                  <a:srgbClr val="FF0000"/>
                </a:solidFill>
              </a:rPr>
              <a:t>obese people to lose weight</a:t>
            </a:r>
          </a:p>
          <a:p>
            <a:r>
              <a:rPr lang="en-US" dirty="0" smtClean="0"/>
              <a:t>American cancer association and cancer causes control  journal have published that fasting may </a:t>
            </a:r>
            <a:r>
              <a:rPr lang="en-US" dirty="0" smtClean="0">
                <a:solidFill>
                  <a:srgbClr val="C00000"/>
                </a:solidFill>
              </a:rPr>
              <a:t>reduce long term cancer risks </a:t>
            </a:r>
          </a:p>
          <a:p>
            <a:r>
              <a:rPr lang="en-US" dirty="0" smtClean="0"/>
              <a:t>According Mayo clinic articles and Harvard science, fasting was found to have beneficial </a:t>
            </a:r>
            <a:r>
              <a:rPr lang="en-US" dirty="0" smtClean="0">
                <a:solidFill>
                  <a:srgbClr val="FFC000"/>
                </a:solidFill>
              </a:rPr>
              <a:t>effects on heart health.</a:t>
            </a:r>
          </a:p>
          <a:p>
            <a:r>
              <a:rPr lang="en-US" dirty="0" smtClean="0"/>
              <a:t>It is also thought that fasting causes our bodies to metabolize cholesterol and glucose in a better fashion( during fasting)</a:t>
            </a:r>
          </a:p>
          <a:p>
            <a:r>
              <a:rPr lang="en-US" dirty="0" smtClean="0"/>
              <a:t>Fasting increase </a:t>
            </a:r>
            <a:r>
              <a:rPr lang="en-US" dirty="0" smtClean="0">
                <a:solidFill>
                  <a:srgbClr val="0070C0"/>
                </a:solidFill>
              </a:rPr>
              <a:t>memory function and clarity of mind</a:t>
            </a:r>
            <a:endParaRPr lang="en-US" dirty="0">
              <a:solidFill>
                <a:srgbClr val="0070C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209</TotalTime>
  <Words>1064</Words>
  <Application>Microsoft Office PowerPoint</Application>
  <PresentationFormat>On-screen Show (4:3)</PresentationFormat>
  <Paragraphs>70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Book Antiqua</vt:lpstr>
      <vt:lpstr>Lucida Sans</vt:lpstr>
      <vt:lpstr>Times New Roman</vt:lpstr>
      <vt:lpstr>Wingdings</vt:lpstr>
      <vt:lpstr>Wingdings 2</vt:lpstr>
      <vt:lpstr>Wingdings 3</vt:lpstr>
      <vt:lpstr>Apex</vt:lpstr>
      <vt:lpstr>Fast   </vt:lpstr>
      <vt:lpstr>Meaning and concept</vt:lpstr>
      <vt:lpstr>Importance in the light of Holy  Quran</vt:lpstr>
      <vt:lpstr>Importance in the light of Hadith</vt:lpstr>
      <vt:lpstr>PowerPoint Presentation</vt:lpstr>
      <vt:lpstr>PowerPoint Presentation</vt:lpstr>
      <vt:lpstr>Fast in other nations</vt:lpstr>
      <vt:lpstr>What fast is not</vt:lpstr>
      <vt:lpstr>Purposes of Saum</vt:lpstr>
      <vt:lpstr>Abstention from lying </vt:lpstr>
      <vt:lpstr>Faith and self-scrutiny</vt:lpstr>
      <vt:lpstr>Shield for protection from sins </vt:lpstr>
      <vt:lpstr>Temptation of goodness </vt:lpstr>
      <vt:lpstr>Reward for providing 'Iftar' </vt:lpstr>
      <vt:lpstr>PowerPoint Presentation</vt:lpstr>
      <vt:lpstr>Health benefits of fasting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dc:title>
  <dc:creator>Peeral</dc:creator>
  <cp:lastModifiedBy>Lateef</cp:lastModifiedBy>
  <cp:revision>31</cp:revision>
  <dcterms:created xsi:type="dcterms:W3CDTF">2016-08-27T04:08:17Z</dcterms:created>
  <dcterms:modified xsi:type="dcterms:W3CDTF">2017-10-31T05:29:39Z</dcterms:modified>
</cp:coreProperties>
</file>