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2"/>
  </p:notesMasterIdLst>
  <p:sldIdLst>
    <p:sldId id="262" r:id="rId2"/>
    <p:sldId id="316" r:id="rId3"/>
    <p:sldId id="317" r:id="rId4"/>
    <p:sldId id="274" r:id="rId5"/>
    <p:sldId id="256" r:id="rId6"/>
    <p:sldId id="257" r:id="rId7"/>
    <p:sldId id="275" r:id="rId8"/>
    <p:sldId id="273" r:id="rId9"/>
    <p:sldId id="295" r:id="rId10"/>
    <p:sldId id="296" r:id="rId11"/>
    <p:sldId id="297" r:id="rId12"/>
    <p:sldId id="301" r:id="rId13"/>
    <p:sldId id="302" r:id="rId14"/>
    <p:sldId id="298" r:id="rId15"/>
    <p:sldId id="304" r:id="rId16"/>
    <p:sldId id="299" r:id="rId17"/>
    <p:sldId id="303" r:id="rId18"/>
    <p:sldId id="305" r:id="rId19"/>
    <p:sldId id="306" r:id="rId20"/>
    <p:sldId id="307" r:id="rId21"/>
    <p:sldId id="308" r:id="rId22"/>
    <p:sldId id="309" r:id="rId23"/>
    <p:sldId id="310" r:id="rId24"/>
    <p:sldId id="311" r:id="rId25"/>
    <p:sldId id="312" r:id="rId26"/>
    <p:sldId id="313" r:id="rId27"/>
    <p:sldId id="300" r:id="rId28"/>
    <p:sldId id="314" r:id="rId29"/>
    <p:sldId id="315" r:id="rId30"/>
    <p:sldId id="27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82" autoAdjust="0"/>
    <p:restoredTop sz="94660"/>
  </p:normalViewPr>
  <p:slideViewPr>
    <p:cSldViewPr>
      <p:cViewPr varScale="1">
        <p:scale>
          <a:sx n="81" d="100"/>
          <a:sy n="81" d="100"/>
        </p:scale>
        <p:origin x="9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E47ABB-8916-4137-AC12-6CD0AB23DA7B}" type="doc">
      <dgm:prSet loTypeId="urn:microsoft.com/office/officeart/2005/8/layout/pyramid1" loCatId="pyramid" qsTypeId="urn:microsoft.com/office/officeart/2005/8/quickstyle/simple1" qsCatId="simple" csTypeId="urn:microsoft.com/office/officeart/2005/8/colors/accent1_2" csCatId="accent1" phldr="1"/>
      <dgm:spPr/>
    </dgm:pt>
    <dgm:pt modelId="{53FE629C-5640-4696-8FA3-7623BFFBE570}">
      <dgm:prSet phldrT="[Text]" custT="1"/>
      <dgm:spPr/>
      <dgm:t>
        <a:bodyPr/>
        <a:lstStyle/>
        <a:p>
          <a:endParaRPr lang="en-US" sz="1200" dirty="0" smtClean="0"/>
        </a:p>
        <a:p>
          <a:r>
            <a:rPr lang="en-US" sz="1200" dirty="0" smtClean="0"/>
            <a:t>Ihsan</a:t>
          </a:r>
          <a:endParaRPr lang="en-US" sz="1200" dirty="0"/>
        </a:p>
      </dgm:t>
    </dgm:pt>
    <dgm:pt modelId="{AEDFFDC9-88A5-4C11-BCF5-4BEE185B34B2}" type="parTrans" cxnId="{1E02D0C2-70CB-4539-9F47-8995C26217C7}">
      <dgm:prSet/>
      <dgm:spPr/>
      <dgm:t>
        <a:bodyPr/>
        <a:lstStyle/>
        <a:p>
          <a:endParaRPr lang="en-US" sz="1200"/>
        </a:p>
      </dgm:t>
    </dgm:pt>
    <dgm:pt modelId="{08148E0F-0533-4A08-A2E3-EFC9E59B4A31}" type="sibTrans" cxnId="{1E02D0C2-70CB-4539-9F47-8995C26217C7}">
      <dgm:prSet/>
      <dgm:spPr/>
      <dgm:t>
        <a:bodyPr/>
        <a:lstStyle/>
        <a:p>
          <a:endParaRPr lang="en-US" sz="1200"/>
        </a:p>
      </dgm:t>
    </dgm:pt>
    <dgm:pt modelId="{E0000314-637D-497F-92E2-5E112832E0EE}">
      <dgm:prSet phldrT="[Text]" custT="1"/>
      <dgm:spPr/>
      <dgm:t>
        <a:bodyPr/>
        <a:lstStyle/>
        <a:p>
          <a:r>
            <a:rPr lang="en-US" sz="1600" dirty="0" smtClean="0"/>
            <a:t>Islam</a:t>
          </a:r>
          <a:endParaRPr lang="en-US" sz="1600" dirty="0"/>
        </a:p>
      </dgm:t>
    </dgm:pt>
    <dgm:pt modelId="{8A8B4A41-5852-40A8-B79A-3EF95A934CC2}" type="parTrans" cxnId="{970758A7-0A15-4957-ADDB-FE1AFE849834}">
      <dgm:prSet/>
      <dgm:spPr/>
      <dgm:t>
        <a:bodyPr/>
        <a:lstStyle/>
        <a:p>
          <a:endParaRPr lang="en-US" sz="1200"/>
        </a:p>
      </dgm:t>
    </dgm:pt>
    <dgm:pt modelId="{F1307218-CE4A-4ED6-865A-1125894F3176}" type="sibTrans" cxnId="{970758A7-0A15-4957-ADDB-FE1AFE849834}">
      <dgm:prSet/>
      <dgm:spPr/>
      <dgm:t>
        <a:bodyPr/>
        <a:lstStyle/>
        <a:p>
          <a:endParaRPr lang="en-US" sz="1200"/>
        </a:p>
      </dgm:t>
    </dgm:pt>
    <dgm:pt modelId="{3A900694-74EE-40E8-930B-A3C16A0EDE38}">
      <dgm:prSet phldrT="[Text]" custT="1"/>
      <dgm:spPr/>
      <dgm:t>
        <a:bodyPr/>
        <a:lstStyle/>
        <a:p>
          <a:r>
            <a:rPr lang="en-US" sz="3200" dirty="0" smtClean="0"/>
            <a:t>Iman</a:t>
          </a:r>
          <a:endParaRPr lang="en-US" sz="3200" dirty="0"/>
        </a:p>
      </dgm:t>
    </dgm:pt>
    <dgm:pt modelId="{D3F54856-F237-4DC4-822E-C84DD77E64DE}" type="parTrans" cxnId="{007D75A2-46D1-4F92-8FF4-850D1993A5F2}">
      <dgm:prSet/>
      <dgm:spPr/>
      <dgm:t>
        <a:bodyPr/>
        <a:lstStyle/>
        <a:p>
          <a:endParaRPr lang="en-US" sz="1200"/>
        </a:p>
      </dgm:t>
    </dgm:pt>
    <dgm:pt modelId="{39E13407-1CC6-4F92-B0B0-6222FC253513}" type="sibTrans" cxnId="{007D75A2-46D1-4F92-8FF4-850D1993A5F2}">
      <dgm:prSet/>
      <dgm:spPr/>
      <dgm:t>
        <a:bodyPr/>
        <a:lstStyle/>
        <a:p>
          <a:endParaRPr lang="en-US" sz="1200"/>
        </a:p>
      </dgm:t>
    </dgm:pt>
    <dgm:pt modelId="{54AF4200-DA4B-4547-85FE-E1DD0E13B5F6}" type="pres">
      <dgm:prSet presAssocID="{6CE47ABB-8916-4137-AC12-6CD0AB23DA7B}" presName="Name0" presStyleCnt="0">
        <dgm:presLayoutVars>
          <dgm:dir/>
          <dgm:animLvl val="lvl"/>
          <dgm:resizeHandles val="exact"/>
        </dgm:presLayoutVars>
      </dgm:prSet>
      <dgm:spPr/>
    </dgm:pt>
    <dgm:pt modelId="{3B490B75-6CF0-4360-9B98-267F36A828BF}" type="pres">
      <dgm:prSet presAssocID="{53FE629C-5640-4696-8FA3-7623BFFBE570}" presName="Name8" presStyleCnt="0"/>
      <dgm:spPr/>
    </dgm:pt>
    <dgm:pt modelId="{C836AB45-B904-48EF-8532-F10B07949D08}" type="pres">
      <dgm:prSet presAssocID="{53FE629C-5640-4696-8FA3-7623BFFBE570}" presName="level" presStyleLbl="node1" presStyleIdx="0" presStyleCnt="3">
        <dgm:presLayoutVars>
          <dgm:chMax val="1"/>
          <dgm:bulletEnabled val="1"/>
        </dgm:presLayoutVars>
      </dgm:prSet>
      <dgm:spPr/>
      <dgm:t>
        <a:bodyPr/>
        <a:lstStyle/>
        <a:p>
          <a:endParaRPr lang="en-US"/>
        </a:p>
      </dgm:t>
    </dgm:pt>
    <dgm:pt modelId="{682A71AA-871B-487D-AEF0-F9E6BFBF7C6C}" type="pres">
      <dgm:prSet presAssocID="{53FE629C-5640-4696-8FA3-7623BFFBE570}" presName="levelTx" presStyleLbl="revTx" presStyleIdx="0" presStyleCnt="0">
        <dgm:presLayoutVars>
          <dgm:chMax val="1"/>
          <dgm:bulletEnabled val="1"/>
        </dgm:presLayoutVars>
      </dgm:prSet>
      <dgm:spPr/>
      <dgm:t>
        <a:bodyPr/>
        <a:lstStyle/>
        <a:p>
          <a:endParaRPr lang="en-US"/>
        </a:p>
      </dgm:t>
    </dgm:pt>
    <dgm:pt modelId="{9D68A51E-1F58-4B44-BF3C-9D7F47BBBD59}" type="pres">
      <dgm:prSet presAssocID="{E0000314-637D-497F-92E2-5E112832E0EE}" presName="Name8" presStyleCnt="0"/>
      <dgm:spPr/>
    </dgm:pt>
    <dgm:pt modelId="{93327D85-786D-4FFC-98F2-820E09BD4304}" type="pres">
      <dgm:prSet presAssocID="{E0000314-637D-497F-92E2-5E112832E0EE}" presName="level" presStyleLbl="node1" presStyleIdx="1" presStyleCnt="3" custScaleY="85714">
        <dgm:presLayoutVars>
          <dgm:chMax val="1"/>
          <dgm:bulletEnabled val="1"/>
        </dgm:presLayoutVars>
      </dgm:prSet>
      <dgm:spPr/>
      <dgm:t>
        <a:bodyPr/>
        <a:lstStyle/>
        <a:p>
          <a:endParaRPr lang="en-US"/>
        </a:p>
      </dgm:t>
    </dgm:pt>
    <dgm:pt modelId="{8B2175FC-301C-4D25-90EB-1E4C5316DCDF}" type="pres">
      <dgm:prSet presAssocID="{E0000314-637D-497F-92E2-5E112832E0EE}" presName="levelTx" presStyleLbl="revTx" presStyleIdx="0" presStyleCnt="0">
        <dgm:presLayoutVars>
          <dgm:chMax val="1"/>
          <dgm:bulletEnabled val="1"/>
        </dgm:presLayoutVars>
      </dgm:prSet>
      <dgm:spPr/>
      <dgm:t>
        <a:bodyPr/>
        <a:lstStyle/>
        <a:p>
          <a:endParaRPr lang="en-US"/>
        </a:p>
      </dgm:t>
    </dgm:pt>
    <dgm:pt modelId="{65B53CB0-EB99-48B1-BE91-C3F8F57A402D}" type="pres">
      <dgm:prSet presAssocID="{3A900694-74EE-40E8-930B-A3C16A0EDE38}" presName="Name8" presStyleCnt="0"/>
      <dgm:spPr/>
    </dgm:pt>
    <dgm:pt modelId="{6B828B93-B084-4352-B749-934A847B0443}" type="pres">
      <dgm:prSet presAssocID="{3A900694-74EE-40E8-930B-A3C16A0EDE38}" presName="level" presStyleLbl="node1" presStyleIdx="2" presStyleCnt="3">
        <dgm:presLayoutVars>
          <dgm:chMax val="1"/>
          <dgm:bulletEnabled val="1"/>
        </dgm:presLayoutVars>
      </dgm:prSet>
      <dgm:spPr/>
      <dgm:t>
        <a:bodyPr/>
        <a:lstStyle/>
        <a:p>
          <a:endParaRPr lang="en-US"/>
        </a:p>
      </dgm:t>
    </dgm:pt>
    <dgm:pt modelId="{DF6C93E2-DD4C-4C7E-9F40-4A058A7B8E62}" type="pres">
      <dgm:prSet presAssocID="{3A900694-74EE-40E8-930B-A3C16A0EDE38}" presName="levelTx" presStyleLbl="revTx" presStyleIdx="0" presStyleCnt="0">
        <dgm:presLayoutVars>
          <dgm:chMax val="1"/>
          <dgm:bulletEnabled val="1"/>
        </dgm:presLayoutVars>
      </dgm:prSet>
      <dgm:spPr/>
      <dgm:t>
        <a:bodyPr/>
        <a:lstStyle/>
        <a:p>
          <a:endParaRPr lang="en-US"/>
        </a:p>
      </dgm:t>
    </dgm:pt>
  </dgm:ptLst>
  <dgm:cxnLst>
    <dgm:cxn modelId="{2861C646-4239-4AF6-BB07-3ECA6A7D59A0}" type="presOf" srcId="{6CE47ABB-8916-4137-AC12-6CD0AB23DA7B}" destId="{54AF4200-DA4B-4547-85FE-E1DD0E13B5F6}" srcOrd="0" destOrd="0" presId="urn:microsoft.com/office/officeart/2005/8/layout/pyramid1"/>
    <dgm:cxn modelId="{3389E007-3BBB-4895-93BF-5D7F73467BD0}" type="presOf" srcId="{E0000314-637D-497F-92E2-5E112832E0EE}" destId="{93327D85-786D-4FFC-98F2-820E09BD4304}" srcOrd="0" destOrd="0" presId="urn:microsoft.com/office/officeart/2005/8/layout/pyramid1"/>
    <dgm:cxn modelId="{B90855F6-275F-48F7-B3C7-AF67924264A0}" type="presOf" srcId="{53FE629C-5640-4696-8FA3-7623BFFBE570}" destId="{682A71AA-871B-487D-AEF0-F9E6BFBF7C6C}" srcOrd="1" destOrd="0" presId="urn:microsoft.com/office/officeart/2005/8/layout/pyramid1"/>
    <dgm:cxn modelId="{2B8FA5CB-C125-4B4F-9AB4-B7ACD2E5BF83}" type="presOf" srcId="{3A900694-74EE-40E8-930B-A3C16A0EDE38}" destId="{6B828B93-B084-4352-B749-934A847B0443}" srcOrd="0" destOrd="0" presId="urn:microsoft.com/office/officeart/2005/8/layout/pyramid1"/>
    <dgm:cxn modelId="{970758A7-0A15-4957-ADDB-FE1AFE849834}" srcId="{6CE47ABB-8916-4137-AC12-6CD0AB23DA7B}" destId="{E0000314-637D-497F-92E2-5E112832E0EE}" srcOrd="1" destOrd="0" parTransId="{8A8B4A41-5852-40A8-B79A-3EF95A934CC2}" sibTransId="{F1307218-CE4A-4ED6-865A-1125894F3176}"/>
    <dgm:cxn modelId="{A11670EC-FB45-40F9-9FA4-DFBEAC2D6C67}" type="presOf" srcId="{53FE629C-5640-4696-8FA3-7623BFFBE570}" destId="{C836AB45-B904-48EF-8532-F10B07949D08}" srcOrd="0" destOrd="0" presId="urn:microsoft.com/office/officeart/2005/8/layout/pyramid1"/>
    <dgm:cxn modelId="{D22DCF28-476F-4143-BA11-DB30D8863EBF}" type="presOf" srcId="{3A900694-74EE-40E8-930B-A3C16A0EDE38}" destId="{DF6C93E2-DD4C-4C7E-9F40-4A058A7B8E62}" srcOrd="1" destOrd="0" presId="urn:microsoft.com/office/officeart/2005/8/layout/pyramid1"/>
    <dgm:cxn modelId="{1E02D0C2-70CB-4539-9F47-8995C26217C7}" srcId="{6CE47ABB-8916-4137-AC12-6CD0AB23DA7B}" destId="{53FE629C-5640-4696-8FA3-7623BFFBE570}" srcOrd="0" destOrd="0" parTransId="{AEDFFDC9-88A5-4C11-BCF5-4BEE185B34B2}" sibTransId="{08148E0F-0533-4A08-A2E3-EFC9E59B4A31}"/>
    <dgm:cxn modelId="{AADC3AC4-802D-4FCC-92F9-6CAA088A480A}" type="presOf" srcId="{E0000314-637D-497F-92E2-5E112832E0EE}" destId="{8B2175FC-301C-4D25-90EB-1E4C5316DCDF}" srcOrd="1" destOrd="0" presId="urn:microsoft.com/office/officeart/2005/8/layout/pyramid1"/>
    <dgm:cxn modelId="{007D75A2-46D1-4F92-8FF4-850D1993A5F2}" srcId="{6CE47ABB-8916-4137-AC12-6CD0AB23DA7B}" destId="{3A900694-74EE-40E8-930B-A3C16A0EDE38}" srcOrd="2" destOrd="0" parTransId="{D3F54856-F237-4DC4-822E-C84DD77E64DE}" sibTransId="{39E13407-1CC6-4F92-B0B0-6222FC253513}"/>
    <dgm:cxn modelId="{38E32EA1-7314-46D9-8EA2-D30E12050027}" type="presParOf" srcId="{54AF4200-DA4B-4547-85FE-E1DD0E13B5F6}" destId="{3B490B75-6CF0-4360-9B98-267F36A828BF}" srcOrd="0" destOrd="0" presId="urn:microsoft.com/office/officeart/2005/8/layout/pyramid1"/>
    <dgm:cxn modelId="{8D2C87C3-6785-4AA4-84B8-36062E782E56}" type="presParOf" srcId="{3B490B75-6CF0-4360-9B98-267F36A828BF}" destId="{C836AB45-B904-48EF-8532-F10B07949D08}" srcOrd="0" destOrd="0" presId="urn:microsoft.com/office/officeart/2005/8/layout/pyramid1"/>
    <dgm:cxn modelId="{0AFF5019-1F01-434F-935E-65CE5F6E1CF6}" type="presParOf" srcId="{3B490B75-6CF0-4360-9B98-267F36A828BF}" destId="{682A71AA-871B-487D-AEF0-F9E6BFBF7C6C}" srcOrd="1" destOrd="0" presId="urn:microsoft.com/office/officeart/2005/8/layout/pyramid1"/>
    <dgm:cxn modelId="{DF77B320-D38E-4D84-84BD-7156CEC2B19E}" type="presParOf" srcId="{54AF4200-DA4B-4547-85FE-E1DD0E13B5F6}" destId="{9D68A51E-1F58-4B44-BF3C-9D7F47BBBD59}" srcOrd="1" destOrd="0" presId="urn:microsoft.com/office/officeart/2005/8/layout/pyramid1"/>
    <dgm:cxn modelId="{5495BDC7-7F4D-4449-A02F-0B37F3EADAE4}" type="presParOf" srcId="{9D68A51E-1F58-4B44-BF3C-9D7F47BBBD59}" destId="{93327D85-786D-4FFC-98F2-820E09BD4304}" srcOrd="0" destOrd="0" presId="urn:microsoft.com/office/officeart/2005/8/layout/pyramid1"/>
    <dgm:cxn modelId="{247017B3-18F9-470D-AE46-457244374B4E}" type="presParOf" srcId="{9D68A51E-1F58-4B44-BF3C-9D7F47BBBD59}" destId="{8B2175FC-301C-4D25-90EB-1E4C5316DCDF}" srcOrd="1" destOrd="0" presId="urn:microsoft.com/office/officeart/2005/8/layout/pyramid1"/>
    <dgm:cxn modelId="{0B9D04F7-D259-407A-8E21-115553A41055}" type="presParOf" srcId="{54AF4200-DA4B-4547-85FE-E1DD0E13B5F6}" destId="{65B53CB0-EB99-48B1-BE91-C3F8F57A402D}" srcOrd="2" destOrd="0" presId="urn:microsoft.com/office/officeart/2005/8/layout/pyramid1"/>
    <dgm:cxn modelId="{F5C75A48-94B9-4699-B930-E0C93A59DA16}" type="presParOf" srcId="{65B53CB0-EB99-48B1-BE91-C3F8F57A402D}" destId="{6B828B93-B084-4352-B749-934A847B0443}" srcOrd="0" destOrd="0" presId="urn:microsoft.com/office/officeart/2005/8/layout/pyramid1"/>
    <dgm:cxn modelId="{1071E873-4A81-4577-8F5B-B68FF0524073}" type="presParOf" srcId="{65B53CB0-EB99-48B1-BE91-C3F8F57A402D}" destId="{DF6C93E2-DD4C-4C7E-9F40-4A058A7B8E62}"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123046-5899-4DC8-8683-68C33D0D2C99}" type="datetimeFigureOut">
              <a:rPr lang="en-US" smtClean="0"/>
              <a:pPr/>
              <a:t>9/20/2017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B4E204-5C42-48BE-B61A-E6D7F1D5A9AB}" type="slidenum">
              <a:rPr lang="en-US" smtClean="0"/>
              <a:pPr/>
              <a:t>‹#›</a:t>
            </a:fld>
            <a:endParaRPr lang="en-US" dirty="0"/>
          </a:p>
        </p:txBody>
      </p:sp>
    </p:spTree>
    <p:extLst>
      <p:ext uri="{BB962C8B-B14F-4D97-AF65-F5344CB8AC3E}">
        <p14:creationId xmlns:p14="http://schemas.microsoft.com/office/powerpoint/2010/main" val="195636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4A35E1D3-7E3A-4459-9E6F-5D461D469CA8}"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9/20/2017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323E0A4-E837-4AF1-836A-FBB6523A1BA1}" type="datetimeFigureOut">
              <a:rPr lang="en-US" smtClean="0"/>
              <a:pPr/>
              <a:t>9/20/2017</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A35E1D3-7E3A-4459-9E6F-5D461D469CA8}"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jpe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228600"/>
            <a:ext cx="8991600" cy="2554545"/>
          </a:xfrm>
          <a:prstGeom prst="rect">
            <a:avLst/>
          </a:prstGeom>
          <a:noFill/>
        </p:spPr>
        <p:txBody>
          <a:bodyPr wrap="square" rtlCol="0">
            <a:spAutoFit/>
          </a:bodyPr>
          <a:lstStyle/>
          <a:p>
            <a:r>
              <a:rPr lang="en-US" sz="4000" b="1" dirty="0" smtClean="0">
                <a:latin typeface="Algerian" pitchFamily="82" charset="0"/>
              </a:rPr>
              <a:t>		</a:t>
            </a:r>
          </a:p>
          <a:p>
            <a:endParaRPr lang="en-US" sz="4000" b="1" dirty="0" smtClean="0">
              <a:latin typeface="Algerian" pitchFamily="82" charset="0"/>
            </a:endParaRPr>
          </a:p>
          <a:p>
            <a:r>
              <a:rPr lang="en-US" sz="4000" b="1" dirty="0">
                <a:latin typeface="Algerian" pitchFamily="82" charset="0"/>
              </a:rPr>
              <a:t>	</a:t>
            </a:r>
            <a:r>
              <a:rPr lang="en-US" sz="4000" b="1" dirty="0" smtClean="0">
                <a:latin typeface="Algerian" pitchFamily="82" charset="0"/>
              </a:rPr>
              <a:t>        </a:t>
            </a:r>
          </a:p>
          <a:p>
            <a:endParaRPr lang="en-US" sz="4000" dirty="0"/>
          </a:p>
        </p:txBody>
      </p:sp>
      <p:sp>
        <p:nvSpPr>
          <p:cNvPr id="8" name="Rectangle 7"/>
          <p:cNvSpPr/>
          <p:nvPr/>
        </p:nvSpPr>
        <p:spPr>
          <a:xfrm>
            <a:off x="302777" y="1371600"/>
            <a:ext cx="8686800" cy="4524315"/>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9600" b="1" cap="all" dirty="0" smtClean="0">
                <a:ln w="0"/>
                <a:effectLst>
                  <a:reflection blurRad="12700" stA="50000" endPos="50000" dist="5000" dir="5400000" sy="-100000" rotWithShape="0"/>
                </a:effectLst>
              </a:rPr>
              <a:t>SURAH</a:t>
            </a:r>
          </a:p>
          <a:p>
            <a:pPr algn="ctr"/>
            <a:r>
              <a:rPr lang="en-US" sz="9600" b="1" cap="all" dirty="0" smtClean="0">
                <a:ln w="0"/>
                <a:effectLst>
                  <a:reflection blurRad="12700" stA="50000" endPos="50000" dist="5000" dir="5400000" sy="-100000" rotWithShape="0"/>
                </a:effectLst>
              </a:rPr>
              <a:t>Al </a:t>
            </a:r>
            <a:r>
              <a:rPr lang="en-US" sz="9600" b="1" cap="all" dirty="0" err="1" smtClean="0">
                <a:ln w="0"/>
                <a:effectLst>
                  <a:reflection blurRad="12700" stA="50000" endPos="50000" dist="5000" dir="5400000" sy="-100000" rotWithShape="0"/>
                </a:effectLst>
              </a:rPr>
              <a:t>Hujurat</a:t>
            </a:r>
            <a:endParaRPr lang="en-US" sz="9600" b="1" cap="all" dirty="0" smtClean="0">
              <a:ln w="0"/>
              <a:effectLst>
                <a:reflection blurRad="12700" stA="50000" endPos="50000" dist="5000" dir="5400000" sy="-100000" rotWithShape="0"/>
              </a:effectLst>
            </a:endParaRPr>
          </a:p>
          <a:p>
            <a:pPr algn="ctr"/>
            <a:r>
              <a:rPr lang="ur-PK" sz="9600" b="1" cap="all" dirty="0">
                <a:ln w="0"/>
                <a:effectLst>
                  <a:reflection blurRad="12700" stA="50000" endPos="50000" dist="5000" dir="5400000" sy="-100000" rotWithShape="0"/>
                </a:effectLst>
              </a:rPr>
              <a:t>سورة الحجرات</a:t>
            </a:r>
            <a:endParaRPr lang="en-US" sz="9600" b="1" cap="all" dirty="0">
              <a:ln w="0"/>
              <a:effectLst>
                <a:reflection blurRad="12700" stA="50000" endPos="50000" dist="5000" dir="5400000" sy="-100000" rotWithShape="0"/>
              </a:effectLst>
            </a:endParaRPr>
          </a:p>
        </p:txBody>
      </p:sp>
    </p:spTree>
    <p:extLst>
      <p:ext uri="{BB962C8B-B14F-4D97-AF65-F5344CB8AC3E}">
        <p14:creationId xmlns:p14="http://schemas.microsoft.com/office/powerpoint/2010/main" val="278460287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Facts and figures of al </a:t>
            </a:r>
            <a:r>
              <a:rPr lang="en-US" smtClean="0"/>
              <a:t>Hujrat</a:t>
            </a:r>
            <a:endParaRPr lang="en-US"/>
          </a:p>
        </p:txBody>
      </p:sp>
      <p:sp>
        <p:nvSpPr>
          <p:cNvPr id="3" name="Content Placeholder 2"/>
          <p:cNvSpPr>
            <a:spLocks noGrp="1"/>
          </p:cNvSpPr>
          <p:nvPr>
            <p:ph idx="1"/>
          </p:nvPr>
        </p:nvSpPr>
        <p:spPr/>
        <p:txBody>
          <a:bodyPr/>
          <a:lstStyle/>
          <a:p>
            <a:r>
              <a:rPr lang="en-US" dirty="0" err="1" smtClean="0"/>
              <a:t>Madni</a:t>
            </a:r>
            <a:endParaRPr lang="en-US" dirty="0" smtClean="0"/>
          </a:p>
          <a:p>
            <a:r>
              <a:rPr lang="en-US" dirty="0" smtClean="0"/>
              <a:t>2 </a:t>
            </a:r>
            <a:r>
              <a:rPr lang="en-US" dirty="0" err="1" smtClean="0"/>
              <a:t>Ruku</a:t>
            </a:r>
            <a:endParaRPr lang="en-US" dirty="0" smtClean="0"/>
          </a:p>
          <a:p>
            <a:r>
              <a:rPr lang="en-US" dirty="0" smtClean="0"/>
              <a:t>18 verses</a:t>
            </a:r>
          </a:p>
          <a:p>
            <a:r>
              <a:rPr lang="en-US" dirty="0" smtClean="0"/>
              <a:t>49</a:t>
            </a:r>
            <a:r>
              <a:rPr lang="en-US" baseline="30000" dirty="0" smtClean="0"/>
              <a:t>th</a:t>
            </a:r>
            <a:r>
              <a:rPr lang="en-US" dirty="0" smtClean="0"/>
              <a:t> ( number in sequence of </a:t>
            </a:r>
            <a:r>
              <a:rPr lang="en-US" dirty="0" err="1" smtClean="0"/>
              <a:t>Touqeefi</a:t>
            </a:r>
            <a:r>
              <a:rPr lang="en-US" dirty="0" smtClean="0"/>
              <a:t>)</a:t>
            </a:r>
          </a:p>
          <a:p>
            <a:r>
              <a:rPr lang="en-US" dirty="0" smtClean="0"/>
              <a:t>Lies in </a:t>
            </a:r>
            <a:r>
              <a:rPr lang="en-US" dirty="0" err="1" smtClean="0"/>
              <a:t>sipara</a:t>
            </a:r>
            <a:r>
              <a:rPr lang="en-US" dirty="0" smtClean="0"/>
              <a:t>(</a:t>
            </a:r>
            <a:r>
              <a:rPr lang="en-US" dirty="0" err="1" smtClean="0"/>
              <a:t>para</a:t>
            </a:r>
            <a:r>
              <a:rPr lang="en-US" dirty="0" smtClean="0"/>
              <a:t>) 26.</a:t>
            </a:r>
          </a:p>
          <a:p>
            <a:r>
              <a:rPr lang="en-US" dirty="0" smtClean="0"/>
              <a:t>Previous </a:t>
            </a:r>
            <a:r>
              <a:rPr lang="en-US" dirty="0" err="1" smtClean="0"/>
              <a:t>sura</a:t>
            </a:r>
            <a:r>
              <a:rPr lang="en-US" dirty="0" smtClean="0"/>
              <a:t>: </a:t>
            </a:r>
            <a:r>
              <a:rPr lang="en-US" dirty="0" err="1" smtClean="0"/>
              <a:t>Fateh</a:t>
            </a:r>
            <a:endParaRPr lang="en-US" dirty="0" smtClean="0"/>
          </a:p>
          <a:p>
            <a:r>
              <a:rPr lang="en-US" dirty="0" smtClean="0"/>
              <a:t>Next </a:t>
            </a:r>
            <a:r>
              <a:rPr lang="en-US" dirty="0" err="1" smtClean="0"/>
              <a:t>sura</a:t>
            </a:r>
            <a:r>
              <a:rPr lang="en-US" dirty="0" smtClean="0"/>
              <a:t>: </a:t>
            </a:r>
            <a:r>
              <a:rPr lang="en-US" dirty="0" err="1" smtClean="0"/>
              <a:t>Qaaf</a:t>
            </a:r>
            <a:endParaRPr lang="en-US" b="1" dirty="0" smtClean="0"/>
          </a:p>
          <a:p>
            <a:r>
              <a:rPr lang="en-US" dirty="0" smtClean="0"/>
              <a:t>The name Al-</a:t>
            </a:r>
            <a:r>
              <a:rPr lang="en-US" dirty="0" err="1" smtClean="0"/>
              <a:t>Hujrat</a:t>
            </a:r>
            <a:r>
              <a:rPr lang="en-US" dirty="0" smtClean="0"/>
              <a:t>, or  inner </a:t>
            </a:r>
            <a:r>
              <a:rPr lang="en-US" dirty="0" err="1" smtClean="0"/>
              <a:t>apatments</a:t>
            </a:r>
            <a:r>
              <a:rPr lang="en-US" dirty="0" smtClean="0"/>
              <a:t> ,Rooms, chambers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Teachings / topics of surah</a:t>
            </a:r>
            <a:endParaRPr lang="en-US" dirty="0"/>
          </a:p>
        </p:txBody>
      </p:sp>
      <p:sp>
        <p:nvSpPr>
          <p:cNvPr id="3" name="Content Placeholder 2"/>
          <p:cNvSpPr>
            <a:spLocks noGrp="1"/>
          </p:cNvSpPr>
          <p:nvPr>
            <p:ph idx="1"/>
          </p:nvPr>
        </p:nvSpPr>
        <p:spPr/>
        <p:txBody>
          <a:bodyPr/>
          <a:lstStyle/>
          <a:p>
            <a:r>
              <a:rPr lang="en-US" dirty="0" smtClean="0"/>
              <a:t>Beliefs</a:t>
            </a:r>
          </a:p>
          <a:p>
            <a:r>
              <a:rPr lang="en-US" dirty="0" smtClean="0"/>
              <a:t>Etiquettes &amp; manners in the presence of holy prophet.</a:t>
            </a:r>
          </a:p>
          <a:p>
            <a:r>
              <a:rPr lang="en-US" dirty="0" smtClean="0"/>
              <a:t>Brotherhood and equality.</a:t>
            </a:r>
          </a:p>
          <a:p>
            <a:r>
              <a:rPr lang="en-US" dirty="0" smtClean="0"/>
              <a:t>Principle for the settlement of the disputes of Muslims</a:t>
            </a:r>
          </a:p>
          <a:p>
            <a:r>
              <a:rPr lang="en-US" dirty="0" smtClean="0"/>
              <a:t>Avoid to act on any information without verification</a:t>
            </a:r>
          </a:p>
          <a:p>
            <a:r>
              <a:rPr lang="en-US" dirty="0" smtClean="0"/>
              <a:t>Islamic ethics</a:t>
            </a:r>
          </a:p>
          <a:p>
            <a:endParaRPr lang="en-US" dirty="0"/>
          </a:p>
        </p:txBody>
      </p:sp>
    </p:spTree>
    <p:extLst>
      <p:ext uri="{BB962C8B-B14F-4D97-AF65-F5344CB8AC3E}">
        <p14:creationId xmlns:p14="http://schemas.microsoft.com/office/powerpoint/2010/main" val="261074681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197039" y="5422534"/>
            <a:ext cx="609600" cy="533400"/>
          </a:xfrm>
          <a:prstGeom prst="rect">
            <a:avLst/>
          </a:prstGeom>
          <a:noFill/>
          <a:ln w="9525">
            <a:noFill/>
            <a:miter lim="800000"/>
            <a:headEnd/>
            <a:tailEnd/>
          </a:ln>
        </p:spPr>
      </p:pic>
      <p:sp>
        <p:nvSpPr>
          <p:cNvPr id="4" name="Rectangle 3"/>
          <p:cNvSpPr/>
          <p:nvPr/>
        </p:nvSpPr>
        <p:spPr>
          <a:xfrm>
            <a:off x="6400800" y="5979066"/>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6" name="TextBox 5"/>
          <p:cNvSpPr txBox="1"/>
          <p:nvPr/>
        </p:nvSpPr>
        <p:spPr>
          <a:xfrm>
            <a:off x="161166" y="1109452"/>
            <a:ext cx="8610600" cy="3385542"/>
          </a:xfrm>
          <a:prstGeom prst="rect">
            <a:avLst/>
          </a:prstGeom>
          <a:noFill/>
        </p:spPr>
        <p:txBody>
          <a:bodyPr wrap="square" rtlCol="0">
            <a:spAutoFit/>
          </a:bodyPr>
          <a:lstStyle/>
          <a:p>
            <a:pPr>
              <a:lnSpc>
                <a:spcPct val="150000"/>
              </a:lnSpc>
            </a:pPr>
            <a:r>
              <a:rPr lang="en-US" sz="3600" b="1" u="sng" dirty="0" smtClean="0">
                <a:latin typeface="Arial Narrow" pitchFamily="34" charset="0"/>
              </a:rPr>
              <a:t>Ruku No 1:</a:t>
            </a:r>
          </a:p>
          <a:p>
            <a:pPr marL="342900" indent="-342900">
              <a:lnSpc>
                <a:spcPct val="200000"/>
              </a:lnSpc>
              <a:buFont typeface="Arial" pitchFamily="34" charset="0"/>
              <a:buChar char="•"/>
            </a:pPr>
            <a:r>
              <a:rPr lang="en-US" sz="2000" dirty="0" smtClean="0">
                <a:latin typeface="Arial Narrow" pitchFamily="34" charset="0"/>
              </a:rPr>
              <a:t>Manners of living are being taught in this surah</a:t>
            </a:r>
          </a:p>
          <a:p>
            <a:pPr marL="342900" indent="-342900">
              <a:lnSpc>
                <a:spcPct val="200000"/>
              </a:lnSpc>
              <a:buFont typeface="Arial" pitchFamily="34" charset="0"/>
              <a:buChar char="•"/>
            </a:pPr>
            <a:r>
              <a:rPr lang="en-US" sz="2000" dirty="0" smtClean="0">
                <a:latin typeface="Arial Narrow" pitchFamily="34" charset="0"/>
              </a:rPr>
              <a:t>Obeying the Prophet (saw) ---Importance of Hadith and Sunnah</a:t>
            </a:r>
          </a:p>
          <a:p>
            <a:pPr marL="342900" indent="-342900">
              <a:lnSpc>
                <a:spcPct val="200000"/>
              </a:lnSpc>
              <a:buFont typeface="Arial" pitchFamily="34" charset="0"/>
              <a:buChar char="•"/>
            </a:pPr>
            <a:r>
              <a:rPr lang="en-US" sz="2000" dirty="0" smtClean="0">
                <a:latin typeface="Arial Narrow" pitchFamily="34" charset="0"/>
              </a:rPr>
              <a:t>Manners of talking to the Prophet --- to the teachers and scholars</a:t>
            </a:r>
          </a:p>
          <a:p>
            <a:pPr marL="342900" indent="-342900">
              <a:lnSpc>
                <a:spcPct val="200000"/>
              </a:lnSpc>
              <a:buFont typeface="Arial" pitchFamily="34" charset="0"/>
              <a:buChar char="•"/>
            </a:pPr>
            <a:r>
              <a:rPr lang="en-US" sz="2000" dirty="0" smtClean="0">
                <a:latin typeface="Arial Narrow" pitchFamily="34" charset="0"/>
              </a:rPr>
              <a:t>Respecting the Prophet---Taqwa of Allah</a:t>
            </a:r>
          </a:p>
        </p:txBody>
      </p:sp>
      <p:cxnSp>
        <p:nvCxnSpPr>
          <p:cNvPr id="5" name="Straight Arrow Connector 4"/>
          <p:cNvCxnSpPr/>
          <p:nvPr/>
        </p:nvCxnSpPr>
        <p:spPr>
          <a:xfrm>
            <a:off x="609600" y="5448895"/>
            <a:ext cx="0" cy="116679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8122" y="1085850"/>
            <a:ext cx="1952625" cy="234315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448347"/>
            <a:ext cx="2057400" cy="1565275"/>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5265610"/>
            <a:ext cx="1905000" cy="1426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45977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620000" y="5955934"/>
            <a:ext cx="609600" cy="533400"/>
          </a:xfrm>
          <a:prstGeom prst="rect">
            <a:avLst/>
          </a:prstGeom>
          <a:noFill/>
          <a:ln w="9525">
            <a:noFill/>
            <a:miter lim="800000"/>
            <a:headEnd/>
            <a:tailEnd/>
          </a:ln>
        </p:spPr>
      </p:pic>
      <p:sp>
        <p:nvSpPr>
          <p:cNvPr id="4" name="Rectangle 3"/>
          <p:cNvSpPr/>
          <p:nvPr/>
        </p:nvSpPr>
        <p:spPr>
          <a:xfrm>
            <a:off x="6705600" y="6488668"/>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6" name="TextBox 5"/>
          <p:cNvSpPr txBox="1"/>
          <p:nvPr/>
        </p:nvSpPr>
        <p:spPr>
          <a:xfrm>
            <a:off x="152400" y="1814437"/>
            <a:ext cx="8610600" cy="1938992"/>
          </a:xfrm>
          <a:prstGeom prst="rect">
            <a:avLst/>
          </a:prstGeom>
          <a:noFill/>
        </p:spPr>
        <p:txBody>
          <a:bodyPr wrap="square" rtlCol="0">
            <a:spAutoFit/>
          </a:bodyPr>
          <a:lstStyle/>
          <a:p>
            <a:pPr marL="342900" indent="-342900">
              <a:lnSpc>
                <a:spcPct val="200000"/>
              </a:lnSpc>
              <a:buFont typeface="Arial" pitchFamily="34" charset="0"/>
              <a:buChar char="•"/>
            </a:pPr>
            <a:r>
              <a:rPr lang="en-US" sz="2000" dirty="0" smtClean="0">
                <a:latin typeface="Arial Narrow" pitchFamily="34" charset="0"/>
              </a:rPr>
              <a:t>Checking the reliability of the news</a:t>
            </a:r>
          </a:p>
          <a:p>
            <a:pPr marL="342900" indent="-342900">
              <a:lnSpc>
                <a:spcPct val="200000"/>
              </a:lnSpc>
              <a:buFont typeface="Arial" pitchFamily="34" charset="0"/>
              <a:buChar char="•"/>
            </a:pPr>
            <a:r>
              <a:rPr lang="en-US" sz="2000" dirty="0" smtClean="0">
                <a:latin typeface="Arial Narrow" pitchFamily="34" charset="0"/>
              </a:rPr>
              <a:t>Training the nafs to follow what is right.</a:t>
            </a:r>
          </a:p>
          <a:p>
            <a:pPr marL="342900" indent="-342900">
              <a:lnSpc>
                <a:spcPct val="200000"/>
              </a:lnSpc>
              <a:buFont typeface="Arial" pitchFamily="34" charset="0"/>
              <a:buChar char="•"/>
            </a:pPr>
            <a:r>
              <a:rPr lang="en-US" sz="2000" dirty="0" smtClean="0">
                <a:latin typeface="Arial Narrow" pitchFamily="34" charset="0"/>
              </a:rPr>
              <a:t>What to do when two muslim groups are fighting? --- being just</a:t>
            </a:r>
            <a:endParaRPr lang="en-US" sz="3200" dirty="0">
              <a:latin typeface="Arial Narrow" pitchFamily="34" charset="0"/>
              <a:cs typeface="Arial"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054" y="4267200"/>
            <a:ext cx="3827258" cy="2406134"/>
          </a:xfrm>
          <a:prstGeom prst="rect">
            <a:avLst/>
          </a:prstGeom>
          <a:noFill/>
          <a:ln>
            <a:noFill/>
          </a:ln>
          <a:effectLst>
            <a:softEdge rad="63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descr="C:\Users\Home\Downloads\download (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143000"/>
            <a:ext cx="230505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7236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1828800" y="5689038"/>
            <a:ext cx="609600" cy="533400"/>
          </a:xfrm>
          <a:prstGeom prst="rect">
            <a:avLst/>
          </a:prstGeom>
          <a:noFill/>
          <a:ln w="9525">
            <a:noFill/>
            <a:miter lim="800000"/>
            <a:headEnd/>
            <a:tailEnd/>
          </a:ln>
        </p:spPr>
      </p:pic>
      <p:sp>
        <p:nvSpPr>
          <p:cNvPr id="4" name="Rectangle 3"/>
          <p:cNvSpPr/>
          <p:nvPr/>
        </p:nvSpPr>
        <p:spPr>
          <a:xfrm>
            <a:off x="1219200" y="6236732"/>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7" name="Rectangle 6"/>
          <p:cNvSpPr/>
          <p:nvPr/>
        </p:nvSpPr>
        <p:spPr>
          <a:xfrm>
            <a:off x="76200" y="1295400"/>
            <a:ext cx="9144000" cy="3385542"/>
          </a:xfrm>
          <a:prstGeom prst="rect">
            <a:avLst/>
          </a:prstGeom>
        </p:spPr>
        <p:txBody>
          <a:bodyPr wrap="square">
            <a:spAutoFit/>
          </a:bodyPr>
          <a:lstStyle/>
          <a:p>
            <a:pPr>
              <a:lnSpc>
                <a:spcPct val="150000"/>
              </a:lnSpc>
            </a:pPr>
            <a:r>
              <a:rPr lang="en-US" sz="2800" b="1" dirty="0" smtClean="0">
                <a:latin typeface="Arial Narrow" pitchFamily="34" charset="0"/>
              </a:rPr>
              <a:t> </a:t>
            </a:r>
            <a:r>
              <a:rPr lang="en-US" sz="3600" b="1" u="sng" dirty="0" smtClean="0">
                <a:latin typeface="Arial Narrow" pitchFamily="34" charset="0"/>
              </a:rPr>
              <a:t>Ruku No 2:</a:t>
            </a:r>
          </a:p>
          <a:p>
            <a:pPr marL="342900" indent="-342900">
              <a:lnSpc>
                <a:spcPct val="200000"/>
              </a:lnSpc>
              <a:buFont typeface="Arial" pitchFamily="34" charset="0"/>
              <a:buChar char="•"/>
            </a:pPr>
            <a:r>
              <a:rPr lang="en-US" dirty="0" smtClean="0">
                <a:latin typeface="Arial Narrow" pitchFamily="34" charset="0"/>
              </a:rPr>
              <a:t> </a:t>
            </a:r>
            <a:r>
              <a:rPr lang="en-US" sz="2000" dirty="0" smtClean="0">
                <a:latin typeface="Arial Narrow" pitchFamily="34" charset="0"/>
              </a:rPr>
              <a:t>Reforms in the social life of a muslim community</a:t>
            </a:r>
          </a:p>
          <a:p>
            <a:pPr marL="342900" indent="-342900">
              <a:lnSpc>
                <a:spcPct val="200000"/>
              </a:lnSpc>
              <a:buFont typeface="Arial" pitchFamily="34" charset="0"/>
              <a:buChar char="•"/>
            </a:pPr>
            <a:r>
              <a:rPr lang="en-US" sz="2000" dirty="0" smtClean="0">
                <a:latin typeface="Arial Narrow" pitchFamily="34" charset="0"/>
              </a:rPr>
              <a:t>Don’t make fun of people --- Issue of men and women interacting with each other</a:t>
            </a:r>
          </a:p>
          <a:p>
            <a:pPr marL="342900" indent="-342900">
              <a:lnSpc>
                <a:spcPct val="200000"/>
              </a:lnSpc>
              <a:buFont typeface="Arial" pitchFamily="34" charset="0"/>
              <a:buChar char="•"/>
            </a:pPr>
            <a:r>
              <a:rPr lang="en-US" sz="2000" dirty="0" smtClean="0">
                <a:latin typeface="Arial Narrow" pitchFamily="34" charset="0"/>
              </a:rPr>
              <a:t>Pride is the cause of belittling others.</a:t>
            </a:r>
          </a:p>
          <a:p>
            <a:pPr marL="342900" indent="-342900">
              <a:lnSpc>
                <a:spcPct val="200000"/>
              </a:lnSpc>
              <a:buFont typeface="Arial" pitchFamily="34" charset="0"/>
              <a:buChar char="•"/>
            </a:pPr>
            <a:r>
              <a:rPr lang="en-US" sz="2000" dirty="0" smtClean="0">
                <a:latin typeface="Arial Narrow" pitchFamily="34" charset="0"/>
              </a:rPr>
              <a:t>Mocking at others, mimicking their voice and actions</a:t>
            </a:r>
            <a:r>
              <a:rPr lang="en-US" dirty="0" smtClean="0">
                <a:latin typeface="Arial Narrow" pitchFamily="34" charset="0"/>
              </a:rPr>
              <a:t>.</a:t>
            </a:r>
          </a:p>
        </p:txBody>
      </p:sp>
      <p:cxnSp>
        <p:nvCxnSpPr>
          <p:cNvPr id="5" name="Straight Arrow Connector 4"/>
          <p:cNvCxnSpPr/>
          <p:nvPr/>
        </p:nvCxnSpPr>
        <p:spPr>
          <a:xfrm>
            <a:off x="685800" y="5181600"/>
            <a:ext cx="0" cy="990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899" y="951701"/>
            <a:ext cx="2895600" cy="1781908"/>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4745" y="3491687"/>
            <a:ext cx="2686754" cy="2955429"/>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94413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467600" y="5389970"/>
            <a:ext cx="609600" cy="533400"/>
          </a:xfrm>
          <a:prstGeom prst="rect">
            <a:avLst/>
          </a:prstGeom>
          <a:noFill/>
          <a:ln w="9525">
            <a:noFill/>
            <a:miter lim="800000"/>
            <a:headEnd/>
            <a:tailEnd/>
          </a:ln>
        </p:spPr>
      </p:pic>
      <p:sp>
        <p:nvSpPr>
          <p:cNvPr id="4" name="Rectangle 3"/>
          <p:cNvSpPr/>
          <p:nvPr/>
        </p:nvSpPr>
        <p:spPr>
          <a:xfrm>
            <a:off x="6629400" y="6063734"/>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7" name="Rectangle 6"/>
          <p:cNvSpPr/>
          <p:nvPr/>
        </p:nvSpPr>
        <p:spPr>
          <a:xfrm>
            <a:off x="152400" y="1371600"/>
            <a:ext cx="9144000" cy="2554545"/>
          </a:xfrm>
          <a:prstGeom prst="rect">
            <a:avLst/>
          </a:prstGeom>
        </p:spPr>
        <p:txBody>
          <a:bodyPr wrap="square">
            <a:spAutoFit/>
          </a:bodyPr>
          <a:lstStyle/>
          <a:p>
            <a:pPr marL="342900" indent="-342900">
              <a:lnSpc>
                <a:spcPct val="200000"/>
              </a:lnSpc>
              <a:buFont typeface="Arial" pitchFamily="34" charset="0"/>
              <a:buChar char="•"/>
            </a:pPr>
            <a:r>
              <a:rPr lang="en-US" sz="2000" dirty="0" smtClean="0">
                <a:latin typeface="Arial Narrow" pitchFamily="34" charset="0"/>
              </a:rPr>
              <a:t>Taunting others --- Sarcasm</a:t>
            </a:r>
          </a:p>
          <a:p>
            <a:pPr marL="342900" indent="-342900">
              <a:lnSpc>
                <a:spcPct val="200000"/>
              </a:lnSpc>
              <a:buFont typeface="Arial" pitchFamily="34" charset="0"/>
              <a:buChar char="•"/>
            </a:pPr>
            <a:r>
              <a:rPr lang="en-US" sz="2000" dirty="0" smtClean="0">
                <a:latin typeface="Arial Narrow" pitchFamily="34" charset="0"/>
              </a:rPr>
              <a:t>Don’t call each other by bad names</a:t>
            </a:r>
          </a:p>
          <a:p>
            <a:pPr marL="342900" indent="-342900">
              <a:lnSpc>
                <a:spcPct val="200000"/>
              </a:lnSpc>
              <a:buFont typeface="Arial" pitchFamily="34" charset="0"/>
              <a:buChar char="•"/>
            </a:pPr>
            <a:r>
              <a:rPr lang="en-US" sz="2000" dirty="0">
                <a:latin typeface="Arial Narrow" pitchFamily="34" charset="0"/>
              </a:rPr>
              <a:t>Suspicion and spying on others.</a:t>
            </a:r>
          </a:p>
          <a:p>
            <a:pPr marL="342900" indent="-342900">
              <a:lnSpc>
                <a:spcPct val="200000"/>
              </a:lnSpc>
              <a:buFont typeface="Arial" pitchFamily="34" charset="0"/>
              <a:buChar char="•"/>
            </a:pPr>
            <a:endParaRPr lang="en-US" sz="2000" dirty="0" smtClean="0">
              <a:latin typeface="Arial Narrow"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5032471"/>
            <a:ext cx="328613"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descr="C:\Users\Home\Downloads\images (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9753" y="1066800"/>
            <a:ext cx="2371725" cy="192405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256370"/>
            <a:ext cx="2133600" cy="213360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7" descr="data:image/jpeg;base64,/9j/4AAQSkZJRgABAQAAAQABAAD/2wCEAAkGBhQSEBQUEhQUFBUWFRUQFBUUFBUaFxcWFRYXFhUVEhgXHCYfFxkkGRUYHzIgJCcpLCwsFh8xNTAqNSY3LSoBCQoKDgwOGg8PGiokHyItLzIsLCw1KjAwLC4uKiotLCwpLDUpLC8uLykuLCksLCw0Lyk1KiwwLDAsLTQpNSwsLP/AABEIAJwAkwMBIgACEQEDEQH/xAAcAAABBQEBAQAAAAAAAAAAAAAAAgMEBQYBBwj/xABAEAACAQIDBQUDCAkEAwAAAAABAgADEQQhMQUSQVFhBhMicYEykaEUI0KxssHR8AczUnKCktLh8TRTYrMWc5P/xAAbAQABBQEBAAAAAAAAAAAAAAAEAAIDBQYHAf/EADIRAAEDAgMFBgYDAQEAAAAAAAEAAgMEERIhMQVBUWFxEzKBobHwBiKRwdHhFCNCUhb/2gAMAwEAAhEDEQA/APcYQhEkiEJx3ABJNgMyToAOJiSXZDx+16VEfOOF4gcTroBnwModpdpzV8GFuM7NVIyA5UwdT5/fcVmH2aoO8bu5zLMbm/POZyv29FTnBF8x8laQ0GWKY25b/Hgret2xJ/U0HbXxOQoz9kgZkjjwkOptbFvq6UgcrItyOoJ/GKFOLFOZefblXL/q3RGNZCzusHjn65eShPRqsbtiKxPGzlR6AZCJ+Rv/AL+I/wDq0sRTne7lea+c54ypO2I4fQKAmLxdP2a2/lazgfC/1kyZS7X11PztC4uBemTkONgb73wijSiWpQyHbVVFo+/XNNPZP77AfL0srTZ/auhVy3u7b9mpZfje3xlzPOdp1KBbcc2b9oDTox9NI/sva9XC2O93tC4vY3sNPDf2fLThlNNR7fx2bUNtff798lDLswObiiuDwO/oVv4SBsvbdLEC9NswLlTkw8xJ80zHteMTTcKmexzDhcLFEIQj0xEIQiSRCE47gAkmwGZJ0AHExJJvEYlaalnYKo1JNhMftLGti2F7rRBuqcX5M/IchG8fjvldYnPuaZsg4M183I4/46yQqzDbZ2y6QmCE5bzxV7BTin+Z3e9P36JNKkAAALAZAR9UnVWOqkyLnJznpKpHBTi1SLAkJcoC5IFOK3IljvGwOQ1I+oTi7oyF+eV9epni8zTO0cR3VJntfdsSOm8AbdbEykxnaI1D3eGVmYjJrWtz3QfXM2t1mlYAg3sQbg30txvIm6qglAlNcrtYKPq669YRC9jRm258vFEQSMaPmbc7uHiszT7JVCm8zBXOe6c/5mByOvAyPhC+GqBKosjZEHNTw3h5cenpNVQqo5ISqGYcj+bjyje0NnishpvkfaVhzHH+0MFW4nDLoeWnRHCscSWy6Hla3RVuIwjUXFWh4WXMgceeXEcxNZsLtHTxIt7NQC7J9ZU8R+MzWxqxeluuLPTPdsDrlpceWXoZE2jgjTbvqRKsp3jb7Q+8S22btSSjk7N2Y96KGaBtR/XJ3hofzyXo8JXbC2suIohgRvAAOOIbj6HWWM6DG9sjQ5uhWbkY6Nxa7UIhCEemImY7XbRY7uHpEgt4qhHBNLHz8+FuM0lWqFUsxsACxPIDMmYijV713rHWo1wOSDJRqeVz1lFtyt/j0+Fpzdl4b1ZbPjBeZCMm6dd301T1GkAABoMhJCrEqI8gnNnFHvclIseVZExmPSit3OuQA1Pl+PWQcF2pRn3WXcByDFr+W9ll740RSPGJoyTBBI9pc0ZK7JtG3q3yXM8+A6x2JanfifS0gFkOLb02i/RGg9o8zy/GPATiqALCdiJukTdRsbXVELNkozP/ACPAD1lFhdl1sWN+o+4v0Ba4/hW4sOF5Ox162Kp0MimVRxxNrkA9LW05mSO3G2vkODumVaqe4pEDJWKk73TdUEjqBlNt8ObHbUjtZBe5sAny1RpIxh7xzvwH5Poqjaew6VG1sQlN7bwWtUpoSL5FTcEZg52tfiLSfsjaJqb1OoR3i5gi1iMrEEZHzGoInlW1tgfJsNh8TXZCuJYhWLEtvG7A1CdN4Am9z11kzsjtZsNiFQeyxJW+vDeT1Hxzl/tv4chdTOmpj8zMyOmvvehabab53CGff3Tz3eBXqDUAtfeUWFVTvae0mYJ433Sw9BFVaclPQBtr4W3h7j8PFEVUnMMd7I4SXt795LN0a5weJV1vuHUX1XRl9NR6T0em4YAjMEAg9DpMNtfB76G2o8Q8xw9RLfsPtLfod2T4qZsP3D7PuNx6Cbr4ercV4XHp1/f2Xu0I+2hEw1bkem4rSQhCa9UKz3bTEEUFpggd7UCHnu6kgedvfKyjTAAA0GQhtmr3mOIJuKSAAcAxtf1z+HSOJOcbeqe1qiBo3JaGJnZwtbxz+v6snEETiq5UWQFnI8IGg/5MdAB8bRxI8kz17G5TC4A3KocHsvfxVQVvnCqhicwN42y8rXsOkXtPssLFqN767h0PRTw8j8JM2ZVHyisOJWm3oLg/aEtZ0jZdHDPQsxgXO/eEPVV08NRdp0Ay3aDcs7sDap/U1SQcghIsQf2Tfjpb3S+p1s7HJvr8p5htPtBUdKuPqADCCqMOlgN8DIoWFt5iQw8tOE1GxO0i1VQMwIIBp1QdeW+fv6ZzL7a2JJRSneDw968R9EUx0dawyxCx3jhzHEFayEjLWce0pPkIuriLKzFTZVLHS+QvkJmcJQ2ApHZGhvvWxB+m5RDn7K8s9Dll0mS/TK577CC1vBiLG4zJNK4A1ysP5uhtu+yVHdwdLqC38xJlJ+kvsnUxlGnUoZ1qBZlQ/TVwN9Rnbe8KkX5WyvO1bGYynjiboLeoVdtEmSR4G42HQZfZfNzbWx2OFHBb9WuFa1GjYEhrEZZXyBOpyF+U3PY3ZtT5RhqLoe8VayODmVK0qi+LWwDbufDKVRwNMVge5Za4dbKqutUVLjd3QtmD3tbK97cZ632B7HvQWpjcVdaj023Ua96aHxM1Q677WvbhxzNhavhEEby894EfVAMeXvbhGhur7ZdYvRpsdSoJ1++P1BIuxP8AT0v3BJjzgT8nnqVopMpHAcSoNZZU7Oqmhjk3dKhCkX4O278Gz/zLmqJnu0FP2G6lfv8Au+Ms9nzGKZrgj6YB94zo4EL0qEhbGxJqYek7asgJ87QnV2ODmhw3rMvaWOLTuWTdr4rEsMxvhb9VFmHoZKSQsL+sr/8Avqfak1ZyivdiqHnmVpJBaw4AegTyR5IykdSVzkI5VlEMMaigGzIyajgSc78sjNMmzDxNvKZ7ayFd2og8SMKgGeZU5jI8RceV5q8DjVq01dDcML+XMHqNJ0P4aqg+nMW8FDVzMYbLyseo9+S+V+1eHxaIcPep3asErUVLEd7TLAOVGos2TDUBTymk/R9sx6b4bDtVVxXYuVQm9MGmzFDvqLOClyBcZ6z1rtZ+jWljKne06hoVTYOyqGV7cXW48Vsrgjre072d7C4fZwOId2q1VRgarZAKQLhEBsL24knPWbKf+NK1z5M7jQ6A8VUwmeNwEZtzGvRQ9l4G1d13qm5TO6oLmxIFzcC2lxl14y7bDqUKWspBWwyyItYW0lbsBCQ1R/adjUP8XL0A98tpxKukDqhxZpfJaKoe7HYnMW+qf7KuThKYIsV3qZzvmjFSfeJbTO9m6wStiKPhF3FZRxO+o3vdYe+aKdT2dMJqWN44BVdW20zjxz+uaJA29VC4WsSbDu3HqVIHxIk+ZvtNiu8qU8Mp1PeVbHRFzCnzPuy5x1fO2CnfI7gvKWPHKOAzPQZlI2XT3aFMHgg+Iv8AfJLzsS848TiddHF2JxPFRqsptuj5r+IS5qSq2x+qfyH2hC4DZ46o6mNnt6rQdl8WThKWQyBXjorFR8BCMdlf9JT83/7GhOqUzz2LOg9FU1LB2z+p9VT4cWq4gHI985t0JJB9ZNSRsSLY3EA5ElXHla1/jJCTm+0GYal45lW7zex4gegTyR1TGVMdUytchnJx1BBB/wAdZE2fs56LPuVSqNnuqBkeYvp+eUlqYuexTywG8biDyUYeWgt3FRq+GpknfLMTxZiSOOV9NY3W2aroFDvughgpYlbjS4PDXLrFPhWvH8PR3dY8zyD5g83PNSYy0AhyXQp2UA68fPjFwhBSbocm+agY7COatOpSO66cSfCVvcq1s7f1H0sjtmqCfmlItkBUzv5kZ+4REgVg1+MtaPalVTNwRPsPBS2Etg4A298VOxnajdTw0n70ndVCMiTbPeGouf8AEr9lbPZS9Sqb1ahu1rWHQW/OQj1KnvqVYXEkUlIFib8idbdesfX7WqKxoZIdOG9L5Y2ljBa+vvglxtzFsYy5lQAmNCaqGVW2XtSbrYDzuD90sqhlPt5/mwObD4XhkAu8I+mF5G9VoOyv+kp+b/8AY0JO7NUFGEo5aoD6nMn3mdnVaeMiFnQeipqmQGZ/U+qqe1eH7uvSrAe38y/wKeuv8sYUy87TbM7/AA7KBdl8aeY4eouPWZvAVt6mpOpGfnpMZ8Q03Z1HaDRysqZ/aQDi3L7j8eCmqY4pjKmOKZmCEnBPKY4DGQYtWkRChITwM7GwYitiQpW+QJIJPDIm/wAI3DfRNwkmwSsVilpoWc2A/OUomSvijxpUs7cyCLZgEFvqzk+nhDVbfrDwg/N0zoBwZxxY8uGkn1gx9lt0+QMna4Raa8eHREseIdLYuJ0HTnzVZhtgmkQadVrg3KtbcbLMWGl+edustKFTeUEgqeIPA8R184mghF95t4npYDoBHLyN7y/vZ81DJI55+bM8V2cJiS0SWjAFGAhmjLGKZo0zSRoUzQkOZR7UQ1K1OkDa5C65Xdgov+eMt61QAEnQC59JH7IYA1sQ1ZhdUNxcfSPsjlkM+mUuNl0xnnDR79hGxOETHSn/ACPPctthsOERVXRQFGnDyhHYTqIAAsFlySTcomK2jQ7jEsuiVPnKfIMT4lHDXP1HObWVm39ijE07X3XU7yNyPI8bH7geErNqUX8uAtGozCMophFJZ3dOR+x8FQKY4DK/AYosCrZOh3WHG4yJ9/xk1TOYyMLCWnVXD2FpsU+rRYMZBig0hIUBCeDRNeiHFjfLMEHMHmJwNOgxuiZobhOqcuc7eNXheNsm4U7ecLRu84WislhSy0QWnC0QWjgE8NXWaNM0GaRcZigilj6DmeAkrW3NgpmMJNgoO3MVZQg1bM+V8vefqm22Bs/ucOiWAa28/wC8czf6vSZvslsI1X+UVr2BDU75bxH0vIWFv7TazoWwqEwR9o7U6IbaU7QBTs3Znr+kQhCaNUyIQhEks12k2C5bv6HtgWdLe2OfU9ONhbMZ1WExYdbjXiOIPIzdTP7f7Nd43e0SEqjW+j+fXrx48xmNr7G7e80Pe3jirelrAQIpd2h+x5c93RVwaLDSBRxvi3HUpUGqsLe6SwZhZI3MOFwsUc5hGqdBig0ZDRQaRWUdk7vQ3o3vQvPLJuFOb04WiN6JLRWXuFLJiS0QWkXG7QWmM8zwH48h1kjWFxsFIxhcbBPYjEBBdjYfnTnIGzdkVMZV3jvLSH0ul/ZTgWy14ceUkbK7P1MVUD1gyUhmBoWHJeNube7puqNEKoVQAALADQAcpr9k7Fxf2zacOP6TKirbSjDHm/jw/a5QoBFCqLBQFA6COQhNmBbILPk3NyiEIT1eIhCESSIQhEkoG1djU8QtnFiLFXWwZbcj90zGJ2Ji6JAW1dNLiwb1uctOZm2hK6r2bT1WbxnxCMgrJIRhyI4H7cFgU2kt91702GRVwQQZJSoCLg3HMG/1TW4vZ9Op+sRWyt4lBNuh1EqMX2NwzAkKUNvoMcvQ3EzU3w08G8bxbmj2VsDu8CPMfZVd4XkheyFMCwq1wOQdf6Z3/wAST/exH86/0wL/AM/UcQpu2g/68lFZwBc5DmcpFrbVprfxAkcBn/aW2E7EULm5qNloWA+yBLnC7DoUzdKSA3Bva5BGhBOnpCofhuV2b3AJj6unZxPl+Vj0wuLrWNOmUUi4ZrC453P4e+X2w+yK0mFSqe8qA3Gu6p5i/tHqemQmhhNFSbIp6Y4gLnn7/KCm2jI9uBoDRy18SiEIS3VciEIRJIhCESS//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546571"/>
            <a:ext cx="1400175" cy="1485900"/>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88537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6781800" y="5387221"/>
            <a:ext cx="609600" cy="533400"/>
          </a:xfrm>
          <a:prstGeom prst="rect">
            <a:avLst/>
          </a:prstGeom>
          <a:noFill/>
          <a:ln w="9525">
            <a:noFill/>
            <a:miter lim="800000"/>
            <a:headEnd/>
            <a:tailEnd/>
          </a:ln>
        </p:spPr>
      </p:pic>
      <p:sp>
        <p:nvSpPr>
          <p:cNvPr id="4" name="Rectangle 3"/>
          <p:cNvSpPr/>
          <p:nvPr/>
        </p:nvSpPr>
        <p:spPr>
          <a:xfrm>
            <a:off x="6428024" y="6017102"/>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5" name="Rectangle 4"/>
          <p:cNvSpPr/>
          <p:nvPr/>
        </p:nvSpPr>
        <p:spPr>
          <a:xfrm>
            <a:off x="216408" y="1478340"/>
            <a:ext cx="8915400" cy="2400657"/>
          </a:xfrm>
          <a:prstGeom prst="rect">
            <a:avLst/>
          </a:prstGeom>
        </p:spPr>
        <p:txBody>
          <a:bodyPr wrap="square">
            <a:spAutoFit/>
          </a:bodyPr>
          <a:lstStyle/>
          <a:p>
            <a:pPr marL="342900" indent="-342900">
              <a:lnSpc>
                <a:spcPct val="150000"/>
              </a:lnSpc>
              <a:buFont typeface="Arial" pitchFamily="34" charset="0"/>
              <a:buChar char="•"/>
            </a:pPr>
            <a:r>
              <a:rPr lang="en-US" sz="2000" dirty="0" smtClean="0">
                <a:latin typeface="Arial Narrow" pitchFamily="34" charset="0"/>
              </a:rPr>
              <a:t>Backbiting --- Slandering vs Backbiting</a:t>
            </a:r>
          </a:p>
          <a:p>
            <a:pPr marL="342900" indent="-342900">
              <a:lnSpc>
                <a:spcPct val="150000"/>
              </a:lnSpc>
              <a:buFont typeface="Arial" pitchFamily="34" charset="0"/>
              <a:buChar char="•"/>
            </a:pPr>
            <a:r>
              <a:rPr lang="en-US" sz="2000" dirty="0" smtClean="0">
                <a:latin typeface="Arial Narrow" pitchFamily="34" charset="0"/>
              </a:rPr>
              <a:t>Situations when backbiting is permitted.</a:t>
            </a:r>
          </a:p>
          <a:p>
            <a:pPr marL="342900" indent="-342900">
              <a:lnSpc>
                <a:spcPct val="150000"/>
              </a:lnSpc>
              <a:buFont typeface="Arial" pitchFamily="34" charset="0"/>
              <a:buChar char="•"/>
            </a:pPr>
            <a:r>
              <a:rPr lang="en-US" sz="2000" dirty="0" smtClean="0">
                <a:latin typeface="Arial Narrow" pitchFamily="34" charset="0"/>
              </a:rPr>
              <a:t>Allah Consciousness --- Repentance</a:t>
            </a:r>
          </a:p>
          <a:p>
            <a:pPr marL="342900" indent="-342900">
              <a:lnSpc>
                <a:spcPct val="150000"/>
              </a:lnSpc>
              <a:buFont typeface="Arial" pitchFamily="34" charset="0"/>
              <a:buChar char="•"/>
            </a:pPr>
            <a:r>
              <a:rPr lang="en-US" sz="2000" dirty="0" smtClean="0">
                <a:latin typeface="Arial Narrow" pitchFamily="34" charset="0"/>
              </a:rPr>
              <a:t>Don’t be proud on your tribe/family.</a:t>
            </a:r>
          </a:p>
          <a:p>
            <a:pPr marL="342900" indent="-342900">
              <a:lnSpc>
                <a:spcPct val="150000"/>
              </a:lnSpc>
              <a:buFont typeface="Arial" pitchFamily="34" charset="0"/>
              <a:buChar char="•"/>
            </a:pPr>
            <a:r>
              <a:rPr lang="en-US" sz="2000" dirty="0" smtClean="0">
                <a:latin typeface="Arial Narrow" pitchFamily="34" charset="0"/>
              </a:rPr>
              <a:t>Basis of giving preference is Allah Consciousness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546510"/>
            <a:ext cx="328613"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C:\Users\Home\Downloads\images (1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4522" y="990600"/>
            <a:ext cx="2800350" cy="162877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5124" name="Picture 4" descr="http://roshnii179.files.wordpress.com/2012/07/gheebat-backbiting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24867" y="2860570"/>
            <a:ext cx="1720010" cy="2036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5822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086600" y="5257800"/>
            <a:ext cx="609600" cy="533400"/>
          </a:xfrm>
          <a:prstGeom prst="rect">
            <a:avLst/>
          </a:prstGeom>
          <a:noFill/>
          <a:ln w="9525">
            <a:noFill/>
            <a:miter lim="800000"/>
            <a:headEnd/>
            <a:tailEnd/>
          </a:ln>
        </p:spPr>
      </p:pic>
      <p:sp>
        <p:nvSpPr>
          <p:cNvPr id="4" name="Rectangle 3"/>
          <p:cNvSpPr/>
          <p:nvPr/>
        </p:nvSpPr>
        <p:spPr>
          <a:xfrm>
            <a:off x="6290361" y="5976172"/>
            <a:ext cx="2202078" cy="369332"/>
          </a:xfrm>
          <a:prstGeom prst="rect">
            <a:avLst/>
          </a:prstGeom>
        </p:spPr>
        <p:txBody>
          <a:bodyPr wrap="none">
            <a:spAutoFit/>
          </a:bodyPr>
          <a:lstStyle/>
          <a:p>
            <a:r>
              <a:rPr lang="en-US" b="1" dirty="0" smtClean="0">
                <a:solidFill>
                  <a:srgbClr val="FFC000"/>
                </a:solidFill>
              </a:rPr>
              <a:t>ICNA Sisters' Wing</a:t>
            </a:r>
            <a:endParaRPr lang="en-US" b="1" dirty="0">
              <a:solidFill>
                <a:srgbClr val="FFC000"/>
              </a:solidFill>
            </a:endParaRPr>
          </a:p>
        </p:txBody>
      </p:sp>
      <p:sp>
        <p:nvSpPr>
          <p:cNvPr id="5" name="Rectangle 4"/>
          <p:cNvSpPr/>
          <p:nvPr/>
        </p:nvSpPr>
        <p:spPr>
          <a:xfrm>
            <a:off x="152400" y="1066800"/>
            <a:ext cx="8915400" cy="1938992"/>
          </a:xfrm>
          <a:prstGeom prst="rect">
            <a:avLst/>
          </a:prstGeom>
        </p:spPr>
        <p:txBody>
          <a:bodyPr wrap="square">
            <a:spAutoFit/>
          </a:bodyPr>
          <a:lstStyle/>
          <a:p>
            <a:pPr marL="342900" indent="-342900">
              <a:lnSpc>
                <a:spcPct val="150000"/>
              </a:lnSpc>
              <a:buFont typeface="Arial" pitchFamily="34" charset="0"/>
              <a:buChar char="•"/>
            </a:pPr>
            <a:r>
              <a:rPr lang="en-US" sz="2000" dirty="0" smtClean="0">
                <a:latin typeface="Arial Narrow" pitchFamily="34" charset="0"/>
              </a:rPr>
              <a:t>Difference between Iman and Islam --- Iman is related to the condition of heart and Islam is concerned with outer actions of a person.</a:t>
            </a:r>
          </a:p>
          <a:p>
            <a:pPr marL="342900" indent="-342900">
              <a:lnSpc>
                <a:spcPct val="150000"/>
              </a:lnSpc>
              <a:buFont typeface="Arial" pitchFamily="34" charset="0"/>
              <a:buChar char="•"/>
            </a:pPr>
            <a:r>
              <a:rPr lang="en-US" sz="2000" dirty="0" smtClean="0">
                <a:latin typeface="Arial Narrow" pitchFamily="34" charset="0"/>
              </a:rPr>
              <a:t>Iman is not limited to a claim and will be tested by Allah in different circumstances </a:t>
            </a:r>
          </a:p>
          <a:p>
            <a:pPr>
              <a:lnSpc>
                <a:spcPct val="150000"/>
              </a:lnSpc>
            </a:pPr>
            <a:r>
              <a:rPr lang="en-US" sz="2000" dirty="0" smtClean="0">
                <a:latin typeface="Arial Narrow" pitchFamily="34" charset="0"/>
              </a:rPr>
              <a:t>      whereas Islam  (fulfilling the obligatory pillars) helps increase ones Iman.</a:t>
            </a:r>
            <a:endParaRPr lang="en-US" sz="4000" b="1" dirty="0" smtClean="0">
              <a:solidFill>
                <a:srgbClr val="FF0000"/>
              </a:solidFill>
              <a:latin typeface="Arial Narrow" pitchFamily="34" charset="0"/>
            </a:endParaRPr>
          </a:p>
        </p:txBody>
      </p:sp>
      <p:pic>
        <p:nvPicPr>
          <p:cNvPr id="6146" name="Picture 2" descr="https://sphotos-b.xx.fbcdn.net/hphotos-prn1/p480x480/65694_525725964151091_936065366_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125" y="4632322"/>
            <a:ext cx="2547275" cy="18065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graphicFrame>
        <p:nvGraphicFramePr>
          <p:cNvPr id="8" name="Diagram 7"/>
          <p:cNvGraphicFramePr/>
          <p:nvPr>
            <p:extLst/>
          </p:nvPr>
        </p:nvGraphicFramePr>
        <p:xfrm>
          <a:off x="4191000" y="4191000"/>
          <a:ext cx="1905000" cy="13446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14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2819400"/>
            <a:ext cx="2663684" cy="2393944"/>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00749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8610600" cy="6858000"/>
          </a:xfrm>
          <a:prstGeom prst="rect">
            <a:avLst/>
          </a:prstGeom>
        </p:spPr>
      </p:pic>
    </p:spTree>
    <p:extLst>
      <p:ext uri="{BB962C8B-B14F-4D97-AF65-F5344CB8AC3E}">
        <p14:creationId xmlns:p14="http://schemas.microsoft.com/office/powerpoint/2010/main" val="1183556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914400"/>
            <a:ext cx="7010399" cy="5867400"/>
          </a:xfrm>
          <a:prstGeom prst="rect">
            <a:avLst/>
          </a:prstGeom>
        </p:spPr>
      </p:pic>
    </p:spTree>
    <p:extLst>
      <p:ext uri="{BB962C8B-B14F-4D97-AF65-F5344CB8AC3E}">
        <p14:creationId xmlns:p14="http://schemas.microsoft.com/office/powerpoint/2010/main" val="139169129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t>.  </a:t>
            </a:r>
            <a:r>
              <a:rPr lang="fa-IR" dirty="0" smtClean="0">
                <a:solidFill>
                  <a:srgbClr val="FFFF00"/>
                </a:solidFill>
              </a:rPr>
              <a:t>يٰٓاَيُّهَا الَّذِيْنَ اٰمَنُوْا لَا تُـقَدِّمُوْا بَيْنَ يَدَيِ اللّٰهِ وَرَسُوْلِهٖ وَاتَّقُوا اللّٰهَ ۭ اِنَّ اللّٰهَ سَمِيْعٌ عَلِيْمٌ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'O believers! Exceed not over Allah and his Messenger and fear Allah. Undoubtedly Allah Hears, Knows</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just"/>
            <a:r>
              <a:rPr lang="fa-IR" sz="4400" dirty="0" smtClean="0">
                <a:solidFill>
                  <a:srgbClr val="FFFF00"/>
                </a:solidFill>
              </a:rPr>
              <a:t>يٰٓاَيُّهَا الَّذِيْنَ اٰمَنُوْا لَا تَرْفَعُوْٓا اَصْوَاتَكُمْ فَوْقَ صَوْتِ النَّبِيِّ وَلَا تَجْـهَرُوْا لَهٗ بِالْقَوْلِ كَجَــهْرِ بَعْضِكُمْ لِبَعْضٍ اَنْ تَحْبَــطَ اَعْمَالُكُمْ وَاَنْتُمْ لَا تَشْعُرُوْنَ</a:t>
            </a:r>
            <a:endParaRPr lang="en-US" sz="4400"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smtClean="0"/>
              <a:t>'O believers! Raise not your voices above the voice of the Communicator of unseen (the Prophet) and speak not aloud in presence of him as you shout to one another, lest your works become vain while you are unaware.</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04800"/>
            <a:ext cx="7851648" cy="2895600"/>
          </a:xfrm>
        </p:spPr>
        <p:txBody>
          <a:bodyPr>
            <a:normAutofit fontScale="90000"/>
          </a:bodyPr>
          <a:lstStyle/>
          <a:p>
            <a:r>
              <a:rPr lang="fa-IR" sz="4900" dirty="0" smtClean="0">
                <a:solidFill>
                  <a:srgbClr val="FFFF00"/>
                </a:solidFill>
              </a:rPr>
              <a:t>اِنَّ الَّذِيْنَ يَغُضُّوْنَ اَصْوَاتَهُمْ عِنْدَ رَسُوْلِ اللّٰهِ اُولٰۗىِٕكَ الَّذِيْنَ امْتَحَنَ اللّٰهُ قُلُوْبَهُمْ لِلتَّقْوٰى ۭ لَهُمْ مَّغْفِرَةٌ وَّاَجْرٌ عَظِيْمٌ </a:t>
            </a:r>
            <a:r>
              <a:rPr lang="en-US" dirty="0" smtClean="0"/>
              <a:t/>
            </a:r>
            <a:br>
              <a:rPr lang="en-US" dirty="0" smtClean="0"/>
            </a:br>
            <a:endParaRPr lang="en-US" dirty="0"/>
          </a:p>
        </p:txBody>
      </p:sp>
      <p:sp>
        <p:nvSpPr>
          <p:cNvPr id="3" name="Subtitle 2"/>
          <p:cNvSpPr>
            <a:spLocks noGrp="1"/>
          </p:cNvSpPr>
          <p:nvPr>
            <p:ph type="subTitle" idx="1"/>
          </p:nvPr>
        </p:nvSpPr>
        <p:spPr>
          <a:xfrm>
            <a:off x="533400" y="3505200"/>
            <a:ext cx="7854696" cy="2362200"/>
          </a:xfrm>
        </p:spPr>
        <p:txBody>
          <a:bodyPr>
            <a:normAutofit/>
          </a:bodyPr>
          <a:lstStyle/>
          <a:p>
            <a:pPr algn="l"/>
            <a:r>
              <a:rPr lang="en-US" dirty="0" smtClean="0"/>
              <a:t>Undoubtedly, those who lower down their  voices in the presence of the messenger of Allah those are they whose hearts Allah has tested for piety. For them is forgiveness and great reward.</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fa-IR" sz="4800" dirty="0" smtClean="0">
                <a:solidFill>
                  <a:srgbClr val="FFFF00"/>
                </a:solidFill>
              </a:rPr>
              <a:t>اِنَّ الَّذِيْنَ يُنَادُوْنَكَ مِنْ وَّرَاۗءِ الْحُـجُرٰتِ اَكْثَرُهُمْ لَا يَعْقِلُوْنَ</a:t>
            </a:r>
            <a:endParaRPr lang="en-US" sz="4800" dirty="0">
              <a:solidFill>
                <a:srgbClr val="FFFF00"/>
              </a:solidFill>
            </a:endParaRPr>
          </a:p>
        </p:txBody>
      </p:sp>
      <p:sp>
        <p:nvSpPr>
          <p:cNvPr id="3" name="Subtitle 2"/>
          <p:cNvSpPr>
            <a:spLocks noGrp="1"/>
          </p:cNvSpPr>
          <p:nvPr>
            <p:ph type="subTitle" idx="1"/>
          </p:nvPr>
        </p:nvSpPr>
        <p:spPr>
          <a:xfrm>
            <a:off x="533400" y="3733800"/>
            <a:ext cx="7854696" cy="1752600"/>
          </a:xfrm>
        </p:spPr>
        <p:txBody>
          <a:bodyPr/>
          <a:lstStyle/>
          <a:p>
            <a:pPr algn="l"/>
            <a:r>
              <a:rPr lang="en-US" dirty="0" smtClean="0"/>
              <a:t>Undoubtedly, those who call you from behind your private apartments, most of them are stupid.</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85800"/>
            <a:ext cx="7851648" cy="2133600"/>
          </a:xfrm>
        </p:spPr>
        <p:txBody>
          <a:bodyPr>
            <a:normAutofit/>
          </a:bodyPr>
          <a:lstStyle/>
          <a:p>
            <a:r>
              <a:rPr lang="fa-IR" sz="4800" dirty="0" smtClean="0">
                <a:solidFill>
                  <a:srgbClr val="FFFF00"/>
                </a:solidFill>
              </a:rPr>
              <a:t>وَلَوْ اَنَّهُمْ صَبَرُوْا حَتّٰى تَخْرُجَ اِلَيْهِمْ لَكَانَ خَيْرًا لَّهُمْ ۭ وَاللّٰهُ غَفُوْرٌ رَّحِيْمٌ</a:t>
            </a:r>
            <a:endParaRPr lang="en-US" sz="4800" dirty="0">
              <a:solidFill>
                <a:srgbClr val="FFFF00"/>
              </a:solidFill>
            </a:endParaRPr>
          </a:p>
        </p:txBody>
      </p:sp>
      <p:sp>
        <p:nvSpPr>
          <p:cNvPr id="3" name="Subtitle 2"/>
          <p:cNvSpPr>
            <a:spLocks noGrp="1"/>
          </p:cNvSpPr>
          <p:nvPr>
            <p:ph type="subTitle" idx="1"/>
          </p:nvPr>
        </p:nvSpPr>
        <p:spPr>
          <a:xfrm>
            <a:off x="533400" y="3581400"/>
            <a:ext cx="7854696" cy="2133600"/>
          </a:xfrm>
        </p:spPr>
        <p:txBody>
          <a:bodyPr/>
          <a:lstStyle/>
          <a:p>
            <a:pPr algn="l"/>
            <a:r>
              <a:rPr lang="en-US" dirty="0" smtClean="0"/>
              <a:t>And if they had patience, until you yourself come out to them that had been better for them. And Allah is Forgiving, Merciful.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solidFill>
                  <a:srgbClr val="FFFF00"/>
                </a:solidFill>
              </a:rPr>
              <a:t>يٰٓاَيُّهَا الَّذِيْنَ اٰمَنُوْٓا اِنْ جَاۗءَكُمْ فَاسِقٌۢ بِنَبَاٍ فَتَبَيَّنُوْٓا اَنْ تُصِيْبُوْا قَوْمًۢا بِجَــهَالَةٍ فَتُصْبِحُوْا عَلٰي مَا فَعَلْتُمْ نٰدِمِيْنَ</a:t>
            </a:r>
            <a:endParaRPr lang="en-US" dirty="0">
              <a:solidFill>
                <a:srgbClr val="FFFF00"/>
              </a:solidFill>
            </a:endParaRPr>
          </a:p>
        </p:txBody>
      </p:sp>
      <p:sp>
        <p:nvSpPr>
          <p:cNvPr id="3" name="Subtitle 2"/>
          <p:cNvSpPr>
            <a:spLocks noGrp="1"/>
          </p:cNvSpPr>
          <p:nvPr>
            <p:ph type="subTitle" idx="1"/>
          </p:nvPr>
        </p:nvSpPr>
        <p:spPr/>
        <p:txBody>
          <a:bodyPr>
            <a:normAutofit fontScale="92500"/>
          </a:bodyPr>
          <a:lstStyle/>
          <a:p>
            <a:pPr algn="l"/>
            <a:r>
              <a:rPr lang="en-US" dirty="0" smtClean="0"/>
              <a:t>'O believers! If any disobedient comes to you with any news make a strict inquiry lest you may hurt any people improperly then remain repenting on what you have done.</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fa-IR" sz="4400" dirty="0" smtClean="0">
                <a:solidFill>
                  <a:srgbClr val="FFFF00"/>
                </a:solidFill>
              </a:rPr>
              <a:t>وَاعْلَمُوْٓا اَنَّ فِيْكُمْ رَسُوْلَ اللّٰهِ ۭ لَوْ يُطِيْعُكُمْ فِيْ كَثِيْرٍ مِّنَ الْاَمْرِ لَعَنِتُّمْ وَلٰكِنَّ اللّٰهَ حَبَّبَ اِلَيْكُمُ الْاِيْمَانَ وَزَيَّنَهٗ فِيْ قُلُوْبِكُمْ وَكَرَّهَ اِلَيْكُمُ الْكُفْرَ وَالْفُسُوْقَ وَالْعِصْيَانَ ۭاُولٰۗىِٕكَ هُمُ الرّٰشِدُوْنَ</a:t>
            </a:r>
            <a:endParaRPr lang="en-US" sz="4400" dirty="0">
              <a:solidFill>
                <a:srgbClr val="FFFF00"/>
              </a:solidFill>
            </a:endParaRPr>
          </a:p>
        </p:txBody>
      </p:sp>
      <p:sp>
        <p:nvSpPr>
          <p:cNvPr id="3" name="Subtitle 2"/>
          <p:cNvSpPr>
            <a:spLocks noGrp="1"/>
          </p:cNvSpPr>
          <p:nvPr>
            <p:ph type="subTitle" idx="1"/>
          </p:nvPr>
        </p:nvSpPr>
        <p:spPr>
          <a:xfrm>
            <a:off x="533400" y="3228536"/>
            <a:ext cx="7854696" cy="2943664"/>
          </a:xfrm>
        </p:spPr>
        <p:txBody>
          <a:bodyPr>
            <a:normAutofit fontScale="92500"/>
          </a:bodyPr>
          <a:lstStyle/>
          <a:p>
            <a:pPr algn="l"/>
            <a:r>
              <a:rPr lang="en-US" dirty="0" smtClean="0"/>
              <a:t>And know that the Messenger of Allah is among you. If he were to do according to your liking in much of the affairs, you would then surely be in trouble, but Allah has endeared the faith to you and has adorned it in your hearts and He has made infidelity, and iniquity and disobedience hateful to you such persons are on the right course.</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smtClean="0">
                <a:solidFill>
                  <a:srgbClr val="FFFF00"/>
                </a:solidFill>
              </a:rPr>
              <a:t>فَضْلًا مِّنَ اللّٰهِ وَنِعْمَةً ۭ وَاللّٰهُ عَلِيْمٌ حَكِيْمٌ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A grace and </a:t>
            </a:r>
            <a:r>
              <a:rPr lang="en-US" dirty="0" err="1" smtClean="0"/>
              <a:t>favour</a:t>
            </a:r>
            <a:r>
              <a:rPr lang="en-US" dirty="0" smtClean="0"/>
              <a:t> of Allah. And Allah is Knowing, Wise.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0"/>
            <a:ext cx="7851648" cy="4038600"/>
          </a:xfrm>
        </p:spPr>
        <p:txBody>
          <a:bodyPr>
            <a:normAutofit/>
          </a:bodyPr>
          <a:lstStyle/>
          <a:p>
            <a:pPr algn="just"/>
            <a:r>
              <a:rPr lang="fa-IR" sz="4800" dirty="0" smtClean="0">
                <a:solidFill>
                  <a:srgbClr val="FFFF00"/>
                </a:solidFill>
              </a:rPr>
              <a:t>وَاِنْ طَاۗىِٕفَتٰنِ مِنَ الْمُؤْمِنِيْنَ اقْتَتَلُوْا فَاَصْلِحُوْا بَيْنَهُمَا ۚ فَاِنْۢ بَغَتْ اِحْدٰىهُمَا عَلَي الْاُخْرٰى فَقَاتِلُوا الَّتِيْ تَبْغِيْ حَتّٰى تَفِيْۗءَ اِلٰٓى اَمْرِ اللّٰهِ ۚ فَاِنْ فَاۗءَتْ فَاَصْلِحُوْا بَيْنَهُمَا بِالْعَدْلِ وَاَقْسِطُوْا ۭ اِنَّ اللّٰهَ يُحِبُّ الْمُقْسِطِيْنَ</a:t>
            </a:r>
            <a:endParaRPr lang="en-US" sz="4800" dirty="0">
              <a:solidFill>
                <a:srgbClr val="FFFF00"/>
              </a:solidFill>
            </a:endParaRPr>
          </a:p>
        </p:txBody>
      </p:sp>
      <p:sp>
        <p:nvSpPr>
          <p:cNvPr id="3" name="Subtitle 2"/>
          <p:cNvSpPr>
            <a:spLocks noGrp="1"/>
          </p:cNvSpPr>
          <p:nvPr>
            <p:ph type="subTitle" idx="1"/>
          </p:nvPr>
        </p:nvSpPr>
        <p:spPr>
          <a:xfrm>
            <a:off x="533400" y="3962400"/>
            <a:ext cx="7854696" cy="2895600"/>
          </a:xfrm>
        </p:spPr>
        <p:txBody>
          <a:bodyPr>
            <a:normAutofit fontScale="92500"/>
          </a:bodyPr>
          <a:lstStyle/>
          <a:p>
            <a:pPr algn="l"/>
            <a:r>
              <a:rPr lang="en-US" dirty="0" smtClean="0"/>
              <a:t>And if two groups of the Muslims fight each other, then make peace between them, but if one of them commits excessiveness against the other, then fight the one that has committed excessiveness till it reverts to the command of Allah. Then if it reverts rectify between them with justice and do justice. Verily Allah loves the equitable.</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smtClean="0">
                <a:solidFill>
                  <a:srgbClr val="FFFF00"/>
                </a:solidFill>
              </a:rPr>
              <a:t>اِنَّمَا الْمُؤْمِنُوْنَ اِخْوَةٌ فَاَصْلِحُوْا بَيْنَ اَخَوَيْكُمْ ۚ وَاتَّقُوا اللّٰهَ لَعَلَّكُمْ تُرْحَمُوْنَ</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Muslims are brothers, therefore make peace between the two brothers and fear Allah that the mercy may be shown to you.</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7851648" cy="4800600"/>
          </a:xfrm>
        </p:spPr>
        <p:txBody>
          <a:bodyPr>
            <a:normAutofit/>
          </a:bodyPr>
          <a:lstStyle/>
          <a:p>
            <a:pPr algn="just"/>
            <a:r>
              <a:rPr lang="fa-IR" sz="4400" dirty="0" smtClean="0">
                <a:solidFill>
                  <a:srgbClr val="FFFF00"/>
                </a:solidFill>
              </a:rPr>
              <a:t>يٰٓاَيُّهَا الَّذِيْنَ اٰمَنُوْا لَا يَسْخَرْ قَوْمٌ مِّنْ قَوْمٍ عَسٰٓى اَنْ يَّكُوْنُوْا خَيْرًا مِّنْهُمْ وَلَا نِسَاۗءٌ مِّنْ نِّسَاۗءٍ عَسٰٓى اَنْ يَّكُنَّ خَيْرًا مِّنْهُنَّ ۚ </a:t>
            </a:r>
            <a:r>
              <a:rPr lang="fa-IR" sz="4400" dirty="0" smtClean="0">
                <a:solidFill>
                  <a:srgbClr val="FF0000"/>
                </a:solidFill>
              </a:rPr>
              <a:t>وَلَا تَلْمِزُوْٓا اَنْفُسَكُمْ</a:t>
            </a:r>
            <a:r>
              <a:rPr lang="fa-IR" sz="4400" dirty="0" smtClean="0">
                <a:solidFill>
                  <a:srgbClr val="FFFF00"/>
                </a:solidFill>
              </a:rPr>
              <a:t> و</a:t>
            </a:r>
            <a:r>
              <a:rPr lang="fa-IR" sz="4400" dirty="0" smtClean="0">
                <a:solidFill>
                  <a:srgbClr val="FF0000"/>
                </a:solidFill>
              </a:rPr>
              <a:t>َلَا تَنَابَزُوْا بِالْاَلْقَابِ </a:t>
            </a:r>
            <a:r>
              <a:rPr lang="fa-IR" sz="4400" dirty="0" smtClean="0">
                <a:solidFill>
                  <a:srgbClr val="FFFF00"/>
                </a:solidFill>
              </a:rPr>
              <a:t>ۭ بِئْسَ الِاسْمُ الْفُسُوْقُ بَعْدَ الْاِيْمَانِ ۚ وَمَنْ لَّمْ يَتُبْ فَاُولٰۗىِٕكَ هُمُ الظّٰلِمُوْنَ</a:t>
            </a:r>
            <a:endParaRPr lang="en-US" sz="4400" dirty="0">
              <a:solidFill>
                <a:srgbClr val="FFFF00"/>
              </a:solidFill>
            </a:endParaRPr>
          </a:p>
        </p:txBody>
      </p:sp>
      <p:sp>
        <p:nvSpPr>
          <p:cNvPr id="3" name="Subtitle 2"/>
          <p:cNvSpPr>
            <a:spLocks noGrp="1"/>
          </p:cNvSpPr>
          <p:nvPr>
            <p:ph type="subTitle" idx="1"/>
          </p:nvPr>
        </p:nvSpPr>
        <p:spPr>
          <a:xfrm>
            <a:off x="533400" y="4191000"/>
            <a:ext cx="7854696" cy="2667000"/>
          </a:xfrm>
        </p:spPr>
        <p:txBody>
          <a:bodyPr>
            <a:normAutofit fontScale="92500"/>
          </a:bodyPr>
          <a:lstStyle/>
          <a:p>
            <a:pPr algn="l"/>
            <a:r>
              <a:rPr lang="en-US" dirty="0" smtClean="0"/>
              <a:t>'O believers! Let not the men scoff at the men, perchance they may be better than those who scoff, and nor the women at other women, perchance that they may be better than those women who scoff, and do not taunt one another and nor call one another by nick-names. What a bad name is, to be called a disobedient after being a Muslim, and those who repent not, they are the unjust.</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2133600"/>
          </a:xfrm>
        </p:spPr>
        <p:txBody>
          <a:bodyPr>
            <a:noAutofit/>
          </a:bodyPr>
          <a:lstStyle/>
          <a:p>
            <a:pPr algn="just"/>
            <a:r>
              <a:rPr lang="fa-IR" sz="4400" dirty="0" smtClean="0">
                <a:solidFill>
                  <a:srgbClr val="FFFF00"/>
                </a:solidFill>
              </a:rPr>
              <a:t>يٰٓاَيُّهَا الَّذِيْنَ اٰمَنُوا </a:t>
            </a:r>
            <a:r>
              <a:rPr lang="fa-IR" sz="4400" dirty="0" smtClean="0">
                <a:solidFill>
                  <a:srgbClr val="FF0000"/>
                </a:solidFill>
              </a:rPr>
              <a:t>اجْتَنِبُوْا كَثِيْرًا مِّنَ الظَّن</a:t>
            </a:r>
            <a:r>
              <a:rPr lang="fa-IR" sz="4400" dirty="0" smtClean="0">
                <a:solidFill>
                  <a:srgbClr val="FFFF00"/>
                </a:solidFill>
              </a:rPr>
              <a:t>ِّ ۡ اِنَّ بَعْضَ الظَّنِّ اِثْمٌ </a:t>
            </a:r>
            <a:r>
              <a:rPr lang="fa-IR" sz="4400" dirty="0" smtClean="0">
                <a:solidFill>
                  <a:srgbClr val="FF0000"/>
                </a:solidFill>
              </a:rPr>
              <a:t>وَّلَا تَجَسَّسُوْا</a:t>
            </a:r>
            <a:r>
              <a:rPr lang="fa-IR" sz="4400" dirty="0" smtClean="0">
                <a:solidFill>
                  <a:srgbClr val="FFFF00"/>
                </a:solidFill>
              </a:rPr>
              <a:t> </a:t>
            </a:r>
            <a:r>
              <a:rPr lang="fa-IR" sz="4400" dirty="0" smtClean="0">
                <a:solidFill>
                  <a:srgbClr val="FF0000"/>
                </a:solidFill>
              </a:rPr>
              <a:t>وَلَا يَغْتَبْ بَّعْضُكُمْ بَعْضًا</a:t>
            </a:r>
            <a:r>
              <a:rPr lang="fa-IR" sz="4400" dirty="0" smtClean="0">
                <a:solidFill>
                  <a:srgbClr val="FFFF00"/>
                </a:solidFill>
              </a:rPr>
              <a:t> ۭ اَيُحِبُّ اَحَدُكُمْ اَنْ يَّاْكُلَ لَحْمَ اَخِيْهِ مَيْتًا فَكَرِهْتُمُوْهُ ۭ وَاتَّقُوا اللّٰهَ ۭ اِنَّ اللّٰهَ تَوَّابٌ رَّحِيْمٌ</a:t>
            </a:r>
            <a:endParaRPr lang="en-US" sz="4400" dirty="0">
              <a:solidFill>
                <a:srgbClr val="FFFF00"/>
              </a:solidFill>
            </a:endParaRPr>
          </a:p>
        </p:txBody>
      </p:sp>
      <p:sp>
        <p:nvSpPr>
          <p:cNvPr id="3" name="Subtitle 2"/>
          <p:cNvSpPr>
            <a:spLocks noGrp="1"/>
          </p:cNvSpPr>
          <p:nvPr>
            <p:ph type="subTitle" idx="1"/>
          </p:nvPr>
        </p:nvSpPr>
        <p:spPr>
          <a:xfrm>
            <a:off x="533400" y="3886200"/>
            <a:ext cx="7854696" cy="2133600"/>
          </a:xfrm>
        </p:spPr>
        <p:txBody>
          <a:bodyPr>
            <a:normAutofit/>
          </a:bodyPr>
          <a:lstStyle/>
          <a:p>
            <a:pPr algn="l"/>
            <a:r>
              <a:rPr lang="en-US" dirty="0" smtClean="0"/>
              <a:t>'O believers! Avoid most suspicions, verily some suspicion is a sin and do not look out for faults and do not backbite one another. Would any of you like to eat the flesh of his dead brother? You would abominate it. And fear Allah, Verily Allah is Oft Returning, Merciful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solidFill>
                  <a:srgbClr val="FFFF00"/>
                </a:solidFill>
              </a:rPr>
              <a:t>يٰٓاَيُّهَا النَّاسُ اِنَّا خَلَقْنٰكُمْ مِّنْ ذَكَرٍ وَّاُنْثٰى وَجَعَلْنٰكُمْ شُعُوْبًا وَّقَبَاۗىِٕلَ لِتَعَارَفُوْا ۭ اِنَّ اَكْرَمَكُمْ عِنْدَ اللّٰهِ اَتْقٰىكُمْ ۭ اِنَّ اللّٰهَ عَلِيْمٌ خَبِيْرٌ</a:t>
            </a:r>
            <a:endParaRPr lang="en-US"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smtClean="0"/>
              <a:t>O people! We created you from one man and one woman and made you  in branches and tribes that you may recognize one another. Undoubtedly, the most respected among you in the sight of Allah is he who is more pious, verily, Allah is knowing, Aware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8153400" cy="1828800"/>
          </a:xfrm>
        </p:spPr>
        <p:txBody>
          <a:bodyPr>
            <a:noAutofit/>
          </a:bodyPr>
          <a:lstStyle/>
          <a:p>
            <a:r>
              <a:rPr lang="fa-IR" sz="4400" dirty="0" smtClean="0">
                <a:solidFill>
                  <a:srgbClr val="FFFF00"/>
                </a:solidFill>
              </a:rPr>
              <a:t>قَالَتِ الْاَعْرَابُ اٰمَنَّا ۭ قُلْ لَّمْ تُؤْمِنُوْا وَلٰكِنْ قُوْلُوْٓا اَسْلَمْنَا وَلَمَّا يَدْخُلِ الْاِيْمَانُ فِيْ قُلُوْبِكُمْ ۭ وَاِنْ تُطِيْعُوا اللّٰهَ وَرَسُوْلَهٗ لَا يَـلِتْكُمْ مِّنْ اَعْمَالِكُمْ شَـيْـــــًٔا ۭ اِنَّ اللّٰهَ غَفُوْرٌ رَّحِيْمٌ</a:t>
            </a:r>
            <a:endParaRPr lang="en-US" sz="4400" dirty="0">
              <a:solidFill>
                <a:srgbClr val="FFFF00"/>
              </a:solidFill>
            </a:endParaRPr>
          </a:p>
        </p:txBody>
      </p:sp>
      <p:sp>
        <p:nvSpPr>
          <p:cNvPr id="3" name="Subtitle 2"/>
          <p:cNvSpPr>
            <a:spLocks noGrp="1"/>
          </p:cNvSpPr>
          <p:nvPr>
            <p:ph type="subTitle" idx="1"/>
          </p:nvPr>
        </p:nvSpPr>
        <p:spPr>
          <a:xfrm>
            <a:off x="533400" y="3657600"/>
            <a:ext cx="7854696" cy="2362200"/>
          </a:xfrm>
        </p:spPr>
        <p:txBody>
          <a:bodyPr>
            <a:normAutofit fontScale="77500" lnSpcReduction="20000"/>
          </a:bodyPr>
          <a:lstStyle/>
          <a:p>
            <a:pPr algn="l"/>
            <a:endParaRPr lang="en-US" dirty="0" smtClean="0"/>
          </a:p>
          <a:p>
            <a:pPr algn="l"/>
            <a:endParaRPr lang="en-US" dirty="0"/>
          </a:p>
          <a:p>
            <a:pPr algn="l"/>
            <a:r>
              <a:rPr lang="en-US" dirty="0" smtClean="0"/>
              <a:t>The </a:t>
            </a:r>
            <a:r>
              <a:rPr lang="en-US" dirty="0" smtClean="0"/>
              <a:t>villagers said 'we have believed'. Say, you, 'you believed not, yes, you rather say, we have surrendered', for the belief has not yet entered in your hearts. But if you shall obey Allah ends His Messenger, He will not make you to lose anything of your works. Surely, Allah is Forgiving, Merciful.</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solidFill>
                  <a:srgbClr val="FFFF00"/>
                </a:solidFill>
              </a:rPr>
              <a:t>اِنَّمَا الْمُؤْمِنُوْنَ الَّذِيْنَ اٰمَنُوْا بِاللّٰهِ وَرَسُوْلِهٖ ثُمَّ لَمْ يَرْتَابُوْا وَجٰهَدُوْا بِاَمْوَالِهِمْ وَاَنْفُسِهِمْ فِيْ سَبِيْلِ اللّٰهِ ۭ اُولٰۗىِٕكَ هُمُ الصّٰدِقُوْنَ</a:t>
            </a:r>
            <a:endParaRPr lang="en-US"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smtClean="0"/>
              <a:t>The believers are only those who have believed in Allah and His Messenger and then, have never doubted and have struggled with their possession and their persons in the way of Allah. It is they who are truthful.</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solidFill>
                  <a:srgbClr val="FFFF00"/>
                </a:solidFill>
              </a:rPr>
              <a:t>قُلْ اَتُعَلِّمُوْنَ اللّٰهَ بِدِيْنِكُمْ ۭ وَاللّٰهُ يَعْلَمُ مَا فِي السَّمٰوٰتِ وَمَا فِي الْاَرْضِ ۭ وَاللّٰهُ بِكُلِّ شَيْءٍ عَلِيْمٌ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Say you, 'do you tell Allah your religion? And Allah knows whatever is in the heavens and whatever is in </a:t>
            </a:r>
            <a:r>
              <a:rPr lang="en-US" dirty="0" err="1" smtClean="0"/>
              <a:t>theearth</a:t>
            </a:r>
            <a:r>
              <a:rPr lang="en-US" dirty="0" smtClean="0"/>
              <a:t>. And Allah knows everything.</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smtClean="0">
                <a:solidFill>
                  <a:srgbClr val="FFFF00"/>
                </a:solidFill>
              </a:rPr>
              <a:t>يَمُنُّوْنَ عَلَيْكَ اَنْ اَسْلَمُوْا ۭ قُلْ لَّا تَمُنُّوْا عَلَيَّ اِسْلَامَكُمْ ۚ بَلِ اللّٰهُ يَمُنُّ عَلَيْكُمْ اَنْ هَدٰىكُمْ لِلْاِيْمَانِ اِنْ كُنْتُمْ صٰدِقِيْنَ</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Say you, 'do you tell Allah your religion? And Allah knows whatever is in the heavens and whatever is in the earth. And Allah knows everything.</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ar-AE" dirty="0">
                <a:solidFill>
                  <a:srgbClr val="FFFF00"/>
                </a:solidFill>
              </a:rPr>
              <a:t>يَمُنُّونَ عَلَيْكَ أَنْ أَسْلَمُوا ۖ قُل لَّا تَمُنُّوا عَلَيَّ إِسْلَامَكُم ۖ بَلِ اللَّهُ يَمُنُّ عَلَيْكُمْ أَنْ هَدَاكُمْ لِلْإِيمَانِ إِن كُنتُمْ صَادِقِينَ     </a:t>
            </a:r>
            <a:r>
              <a:rPr lang="ar-AE" dirty="0"/>
              <a:t>٘</a:t>
            </a:r>
            <a:endParaRPr lang="en-US" dirty="0">
              <a:solidFill>
                <a:srgbClr val="FFFF00"/>
              </a:solidFill>
            </a:endParaRPr>
          </a:p>
        </p:txBody>
      </p:sp>
      <p:sp>
        <p:nvSpPr>
          <p:cNvPr id="3" name="Subtitle 2"/>
          <p:cNvSpPr>
            <a:spLocks noGrp="1"/>
          </p:cNvSpPr>
          <p:nvPr>
            <p:ph type="subTitle" idx="1"/>
          </p:nvPr>
        </p:nvSpPr>
        <p:spPr>
          <a:xfrm>
            <a:off x="533400" y="4038600"/>
            <a:ext cx="7854696" cy="2514600"/>
          </a:xfrm>
        </p:spPr>
        <p:txBody>
          <a:bodyPr>
            <a:normAutofit fontScale="92500" lnSpcReduction="10000"/>
          </a:bodyPr>
          <a:lstStyle/>
          <a:p>
            <a:pPr algn="l"/>
            <a:r>
              <a:rPr lang="en-US" dirty="0" smtClean="0"/>
              <a:t>'O beloved (prophet)! They take it as a </a:t>
            </a:r>
            <a:r>
              <a:rPr lang="en-US" dirty="0" err="1" smtClean="0"/>
              <a:t>favour</a:t>
            </a:r>
            <a:r>
              <a:rPr lang="en-US" dirty="0" smtClean="0"/>
              <a:t> to you that they have become Muslims. Say you, 'do not place the </a:t>
            </a:r>
            <a:r>
              <a:rPr lang="en-US" dirty="0" err="1" smtClean="0"/>
              <a:t>favour</a:t>
            </a:r>
            <a:r>
              <a:rPr lang="en-US" dirty="0" smtClean="0"/>
              <a:t> of your Islam on me; but rather Allah confers a </a:t>
            </a:r>
            <a:r>
              <a:rPr lang="en-US" dirty="0" err="1" smtClean="0"/>
              <a:t>favour</a:t>
            </a:r>
            <a:r>
              <a:rPr lang="en-US" dirty="0" smtClean="0"/>
              <a:t> upon you in that He has guided you to Islam, if you are truthful.</a:t>
            </a:r>
            <a:br>
              <a:rPr lang="en-US" dirty="0" smtClean="0"/>
            </a:br>
            <a:r>
              <a:rPr lang="en-US" dirty="0" smtClean="0"/>
              <a:t/>
            </a:r>
            <a:br>
              <a:rPr lang="en-US" dirty="0" smtClean="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371600"/>
            <a:ext cx="7851648" cy="1828800"/>
          </a:xfrm>
        </p:spPr>
        <p:txBody>
          <a:bodyPr/>
          <a:lstStyle/>
          <a:p>
            <a:r>
              <a:rPr lang="fa-IR" dirty="0" smtClean="0">
                <a:solidFill>
                  <a:srgbClr val="FFFF00"/>
                </a:solidFill>
              </a:rPr>
              <a:t>اِنَّ اللّٰهَ يَعْلَمُ غَيْبَ السَّمٰوٰتِ وَالْاَرْضِ ۭ وَاللّٰهُ بَصِيْرٌۢ بِمَا تَعْمَلُوْنَ </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smtClean="0"/>
              <a:t>Undoubtedly, Allah knows the unseen of the heaven and of the earth, and Allah is seeing your works.</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42090294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3319</TotalTime>
  <Words>1513</Words>
  <Application>Microsoft Office PowerPoint</Application>
  <PresentationFormat>On-screen Show (4:3)</PresentationFormat>
  <Paragraphs>96</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Algerian</vt:lpstr>
      <vt:lpstr>Arial</vt:lpstr>
      <vt:lpstr>Arial Narrow</vt:lpstr>
      <vt:lpstr>Calibri</vt:lpstr>
      <vt:lpstr>Constantia</vt:lpstr>
      <vt:lpstr>Majalla UI</vt:lpstr>
      <vt:lpstr>Traditional Arabic</vt:lpstr>
      <vt:lpstr>Wingdings 2</vt:lpstr>
      <vt:lpstr>Flow</vt:lpstr>
      <vt:lpstr>PowerPoint Presentation</vt:lpstr>
      <vt:lpstr>Facts and figures of al Hujrat</vt:lpstr>
      <vt:lpstr>Teachings / topics of surah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يٰٓاَيُّهَا الَّذِيْنَ اٰمَنُوْا لَا تُـقَدِّمُوْا بَيْنَ يَدَيِ اللّٰهِ وَرَسُوْلِهٖ وَاتَّقُوا اللّٰهَ ۭ اِنَّ اللّٰهَ سَمِيْعٌ عَلِيْمٌ</vt:lpstr>
      <vt:lpstr>يٰٓاَيُّهَا الَّذِيْنَ اٰمَنُوْا لَا تَرْفَعُوْٓا اَصْوَاتَكُمْ فَوْقَ صَوْتِ النَّبِيِّ وَلَا تَجْـهَرُوْا لَهٗ بِالْقَوْلِ كَجَــهْرِ بَعْضِكُمْ لِبَعْضٍ اَنْ تَحْبَــطَ اَعْمَالُكُمْ وَاَنْتُمْ لَا تَشْعُرُوْنَ</vt:lpstr>
      <vt:lpstr>اِنَّ الَّذِيْنَ يَغُضُّوْنَ اَصْوَاتَهُمْ عِنْدَ رَسُوْلِ اللّٰهِ اُولٰۗىِٕكَ الَّذِيْنَ امْتَحَنَ اللّٰهُ قُلُوْبَهُمْ لِلتَّقْوٰى ۭ لَهُمْ مَّغْفِرَةٌ وَّاَجْرٌ عَظِيْمٌ  </vt:lpstr>
      <vt:lpstr>اِنَّ الَّذِيْنَ يُنَادُوْنَكَ مِنْ وَّرَاۗءِ الْحُـجُرٰتِ اَكْثَرُهُمْ لَا يَعْقِلُوْنَ</vt:lpstr>
      <vt:lpstr>وَلَوْ اَنَّهُمْ صَبَرُوْا حَتّٰى تَخْرُجَ اِلَيْهِمْ لَكَانَ خَيْرًا لَّهُمْ ۭ وَاللّٰهُ غَفُوْرٌ رَّحِيْمٌ</vt:lpstr>
      <vt:lpstr>يٰٓاَيُّهَا الَّذِيْنَ اٰمَنُوْٓا اِنْ جَاۗءَكُمْ فَاسِقٌۢ بِنَبَاٍ فَتَبَيَّنُوْٓا اَنْ تُصِيْبُوْا قَوْمًۢا بِجَــهَالَةٍ فَتُصْبِحُوْا عَلٰي مَا فَعَلْتُمْ نٰدِمِيْنَ</vt:lpstr>
      <vt:lpstr>وَاعْلَمُوْٓا اَنَّ فِيْكُمْ رَسُوْلَ اللّٰهِ ۭ لَوْ يُطِيْعُكُمْ فِيْ كَثِيْرٍ مِّنَ الْاَمْرِ لَعَنِتُّمْ وَلٰكِنَّ اللّٰهَ حَبَّبَ اِلَيْكُمُ الْاِيْمَانَ وَزَيَّنَهٗ فِيْ قُلُوْبِكُمْ وَكَرَّهَ اِلَيْكُمُ الْكُفْرَ وَالْفُسُوْقَ وَالْعِصْيَانَ ۭاُولٰۗىِٕكَ هُمُ الرّٰشِدُوْنَ</vt:lpstr>
      <vt:lpstr>فَضْلًا مِّنَ اللّٰهِ وَنِعْمَةً ۭ وَاللّٰهُ عَلِيْمٌ حَكِيْمٌ</vt:lpstr>
      <vt:lpstr>وَاِنْ طَاۗىِٕفَتٰنِ مِنَ الْمُؤْمِنِيْنَ اقْتَتَلُوْا فَاَصْلِحُوْا بَيْنَهُمَا ۚ فَاِنْۢ بَغَتْ اِحْدٰىهُمَا عَلَي الْاُخْرٰى فَقَاتِلُوا الَّتِيْ تَبْغِيْ حَتّٰى تَفِيْۗءَ اِلٰٓى اَمْرِ اللّٰهِ ۚ فَاِنْ فَاۗءَتْ فَاَصْلِحُوْا بَيْنَهُمَا بِالْعَدْلِ وَاَقْسِطُوْا ۭ اِنَّ اللّٰهَ يُحِبُّ الْمُقْسِطِيْنَ</vt:lpstr>
      <vt:lpstr>اِنَّمَا الْمُؤْمِنُوْنَ اِخْوَةٌ فَاَصْلِحُوْا بَيْنَ اَخَوَيْكُمْ ۚ وَاتَّقُوا اللّٰهَ لَعَلَّكُمْ تُرْحَمُوْنَ</vt:lpstr>
      <vt:lpstr>يٰٓاَيُّهَا الَّذِيْنَ اٰمَنُوْا لَا يَسْخَرْ قَوْمٌ مِّنْ قَوْمٍ عَسٰٓى اَنْ يَّكُوْنُوْا خَيْرًا مِّنْهُمْ وَلَا نِسَاۗءٌ مِّنْ نِّسَاۗءٍ عَسٰٓى اَنْ يَّكُنَّ خَيْرًا مِّنْهُنَّ ۚ وَلَا تَلْمِزُوْٓا اَنْفُسَكُمْ وَلَا تَنَابَزُوْا بِالْاَلْقَابِ ۭ بِئْسَ الِاسْمُ الْفُسُوْقُ بَعْدَ الْاِيْمَانِ ۚ وَمَنْ لَّمْ يَتُبْ فَاُولٰۗىِٕكَ هُمُ الظّٰلِمُوْنَ</vt:lpstr>
      <vt:lpstr>يٰٓاَيُّهَا الَّذِيْنَ اٰمَنُوا اجْتَنِبُوْا كَثِيْرًا مِّنَ الظَّنِّ ۡ اِنَّ بَعْضَ الظَّنِّ اِثْمٌ وَّلَا تَجَسَّسُوْا وَلَا يَغْتَبْ بَّعْضُكُمْ بَعْضًا ۭ اَيُحِبُّ اَحَدُكُمْ اَنْ يَّاْكُلَ لَحْمَ اَخِيْهِ مَيْتًا فَكَرِهْتُمُوْهُ ۭ وَاتَّقُوا اللّٰهَ ۭ اِنَّ اللّٰهَ تَوَّابٌ رَّحِيْمٌ</vt:lpstr>
      <vt:lpstr>يٰٓاَيُّهَا النَّاسُ اِنَّا خَلَقْنٰكُمْ مِّنْ ذَكَرٍ وَّاُنْثٰى وَجَعَلْنٰكُمْ شُعُوْبًا وَّقَبَاۗىِٕلَ لِتَعَارَفُوْا ۭ اِنَّ اَكْرَمَكُمْ عِنْدَ اللّٰهِ اَتْقٰىكُمْ ۭ اِنَّ اللّٰهَ عَلِيْمٌ خَبِيْرٌ</vt:lpstr>
      <vt:lpstr>قَالَتِ الْاَعْرَابُ اٰمَنَّا ۭ قُلْ لَّمْ تُؤْمِنُوْا وَلٰكِنْ قُوْلُوْٓا اَسْلَمْنَا وَلَمَّا يَدْخُلِ الْاِيْمَانُ فِيْ قُلُوْبِكُمْ ۭ وَاِنْ تُطِيْعُوا اللّٰهَ وَرَسُوْلَهٗ لَا يَـلِتْكُمْ مِّنْ اَعْمَالِكُمْ شَـيْـــــًٔا ۭ اِنَّ اللّٰهَ غَفُوْرٌ رَّحِيْمٌ</vt:lpstr>
      <vt:lpstr>اِنَّمَا الْمُؤْمِنُوْنَ الَّذِيْنَ اٰمَنُوْا بِاللّٰهِ وَرَسُوْلِهٖ ثُمَّ لَمْ يَرْتَابُوْا وَجٰهَدُوْا بِاَمْوَالِهِمْ وَاَنْفُسِهِمْ فِيْ سَبِيْلِ اللّٰهِ ۭ اُولٰۗىِٕكَ هُمُ الصّٰدِقُوْنَ</vt:lpstr>
      <vt:lpstr>قُلْ اَتُعَلِّمُوْنَ اللّٰهَ بِدِيْنِكُمْ ۭ وَاللّٰهُ يَعْلَمُ مَا فِي السَّمٰوٰتِ وَمَا فِي الْاَرْضِ ۭ وَاللّٰهُ بِكُلِّ شَيْءٍ عَلِيْمٌ</vt:lpstr>
      <vt:lpstr>يَمُنُّوْنَ عَلَيْكَ اَنْ اَسْلَمُوْا ۭ قُلْ لَّا تَمُنُّوْا عَلَيَّ اِسْلَامَكُمْ ۚ بَلِ اللّٰهُ يَمُنُّ عَلَيْكُمْ اَنْ هَدٰىكُمْ لِلْاِيْمَانِ اِنْ كُنْتُمْ صٰدِقِيْنَ</vt:lpstr>
      <vt:lpstr>يَمُنُّونَ عَلَيْكَ أَنْ أَسْلَمُوا ۖ قُل لَّا تَمُنُّوا عَلَيَّ إِسْلَامَكُم ۖ بَلِ اللَّهُ يَمُنُّ عَلَيْكُمْ أَنْ هَدَاكُمْ لِلْإِيمَانِ إِن كُنتُمْ صَادِقِينَ     ٘</vt:lpstr>
      <vt:lpstr>اِنَّ اللّٰهَ يَعْلَمُ غَيْبَ السَّمٰوٰتِ وَالْاَرْضِ ۭ وَاللّٰهُ بَصِيْرٌۢ بِمَا تَعْمَلُوْنَ </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HomeComputer</dc:creator>
  <cp:lastModifiedBy>Lateef</cp:lastModifiedBy>
  <cp:revision>162</cp:revision>
  <dcterms:created xsi:type="dcterms:W3CDTF">2011-02-06T23:31:07Z</dcterms:created>
  <dcterms:modified xsi:type="dcterms:W3CDTF">2017-09-20T08:50:40Z</dcterms:modified>
</cp:coreProperties>
</file>