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19"/>
  </p:notesMasterIdLst>
  <p:sldIdLst>
    <p:sldId id="256" r:id="rId2"/>
    <p:sldId id="275" r:id="rId3"/>
    <p:sldId id="276" r:id="rId4"/>
    <p:sldId id="277" r:id="rId5"/>
    <p:sldId id="278" r:id="rId6"/>
    <p:sldId id="279" r:id="rId7"/>
    <p:sldId id="280" r:id="rId8"/>
    <p:sldId id="281" r:id="rId9"/>
    <p:sldId id="291" r:id="rId10"/>
    <p:sldId id="292" r:id="rId11"/>
    <p:sldId id="293" r:id="rId12"/>
    <p:sldId id="284" r:id="rId13"/>
    <p:sldId id="285" r:id="rId14"/>
    <p:sldId id="286" r:id="rId15"/>
    <p:sldId id="287" r:id="rId16"/>
    <p:sldId id="288" r:id="rId17"/>
    <p:sldId id="289" r:id="rId1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5C6958BB-156B-4144-A465-7543906630C5}">
          <p14:sldIdLst>
            <p14:sldId id="256"/>
          </p14:sldIdLst>
        </p14:section>
        <p14:section name="Ahmed Ali" id="{22AD9332-E096-4743-8616-108691C8CE36}">
          <p14:sldIdLst>
            <p14:sldId id="275"/>
            <p14:sldId id="276"/>
            <p14:sldId id="277"/>
            <p14:sldId id="278"/>
          </p14:sldIdLst>
        </p14:section>
        <p14:section name="Uzair Ahmed" id="{EB01760C-7F4E-43AD-9C3A-C4F87D0398C4}">
          <p14:sldIdLst>
            <p14:sldId id="279"/>
            <p14:sldId id="280"/>
            <p14:sldId id="281"/>
            <p14:sldId id="291"/>
            <p14:sldId id="292"/>
            <p14:sldId id="293"/>
            <p14:sldId id="284"/>
            <p14:sldId id="285"/>
          </p14:sldIdLst>
        </p14:section>
        <p14:section name="Javed Ali" id="{474369D0-67D6-4C62-8164-107FC3052E44}">
          <p14:sldIdLst>
            <p14:sldId id="286"/>
            <p14:sldId id="287"/>
            <p14:sldId id="288"/>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0099FF"/>
    <a:srgbClr val="000066"/>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35" autoAdjust="0"/>
    <p:restoredTop sz="90664" autoAdjust="0"/>
  </p:normalViewPr>
  <p:slideViewPr>
    <p:cSldViewPr>
      <p:cViewPr varScale="1">
        <p:scale>
          <a:sx n="67" d="100"/>
          <a:sy n="67" d="100"/>
        </p:scale>
        <p:origin x="157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2150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150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151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2151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B3692D1B-B0B5-4864-87A2-13779CF610D5}" type="slidenum">
              <a:rPr lang="en-US" altLang="en-US"/>
              <a:pPr/>
              <a:t>‹#›</a:t>
            </a:fld>
            <a:endParaRPr lang="en-US" altLang="en-US"/>
          </a:p>
        </p:txBody>
      </p:sp>
    </p:spTree>
    <p:extLst>
      <p:ext uri="{BB962C8B-B14F-4D97-AF65-F5344CB8AC3E}">
        <p14:creationId xmlns:p14="http://schemas.microsoft.com/office/powerpoint/2010/main" val="3828803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1D4BE1C-447B-46D5-9ACC-CA2E62693F08}"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A73BC27-EDAE-4D89-9D6E-355F8CD64E2F}"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DC40D94-52CC-4A8A-BECC-7B5F2A79A45C}" type="slidenum">
              <a:rPr lang="en-US" altLang="en-US"/>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752600" y="1600200"/>
            <a:ext cx="3619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524500" y="1600200"/>
            <a:ext cx="3619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E98A058-05E1-4AB4-9DFB-D5EF132DC8E8}"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E6BEA5F8-235B-46F9-AF74-4F88D037BF16}"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7D5AC47F-7C3D-4610-ADE8-A1B489D28EF1}"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9C229ADE-C6B6-439D-9C3E-D5A1F679B831}"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3EBA619-070F-4687-B741-A948C0FEC963}"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99CE580-859A-411E-9193-9046AF5A9329}"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C6B585D-D00B-4BA7-9A89-E11D42541F7D}"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6150" y="0"/>
            <a:ext cx="1847850" cy="61261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752600" y="0"/>
            <a:ext cx="5391150" cy="6126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63AE9AB6-2FB9-4234-B873-71E2903B2446}"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2" descr="Artificial_Flowers_Of_Rose_For_Decoration_And_Holiday"/>
          <p:cNvPicPr>
            <a:picLocks noChangeAspect="1" noChangeArrowheads="1"/>
          </p:cNvPicPr>
          <p:nvPr userDrawn="1"/>
        </p:nvPicPr>
        <p:blipFill>
          <a:blip r:embed="rId13">
            <a:lum bright="50000"/>
          </a:blip>
          <a:srcRect/>
          <a:stretch>
            <a:fillRect/>
          </a:stretch>
        </p:blipFill>
        <p:spPr bwMode="auto">
          <a:xfrm>
            <a:off x="3587750" y="0"/>
            <a:ext cx="5556250" cy="6858000"/>
          </a:xfrm>
          <a:prstGeom prst="rect">
            <a:avLst/>
          </a:prstGeom>
          <a:noFill/>
          <a:ln w="9525">
            <a:noFill/>
            <a:miter lim="800000"/>
            <a:headEnd/>
            <a:tailEnd/>
          </a:ln>
        </p:spPr>
      </p:pic>
      <p:sp>
        <p:nvSpPr>
          <p:cNvPr id="1027" name="Rectangle 7"/>
          <p:cNvSpPr>
            <a:spLocks noChangeArrowheads="1"/>
          </p:cNvSpPr>
          <p:nvPr userDrawn="1"/>
        </p:nvSpPr>
        <p:spPr bwMode="auto">
          <a:xfrm>
            <a:off x="0" y="0"/>
            <a:ext cx="4572000" cy="6858000"/>
          </a:xfrm>
          <a:prstGeom prst="rect">
            <a:avLst/>
          </a:prstGeom>
          <a:gradFill rotWithShape="1">
            <a:gsLst>
              <a:gs pos="0">
                <a:srgbClr val="CC0000"/>
              </a:gs>
              <a:gs pos="100000">
                <a:schemeClr val="bg1"/>
              </a:gs>
            </a:gsLst>
            <a:lin ang="0" scaled="1"/>
          </a:gra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mtClean="0"/>
          </a:p>
        </p:txBody>
      </p:sp>
      <p:sp>
        <p:nvSpPr>
          <p:cNvPr id="1028" name="Rectangle 2"/>
          <p:cNvSpPr>
            <a:spLocks noGrp="1" noChangeArrowheads="1"/>
          </p:cNvSpPr>
          <p:nvPr>
            <p:ph type="title"/>
          </p:nvPr>
        </p:nvSpPr>
        <p:spPr bwMode="auto">
          <a:xfrm>
            <a:off x="2209800" y="0"/>
            <a:ext cx="6477000" cy="1417638"/>
          </a:xfrm>
          <a:prstGeom prst="rect">
            <a:avLst/>
          </a:prstGeom>
          <a:noFill/>
          <a:ln w="9525">
            <a:noFill/>
            <a:miter lim="800000"/>
            <a:headEnd/>
            <a:tailEnd/>
          </a:ln>
          <a:effectLst>
            <a:outerShdw dist="3592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9" name="Rectangle 3"/>
          <p:cNvSpPr>
            <a:spLocks noGrp="1" noChangeArrowheads="1"/>
          </p:cNvSpPr>
          <p:nvPr>
            <p:ph type="body" idx="1"/>
          </p:nvPr>
        </p:nvSpPr>
        <p:spPr bwMode="auto">
          <a:xfrm>
            <a:off x="1752600" y="1600200"/>
            <a:ext cx="73914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8090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8090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80902" name="Rectangle 6"/>
          <p:cNvSpPr>
            <a:spLocks noGrp="1" noChangeArrowheads="1"/>
          </p:cNvSpPr>
          <p:nvPr>
            <p:ph type="sldNum" sz="quarter" idx="4"/>
          </p:nvPr>
        </p:nvSpPr>
        <p:spPr bwMode="auto">
          <a:xfrm>
            <a:off x="6934200" y="63055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a:solidFill>
                  <a:srgbClr val="CC0000"/>
                </a:solidFill>
              </a:defRPr>
            </a:lvl1pPr>
          </a:lstStyle>
          <a:p>
            <a:fld id="{1C1898BD-FA9D-48A6-A9CB-AC5EC7C6A4CE}" type="slidenum">
              <a:rPr lang="en-US" altLang="en-US"/>
              <a:pPr/>
              <a:t>‹#›</a:t>
            </a:fld>
            <a:endParaRPr lang="en-US" altLang="en-US"/>
          </a:p>
        </p:txBody>
      </p:sp>
      <p:pic>
        <p:nvPicPr>
          <p:cNvPr id="1033" name="Picture 13" descr="j0304917"/>
          <p:cNvPicPr>
            <a:picLocks noChangeAspect="1" noChangeArrowheads="1"/>
          </p:cNvPicPr>
          <p:nvPr userDrawn="1"/>
        </p:nvPicPr>
        <p:blipFill>
          <a:blip r:embed="rId14"/>
          <a:srcRect/>
          <a:stretch>
            <a:fillRect/>
          </a:stretch>
        </p:blipFill>
        <p:spPr bwMode="auto">
          <a:xfrm>
            <a:off x="-207963" y="144463"/>
            <a:ext cx="1655763" cy="1836737"/>
          </a:xfrm>
          <a:prstGeom prst="rect">
            <a:avLst/>
          </a:prstGeom>
          <a:noFill/>
          <a:ln w="9525">
            <a:noFill/>
            <a:miter lim="800000"/>
            <a:headEnd/>
            <a:tailEnd/>
          </a:ln>
        </p:spPr>
      </p:pic>
      <p:pic>
        <p:nvPicPr>
          <p:cNvPr id="1034" name="Picture 14" descr="j0304917"/>
          <p:cNvPicPr>
            <a:picLocks noChangeAspect="1" noChangeArrowheads="1"/>
          </p:cNvPicPr>
          <p:nvPr userDrawn="1"/>
        </p:nvPicPr>
        <p:blipFill>
          <a:blip r:embed="rId14"/>
          <a:srcRect/>
          <a:stretch>
            <a:fillRect/>
          </a:stretch>
        </p:blipFill>
        <p:spPr bwMode="auto">
          <a:xfrm rot="1391398">
            <a:off x="-76200" y="525463"/>
            <a:ext cx="1655763" cy="1836737"/>
          </a:xfrm>
          <a:prstGeom prst="rect">
            <a:avLst/>
          </a:prstGeom>
          <a:noFill/>
          <a:ln w="9525">
            <a:noFill/>
            <a:miter lim="800000"/>
            <a:headEnd/>
            <a:tailEnd/>
          </a:ln>
        </p:spPr>
      </p:pic>
      <p:pic>
        <p:nvPicPr>
          <p:cNvPr id="1035" name="Picture 15" descr="j0304917"/>
          <p:cNvPicPr>
            <a:picLocks noChangeAspect="1" noChangeArrowheads="1"/>
          </p:cNvPicPr>
          <p:nvPr userDrawn="1"/>
        </p:nvPicPr>
        <p:blipFill>
          <a:blip r:embed="rId14"/>
          <a:srcRect/>
          <a:stretch>
            <a:fillRect/>
          </a:stretch>
        </p:blipFill>
        <p:spPr bwMode="auto">
          <a:xfrm rot="2814831">
            <a:off x="-61913" y="900113"/>
            <a:ext cx="1655763" cy="18367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ftr="0" dt="0"/>
  <p:txStyles>
    <p:titleStyle>
      <a:lvl1pPr algn="ctr" rtl="0" eaLnBrk="0" fontAlgn="base" hangingPunct="0">
        <a:spcBef>
          <a:spcPct val="0"/>
        </a:spcBef>
        <a:spcAft>
          <a:spcPct val="0"/>
        </a:spcAft>
        <a:defRPr sz="4800" b="1">
          <a:solidFill>
            <a:srgbClr val="CC0000"/>
          </a:solidFill>
          <a:latin typeface="+mj-lt"/>
          <a:ea typeface="+mj-ea"/>
          <a:cs typeface="+mj-cs"/>
        </a:defRPr>
      </a:lvl1pPr>
      <a:lvl2pPr algn="ctr" rtl="0" eaLnBrk="0" fontAlgn="base" hangingPunct="0">
        <a:spcBef>
          <a:spcPct val="0"/>
        </a:spcBef>
        <a:spcAft>
          <a:spcPct val="0"/>
        </a:spcAft>
        <a:defRPr sz="4800" b="1">
          <a:solidFill>
            <a:srgbClr val="CC0000"/>
          </a:solidFill>
          <a:latin typeface="Pegasus" pitchFamily="2" charset="0"/>
        </a:defRPr>
      </a:lvl2pPr>
      <a:lvl3pPr algn="ctr" rtl="0" eaLnBrk="0" fontAlgn="base" hangingPunct="0">
        <a:spcBef>
          <a:spcPct val="0"/>
        </a:spcBef>
        <a:spcAft>
          <a:spcPct val="0"/>
        </a:spcAft>
        <a:defRPr sz="4800" b="1">
          <a:solidFill>
            <a:srgbClr val="CC0000"/>
          </a:solidFill>
          <a:latin typeface="Pegasus" pitchFamily="2" charset="0"/>
        </a:defRPr>
      </a:lvl3pPr>
      <a:lvl4pPr algn="ctr" rtl="0" eaLnBrk="0" fontAlgn="base" hangingPunct="0">
        <a:spcBef>
          <a:spcPct val="0"/>
        </a:spcBef>
        <a:spcAft>
          <a:spcPct val="0"/>
        </a:spcAft>
        <a:defRPr sz="4800" b="1">
          <a:solidFill>
            <a:srgbClr val="CC0000"/>
          </a:solidFill>
          <a:latin typeface="Pegasus" pitchFamily="2" charset="0"/>
        </a:defRPr>
      </a:lvl4pPr>
      <a:lvl5pPr algn="ctr" rtl="0" eaLnBrk="0" fontAlgn="base" hangingPunct="0">
        <a:spcBef>
          <a:spcPct val="0"/>
        </a:spcBef>
        <a:spcAft>
          <a:spcPct val="0"/>
        </a:spcAft>
        <a:defRPr sz="4800" b="1">
          <a:solidFill>
            <a:srgbClr val="CC0000"/>
          </a:solidFill>
          <a:latin typeface="Pegasus" pitchFamily="2" charset="0"/>
        </a:defRPr>
      </a:lvl5pPr>
      <a:lvl6pPr marL="457200" algn="ctr" rtl="0" fontAlgn="base">
        <a:spcBef>
          <a:spcPct val="0"/>
        </a:spcBef>
        <a:spcAft>
          <a:spcPct val="0"/>
        </a:spcAft>
        <a:defRPr sz="4800" b="1">
          <a:solidFill>
            <a:srgbClr val="CC0000"/>
          </a:solidFill>
          <a:latin typeface="Pegasus" pitchFamily="2" charset="0"/>
        </a:defRPr>
      </a:lvl6pPr>
      <a:lvl7pPr marL="914400" algn="ctr" rtl="0" fontAlgn="base">
        <a:spcBef>
          <a:spcPct val="0"/>
        </a:spcBef>
        <a:spcAft>
          <a:spcPct val="0"/>
        </a:spcAft>
        <a:defRPr sz="4800" b="1">
          <a:solidFill>
            <a:srgbClr val="CC0000"/>
          </a:solidFill>
          <a:latin typeface="Pegasus" pitchFamily="2" charset="0"/>
        </a:defRPr>
      </a:lvl7pPr>
      <a:lvl8pPr marL="1371600" algn="ctr" rtl="0" fontAlgn="base">
        <a:spcBef>
          <a:spcPct val="0"/>
        </a:spcBef>
        <a:spcAft>
          <a:spcPct val="0"/>
        </a:spcAft>
        <a:defRPr sz="4800" b="1">
          <a:solidFill>
            <a:srgbClr val="CC0000"/>
          </a:solidFill>
          <a:latin typeface="Pegasus" pitchFamily="2" charset="0"/>
        </a:defRPr>
      </a:lvl8pPr>
      <a:lvl9pPr marL="1828800" algn="ctr" rtl="0" fontAlgn="base">
        <a:spcBef>
          <a:spcPct val="0"/>
        </a:spcBef>
        <a:spcAft>
          <a:spcPct val="0"/>
        </a:spcAft>
        <a:defRPr sz="4800" b="1">
          <a:solidFill>
            <a:srgbClr val="CC0000"/>
          </a:solidFill>
          <a:latin typeface="Pegasus" pitchFamily="2"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image" Target="../media/image1.jpeg"/><Relationship Id="rId7" Type="http://schemas.openxmlformats.org/officeDocument/2006/relationships/image" Target="../media/image6.wmf"/><Relationship Id="rId2" Type="http://schemas.openxmlformats.org/officeDocument/2006/relationships/image" Target="../media/image2.wmf"/><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wmf"/><Relationship Id="rId10" Type="http://schemas.openxmlformats.org/officeDocument/2006/relationships/image" Target="../media/image9.wmf"/><Relationship Id="rId4" Type="http://schemas.openxmlformats.org/officeDocument/2006/relationships/image" Target="../media/image3.jpeg"/><Relationship Id="rId9" Type="http://schemas.openxmlformats.org/officeDocument/2006/relationships/image" Target="../media/image8.wmf"/></Relationships>
</file>

<file path=ppt/slides/_rels/slide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5"/>
          <p:cNvSpPr>
            <a:spLocks noGrp="1"/>
          </p:cNvSpPr>
          <p:nvPr>
            <p:ph type="sldNum" sz="quarter" idx="12"/>
          </p:nvPr>
        </p:nvSpPr>
        <p:spPr>
          <a:noFill/>
        </p:spPr>
        <p:txBody>
          <a:bodyPr/>
          <a:lstStyle/>
          <a:p>
            <a:fld id="{E2BB55D4-6E81-46D9-8CC9-B4B3050B0312}" type="slidenum">
              <a:rPr lang="en-US" altLang="en-US"/>
              <a:pPr/>
              <a:t>1</a:t>
            </a:fld>
            <a:endParaRPr lang="en-US" altLang="en-US"/>
          </a:p>
        </p:txBody>
      </p:sp>
      <p:sp>
        <p:nvSpPr>
          <p:cNvPr id="3075" name="Rectangle 42"/>
          <p:cNvSpPr>
            <a:spLocks noChangeArrowheads="1"/>
          </p:cNvSpPr>
          <p:nvPr/>
        </p:nvSpPr>
        <p:spPr bwMode="auto">
          <a:xfrm>
            <a:off x="0" y="1676400"/>
            <a:ext cx="9144000" cy="5181600"/>
          </a:xfrm>
          <a:prstGeom prst="rect">
            <a:avLst/>
          </a:prstGeom>
          <a:solidFill>
            <a:schemeClr val="bg1"/>
          </a:solidFill>
          <a:ln w="12700" cap="sq">
            <a:noFill/>
            <a:miter lim="800000"/>
            <a:headEnd type="none" w="sm" len="sm"/>
            <a:tailEnd type="none" w="sm" len="sm"/>
          </a:ln>
        </p:spPr>
        <p:txBody>
          <a:bodyPr wrap="none" anchor="ctr"/>
          <a:lstStyle/>
          <a:p>
            <a:pPr eaLnBrk="1" hangingPunct="1"/>
            <a:endParaRPr lang="en-US" altLang="en-US"/>
          </a:p>
        </p:txBody>
      </p:sp>
      <p:sp>
        <p:nvSpPr>
          <p:cNvPr id="3076" name="Rectangle 27"/>
          <p:cNvSpPr>
            <a:spLocks noChangeArrowheads="1"/>
          </p:cNvSpPr>
          <p:nvPr/>
        </p:nvSpPr>
        <p:spPr bwMode="auto">
          <a:xfrm>
            <a:off x="0" y="0"/>
            <a:ext cx="9144000" cy="3581400"/>
          </a:xfrm>
          <a:prstGeom prst="rect">
            <a:avLst/>
          </a:prstGeom>
          <a:gradFill rotWithShape="1">
            <a:gsLst>
              <a:gs pos="0">
                <a:srgbClr val="CC0000"/>
              </a:gs>
              <a:gs pos="100000">
                <a:schemeClr val="bg1"/>
              </a:gs>
            </a:gsLst>
            <a:lin ang="5400000" scaled="1"/>
          </a:gradFill>
          <a:ln w="12700" cap="sq">
            <a:noFill/>
            <a:miter lim="800000"/>
            <a:headEnd type="none" w="sm" len="sm"/>
            <a:tailEnd type="none" w="sm" len="sm"/>
          </a:ln>
        </p:spPr>
        <p:txBody>
          <a:bodyPr wrap="none" anchor="ctr"/>
          <a:lstStyle/>
          <a:p>
            <a:pPr eaLnBrk="1" hangingPunct="1"/>
            <a:endParaRPr lang="en-US" altLang="en-US"/>
          </a:p>
        </p:txBody>
      </p:sp>
      <p:sp>
        <p:nvSpPr>
          <p:cNvPr id="3077" name="Rectangle 2"/>
          <p:cNvSpPr>
            <a:spLocks noGrp="1" noChangeArrowheads="1"/>
          </p:cNvSpPr>
          <p:nvPr>
            <p:ph type="ctrTitle"/>
          </p:nvPr>
        </p:nvSpPr>
        <p:spPr>
          <a:xfrm>
            <a:off x="1066800" y="0"/>
            <a:ext cx="6553200" cy="2895600"/>
          </a:xfrm>
          <a:effectLst>
            <a:outerShdw dist="28398" dir="9206097" algn="ctr" rotWithShape="0">
              <a:schemeClr val="bg1"/>
            </a:outerShdw>
          </a:effectLst>
        </p:spPr>
        <p:txBody>
          <a:bodyPr/>
          <a:lstStyle/>
          <a:p>
            <a:pPr eaLnBrk="1" hangingPunct="1"/>
            <a:r>
              <a:rPr lang="en-US" altLang="en-US" sz="4000" b="0" smtClean="0">
                <a:solidFill>
                  <a:schemeClr val="tx1"/>
                </a:solidFill>
              </a:rPr>
              <a:t>THE ISLAMIC PRINCIPLES </a:t>
            </a:r>
            <a:br>
              <a:rPr lang="en-US" altLang="en-US" sz="4000" b="0" smtClean="0">
                <a:solidFill>
                  <a:schemeClr val="tx1"/>
                </a:solidFill>
              </a:rPr>
            </a:br>
            <a:r>
              <a:rPr lang="en-US" altLang="en-US" sz="4000" b="0" smtClean="0">
                <a:solidFill>
                  <a:schemeClr val="tx1"/>
                </a:solidFill>
              </a:rPr>
              <a:t>PERTAINING TO </a:t>
            </a:r>
            <a:br>
              <a:rPr lang="en-US" altLang="en-US" sz="4000" b="0" smtClean="0">
                <a:solidFill>
                  <a:schemeClr val="tx1"/>
                </a:solidFill>
              </a:rPr>
            </a:br>
            <a:r>
              <a:rPr lang="en-US" altLang="en-US" sz="4000" b="0" smtClean="0">
                <a:solidFill>
                  <a:schemeClr val="tx1"/>
                </a:solidFill>
                <a:latin typeface="Calligrapher" pitchFamily="2" charset="0"/>
              </a:rPr>
              <a:t>LAWFUL (HELAL)</a:t>
            </a:r>
            <a:r>
              <a:rPr lang="en-US" altLang="en-US" sz="4000" b="0" smtClean="0">
                <a:solidFill>
                  <a:schemeClr val="tx1"/>
                </a:solidFill>
              </a:rPr>
              <a:t> </a:t>
            </a:r>
            <a:br>
              <a:rPr lang="en-US" altLang="en-US" sz="4000" b="0" smtClean="0">
                <a:solidFill>
                  <a:schemeClr val="tx1"/>
                </a:solidFill>
              </a:rPr>
            </a:br>
            <a:r>
              <a:rPr lang="en-US" altLang="en-US" sz="4000" b="0" smtClean="0">
                <a:solidFill>
                  <a:schemeClr val="tx1"/>
                </a:solidFill>
              </a:rPr>
              <a:t>AND </a:t>
            </a:r>
            <a:br>
              <a:rPr lang="en-US" altLang="en-US" sz="4000" b="0" smtClean="0">
                <a:solidFill>
                  <a:schemeClr val="tx1"/>
                </a:solidFill>
              </a:rPr>
            </a:br>
            <a:r>
              <a:rPr lang="en-US" altLang="en-US" sz="4000" b="0" smtClean="0">
                <a:solidFill>
                  <a:schemeClr val="tx1"/>
                </a:solidFill>
                <a:latin typeface="Argosy" pitchFamily="2" charset="0"/>
              </a:rPr>
              <a:t>PROHIBITED (HARAM)</a:t>
            </a:r>
          </a:p>
        </p:txBody>
      </p:sp>
      <p:pic>
        <p:nvPicPr>
          <p:cNvPr id="3078" name="Picture 43" descr="j0304917"/>
          <p:cNvPicPr>
            <a:picLocks noChangeAspect="1" noChangeArrowheads="1"/>
          </p:cNvPicPr>
          <p:nvPr/>
        </p:nvPicPr>
        <p:blipFill>
          <a:blip r:embed="rId2"/>
          <a:srcRect/>
          <a:stretch>
            <a:fillRect/>
          </a:stretch>
        </p:blipFill>
        <p:spPr bwMode="auto">
          <a:xfrm flipH="1">
            <a:off x="6521450" y="533400"/>
            <a:ext cx="2622550" cy="2971800"/>
          </a:xfrm>
          <a:prstGeom prst="rect">
            <a:avLst/>
          </a:prstGeom>
          <a:noFill/>
          <a:ln w="9525">
            <a:noFill/>
            <a:miter lim="800000"/>
            <a:headEnd/>
            <a:tailEnd/>
          </a:ln>
        </p:spPr>
      </p:pic>
      <p:pic>
        <p:nvPicPr>
          <p:cNvPr id="3079" name="Picture 45" descr="Artificial_Flowers_Of_Rose_For_Decoration_And_Holiday"/>
          <p:cNvPicPr>
            <a:picLocks noChangeAspect="1" noChangeArrowheads="1"/>
          </p:cNvPicPr>
          <p:nvPr/>
        </p:nvPicPr>
        <p:blipFill>
          <a:blip r:embed="rId3"/>
          <a:srcRect/>
          <a:stretch>
            <a:fillRect/>
          </a:stretch>
        </p:blipFill>
        <p:spPr bwMode="auto">
          <a:xfrm>
            <a:off x="7107238" y="4343400"/>
            <a:ext cx="2036762" cy="2514600"/>
          </a:xfrm>
          <a:prstGeom prst="rect">
            <a:avLst/>
          </a:prstGeom>
          <a:noFill/>
          <a:ln w="9525">
            <a:noFill/>
            <a:miter lim="800000"/>
            <a:headEnd/>
            <a:tailEnd/>
          </a:ln>
        </p:spPr>
      </p:pic>
      <p:grpSp>
        <p:nvGrpSpPr>
          <p:cNvPr id="3080" name="Group 26"/>
          <p:cNvGrpSpPr>
            <a:grpSpLocks/>
          </p:cNvGrpSpPr>
          <p:nvPr/>
        </p:nvGrpSpPr>
        <p:grpSpPr bwMode="auto">
          <a:xfrm>
            <a:off x="1752600" y="2971800"/>
            <a:ext cx="5638800" cy="3886200"/>
            <a:chOff x="1056" y="2352"/>
            <a:chExt cx="3552" cy="2448"/>
          </a:xfrm>
        </p:grpSpPr>
        <p:pic>
          <p:nvPicPr>
            <p:cNvPr id="3081" name="Picture 7" descr="book_open-3"/>
            <p:cNvPicPr>
              <a:picLocks noChangeAspect="1" noChangeArrowheads="1"/>
            </p:cNvPicPr>
            <p:nvPr/>
          </p:nvPicPr>
          <p:blipFill>
            <a:blip r:embed="rId4"/>
            <a:srcRect/>
            <a:stretch>
              <a:fillRect/>
            </a:stretch>
          </p:blipFill>
          <p:spPr bwMode="auto">
            <a:xfrm>
              <a:off x="1056" y="2352"/>
              <a:ext cx="3552" cy="2448"/>
            </a:xfrm>
            <a:prstGeom prst="rect">
              <a:avLst/>
            </a:prstGeom>
            <a:noFill/>
            <a:ln w="9525">
              <a:noFill/>
              <a:miter lim="800000"/>
              <a:headEnd/>
              <a:tailEnd/>
            </a:ln>
          </p:spPr>
        </p:pic>
        <p:pic>
          <p:nvPicPr>
            <p:cNvPr id="3082" name="Picture 8" descr="MCFD00966_0000[1]"/>
            <p:cNvPicPr>
              <a:picLocks noChangeAspect="1" noChangeArrowheads="1"/>
            </p:cNvPicPr>
            <p:nvPr/>
          </p:nvPicPr>
          <p:blipFill>
            <a:blip r:embed="rId5"/>
            <a:srcRect/>
            <a:stretch>
              <a:fillRect/>
            </a:stretch>
          </p:blipFill>
          <p:spPr bwMode="auto">
            <a:xfrm flipH="1">
              <a:off x="1720" y="2911"/>
              <a:ext cx="920" cy="567"/>
            </a:xfrm>
            <a:prstGeom prst="rect">
              <a:avLst/>
            </a:prstGeom>
            <a:noFill/>
            <a:ln w="9525">
              <a:noFill/>
              <a:miter lim="800000"/>
              <a:headEnd/>
              <a:tailEnd/>
            </a:ln>
          </p:spPr>
        </p:pic>
        <p:pic>
          <p:nvPicPr>
            <p:cNvPr id="3083" name="Picture 13" descr="MCj04315370000[1]"/>
            <p:cNvPicPr>
              <a:picLocks noChangeAspect="1" noChangeArrowheads="1"/>
            </p:cNvPicPr>
            <p:nvPr/>
          </p:nvPicPr>
          <p:blipFill>
            <a:blip r:embed="rId6"/>
            <a:srcRect/>
            <a:stretch>
              <a:fillRect/>
            </a:stretch>
          </p:blipFill>
          <p:spPr bwMode="auto">
            <a:xfrm>
              <a:off x="1968" y="3456"/>
              <a:ext cx="576" cy="240"/>
            </a:xfrm>
            <a:prstGeom prst="rect">
              <a:avLst/>
            </a:prstGeom>
            <a:noFill/>
            <a:ln w="9525">
              <a:noFill/>
              <a:miter lim="800000"/>
              <a:headEnd/>
              <a:tailEnd/>
            </a:ln>
          </p:spPr>
        </p:pic>
        <p:sp>
          <p:nvSpPr>
            <p:cNvPr id="3084" name="AutoShape 12"/>
            <p:cNvSpPr>
              <a:spLocks noChangeArrowheads="1"/>
            </p:cNvSpPr>
            <p:nvPr/>
          </p:nvSpPr>
          <p:spPr bwMode="auto">
            <a:xfrm>
              <a:off x="1440" y="2592"/>
              <a:ext cx="1392" cy="13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6 w 21600"/>
                <a:gd name="T25" fmla="*/ 3166 h 21600"/>
                <a:gd name="T26" fmla="*/ 18434 w 21600"/>
                <a:gd name="T27" fmla="*/ 1843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solidFill>
            <a:ln w="12700" cap="sq">
              <a:solidFill>
                <a:schemeClr val="tx1"/>
              </a:solidFill>
              <a:miter lim="800000"/>
              <a:headEnd type="none" w="sm" len="sm"/>
              <a:tailEnd type="none" w="sm" len="sm"/>
            </a:ln>
          </p:spPr>
          <p:txBody>
            <a:bodyPr wrap="none" anchor="ctr"/>
            <a:lstStyle/>
            <a:p>
              <a:endParaRPr lang="en-US"/>
            </a:p>
          </p:txBody>
        </p:sp>
        <p:pic>
          <p:nvPicPr>
            <p:cNvPr id="3085" name="Picture 9" descr="j0304929"/>
            <p:cNvPicPr>
              <a:picLocks noChangeAspect="1" noChangeArrowheads="1"/>
            </p:cNvPicPr>
            <p:nvPr/>
          </p:nvPicPr>
          <p:blipFill>
            <a:blip r:embed="rId7"/>
            <a:srcRect/>
            <a:stretch>
              <a:fillRect/>
            </a:stretch>
          </p:blipFill>
          <p:spPr bwMode="auto">
            <a:xfrm>
              <a:off x="1632" y="2880"/>
              <a:ext cx="404" cy="631"/>
            </a:xfrm>
            <a:prstGeom prst="rect">
              <a:avLst/>
            </a:prstGeom>
            <a:noFill/>
            <a:ln w="9525">
              <a:noFill/>
              <a:miter lim="800000"/>
              <a:headEnd/>
              <a:tailEnd/>
            </a:ln>
          </p:spPr>
        </p:pic>
        <p:pic>
          <p:nvPicPr>
            <p:cNvPr id="3086" name="Picture 10" descr="j0240419"/>
            <p:cNvPicPr>
              <a:picLocks noChangeAspect="1" noChangeArrowheads="1"/>
            </p:cNvPicPr>
            <p:nvPr/>
          </p:nvPicPr>
          <p:blipFill>
            <a:blip r:embed="rId8"/>
            <a:srcRect/>
            <a:stretch>
              <a:fillRect/>
            </a:stretch>
          </p:blipFill>
          <p:spPr bwMode="auto">
            <a:xfrm>
              <a:off x="1824" y="3399"/>
              <a:ext cx="415" cy="249"/>
            </a:xfrm>
            <a:prstGeom prst="rect">
              <a:avLst/>
            </a:prstGeom>
            <a:noFill/>
            <a:ln w="9525">
              <a:noFill/>
              <a:miter lim="800000"/>
              <a:headEnd/>
              <a:tailEnd/>
            </a:ln>
          </p:spPr>
        </p:pic>
        <p:pic>
          <p:nvPicPr>
            <p:cNvPr id="3087" name="Picture 23" descr="j0228881"/>
            <p:cNvPicPr>
              <a:picLocks noChangeAspect="1" noChangeArrowheads="1"/>
            </p:cNvPicPr>
            <p:nvPr/>
          </p:nvPicPr>
          <p:blipFill>
            <a:blip r:embed="rId9"/>
            <a:srcRect/>
            <a:stretch>
              <a:fillRect/>
            </a:stretch>
          </p:blipFill>
          <p:spPr bwMode="auto">
            <a:xfrm>
              <a:off x="3099" y="2649"/>
              <a:ext cx="837" cy="903"/>
            </a:xfrm>
            <a:prstGeom prst="rect">
              <a:avLst/>
            </a:prstGeom>
            <a:noFill/>
            <a:ln w="9525">
              <a:noFill/>
              <a:miter lim="800000"/>
              <a:headEnd/>
              <a:tailEnd/>
            </a:ln>
          </p:spPr>
        </p:pic>
        <p:grpSp>
          <p:nvGrpSpPr>
            <p:cNvPr id="3088" name="Group 20"/>
            <p:cNvGrpSpPr>
              <a:grpSpLocks/>
            </p:cNvGrpSpPr>
            <p:nvPr/>
          </p:nvGrpSpPr>
          <p:grpSpPr bwMode="auto">
            <a:xfrm rot="2579013">
              <a:off x="3264" y="3072"/>
              <a:ext cx="792" cy="1056"/>
              <a:chOff x="3072" y="1872"/>
              <a:chExt cx="720" cy="1056"/>
            </a:xfrm>
          </p:grpSpPr>
          <p:pic>
            <p:nvPicPr>
              <p:cNvPr id="3090" name="Picture 15" descr="j0215790"/>
              <p:cNvPicPr>
                <a:picLocks noChangeAspect="1" noChangeArrowheads="1"/>
              </p:cNvPicPr>
              <p:nvPr/>
            </p:nvPicPr>
            <p:blipFill>
              <a:blip r:embed="rId10"/>
              <a:srcRect/>
              <a:stretch>
                <a:fillRect/>
              </a:stretch>
            </p:blipFill>
            <p:spPr bwMode="auto">
              <a:xfrm>
                <a:off x="3176" y="1872"/>
                <a:ext cx="568" cy="974"/>
              </a:xfrm>
              <a:prstGeom prst="rect">
                <a:avLst/>
              </a:prstGeom>
              <a:noFill/>
              <a:ln w="9525">
                <a:noFill/>
                <a:miter lim="800000"/>
                <a:headEnd/>
                <a:tailEnd/>
              </a:ln>
            </p:spPr>
          </p:pic>
          <p:pic>
            <p:nvPicPr>
              <p:cNvPr id="3091" name="Picture 18" descr="j0215790"/>
              <p:cNvPicPr>
                <a:picLocks noChangeAspect="1" noChangeArrowheads="1"/>
              </p:cNvPicPr>
              <p:nvPr/>
            </p:nvPicPr>
            <p:blipFill>
              <a:blip r:embed="rId10"/>
              <a:srcRect/>
              <a:stretch>
                <a:fillRect/>
              </a:stretch>
            </p:blipFill>
            <p:spPr bwMode="auto">
              <a:xfrm>
                <a:off x="3224" y="1954"/>
                <a:ext cx="568" cy="974"/>
              </a:xfrm>
              <a:prstGeom prst="rect">
                <a:avLst/>
              </a:prstGeom>
              <a:noFill/>
              <a:ln w="9525">
                <a:noFill/>
                <a:miter lim="800000"/>
                <a:headEnd/>
                <a:tailEnd/>
              </a:ln>
            </p:spPr>
          </p:pic>
          <p:pic>
            <p:nvPicPr>
              <p:cNvPr id="3092" name="Picture 19" descr="j0215790"/>
              <p:cNvPicPr>
                <a:picLocks noChangeAspect="1" noChangeArrowheads="1"/>
              </p:cNvPicPr>
              <p:nvPr/>
            </p:nvPicPr>
            <p:blipFill>
              <a:blip r:embed="rId10"/>
              <a:srcRect/>
              <a:stretch>
                <a:fillRect/>
              </a:stretch>
            </p:blipFill>
            <p:spPr bwMode="auto">
              <a:xfrm>
                <a:off x="3072" y="1906"/>
                <a:ext cx="568" cy="974"/>
              </a:xfrm>
              <a:prstGeom prst="rect">
                <a:avLst/>
              </a:prstGeom>
              <a:noFill/>
              <a:ln w="9525">
                <a:noFill/>
                <a:miter lim="800000"/>
                <a:headEnd/>
                <a:tailEnd/>
              </a:ln>
            </p:spPr>
          </p:pic>
        </p:grpSp>
        <p:sp>
          <p:nvSpPr>
            <p:cNvPr id="3089" name="AutoShape 24"/>
            <p:cNvSpPr>
              <a:spLocks noChangeArrowheads="1"/>
            </p:cNvSpPr>
            <p:nvPr/>
          </p:nvSpPr>
          <p:spPr bwMode="auto">
            <a:xfrm>
              <a:off x="2880" y="2592"/>
              <a:ext cx="1392" cy="13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6 w 21600"/>
                <a:gd name="T25" fmla="*/ 3166 h 21600"/>
                <a:gd name="T26" fmla="*/ 18434 w 21600"/>
                <a:gd name="T27" fmla="*/ 1843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684" y="10800"/>
                  </a:moveTo>
                  <a:cubicBezTo>
                    <a:pt x="2684" y="15282"/>
                    <a:pt x="6318" y="18916"/>
                    <a:pt x="10800" y="18916"/>
                  </a:cubicBezTo>
                  <a:cubicBezTo>
                    <a:pt x="15282" y="18916"/>
                    <a:pt x="18916" y="15282"/>
                    <a:pt x="18916" y="10800"/>
                  </a:cubicBezTo>
                  <a:cubicBezTo>
                    <a:pt x="18916" y="6318"/>
                    <a:pt x="15282" y="2684"/>
                    <a:pt x="10800" y="2684"/>
                  </a:cubicBezTo>
                  <a:cubicBezTo>
                    <a:pt x="6318" y="2684"/>
                    <a:pt x="2684" y="6318"/>
                    <a:pt x="2684" y="10800"/>
                  </a:cubicBezTo>
                  <a:close/>
                </a:path>
              </a:pathLst>
            </a:custGeom>
            <a:solidFill>
              <a:srgbClr val="00FF00"/>
            </a:solidFill>
            <a:ln w="12700" cap="sq">
              <a:solidFill>
                <a:schemeClr val="tx1"/>
              </a:solidFill>
              <a:round/>
              <a:headEnd type="none" w="sm" len="sm"/>
              <a:tailEnd type="none" w="sm" len="sm"/>
            </a:ln>
          </p:spPr>
          <p:txBody>
            <a:bodyPr wrap="none" anchor="ctr"/>
            <a:lstStyle/>
            <a:p>
              <a:endParaRPr lang="en-US"/>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p:spPr>
        <p:txBody>
          <a:bodyPr/>
          <a:lstStyle/>
          <a:p>
            <a:fld id="{2F14479C-B76A-4E86-B6F9-52E38A2DD705}" type="slidenum">
              <a:rPr lang="en-US" altLang="en-US"/>
              <a:pPr/>
              <a:t>2</a:t>
            </a:fld>
            <a:endParaRPr lang="en-US" altLang="en-US"/>
          </a:p>
        </p:txBody>
      </p:sp>
      <p:sp>
        <p:nvSpPr>
          <p:cNvPr id="22531" name="Rectangle 2"/>
          <p:cNvSpPr>
            <a:spLocks noGrp="1" noChangeArrowheads="1"/>
          </p:cNvSpPr>
          <p:nvPr>
            <p:ph type="title"/>
          </p:nvPr>
        </p:nvSpPr>
        <p:spPr>
          <a:xfrm>
            <a:off x="2209800" y="258763"/>
            <a:ext cx="6477000" cy="1417637"/>
          </a:xfrm>
        </p:spPr>
        <p:txBody>
          <a:bodyPr/>
          <a:lstStyle/>
          <a:p>
            <a:pPr eaLnBrk="1" hangingPunct="1"/>
            <a:r>
              <a:rPr lang="en-US" altLang="en-US" sz="6600" b="0" smtClean="0"/>
              <a:t>Clothing and Adornment</a:t>
            </a:r>
          </a:p>
        </p:txBody>
      </p:sp>
      <p:sp>
        <p:nvSpPr>
          <p:cNvPr id="22532" name="Rectangle 3"/>
          <p:cNvSpPr>
            <a:spLocks noGrp="1" noChangeArrowheads="1"/>
          </p:cNvSpPr>
          <p:nvPr>
            <p:ph type="body" idx="1"/>
          </p:nvPr>
        </p:nvSpPr>
        <p:spPr/>
        <p:txBody>
          <a:bodyPr/>
          <a:lstStyle/>
          <a:p>
            <a:pPr algn="ctr" eaLnBrk="1" hangingPunct="1">
              <a:buFontTx/>
              <a:buNone/>
            </a:pPr>
            <a:endParaRPr lang="en-US" altLang="en-US" sz="4800" smtClean="0"/>
          </a:p>
          <a:p>
            <a:pPr algn="ctr" eaLnBrk="1" hangingPunct="1">
              <a:buFontTx/>
              <a:buNone/>
            </a:pPr>
            <a:endParaRPr lang="en-US" altLang="en-US" sz="4800" smtClean="0"/>
          </a:p>
          <a:p>
            <a:pPr algn="ctr" eaLnBrk="1" hangingPunct="1">
              <a:buFontTx/>
              <a:buNone/>
            </a:pPr>
            <a:endParaRPr lang="en-US" altLang="en-US" sz="4800" smtClean="0"/>
          </a:p>
        </p:txBody>
      </p:sp>
      <p:pic>
        <p:nvPicPr>
          <p:cNvPr id="22533" name="Picture 4" descr="45263516_Girlinscarfimpweb"/>
          <p:cNvPicPr>
            <a:picLocks noChangeAspect="1" noChangeArrowheads="1"/>
          </p:cNvPicPr>
          <p:nvPr/>
        </p:nvPicPr>
        <p:blipFill>
          <a:blip r:embed="rId2"/>
          <a:srcRect/>
          <a:stretch>
            <a:fillRect/>
          </a:stretch>
        </p:blipFill>
        <p:spPr bwMode="auto">
          <a:xfrm>
            <a:off x="4038600" y="2057400"/>
            <a:ext cx="3254375" cy="3886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p:spPr>
        <p:txBody>
          <a:bodyPr/>
          <a:lstStyle/>
          <a:p>
            <a:fld id="{2E2651FD-5BB0-492E-826F-A633704E5684}" type="slidenum">
              <a:rPr lang="en-US" altLang="en-US"/>
              <a:pPr/>
              <a:t>3</a:t>
            </a:fld>
            <a:endParaRPr lang="en-US" altLang="en-US"/>
          </a:p>
        </p:txBody>
      </p:sp>
      <p:sp>
        <p:nvSpPr>
          <p:cNvPr id="23555" name="Rectangle 2"/>
          <p:cNvSpPr>
            <a:spLocks noGrp="1" noChangeArrowheads="1"/>
          </p:cNvSpPr>
          <p:nvPr>
            <p:ph type="title"/>
          </p:nvPr>
        </p:nvSpPr>
        <p:spPr/>
        <p:txBody>
          <a:bodyPr/>
          <a:lstStyle/>
          <a:p>
            <a:pPr eaLnBrk="1" hangingPunct="1"/>
            <a:endParaRPr lang="en-US" altLang="en-US" smtClean="0"/>
          </a:p>
        </p:txBody>
      </p:sp>
      <p:sp>
        <p:nvSpPr>
          <p:cNvPr id="23556" name="Rectangle 3"/>
          <p:cNvSpPr>
            <a:spLocks noGrp="1" noChangeArrowheads="1"/>
          </p:cNvSpPr>
          <p:nvPr>
            <p:ph type="body" idx="1"/>
          </p:nvPr>
        </p:nvSpPr>
        <p:spPr/>
        <p:txBody>
          <a:bodyPr/>
          <a:lstStyle/>
          <a:p>
            <a:pPr marL="609600" indent="-609600" eaLnBrk="1" hangingPunct="1">
              <a:buFontTx/>
              <a:buAutoNum type="arabicPeriod"/>
            </a:pPr>
            <a:r>
              <a:rPr lang="en-US" altLang="en-US" sz="2400" b="1" smtClean="0"/>
              <a:t>Cleanliness and Beautification</a:t>
            </a:r>
          </a:p>
          <a:p>
            <a:pPr marL="990600" lvl="1" indent="-533400" eaLnBrk="1" hangingPunct="1">
              <a:buFontTx/>
              <a:buChar char="•"/>
            </a:pPr>
            <a:r>
              <a:rPr lang="en-US" altLang="en-US" sz="2400" smtClean="0"/>
              <a:t>"Cleanse yourself, for Islam is cleanliness." (Reported by Ibn Hayyan.) </a:t>
            </a:r>
          </a:p>
          <a:p>
            <a:pPr marL="990600" lvl="1" indent="-533400" eaLnBrk="1" hangingPunct="1">
              <a:buFontTx/>
              <a:buChar char="•"/>
            </a:pPr>
            <a:r>
              <a:rPr lang="en-US" altLang="en-US" sz="2400" smtClean="0"/>
              <a:t>"Does he have nothing with which to comb his hair?" (Reported by Abu Daoud.) </a:t>
            </a:r>
          </a:p>
          <a:p>
            <a:pPr marL="609600" indent="-609600" eaLnBrk="1" hangingPunct="1">
              <a:buFontTx/>
              <a:buAutoNum type="arabicPeriod"/>
            </a:pPr>
            <a:r>
              <a:rPr lang="en-US" altLang="en-US" sz="2400" b="1" smtClean="0"/>
              <a:t>Gold and Pure Silk are prohibited for Men while permitted for women</a:t>
            </a:r>
            <a:r>
              <a:rPr lang="en-US" altLang="en-US" sz="2400" smtClean="0"/>
              <a:t> </a:t>
            </a:r>
          </a:p>
          <a:p>
            <a:pPr marL="990600" lvl="1" indent="-533400" eaLnBrk="1" hangingPunct="1">
              <a:buFontTx/>
              <a:buChar char="•"/>
            </a:pPr>
            <a:r>
              <a:rPr lang="en-US" altLang="en-US" sz="2400" smtClean="0"/>
              <a:t>Islam must safeguard the manly qualities of men</a:t>
            </a:r>
          </a:p>
          <a:p>
            <a:pPr marL="990600" lvl="1" indent="-533400" eaLnBrk="1" hangingPunct="1">
              <a:buFontTx/>
              <a:buChar char="•"/>
            </a:pPr>
            <a:r>
              <a:rPr lang="en-US" altLang="en-US" sz="2400" smtClean="0"/>
              <a:t>the love of jewelry and ornaments is quite natural and becoming for a woman </a:t>
            </a:r>
          </a:p>
          <a:p>
            <a:pPr marL="990600" lvl="1" indent="-533400" eaLnBrk="1" hangingPunct="1">
              <a:buFontTx/>
              <a:buAutoNum type="arabicPeriod"/>
            </a:pPr>
            <a:endParaRPr lang="en-US" altLang="en-US"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 calcmode="lin" valueType="num">
                                      <p:cBhvr additive="base">
                                        <p:cTn id="7" dur="500" fill="hold"/>
                                        <p:tgtEl>
                                          <p:spTgt spid="235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6">
                                            <p:txEl>
                                              <p:pRg st="1" end="1"/>
                                            </p:txEl>
                                          </p:spTgt>
                                        </p:tgtEl>
                                        <p:attrNameLst>
                                          <p:attrName>style.visibility</p:attrName>
                                        </p:attrNameLst>
                                      </p:cBhvr>
                                      <p:to>
                                        <p:strVal val="visible"/>
                                      </p:to>
                                    </p:set>
                                    <p:anim calcmode="lin" valueType="num">
                                      <p:cBhvr additive="base">
                                        <p:cTn id="13" dur="500" fill="hold"/>
                                        <p:tgtEl>
                                          <p:spTgt spid="235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556">
                                            <p:txEl>
                                              <p:pRg st="2" end="2"/>
                                            </p:txEl>
                                          </p:spTgt>
                                        </p:tgtEl>
                                        <p:attrNameLst>
                                          <p:attrName>style.visibility</p:attrName>
                                        </p:attrNameLst>
                                      </p:cBhvr>
                                      <p:to>
                                        <p:strVal val="visible"/>
                                      </p:to>
                                    </p:set>
                                    <p:anim calcmode="lin" valueType="num">
                                      <p:cBhvr additive="base">
                                        <p:cTn id="19" dur="500" fill="hold"/>
                                        <p:tgtEl>
                                          <p:spTgt spid="2355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3556">
                                            <p:txEl>
                                              <p:pRg st="3" end="3"/>
                                            </p:txEl>
                                          </p:spTgt>
                                        </p:tgtEl>
                                        <p:attrNameLst>
                                          <p:attrName>style.visibility</p:attrName>
                                        </p:attrNameLst>
                                      </p:cBhvr>
                                      <p:to>
                                        <p:strVal val="visible"/>
                                      </p:to>
                                    </p:set>
                                    <p:anim calcmode="lin" valueType="num">
                                      <p:cBhvr additive="base">
                                        <p:cTn id="25"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5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3556">
                                            <p:txEl>
                                              <p:pRg st="4" end="4"/>
                                            </p:txEl>
                                          </p:spTgt>
                                        </p:tgtEl>
                                        <p:attrNameLst>
                                          <p:attrName>style.visibility</p:attrName>
                                        </p:attrNameLst>
                                      </p:cBhvr>
                                      <p:to>
                                        <p:strVal val="visible"/>
                                      </p:to>
                                    </p:set>
                                    <p:anim calcmode="lin" valueType="num">
                                      <p:cBhvr additive="base">
                                        <p:cTn id="31" dur="500" fill="hold"/>
                                        <p:tgtEl>
                                          <p:spTgt spid="2355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56">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3556">
                                            <p:txEl>
                                              <p:pRg st="5" end="5"/>
                                            </p:txEl>
                                          </p:spTgt>
                                        </p:tgtEl>
                                        <p:attrNameLst>
                                          <p:attrName>style.visibility</p:attrName>
                                        </p:attrNameLst>
                                      </p:cBhvr>
                                      <p:to>
                                        <p:strVal val="visible"/>
                                      </p:to>
                                    </p:set>
                                    <p:anim calcmode="lin" valueType="num">
                                      <p:cBhvr additive="base">
                                        <p:cTn id="35" dur="500" fill="hold"/>
                                        <p:tgtEl>
                                          <p:spTgt spid="23556">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355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p:spPr>
        <p:txBody>
          <a:bodyPr/>
          <a:lstStyle/>
          <a:p>
            <a:fld id="{E0C4F9C1-8A8F-4D5B-9B56-EB6654295CD0}" type="slidenum">
              <a:rPr lang="en-US" altLang="en-US"/>
              <a:pPr/>
              <a:t>4</a:t>
            </a:fld>
            <a:endParaRPr lang="en-US" altLang="en-US"/>
          </a:p>
        </p:txBody>
      </p:sp>
      <p:sp>
        <p:nvSpPr>
          <p:cNvPr id="24579" name="Rectangle 2"/>
          <p:cNvSpPr>
            <a:spLocks noGrp="1" noChangeArrowheads="1"/>
          </p:cNvSpPr>
          <p:nvPr>
            <p:ph type="title"/>
          </p:nvPr>
        </p:nvSpPr>
        <p:spPr/>
        <p:txBody>
          <a:bodyPr/>
          <a:lstStyle/>
          <a:p>
            <a:pPr eaLnBrk="1" hangingPunct="1"/>
            <a:endParaRPr lang="en-US" altLang="en-US" smtClean="0"/>
          </a:p>
        </p:txBody>
      </p:sp>
      <p:sp>
        <p:nvSpPr>
          <p:cNvPr id="24580" name="Rectangle 3"/>
          <p:cNvSpPr>
            <a:spLocks noGrp="1" noChangeArrowheads="1"/>
          </p:cNvSpPr>
          <p:nvPr>
            <p:ph type="body" idx="1"/>
          </p:nvPr>
        </p:nvSpPr>
        <p:spPr/>
        <p:txBody>
          <a:bodyPr/>
          <a:lstStyle/>
          <a:p>
            <a:pPr eaLnBrk="1" hangingPunct="1"/>
            <a:r>
              <a:rPr lang="en-US" altLang="en-US" sz="2600" b="1" smtClean="0"/>
              <a:t>The Dress of the Muslim man</a:t>
            </a:r>
          </a:p>
          <a:p>
            <a:pPr lvl="1" eaLnBrk="1" hangingPunct="1"/>
            <a:r>
              <a:rPr lang="en-US" altLang="en-US" sz="2600" smtClean="0"/>
              <a:t>Covering from belly button to knees </a:t>
            </a:r>
          </a:p>
          <a:p>
            <a:pPr lvl="1" eaLnBrk="1" hangingPunct="1"/>
            <a:r>
              <a:rPr lang="en-US" altLang="en-US" sz="2600" smtClean="0"/>
              <a:t>"Be different from the polytheists: let the </a:t>
            </a:r>
            <a:r>
              <a:rPr lang="en-US" altLang="en-US" sz="2600" b="1" smtClean="0"/>
              <a:t>beard</a:t>
            </a:r>
            <a:r>
              <a:rPr lang="en-US" altLang="en-US" sz="2600" smtClean="0"/>
              <a:t> grow and trim the moustache." hadith</a:t>
            </a:r>
          </a:p>
          <a:p>
            <a:pPr eaLnBrk="1" hangingPunct="1"/>
            <a:r>
              <a:rPr lang="en-US" altLang="en-US" sz="2600" b="1" smtClean="0"/>
              <a:t>The Dress of the Muslim Woman</a:t>
            </a:r>
            <a:r>
              <a:rPr lang="en-US" altLang="en-US" sz="2600" smtClean="0"/>
              <a:t> </a:t>
            </a:r>
          </a:p>
          <a:p>
            <a:pPr lvl="1" eaLnBrk="1" hangingPunct="1"/>
            <a:r>
              <a:rPr lang="en-US" altLang="en-US" sz="2600" smtClean="0"/>
              <a:t>Covering from head to toe</a:t>
            </a:r>
          </a:p>
          <a:p>
            <a:pPr lvl="1" eaLnBrk="1" hangingPunct="1"/>
            <a:r>
              <a:rPr lang="en-US" altLang="en-US" sz="2600" smtClean="0"/>
              <a:t>clothes which fail to cover the body </a:t>
            </a:r>
          </a:p>
          <a:p>
            <a:pPr lvl="1" eaLnBrk="1" hangingPunct="1"/>
            <a:r>
              <a:rPr lang="en-US" altLang="en-US" sz="2600" smtClean="0"/>
              <a:t> which are transparent, revealing what is underneath. </a:t>
            </a:r>
          </a:p>
          <a:p>
            <a:pPr lvl="1" eaLnBrk="1" hangingPunct="1"/>
            <a:r>
              <a:rPr lang="en-US" altLang="en-US" sz="2600" smtClean="0"/>
              <a:t>tightly fitting clothes which delineate the parts of the body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 calcmode="lin" valueType="num">
                                      <p:cBhvr additive="base">
                                        <p:cTn id="7" dur="500" fill="hold"/>
                                        <p:tgtEl>
                                          <p:spTgt spid="245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580">
                                            <p:txEl>
                                              <p:pRg st="1" end="1"/>
                                            </p:txEl>
                                          </p:spTgt>
                                        </p:tgtEl>
                                        <p:attrNameLst>
                                          <p:attrName>style.visibility</p:attrName>
                                        </p:attrNameLst>
                                      </p:cBhvr>
                                      <p:to>
                                        <p:strVal val="visible"/>
                                      </p:to>
                                    </p:set>
                                    <p:anim calcmode="lin" valueType="num">
                                      <p:cBhvr additive="base">
                                        <p:cTn id="13" dur="500" fill="hold"/>
                                        <p:tgtEl>
                                          <p:spTgt spid="245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80">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4580">
                                            <p:txEl>
                                              <p:pRg st="2" end="2"/>
                                            </p:txEl>
                                          </p:spTgt>
                                        </p:tgtEl>
                                        <p:attrNameLst>
                                          <p:attrName>style.visibility</p:attrName>
                                        </p:attrNameLst>
                                      </p:cBhvr>
                                      <p:to>
                                        <p:strVal val="visible"/>
                                      </p:to>
                                    </p:set>
                                    <p:anim calcmode="lin" valueType="num">
                                      <p:cBhvr additive="base">
                                        <p:cTn id="17" dur="500" fill="hold"/>
                                        <p:tgtEl>
                                          <p:spTgt spid="2458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8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4580">
                                            <p:txEl>
                                              <p:pRg st="3" end="3"/>
                                            </p:txEl>
                                          </p:spTgt>
                                        </p:tgtEl>
                                        <p:attrNameLst>
                                          <p:attrName>style.visibility</p:attrName>
                                        </p:attrNameLst>
                                      </p:cBhvr>
                                      <p:to>
                                        <p:strVal val="visible"/>
                                      </p:to>
                                    </p:set>
                                    <p:anim calcmode="lin" valueType="num">
                                      <p:cBhvr additive="base">
                                        <p:cTn id="23" dur="500" fill="hold"/>
                                        <p:tgtEl>
                                          <p:spTgt spid="24580">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458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4580">
                                            <p:txEl>
                                              <p:pRg st="4" end="4"/>
                                            </p:txEl>
                                          </p:spTgt>
                                        </p:tgtEl>
                                        <p:attrNameLst>
                                          <p:attrName>style.visibility</p:attrName>
                                        </p:attrNameLst>
                                      </p:cBhvr>
                                      <p:to>
                                        <p:strVal val="visible"/>
                                      </p:to>
                                    </p:set>
                                    <p:anim calcmode="lin" valueType="num">
                                      <p:cBhvr additive="base">
                                        <p:cTn id="29" dur="500" fill="hold"/>
                                        <p:tgtEl>
                                          <p:spTgt spid="24580">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4580">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4580">
                                            <p:txEl>
                                              <p:pRg st="5" end="5"/>
                                            </p:txEl>
                                          </p:spTgt>
                                        </p:tgtEl>
                                        <p:attrNameLst>
                                          <p:attrName>style.visibility</p:attrName>
                                        </p:attrNameLst>
                                      </p:cBhvr>
                                      <p:to>
                                        <p:strVal val="visible"/>
                                      </p:to>
                                    </p:set>
                                    <p:anim calcmode="lin" valueType="num">
                                      <p:cBhvr additive="base">
                                        <p:cTn id="33" dur="500" fill="hold"/>
                                        <p:tgtEl>
                                          <p:spTgt spid="24580">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458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4580">
                                            <p:txEl>
                                              <p:pRg st="6" end="6"/>
                                            </p:txEl>
                                          </p:spTgt>
                                        </p:tgtEl>
                                        <p:attrNameLst>
                                          <p:attrName>style.visibility</p:attrName>
                                        </p:attrNameLst>
                                      </p:cBhvr>
                                      <p:to>
                                        <p:strVal val="visible"/>
                                      </p:to>
                                    </p:set>
                                    <p:anim calcmode="lin" valueType="num">
                                      <p:cBhvr additive="base">
                                        <p:cTn id="39" dur="500" fill="hold"/>
                                        <p:tgtEl>
                                          <p:spTgt spid="24580">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4580">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4580">
                                            <p:txEl>
                                              <p:pRg st="7" end="7"/>
                                            </p:txEl>
                                          </p:spTgt>
                                        </p:tgtEl>
                                        <p:attrNameLst>
                                          <p:attrName>style.visibility</p:attrName>
                                        </p:attrNameLst>
                                      </p:cBhvr>
                                      <p:to>
                                        <p:strVal val="visible"/>
                                      </p:to>
                                    </p:set>
                                    <p:anim calcmode="lin" valueType="num">
                                      <p:cBhvr additive="base">
                                        <p:cTn id="43" dur="500" fill="hold"/>
                                        <p:tgtEl>
                                          <p:spTgt spid="24580">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458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12"/>
          </p:nvPr>
        </p:nvSpPr>
        <p:spPr>
          <a:noFill/>
        </p:spPr>
        <p:txBody>
          <a:bodyPr/>
          <a:lstStyle/>
          <a:p>
            <a:fld id="{27076206-22B2-455C-B590-E091FF2034E0}" type="slidenum">
              <a:rPr lang="en-US" altLang="en-US"/>
              <a:pPr/>
              <a:t>5</a:t>
            </a:fld>
            <a:endParaRPr lang="en-US" altLang="en-US"/>
          </a:p>
        </p:txBody>
      </p:sp>
      <p:sp>
        <p:nvSpPr>
          <p:cNvPr id="25603" name="Rectangle 2"/>
          <p:cNvSpPr>
            <a:spLocks noGrp="1" noChangeArrowheads="1"/>
          </p:cNvSpPr>
          <p:nvPr>
            <p:ph type="title"/>
          </p:nvPr>
        </p:nvSpPr>
        <p:spPr/>
        <p:txBody>
          <a:bodyPr/>
          <a:lstStyle/>
          <a:p>
            <a:pPr eaLnBrk="1" hangingPunct="1"/>
            <a:endParaRPr lang="en-US" altLang="en-US" smtClean="0"/>
          </a:p>
        </p:txBody>
      </p:sp>
      <p:sp>
        <p:nvSpPr>
          <p:cNvPr id="25604" name="Rectangle 3"/>
          <p:cNvSpPr>
            <a:spLocks noGrp="1" noChangeArrowheads="1"/>
          </p:cNvSpPr>
          <p:nvPr>
            <p:ph type="body" idx="1"/>
          </p:nvPr>
        </p:nvSpPr>
        <p:spPr/>
        <p:txBody>
          <a:bodyPr/>
          <a:lstStyle/>
          <a:p>
            <a:pPr eaLnBrk="1" hangingPunct="1"/>
            <a:r>
              <a:rPr lang="en-US" altLang="en-US" sz="2600" b="1" smtClean="0"/>
              <a:t>Concerning woman's imitating man and vice versa</a:t>
            </a:r>
            <a:r>
              <a:rPr lang="en-US" altLang="en-US" sz="2600" smtClean="0"/>
              <a:t> </a:t>
            </a:r>
          </a:p>
          <a:p>
            <a:pPr lvl="1" eaLnBrk="1" hangingPunct="1"/>
            <a:r>
              <a:rPr lang="en-US" altLang="en-US" sz="2600" smtClean="0"/>
              <a:t>“The Prophet (pbuh) declared that a woman should not wear a man's clothing nor a man a woman's. He cursed men who imitate women and women who imitate men.” (Hadith) </a:t>
            </a:r>
          </a:p>
          <a:p>
            <a:pPr lvl="1" eaLnBrk="1" hangingPunct="1"/>
            <a:r>
              <a:rPr lang="en-US" altLang="en-US" sz="2600" smtClean="0"/>
              <a:t>Aspects of such imitation include the manner of speaking, walking, dressing, moving and so on. </a:t>
            </a:r>
          </a:p>
          <a:p>
            <a:pPr algn="just" eaLnBrk="1" hangingPunct="1"/>
            <a:r>
              <a:rPr lang="en-US" altLang="en-US" sz="2600" b="1" smtClean="0"/>
              <a:t>The prohibition of tattooing, cutting the teeth, and undergoing surgery for beautification</a:t>
            </a:r>
          </a:p>
          <a:p>
            <a:pPr lvl="1" algn="just" eaLnBrk="1" hangingPunct="1"/>
            <a:r>
              <a:rPr lang="en-US" altLang="en-US" sz="2600" smtClean="0"/>
              <a:t>Do not change God’s creation </a:t>
            </a:r>
          </a:p>
          <a:p>
            <a:pPr eaLnBrk="1" hangingPunct="1"/>
            <a:endParaRPr lang="en-US" altLang="en-US" sz="26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anim calcmode="lin" valueType="num">
                                      <p:cBhvr additive="base">
                                        <p:cTn id="7" dur="500" fill="hold"/>
                                        <p:tgtEl>
                                          <p:spTgt spid="2560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604">
                                            <p:txEl>
                                              <p:pRg st="1" end="1"/>
                                            </p:txEl>
                                          </p:spTgt>
                                        </p:tgtEl>
                                        <p:attrNameLst>
                                          <p:attrName>style.visibility</p:attrName>
                                        </p:attrNameLst>
                                      </p:cBhvr>
                                      <p:to>
                                        <p:strVal val="visible"/>
                                      </p:to>
                                    </p:set>
                                    <p:anim calcmode="lin" valueType="num">
                                      <p:cBhvr additive="base">
                                        <p:cTn id="13" dur="500" fill="hold"/>
                                        <p:tgtEl>
                                          <p:spTgt spid="2560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604">
                                            <p:txEl>
                                              <p:pRg st="2" end="2"/>
                                            </p:txEl>
                                          </p:spTgt>
                                        </p:tgtEl>
                                        <p:attrNameLst>
                                          <p:attrName>style.visibility</p:attrName>
                                        </p:attrNameLst>
                                      </p:cBhvr>
                                      <p:to>
                                        <p:strVal val="visible"/>
                                      </p:to>
                                    </p:set>
                                    <p:anim calcmode="lin" valueType="num">
                                      <p:cBhvr additive="base">
                                        <p:cTn id="19" dur="500" fill="hold"/>
                                        <p:tgtEl>
                                          <p:spTgt spid="2560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60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5604">
                                            <p:txEl>
                                              <p:pRg st="3" end="3"/>
                                            </p:txEl>
                                          </p:spTgt>
                                        </p:tgtEl>
                                        <p:attrNameLst>
                                          <p:attrName>style.visibility</p:attrName>
                                        </p:attrNameLst>
                                      </p:cBhvr>
                                      <p:to>
                                        <p:strVal val="visible"/>
                                      </p:to>
                                    </p:set>
                                    <p:anim calcmode="lin" valueType="num">
                                      <p:cBhvr additive="base">
                                        <p:cTn id="25" dur="500" fill="hold"/>
                                        <p:tgtEl>
                                          <p:spTgt spid="2560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560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5604">
                                            <p:txEl>
                                              <p:pRg st="4" end="4"/>
                                            </p:txEl>
                                          </p:spTgt>
                                        </p:tgtEl>
                                        <p:attrNameLst>
                                          <p:attrName>style.visibility</p:attrName>
                                        </p:attrNameLst>
                                      </p:cBhvr>
                                      <p:to>
                                        <p:strVal val="visible"/>
                                      </p:to>
                                    </p:set>
                                    <p:anim calcmode="lin" valueType="num">
                                      <p:cBhvr additive="base">
                                        <p:cTn id="31" dur="500" fill="hold"/>
                                        <p:tgtEl>
                                          <p:spTgt spid="2560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560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p:spPr>
        <p:txBody>
          <a:bodyPr/>
          <a:lstStyle/>
          <a:p>
            <a:fld id="{75B7AF54-105E-4129-9B00-7BD9F13DF6F1}" type="slidenum">
              <a:rPr lang="en-US" altLang="en-US"/>
              <a:pPr/>
              <a:t>6</a:t>
            </a:fld>
            <a:endParaRPr lang="en-US" altLang="en-US"/>
          </a:p>
        </p:txBody>
      </p:sp>
      <p:sp>
        <p:nvSpPr>
          <p:cNvPr id="26627" name="Rectangle 2"/>
          <p:cNvSpPr>
            <a:spLocks noGrp="1" noChangeArrowheads="1"/>
          </p:cNvSpPr>
          <p:nvPr>
            <p:ph type="title"/>
          </p:nvPr>
        </p:nvSpPr>
        <p:spPr>
          <a:xfrm>
            <a:off x="1905000" y="1219200"/>
            <a:ext cx="7239000" cy="762000"/>
          </a:xfrm>
        </p:spPr>
        <p:txBody>
          <a:bodyPr/>
          <a:lstStyle/>
          <a:p>
            <a:pPr eaLnBrk="1" hangingPunct="1"/>
            <a:r>
              <a:rPr lang="en-US" altLang="en-US" b="0" smtClean="0"/>
              <a:t>WORK AND BUSINESS TRANSACTIONS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gtEl>
                                        <p:attrNameLst>
                                          <p:attrName>style.visibility</p:attrName>
                                        </p:attrNameLst>
                                      </p:cBhvr>
                                      <p:to>
                                        <p:strVal val="visible"/>
                                      </p:to>
                                    </p:set>
                                    <p:anim calcmode="lin" valueType="num">
                                      <p:cBhvr additive="base">
                                        <p:cTn id="7" dur="500" fill="hold"/>
                                        <p:tgtEl>
                                          <p:spTgt spid="26627"/>
                                        </p:tgtEl>
                                        <p:attrNameLst>
                                          <p:attrName>ppt_x</p:attrName>
                                        </p:attrNameLst>
                                      </p:cBhvr>
                                      <p:tavLst>
                                        <p:tav tm="0">
                                          <p:val>
                                            <p:strVal val="#ppt_x"/>
                                          </p:val>
                                        </p:tav>
                                        <p:tav tm="100000">
                                          <p:val>
                                            <p:strVal val="#ppt_x"/>
                                          </p:val>
                                        </p:tav>
                                      </p:tavLst>
                                    </p:anim>
                                    <p:anim calcmode="lin" valueType="num">
                                      <p:cBhvr additive="base">
                                        <p:cTn id="8" dur="500" fill="hold"/>
                                        <p:tgtEl>
                                          <p:spTgt spid="266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p:spPr>
        <p:txBody>
          <a:bodyPr/>
          <a:lstStyle/>
          <a:p>
            <a:fld id="{872EF915-AB1B-4874-8F63-9D646F50CC1C}" type="slidenum">
              <a:rPr lang="en-US" altLang="en-US"/>
              <a:pPr/>
              <a:t>7</a:t>
            </a:fld>
            <a:endParaRPr lang="en-US" altLang="en-US"/>
          </a:p>
        </p:txBody>
      </p:sp>
      <p:sp>
        <p:nvSpPr>
          <p:cNvPr id="20483" name="Rectangle 2"/>
          <p:cNvSpPr>
            <a:spLocks noGrp="1" noChangeArrowheads="1"/>
          </p:cNvSpPr>
          <p:nvPr>
            <p:ph type="title"/>
          </p:nvPr>
        </p:nvSpPr>
        <p:spPr/>
        <p:txBody>
          <a:bodyPr/>
          <a:lstStyle/>
          <a:p>
            <a:pPr eaLnBrk="1" hangingPunct="1"/>
            <a:r>
              <a:rPr lang="en-US" altLang="en-US" smtClean="0"/>
              <a:t>Ahadith about work</a:t>
            </a:r>
          </a:p>
        </p:txBody>
      </p:sp>
      <p:sp>
        <p:nvSpPr>
          <p:cNvPr id="20484" name="Rectangle 3"/>
          <p:cNvSpPr>
            <a:spLocks noGrp="1" noChangeArrowheads="1"/>
          </p:cNvSpPr>
          <p:nvPr>
            <p:ph type="body" idx="1"/>
          </p:nvPr>
        </p:nvSpPr>
        <p:spPr/>
        <p:txBody>
          <a:bodyPr/>
          <a:lstStyle/>
          <a:p>
            <a:pPr eaLnBrk="1" hangingPunct="1"/>
            <a:r>
              <a:rPr lang="en-US" altLang="en-US" sz="2500" b="1" smtClean="0"/>
              <a:t>The obligation to work if one is able </a:t>
            </a:r>
          </a:p>
          <a:p>
            <a:pPr lvl="1" eaLnBrk="1" hangingPunct="1"/>
            <a:r>
              <a:rPr lang="en-US" altLang="en-US" sz="2400" smtClean="0"/>
              <a:t>"Charity is lawful</a:t>
            </a:r>
            <a:r>
              <a:rPr lang="en-US" altLang="en-US" sz="2400" i="1" smtClean="0"/>
              <a:t> </a:t>
            </a:r>
            <a:r>
              <a:rPr lang="en-US" altLang="en-US" sz="2400" smtClean="0"/>
              <a:t>neither for the rich nor for the able bodied." (Hadith) </a:t>
            </a:r>
          </a:p>
          <a:p>
            <a:pPr lvl="1" eaLnBrk="1" hangingPunct="1"/>
            <a:r>
              <a:rPr lang="en-US" altLang="en-US" sz="2400" smtClean="0"/>
              <a:t>It is better that a person should take a rope and bring a bundle of wood on his back to sell so that Allah may preserve his honor, than that he should beg from people, (regardless of) whether they give to him or refuse him. (Hadith)</a:t>
            </a:r>
          </a:p>
          <a:p>
            <a:pPr eaLnBrk="1" hangingPunct="1"/>
            <a:r>
              <a:rPr lang="en-US" altLang="en-US" sz="2500" b="1" smtClean="0"/>
              <a:t>Beneficial works for God’s creatures </a:t>
            </a:r>
          </a:p>
          <a:p>
            <a:pPr lvl="1" eaLnBrk="1" hangingPunct="1"/>
            <a:r>
              <a:rPr lang="en-US" altLang="en-US" sz="2400" smtClean="0"/>
              <a:t>When a Muslim plants a plant or cultivates a crop, no bird or human being eats from it without its being accounted as a (rewardable) charity for him. (Hadith)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ppt_x"/>
                                          </p:val>
                                        </p:tav>
                                        <p:tav tm="100000">
                                          <p:val>
                                            <p:strVal val="#ppt_x"/>
                                          </p:val>
                                        </p:tav>
                                      </p:tavLst>
                                    </p:anim>
                                    <p:anim calcmode="lin" valueType="num">
                                      <p:cBhvr additive="base">
                                        <p:cTn id="8" dur="500" fill="hold"/>
                                        <p:tgtEl>
                                          <p:spTgt spid="2048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0484">
                                            <p:txEl>
                                              <p:pRg st="0" end="0"/>
                                            </p:txEl>
                                          </p:spTgt>
                                        </p:tgtEl>
                                        <p:attrNameLst>
                                          <p:attrName>style.visibility</p:attrName>
                                        </p:attrNameLst>
                                      </p:cBhvr>
                                      <p:to>
                                        <p:strVal val="visible"/>
                                      </p:to>
                                    </p:set>
                                    <p:anim calcmode="lin" valueType="num">
                                      <p:cBhvr additive="base">
                                        <p:cTn id="13" dur="500" fill="hold"/>
                                        <p:tgtEl>
                                          <p:spTgt spid="2048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4">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484">
                                            <p:txEl>
                                              <p:pRg st="1" end="1"/>
                                            </p:txEl>
                                          </p:spTgt>
                                        </p:tgtEl>
                                        <p:attrNameLst>
                                          <p:attrName>style.visibility</p:attrName>
                                        </p:attrNameLst>
                                      </p:cBhvr>
                                      <p:to>
                                        <p:strVal val="visible"/>
                                      </p:to>
                                    </p:set>
                                    <p:anim calcmode="lin" valueType="num">
                                      <p:cBhvr additive="base">
                                        <p:cTn id="17" dur="500" fill="hold"/>
                                        <p:tgtEl>
                                          <p:spTgt spid="20484">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4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20484">
                                            <p:txEl>
                                              <p:pRg st="2" end="2"/>
                                            </p:txEl>
                                          </p:spTgt>
                                        </p:tgtEl>
                                        <p:attrNameLst>
                                          <p:attrName>style.visibility</p:attrName>
                                        </p:attrNameLst>
                                      </p:cBhvr>
                                      <p:to>
                                        <p:strVal val="visible"/>
                                      </p:to>
                                    </p:set>
                                    <p:anim calcmode="lin" valueType="num">
                                      <p:cBhvr additive="base">
                                        <p:cTn id="23" dur="500" fill="hold"/>
                                        <p:tgtEl>
                                          <p:spTgt spid="2048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0484">
                                            <p:txEl>
                                              <p:pRg st="3" end="3"/>
                                            </p:txEl>
                                          </p:spTgt>
                                        </p:tgtEl>
                                        <p:attrNameLst>
                                          <p:attrName>style.visibility</p:attrName>
                                        </p:attrNameLst>
                                      </p:cBhvr>
                                      <p:to>
                                        <p:strVal val="visible"/>
                                      </p:to>
                                    </p:set>
                                    <p:anim calcmode="lin" valueType="num">
                                      <p:cBhvr additive="base">
                                        <p:cTn id="29" dur="500" fill="hold"/>
                                        <p:tgtEl>
                                          <p:spTgt spid="2048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0484">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0484">
                                            <p:txEl>
                                              <p:pRg st="4" end="4"/>
                                            </p:txEl>
                                          </p:spTgt>
                                        </p:tgtEl>
                                        <p:attrNameLst>
                                          <p:attrName>style.visibility</p:attrName>
                                        </p:attrNameLst>
                                      </p:cBhvr>
                                      <p:to>
                                        <p:strVal val="visible"/>
                                      </p:to>
                                    </p:set>
                                    <p:anim calcmode="lin" valueType="num">
                                      <p:cBhvr additive="base">
                                        <p:cTn id="33" dur="500" fill="hold"/>
                                        <p:tgtEl>
                                          <p:spTgt spid="20484">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48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004A701B-C5BC-4A7D-802E-7407DA3E01DF}" type="slidenum">
              <a:rPr lang="en-US" altLang="en-US"/>
              <a:pPr/>
              <a:t>8</a:t>
            </a:fld>
            <a:endParaRPr lang="en-US" altLang="en-US"/>
          </a:p>
        </p:txBody>
      </p:sp>
      <p:sp>
        <p:nvSpPr>
          <p:cNvPr id="28675" name="Rectangle 2"/>
          <p:cNvSpPr>
            <a:spLocks noGrp="1" noChangeArrowheads="1"/>
          </p:cNvSpPr>
          <p:nvPr>
            <p:ph type="title"/>
          </p:nvPr>
        </p:nvSpPr>
        <p:spPr/>
        <p:txBody>
          <a:bodyPr/>
          <a:lstStyle/>
          <a:p>
            <a:pPr eaLnBrk="1" hangingPunct="1"/>
            <a:r>
              <a:rPr lang="en-US" altLang="en-US" smtClean="0"/>
              <a:t>Work</a:t>
            </a:r>
          </a:p>
        </p:txBody>
      </p:sp>
      <p:sp>
        <p:nvSpPr>
          <p:cNvPr id="28676" name="Rectangle 3"/>
          <p:cNvSpPr>
            <a:spLocks noGrp="1" noChangeArrowheads="1"/>
          </p:cNvSpPr>
          <p:nvPr>
            <p:ph type="body" idx="1"/>
          </p:nvPr>
        </p:nvSpPr>
        <p:spPr/>
        <p:txBody>
          <a:bodyPr/>
          <a:lstStyle/>
          <a:p>
            <a:pPr algn="just" eaLnBrk="1" hangingPunct="1"/>
            <a:r>
              <a:rPr lang="en-US" altLang="en-US" sz="2600" b="1" dirty="0" smtClean="0"/>
              <a:t>Industries and professions condemned by </a:t>
            </a:r>
            <a:r>
              <a:rPr lang="en-US" altLang="en-US" sz="2600" b="1" dirty="0"/>
              <a:t>I</a:t>
            </a:r>
            <a:r>
              <a:rPr lang="en-US" altLang="en-US" sz="2600" b="1" dirty="0" smtClean="0"/>
              <a:t>slam</a:t>
            </a:r>
          </a:p>
          <a:p>
            <a:pPr lvl="1" eaLnBrk="1" hangingPunct="1"/>
            <a:r>
              <a:rPr lang="en-US" altLang="en-US" sz="2500" dirty="0" smtClean="0"/>
              <a:t>Prostitution, Erotic Arts, Manufacturing Intoxicants and Drugs, Interest / usury</a:t>
            </a:r>
          </a:p>
          <a:p>
            <a:pPr lvl="1" eaLnBrk="1" hangingPunct="1"/>
            <a:r>
              <a:rPr lang="en-US" altLang="en-US" sz="2500" dirty="0" smtClean="0"/>
              <a:t>'Allah will punish anyone who makes figures until he breathes spirit into them, which he can never do.‘ (Hadith)</a:t>
            </a:r>
          </a:p>
          <a:p>
            <a:pPr eaLnBrk="1" hangingPunct="1"/>
            <a:r>
              <a:rPr lang="en-US" altLang="en-US" sz="2600" b="1" dirty="0" smtClean="0"/>
              <a:t>Responsibilities in regard to work</a:t>
            </a:r>
            <a:r>
              <a:rPr lang="en-US" altLang="en-US" sz="2600" dirty="0" smtClean="0"/>
              <a:t> </a:t>
            </a:r>
          </a:p>
          <a:p>
            <a:pPr lvl="1" eaLnBrk="1" hangingPunct="1"/>
            <a:r>
              <a:rPr lang="en-US" altLang="en-US" sz="2500" dirty="0" smtClean="0"/>
              <a:t>“Woe to the rulers, the leaders, and the trustees! On the Day of Resurrection some people will wish that they could be suspended between heaven and earth rather than having had the burden of their responsibilities.” Hadith </a:t>
            </a:r>
          </a:p>
          <a:p>
            <a:pPr lvl="1" eaLnBrk="1" hangingPunct="1"/>
            <a:endParaRPr lang="en-US" altLang="en-US" sz="25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 calcmode="lin" valueType="num">
                                      <p:cBhvr additive="base">
                                        <p:cTn id="7" dur="500" fill="hold"/>
                                        <p:tgtEl>
                                          <p:spTgt spid="286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8676">
                                            <p:txEl>
                                              <p:pRg st="1" end="1"/>
                                            </p:txEl>
                                          </p:spTgt>
                                        </p:tgtEl>
                                        <p:attrNameLst>
                                          <p:attrName>style.visibility</p:attrName>
                                        </p:attrNameLst>
                                      </p:cBhvr>
                                      <p:to>
                                        <p:strVal val="visible"/>
                                      </p:to>
                                    </p:set>
                                    <p:anim calcmode="lin" valueType="num">
                                      <p:cBhvr additive="base">
                                        <p:cTn id="11" dur="500" fill="hold"/>
                                        <p:tgtEl>
                                          <p:spTgt spid="2867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867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8676">
                                            <p:txEl>
                                              <p:pRg st="2" end="2"/>
                                            </p:txEl>
                                          </p:spTgt>
                                        </p:tgtEl>
                                        <p:attrNameLst>
                                          <p:attrName>style.visibility</p:attrName>
                                        </p:attrNameLst>
                                      </p:cBhvr>
                                      <p:to>
                                        <p:strVal val="visible"/>
                                      </p:to>
                                    </p:set>
                                    <p:anim calcmode="lin" valueType="num">
                                      <p:cBhvr additive="base">
                                        <p:cTn id="15" dur="500" fill="hold"/>
                                        <p:tgtEl>
                                          <p:spTgt spid="2867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867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8676">
                                            <p:txEl>
                                              <p:pRg st="3" end="3"/>
                                            </p:txEl>
                                          </p:spTgt>
                                        </p:tgtEl>
                                        <p:attrNameLst>
                                          <p:attrName>style.visibility</p:attrName>
                                        </p:attrNameLst>
                                      </p:cBhvr>
                                      <p:to>
                                        <p:strVal val="visible"/>
                                      </p:to>
                                    </p:set>
                                    <p:anim calcmode="lin" valueType="num">
                                      <p:cBhvr additive="base">
                                        <p:cTn id="21" dur="500" fill="hold"/>
                                        <p:tgtEl>
                                          <p:spTgt spid="2867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867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8676">
                                            <p:txEl>
                                              <p:pRg st="4" end="4"/>
                                            </p:txEl>
                                          </p:spTgt>
                                        </p:tgtEl>
                                        <p:attrNameLst>
                                          <p:attrName>style.visibility</p:attrName>
                                        </p:attrNameLst>
                                      </p:cBhvr>
                                      <p:to>
                                        <p:strVal val="visible"/>
                                      </p:to>
                                    </p:set>
                                    <p:anim calcmode="lin" valueType="num">
                                      <p:cBhvr additive="base">
                                        <p:cTn id="25" dur="500" fill="hold"/>
                                        <p:tgtEl>
                                          <p:spTgt spid="2867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p>
            <a:fld id="{5DEEDBD5-B69F-411E-AC77-9CBFD15F766E}" type="slidenum">
              <a:rPr lang="en-US" altLang="en-US"/>
              <a:pPr/>
              <a:t>9</a:t>
            </a:fld>
            <a:endParaRPr lang="en-US" altLang="en-US"/>
          </a:p>
        </p:txBody>
      </p:sp>
      <p:sp>
        <p:nvSpPr>
          <p:cNvPr id="22531" name="Rectangle 2"/>
          <p:cNvSpPr>
            <a:spLocks noGrp="1" noChangeArrowheads="1"/>
          </p:cNvSpPr>
          <p:nvPr>
            <p:ph type="title"/>
          </p:nvPr>
        </p:nvSpPr>
        <p:spPr/>
        <p:txBody>
          <a:bodyPr/>
          <a:lstStyle/>
          <a:p>
            <a:pPr eaLnBrk="1" hangingPunct="1"/>
            <a:r>
              <a:rPr lang="en-US" altLang="en-US" sz="3600" smtClean="0"/>
              <a:t>BUSINESS TRANSACTIONS</a:t>
            </a:r>
          </a:p>
        </p:txBody>
      </p:sp>
      <p:sp>
        <p:nvSpPr>
          <p:cNvPr id="22532" name="Rectangle 3"/>
          <p:cNvSpPr>
            <a:spLocks noGrp="1" noChangeArrowheads="1"/>
          </p:cNvSpPr>
          <p:nvPr>
            <p:ph type="body" idx="1"/>
          </p:nvPr>
        </p:nvSpPr>
        <p:spPr/>
        <p:txBody>
          <a:bodyPr/>
          <a:lstStyle/>
          <a:p>
            <a:pPr eaLnBrk="1" hangingPunct="1">
              <a:lnSpc>
                <a:spcPct val="90000"/>
              </a:lnSpc>
            </a:pPr>
            <a:r>
              <a:rPr lang="en-US" altLang="en-US" sz="2600" b="1" smtClean="0"/>
              <a:t>The Prohibition of Selling Forbidden Goods </a:t>
            </a:r>
          </a:p>
          <a:p>
            <a:pPr eaLnBrk="1" hangingPunct="1">
              <a:lnSpc>
                <a:spcPct val="90000"/>
              </a:lnSpc>
            </a:pPr>
            <a:r>
              <a:rPr lang="en-US" altLang="en-US" sz="2600" b="1" smtClean="0"/>
              <a:t>The Prohibition of a Sale Involving Uncertainty </a:t>
            </a:r>
          </a:p>
          <a:p>
            <a:pPr eaLnBrk="1" hangingPunct="1">
              <a:lnSpc>
                <a:spcPct val="90000"/>
              </a:lnSpc>
            </a:pPr>
            <a:r>
              <a:rPr lang="en-US" altLang="en-US" sz="2600" b="1" smtClean="0"/>
              <a:t>Price Manipulation</a:t>
            </a:r>
            <a:r>
              <a:rPr lang="en-US" altLang="en-US" sz="2600" smtClean="0"/>
              <a:t> </a:t>
            </a:r>
          </a:p>
          <a:p>
            <a:pPr lvl="1" eaLnBrk="1" hangingPunct="1">
              <a:lnSpc>
                <a:spcPct val="90000"/>
              </a:lnSpc>
            </a:pPr>
            <a:r>
              <a:rPr lang="en-US" altLang="en-US" sz="2600" smtClean="0"/>
              <a:t>“Allah is the One Who fixes prices, Who withholds, Who gives lavishly, and Who provides, and I hope that when I meet Him none of you will have a claim against me for any injustice with regard to blood or property.” (Hadith.)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1"/>
                                        </p:tgtEl>
                                        <p:attrNameLst>
                                          <p:attrName>style.visibility</p:attrName>
                                        </p:attrNameLst>
                                      </p:cBhvr>
                                      <p:to>
                                        <p:strVal val="visible"/>
                                      </p:to>
                                    </p:set>
                                    <p:anim calcmode="lin" valueType="num">
                                      <p:cBhvr additive="base">
                                        <p:cTn id="7" dur="500" fill="hold"/>
                                        <p:tgtEl>
                                          <p:spTgt spid="22531"/>
                                        </p:tgtEl>
                                        <p:attrNameLst>
                                          <p:attrName>ppt_x</p:attrName>
                                        </p:attrNameLst>
                                      </p:cBhvr>
                                      <p:tavLst>
                                        <p:tav tm="0">
                                          <p:val>
                                            <p:strVal val="#ppt_x"/>
                                          </p:val>
                                        </p:tav>
                                        <p:tav tm="100000">
                                          <p:val>
                                            <p:strVal val="#ppt_x"/>
                                          </p:val>
                                        </p:tav>
                                      </p:tavLst>
                                    </p:anim>
                                    <p:anim calcmode="lin" valueType="num">
                                      <p:cBhvr additive="base">
                                        <p:cTn id="8" dur="500" fill="hold"/>
                                        <p:tgtEl>
                                          <p:spTgt spid="225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532">
                                            <p:txEl>
                                              <p:pRg st="0" end="0"/>
                                            </p:txEl>
                                          </p:spTgt>
                                        </p:tgtEl>
                                        <p:attrNameLst>
                                          <p:attrName>style.visibility</p:attrName>
                                        </p:attrNameLst>
                                      </p:cBhvr>
                                      <p:to>
                                        <p:strVal val="visible"/>
                                      </p:to>
                                    </p:set>
                                    <p:anim calcmode="lin" valueType="num">
                                      <p:cBhvr additive="base">
                                        <p:cTn id="13" dur="500" fill="hold"/>
                                        <p:tgtEl>
                                          <p:spTgt spid="2253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2532">
                                            <p:txEl>
                                              <p:pRg st="1" end="1"/>
                                            </p:txEl>
                                          </p:spTgt>
                                        </p:tgtEl>
                                        <p:attrNameLst>
                                          <p:attrName>style.visibility</p:attrName>
                                        </p:attrNameLst>
                                      </p:cBhvr>
                                      <p:to>
                                        <p:strVal val="visible"/>
                                      </p:to>
                                    </p:set>
                                    <p:anim calcmode="lin" valueType="num">
                                      <p:cBhvr additive="base">
                                        <p:cTn id="19" dur="500" fill="hold"/>
                                        <p:tgtEl>
                                          <p:spTgt spid="2253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2532">
                                            <p:txEl>
                                              <p:pRg st="2" end="2"/>
                                            </p:txEl>
                                          </p:spTgt>
                                        </p:tgtEl>
                                        <p:attrNameLst>
                                          <p:attrName>style.visibility</p:attrName>
                                        </p:attrNameLst>
                                      </p:cBhvr>
                                      <p:to>
                                        <p:strVal val="visible"/>
                                      </p:to>
                                    </p:set>
                                    <p:anim calcmode="lin" valueType="num">
                                      <p:cBhvr additive="base">
                                        <p:cTn id="25" dur="500" fill="hold"/>
                                        <p:tgtEl>
                                          <p:spTgt spid="2253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532">
                                            <p:txEl>
                                              <p:pRg st="3" end="3"/>
                                            </p:txEl>
                                          </p:spTgt>
                                        </p:tgtEl>
                                        <p:attrNameLst>
                                          <p:attrName>style.visibility</p:attrName>
                                        </p:attrNameLst>
                                      </p:cBhvr>
                                      <p:to>
                                        <p:strVal val="visible"/>
                                      </p:to>
                                    </p:set>
                                    <p:anim calcmode="lin" valueType="num">
                                      <p:cBhvr additive="base">
                                        <p:cTn id="31" dur="500" fill="hold"/>
                                        <p:tgtEl>
                                          <p:spTgt spid="2253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53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p:spPr>
        <p:txBody>
          <a:bodyPr/>
          <a:lstStyle/>
          <a:p>
            <a:fld id="{04326AFF-3CAD-4423-8BB4-75042368034A}" type="slidenum">
              <a:rPr lang="en-US" altLang="en-US"/>
              <a:pPr/>
              <a:t>10</a:t>
            </a:fld>
            <a:endParaRPr lang="en-US" altLang="en-US"/>
          </a:p>
        </p:txBody>
      </p:sp>
      <p:sp>
        <p:nvSpPr>
          <p:cNvPr id="30723" name="Rectangle 2"/>
          <p:cNvSpPr>
            <a:spLocks noGrp="1" noChangeArrowheads="1"/>
          </p:cNvSpPr>
          <p:nvPr>
            <p:ph type="title"/>
          </p:nvPr>
        </p:nvSpPr>
        <p:spPr/>
        <p:txBody>
          <a:bodyPr/>
          <a:lstStyle/>
          <a:p>
            <a:pPr eaLnBrk="1" hangingPunct="1"/>
            <a:r>
              <a:rPr lang="en-US" altLang="en-US" smtClean="0"/>
              <a:t>Business Transactions</a:t>
            </a:r>
          </a:p>
        </p:txBody>
      </p:sp>
      <p:sp>
        <p:nvSpPr>
          <p:cNvPr id="23556" name="Rectangle 3"/>
          <p:cNvSpPr>
            <a:spLocks noGrp="1" noChangeArrowheads="1"/>
          </p:cNvSpPr>
          <p:nvPr>
            <p:ph type="body" idx="1"/>
          </p:nvPr>
        </p:nvSpPr>
        <p:spPr/>
        <p:txBody>
          <a:bodyPr/>
          <a:lstStyle/>
          <a:p>
            <a:pPr eaLnBrk="1" hangingPunct="1"/>
            <a:r>
              <a:rPr lang="en-US" altLang="en-US" sz="2500" b="1" smtClean="0"/>
              <a:t>The Condemnation of Hoarding</a:t>
            </a:r>
          </a:p>
          <a:p>
            <a:pPr lvl="1" eaLnBrk="1" hangingPunct="1"/>
            <a:r>
              <a:rPr lang="en-US" altLang="en-US" sz="2400" smtClean="0"/>
              <a:t>"If anyone withholds grain for forty days out of the desire for a high price, Allah will renounce him." (Reported by Ahmad, al-Hakim, Ibn Abu Shaybah, and al-Bazzar.)</a:t>
            </a:r>
          </a:p>
          <a:p>
            <a:pPr eaLnBrk="1" hangingPunct="1"/>
            <a:r>
              <a:rPr lang="en-US" altLang="en-US" sz="2500" b="1" smtClean="0"/>
              <a:t>The Permissibility of Brokerage</a:t>
            </a:r>
          </a:p>
          <a:p>
            <a:pPr eaLnBrk="1" hangingPunct="1"/>
            <a:r>
              <a:rPr lang="en-US" altLang="en-US" sz="2500" b="1" smtClean="0"/>
              <a:t>Exploitation and Fraud </a:t>
            </a:r>
          </a:p>
          <a:p>
            <a:pPr eaLnBrk="1" hangingPunct="1"/>
            <a:r>
              <a:rPr lang="en-US" altLang="en-US" sz="2500" b="1" smtClean="0"/>
              <a:t>"He Who Deceives Us Is Not of Us" hadith</a:t>
            </a:r>
          </a:p>
          <a:p>
            <a:pPr eaLnBrk="1" hangingPunct="1"/>
            <a:r>
              <a:rPr lang="en-US" altLang="en-US" sz="2500" b="1" smtClean="0"/>
              <a:t>Frequent Swearing</a:t>
            </a:r>
          </a:p>
          <a:p>
            <a:pPr lvl="1" eaLnBrk="1" hangingPunct="1"/>
            <a:r>
              <a:rPr lang="en-US" altLang="en-US" sz="2400" smtClean="0"/>
              <a:t>"Swearing produces a ready sale but blots out the blessing." (Reported by al-Bukhari.)</a:t>
            </a:r>
            <a:br>
              <a:rPr lang="en-US" altLang="en-US" sz="2400" smtClean="0"/>
            </a:br>
            <a:endParaRPr lang="en-US" altLang="en-US" sz="2400" smtClean="0"/>
          </a:p>
          <a:p>
            <a:pPr eaLnBrk="1" hangingPunct="1"/>
            <a:endParaRPr lang="en-US" altLang="en-US" sz="2200" smtClean="0"/>
          </a:p>
          <a:p>
            <a:pPr eaLnBrk="1" hangingPunct="1"/>
            <a:endParaRPr lang="en-US" altLang="en-US" sz="2200" smtClean="0"/>
          </a:p>
          <a:p>
            <a:pPr eaLnBrk="1" hangingPunct="1"/>
            <a:endParaRPr lang="en-US" altLang="en-US" sz="2200" smtClean="0"/>
          </a:p>
          <a:p>
            <a:pPr eaLnBrk="1" hangingPunct="1"/>
            <a:endParaRPr lang="en-US" altLang="en-US" sz="280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 calcmode="lin" valueType="num">
                                      <p:cBhvr additive="base">
                                        <p:cTn id="7" dur="500" fill="hold"/>
                                        <p:tgtEl>
                                          <p:spTgt spid="235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3556">
                                            <p:txEl>
                                              <p:pRg st="1" end="1"/>
                                            </p:txEl>
                                          </p:spTgt>
                                        </p:tgtEl>
                                        <p:attrNameLst>
                                          <p:attrName>style.visibility</p:attrName>
                                        </p:attrNameLst>
                                      </p:cBhvr>
                                      <p:to>
                                        <p:strVal val="visible"/>
                                      </p:to>
                                    </p:set>
                                    <p:anim calcmode="lin" valueType="num">
                                      <p:cBhvr additive="base">
                                        <p:cTn id="13" dur="500" fill="hold"/>
                                        <p:tgtEl>
                                          <p:spTgt spid="235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3556">
                                            <p:txEl>
                                              <p:pRg st="2" end="2"/>
                                            </p:txEl>
                                          </p:spTgt>
                                        </p:tgtEl>
                                        <p:attrNameLst>
                                          <p:attrName>style.visibility</p:attrName>
                                        </p:attrNameLst>
                                      </p:cBhvr>
                                      <p:to>
                                        <p:strVal val="visible"/>
                                      </p:to>
                                    </p:set>
                                    <p:anim calcmode="lin" valueType="num">
                                      <p:cBhvr additive="base">
                                        <p:cTn id="19" dur="500" fill="hold"/>
                                        <p:tgtEl>
                                          <p:spTgt spid="2355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3556">
                                            <p:txEl>
                                              <p:pRg st="3" end="3"/>
                                            </p:txEl>
                                          </p:spTgt>
                                        </p:tgtEl>
                                        <p:attrNameLst>
                                          <p:attrName>style.visibility</p:attrName>
                                        </p:attrNameLst>
                                      </p:cBhvr>
                                      <p:to>
                                        <p:strVal val="visible"/>
                                      </p:to>
                                    </p:set>
                                    <p:anim calcmode="lin" valueType="num">
                                      <p:cBhvr additive="base">
                                        <p:cTn id="25" dur="500" fill="hold"/>
                                        <p:tgtEl>
                                          <p:spTgt spid="2355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5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3556">
                                            <p:txEl>
                                              <p:pRg st="4" end="4"/>
                                            </p:txEl>
                                          </p:spTgt>
                                        </p:tgtEl>
                                        <p:attrNameLst>
                                          <p:attrName>style.visibility</p:attrName>
                                        </p:attrNameLst>
                                      </p:cBhvr>
                                      <p:to>
                                        <p:strVal val="visible"/>
                                      </p:to>
                                    </p:set>
                                    <p:anim calcmode="lin" valueType="num">
                                      <p:cBhvr additive="base">
                                        <p:cTn id="31" dur="500" fill="hold"/>
                                        <p:tgtEl>
                                          <p:spTgt spid="2355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5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3556">
                                            <p:txEl>
                                              <p:pRg st="5" end="5"/>
                                            </p:txEl>
                                          </p:spTgt>
                                        </p:tgtEl>
                                        <p:attrNameLst>
                                          <p:attrName>style.visibility</p:attrName>
                                        </p:attrNameLst>
                                      </p:cBhvr>
                                      <p:to>
                                        <p:strVal val="visible"/>
                                      </p:to>
                                    </p:set>
                                    <p:anim calcmode="lin" valueType="num">
                                      <p:cBhvr additive="base">
                                        <p:cTn id="37" dur="500" fill="hold"/>
                                        <p:tgtEl>
                                          <p:spTgt spid="2355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355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3556">
                                            <p:txEl>
                                              <p:pRg st="6" end="6"/>
                                            </p:txEl>
                                          </p:spTgt>
                                        </p:tgtEl>
                                        <p:attrNameLst>
                                          <p:attrName>style.visibility</p:attrName>
                                        </p:attrNameLst>
                                      </p:cBhvr>
                                      <p:to>
                                        <p:strVal val="visible"/>
                                      </p:to>
                                    </p:set>
                                    <p:anim calcmode="lin" valueType="num">
                                      <p:cBhvr additive="base">
                                        <p:cTn id="43" dur="500" fill="hold"/>
                                        <p:tgtEl>
                                          <p:spTgt spid="2355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355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2"/>
          </p:nvPr>
        </p:nvSpPr>
        <p:spPr>
          <a:noFill/>
        </p:spPr>
        <p:txBody>
          <a:bodyPr/>
          <a:lstStyle/>
          <a:p>
            <a:fld id="{843A6633-8BD9-4F72-AC3A-503D9DDB3E7F}" type="slidenum">
              <a:rPr lang="en-US" altLang="en-US"/>
              <a:pPr/>
              <a:t>11</a:t>
            </a:fld>
            <a:endParaRPr lang="en-US" altLang="en-US"/>
          </a:p>
        </p:txBody>
      </p:sp>
      <p:sp>
        <p:nvSpPr>
          <p:cNvPr id="31747" name="Rectangle 2"/>
          <p:cNvSpPr>
            <a:spLocks noGrp="1" noChangeArrowheads="1"/>
          </p:cNvSpPr>
          <p:nvPr>
            <p:ph type="title"/>
          </p:nvPr>
        </p:nvSpPr>
        <p:spPr/>
        <p:txBody>
          <a:bodyPr/>
          <a:lstStyle/>
          <a:p>
            <a:pPr eaLnBrk="1" hangingPunct="1"/>
            <a:r>
              <a:rPr lang="en-US" altLang="en-US" smtClean="0"/>
              <a:t>Business Transactions</a:t>
            </a:r>
          </a:p>
        </p:txBody>
      </p:sp>
      <p:sp>
        <p:nvSpPr>
          <p:cNvPr id="24580" name="Rectangle 3"/>
          <p:cNvSpPr>
            <a:spLocks noGrp="1" noChangeArrowheads="1"/>
          </p:cNvSpPr>
          <p:nvPr>
            <p:ph type="body" idx="1"/>
          </p:nvPr>
        </p:nvSpPr>
        <p:spPr/>
        <p:txBody>
          <a:bodyPr/>
          <a:lstStyle/>
          <a:p>
            <a:pPr eaLnBrk="1" hangingPunct="1">
              <a:lnSpc>
                <a:spcPct val="90000"/>
              </a:lnSpc>
            </a:pPr>
            <a:r>
              <a:rPr lang="en-US" altLang="en-US" sz="2400" b="1" smtClean="0"/>
              <a:t>The Prohibition of Usury/ Interest</a:t>
            </a:r>
          </a:p>
          <a:p>
            <a:pPr lvl="1" eaLnBrk="1" hangingPunct="1">
              <a:lnSpc>
                <a:spcPct val="90000"/>
              </a:lnSpc>
            </a:pPr>
            <a:r>
              <a:rPr lang="en-US" altLang="en-US" sz="2400" smtClean="0"/>
              <a:t>“O you who believe, fear Allah and give up what remains due to you of interest if you are indeed Believers. And if you do not, then be warned of war (against you) by Allah and His Messenger, while if you repent you shall have your capital. Do not do wrong and you shall not be wronged.” (The Qur’an 2:278-279) </a:t>
            </a:r>
          </a:p>
          <a:p>
            <a:pPr lvl="1" eaLnBrk="1" hangingPunct="1">
              <a:lnSpc>
                <a:spcPct val="90000"/>
              </a:lnSpc>
            </a:pPr>
            <a:r>
              <a:rPr lang="en-US" altLang="en-US" sz="2400" smtClean="0"/>
              <a:t>The taking of interest implies appropriating another person's property without giving him anything in exchange </a:t>
            </a:r>
          </a:p>
          <a:p>
            <a:pPr lvl="1" eaLnBrk="1" hangingPunct="1">
              <a:lnSpc>
                <a:spcPct val="90000"/>
              </a:lnSpc>
            </a:pPr>
            <a:r>
              <a:rPr lang="en-US" altLang="en-US" sz="2400" smtClean="0"/>
              <a:t>Dependence on interest prevents people from working to earn money,</a:t>
            </a:r>
            <a:r>
              <a:rPr lang="en-US"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 calcmode="lin" valueType="num">
                                      <p:cBhvr additive="base">
                                        <p:cTn id="7" dur="500" fill="hold"/>
                                        <p:tgtEl>
                                          <p:spTgt spid="245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580">
                                            <p:txEl>
                                              <p:pRg st="1" end="1"/>
                                            </p:txEl>
                                          </p:spTgt>
                                        </p:tgtEl>
                                        <p:attrNameLst>
                                          <p:attrName>style.visibility</p:attrName>
                                        </p:attrNameLst>
                                      </p:cBhvr>
                                      <p:to>
                                        <p:strVal val="visible"/>
                                      </p:to>
                                    </p:set>
                                    <p:anim calcmode="lin" valueType="num">
                                      <p:cBhvr additive="base">
                                        <p:cTn id="13" dur="500" fill="hold"/>
                                        <p:tgtEl>
                                          <p:spTgt spid="245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8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4580">
                                            <p:txEl>
                                              <p:pRg st="2" end="2"/>
                                            </p:txEl>
                                          </p:spTgt>
                                        </p:tgtEl>
                                        <p:attrNameLst>
                                          <p:attrName>style.visibility</p:attrName>
                                        </p:attrNameLst>
                                      </p:cBhvr>
                                      <p:to>
                                        <p:strVal val="visible"/>
                                      </p:to>
                                    </p:set>
                                    <p:anim calcmode="lin" valueType="num">
                                      <p:cBhvr additive="base">
                                        <p:cTn id="19" dur="500" fill="hold"/>
                                        <p:tgtEl>
                                          <p:spTgt spid="2458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8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4580">
                                            <p:txEl>
                                              <p:pRg st="3" end="3"/>
                                            </p:txEl>
                                          </p:spTgt>
                                        </p:tgtEl>
                                        <p:attrNameLst>
                                          <p:attrName>style.visibility</p:attrName>
                                        </p:attrNameLst>
                                      </p:cBhvr>
                                      <p:to>
                                        <p:strVal val="visible"/>
                                      </p:to>
                                    </p:set>
                                    <p:anim calcmode="lin" valueType="num">
                                      <p:cBhvr additive="base">
                                        <p:cTn id="25" dur="500" fill="hold"/>
                                        <p:tgtEl>
                                          <p:spTgt spid="2458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58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p:spPr>
        <p:txBody>
          <a:bodyPr/>
          <a:lstStyle/>
          <a:p>
            <a:fld id="{CB90512B-3C7A-4959-A2CF-3E4FB425199D}" type="slidenum">
              <a:rPr lang="en-US" altLang="en-US"/>
              <a:pPr/>
              <a:t>12</a:t>
            </a:fld>
            <a:endParaRPr lang="en-US" altLang="en-US"/>
          </a:p>
        </p:txBody>
      </p:sp>
      <p:sp>
        <p:nvSpPr>
          <p:cNvPr id="26627" name="Rectangle 2"/>
          <p:cNvSpPr>
            <a:spLocks noGrp="1" noChangeArrowheads="1"/>
          </p:cNvSpPr>
          <p:nvPr>
            <p:ph type="title"/>
          </p:nvPr>
        </p:nvSpPr>
        <p:spPr>
          <a:xfrm>
            <a:off x="1752600" y="0"/>
            <a:ext cx="6934200" cy="1417638"/>
          </a:xfrm>
        </p:spPr>
        <p:txBody>
          <a:bodyPr/>
          <a:lstStyle/>
          <a:p>
            <a:pPr eaLnBrk="1" hangingPunct="1"/>
            <a:r>
              <a:rPr lang="en-US" altLang="en-US" dirty="0" smtClean="0"/>
              <a:t>The Physical Appetites </a:t>
            </a:r>
          </a:p>
        </p:txBody>
      </p:sp>
      <p:sp>
        <p:nvSpPr>
          <p:cNvPr id="26628" name="Rectangle 3"/>
          <p:cNvSpPr>
            <a:spLocks noGrp="1" noChangeArrowheads="1"/>
          </p:cNvSpPr>
          <p:nvPr>
            <p:ph type="body" idx="1"/>
          </p:nvPr>
        </p:nvSpPr>
        <p:spPr/>
        <p:txBody>
          <a:bodyPr/>
          <a:lstStyle/>
          <a:p>
            <a:pPr eaLnBrk="1" hangingPunct="1"/>
            <a:r>
              <a:rPr lang="en-US" altLang="en-US" sz="2200" b="1" dirty="0" smtClean="0"/>
              <a:t>Adultery</a:t>
            </a:r>
          </a:p>
          <a:p>
            <a:pPr lvl="1" eaLnBrk="1" hangingPunct="1"/>
            <a:r>
              <a:rPr lang="en-US" altLang="en-US" sz="2200" dirty="0" smtClean="0"/>
              <a:t>“..do not come near adultery; indeed, it is an abomination and an evil way (17:32), </a:t>
            </a:r>
          </a:p>
          <a:p>
            <a:pPr eaLnBrk="1" hangingPunct="1"/>
            <a:r>
              <a:rPr lang="en-US" altLang="en-US" sz="2200" b="1" dirty="0" smtClean="0"/>
              <a:t>Privacy </a:t>
            </a:r>
          </a:p>
          <a:p>
            <a:pPr lvl="1" eaLnBrk="1" hangingPunct="1"/>
            <a:r>
              <a:rPr lang="en-US" altLang="en-US" sz="2200" dirty="0" smtClean="0"/>
              <a:t>Islam prohibits Privacy denoting a man and woman's being alone together in a place in which there is no fear of intrusion by anyone else</a:t>
            </a:r>
          </a:p>
          <a:p>
            <a:pPr eaLnBrk="1" hangingPunct="1"/>
            <a:r>
              <a:rPr lang="en-US" altLang="en-US" sz="2200" b="1" dirty="0" smtClean="0"/>
              <a:t>Looking With Desire at the Opposite Sex </a:t>
            </a:r>
          </a:p>
          <a:p>
            <a:pPr lvl="1" eaLnBrk="1" hangingPunct="1"/>
            <a:r>
              <a:rPr lang="en-US" altLang="en-US" sz="2200" dirty="0" smtClean="0"/>
              <a:t>“Tell the believing men that they should lower their gazes and guard their sexual organs; that is purer for them. Indeed, Allah is well-acquainted with what they do. And tell the believing women that they should lower their gazes and guard their sexual organs, and not display their adornment, except that which is apparent of it…”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gtEl>
                                        <p:attrNameLst>
                                          <p:attrName>style.visibility</p:attrName>
                                        </p:attrNameLst>
                                      </p:cBhvr>
                                      <p:to>
                                        <p:strVal val="visible"/>
                                      </p:to>
                                    </p:set>
                                    <p:anim calcmode="lin" valueType="num">
                                      <p:cBhvr additive="base">
                                        <p:cTn id="7" dur="500" fill="hold"/>
                                        <p:tgtEl>
                                          <p:spTgt spid="26627"/>
                                        </p:tgtEl>
                                        <p:attrNameLst>
                                          <p:attrName>ppt_x</p:attrName>
                                        </p:attrNameLst>
                                      </p:cBhvr>
                                      <p:tavLst>
                                        <p:tav tm="0">
                                          <p:val>
                                            <p:strVal val="#ppt_x"/>
                                          </p:val>
                                        </p:tav>
                                        <p:tav tm="100000">
                                          <p:val>
                                            <p:strVal val="#ppt_x"/>
                                          </p:val>
                                        </p:tav>
                                      </p:tavLst>
                                    </p:anim>
                                    <p:anim calcmode="lin" valueType="num">
                                      <p:cBhvr additive="base">
                                        <p:cTn id="8" dur="500" fill="hold"/>
                                        <p:tgtEl>
                                          <p:spTgt spid="2662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6628">
                                            <p:txEl>
                                              <p:pRg st="0" end="0"/>
                                            </p:txEl>
                                          </p:spTgt>
                                        </p:tgtEl>
                                        <p:attrNameLst>
                                          <p:attrName>style.visibility</p:attrName>
                                        </p:attrNameLst>
                                      </p:cBhvr>
                                      <p:to>
                                        <p:strVal val="visible"/>
                                      </p:to>
                                    </p:set>
                                    <p:anim calcmode="lin" valueType="num">
                                      <p:cBhvr additive="base">
                                        <p:cTn id="13" dur="500" fill="hold"/>
                                        <p:tgtEl>
                                          <p:spTgt spid="2662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6628">
                                            <p:txEl>
                                              <p:pRg st="1" end="1"/>
                                            </p:txEl>
                                          </p:spTgt>
                                        </p:tgtEl>
                                        <p:attrNameLst>
                                          <p:attrName>style.visibility</p:attrName>
                                        </p:attrNameLst>
                                      </p:cBhvr>
                                      <p:to>
                                        <p:strVal val="visible"/>
                                      </p:to>
                                    </p:set>
                                    <p:anim calcmode="lin" valueType="num">
                                      <p:cBhvr additive="base">
                                        <p:cTn id="19" dur="500" fill="hold"/>
                                        <p:tgtEl>
                                          <p:spTgt spid="2662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6628">
                                            <p:txEl>
                                              <p:pRg st="2" end="2"/>
                                            </p:txEl>
                                          </p:spTgt>
                                        </p:tgtEl>
                                        <p:attrNameLst>
                                          <p:attrName>style.visibility</p:attrName>
                                        </p:attrNameLst>
                                      </p:cBhvr>
                                      <p:to>
                                        <p:strVal val="visible"/>
                                      </p:to>
                                    </p:set>
                                    <p:anim calcmode="lin" valueType="num">
                                      <p:cBhvr additive="base">
                                        <p:cTn id="25" dur="500" fill="hold"/>
                                        <p:tgtEl>
                                          <p:spTgt spid="2662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8">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6628">
                                            <p:txEl>
                                              <p:pRg st="3" end="3"/>
                                            </p:txEl>
                                          </p:spTgt>
                                        </p:tgtEl>
                                        <p:attrNameLst>
                                          <p:attrName>style.visibility</p:attrName>
                                        </p:attrNameLst>
                                      </p:cBhvr>
                                      <p:to>
                                        <p:strVal val="visible"/>
                                      </p:to>
                                    </p:set>
                                    <p:anim calcmode="lin" valueType="num">
                                      <p:cBhvr additive="base">
                                        <p:cTn id="29" dur="500" fill="hold"/>
                                        <p:tgtEl>
                                          <p:spTgt spid="26628">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66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6628">
                                            <p:txEl>
                                              <p:pRg st="4" end="4"/>
                                            </p:txEl>
                                          </p:spTgt>
                                        </p:tgtEl>
                                        <p:attrNameLst>
                                          <p:attrName>style.visibility</p:attrName>
                                        </p:attrNameLst>
                                      </p:cBhvr>
                                      <p:to>
                                        <p:strVal val="visible"/>
                                      </p:to>
                                    </p:set>
                                    <p:anim calcmode="lin" valueType="num">
                                      <p:cBhvr additive="base">
                                        <p:cTn id="35" dur="500" fill="hold"/>
                                        <p:tgtEl>
                                          <p:spTgt spid="26628">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6628">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6628">
                                            <p:txEl>
                                              <p:pRg st="5" end="5"/>
                                            </p:txEl>
                                          </p:spTgt>
                                        </p:tgtEl>
                                        <p:attrNameLst>
                                          <p:attrName>style.visibility</p:attrName>
                                        </p:attrNameLst>
                                      </p:cBhvr>
                                      <p:to>
                                        <p:strVal val="visible"/>
                                      </p:to>
                                    </p:set>
                                    <p:anim calcmode="lin" valueType="num">
                                      <p:cBhvr additive="base">
                                        <p:cTn id="39" dur="500" fill="hold"/>
                                        <p:tgtEl>
                                          <p:spTgt spid="26628">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662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p:spPr>
        <p:txBody>
          <a:bodyPr/>
          <a:lstStyle/>
          <a:p>
            <a:fld id="{002AB8D2-CA68-4B1E-ABB4-04E647328662}" type="slidenum">
              <a:rPr lang="en-US" altLang="en-US"/>
              <a:pPr/>
              <a:t>13</a:t>
            </a:fld>
            <a:endParaRPr lang="en-US" altLang="en-US"/>
          </a:p>
        </p:txBody>
      </p:sp>
      <p:sp>
        <p:nvSpPr>
          <p:cNvPr id="33795" name="Rectangle 2"/>
          <p:cNvSpPr>
            <a:spLocks noGrp="1" noChangeArrowheads="1"/>
          </p:cNvSpPr>
          <p:nvPr>
            <p:ph type="title"/>
          </p:nvPr>
        </p:nvSpPr>
        <p:spPr/>
        <p:txBody>
          <a:bodyPr/>
          <a:lstStyle/>
          <a:p>
            <a:pPr eaLnBrk="1" hangingPunct="1"/>
            <a:endParaRPr lang="en-US" altLang="en-US" smtClean="0"/>
          </a:p>
        </p:txBody>
      </p:sp>
      <p:sp>
        <p:nvSpPr>
          <p:cNvPr id="27652" name="Rectangle 3"/>
          <p:cNvSpPr>
            <a:spLocks noGrp="1" noChangeArrowheads="1"/>
          </p:cNvSpPr>
          <p:nvPr>
            <p:ph type="body" idx="1"/>
          </p:nvPr>
        </p:nvSpPr>
        <p:spPr/>
        <p:txBody>
          <a:bodyPr/>
          <a:lstStyle/>
          <a:p>
            <a:pPr eaLnBrk="1" hangingPunct="1"/>
            <a:r>
              <a:rPr lang="en-US" altLang="en-US" sz="2500" b="1" dirty="0" smtClean="0"/>
              <a:t>Man to man, woman to woman</a:t>
            </a:r>
          </a:p>
          <a:p>
            <a:pPr lvl="1" eaLnBrk="1" hangingPunct="1"/>
            <a:r>
              <a:rPr lang="en-US" altLang="en-US" sz="2400" dirty="0" smtClean="0"/>
              <a:t> “A man should not look at the </a:t>
            </a:r>
            <a:r>
              <a:rPr lang="en-US" altLang="en-US" sz="2400" i="1" dirty="0" smtClean="0"/>
              <a:t>private organs </a:t>
            </a:r>
            <a:r>
              <a:rPr lang="en-US" altLang="en-US" sz="2400" dirty="0" smtClean="0"/>
              <a:t>of another man, nor a woman of a woman, nor should a man go under one cloth with another man, nor a woman with another woman..” (Hadith)</a:t>
            </a:r>
          </a:p>
          <a:p>
            <a:pPr lvl="1" eaLnBrk="1" hangingPunct="1"/>
            <a:endParaRPr lang="en-US" altLang="en-US" sz="2400" dirty="0" smtClean="0"/>
          </a:p>
          <a:p>
            <a:pPr eaLnBrk="1" hangingPunct="1"/>
            <a:r>
              <a:rPr lang="en-US" altLang="en-US" sz="2500" b="1" dirty="0" smtClean="0"/>
              <a:t>Homosexuality</a:t>
            </a:r>
          </a:p>
          <a:p>
            <a:pPr lvl="1" eaLnBrk="1" hangingPunct="1"/>
            <a:r>
              <a:rPr lang="en-US" altLang="en-US" sz="2400" dirty="0" smtClean="0"/>
              <a:t>“What! Of all creatures, do you approach males and leave the spouses whom your Lord has created for you? Indeed, you are people transgressing (all limits)!” (26: 165-166)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anim calcmode="lin" valueType="num">
                                      <p:cBhvr additive="base">
                                        <p:cTn id="7" dur="500" fill="hold"/>
                                        <p:tgtEl>
                                          <p:spTgt spid="276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652">
                                            <p:txEl>
                                              <p:pRg st="1" end="1"/>
                                            </p:txEl>
                                          </p:spTgt>
                                        </p:tgtEl>
                                        <p:attrNameLst>
                                          <p:attrName>style.visibility</p:attrName>
                                        </p:attrNameLst>
                                      </p:cBhvr>
                                      <p:to>
                                        <p:strVal val="visible"/>
                                      </p:to>
                                    </p:set>
                                    <p:anim calcmode="lin" valueType="num">
                                      <p:cBhvr additive="base">
                                        <p:cTn id="11" dur="500" fill="hold"/>
                                        <p:tgtEl>
                                          <p:spTgt spid="2765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7652">
                                            <p:txEl>
                                              <p:pRg st="3" end="3"/>
                                            </p:txEl>
                                          </p:spTgt>
                                        </p:tgtEl>
                                        <p:attrNameLst>
                                          <p:attrName>style.visibility</p:attrName>
                                        </p:attrNameLst>
                                      </p:cBhvr>
                                      <p:to>
                                        <p:strVal val="visible"/>
                                      </p:to>
                                    </p:set>
                                    <p:anim calcmode="lin" valueType="num">
                                      <p:cBhvr additive="base">
                                        <p:cTn id="17" dur="500" fill="hold"/>
                                        <p:tgtEl>
                                          <p:spTgt spid="2765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652">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7652">
                                            <p:txEl>
                                              <p:pRg st="4" end="4"/>
                                            </p:txEl>
                                          </p:spTgt>
                                        </p:tgtEl>
                                        <p:attrNameLst>
                                          <p:attrName>style.visibility</p:attrName>
                                        </p:attrNameLst>
                                      </p:cBhvr>
                                      <p:to>
                                        <p:strVal val="visible"/>
                                      </p:to>
                                    </p:set>
                                    <p:anim calcmode="lin" valueType="num">
                                      <p:cBhvr additive="base">
                                        <p:cTn id="21" dur="500" fill="hold"/>
                                        <p:tgtEl>
                                          <p:spTgt spid="27652">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765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p:spPr>
        <p:txBody>
          <a:bodyPr/>
          <a:lstStyle/>
          <a:p>
            <a:fld id="{40D2DDA8-D63E-4BCA-898D-F3F1ADDE0F3E}" type="slidenum">
              <a:rPr lang="en-US" altLang="en-US"/>
              <a:pPr/>
              <a:t>14</a:t>
            </a:fld>
            <a:endParaRPr lang="en-US" altLang="en-US"/>
          </a:p>
        </p:txBody>
      </p:sp>
      <p:sp>
        <p:nvSpPr>
          <p:cNvPr id="34819" name="Rectangle 2"/>
          <p:cNvSpPr>
            <a:spLocks noGrp="1" noChangeArrowheads="1"/>
          </p:cNvSpPr>
          <p:nvPr>
            <p:ph type="title"/>
          </p:nvPr>
        </p:nvSpPr>
        <p:spPr/>
        <p:txBody>
          <a:bodyPr/>
          <a:lstStyle/>
          <a:p>
            <a:pPr eaLnBrk="1" hangingPunct="1"/>
            <a:r>
              <a:rPr lang="en-US" altLang="en-US" sz="6600" b="0" smtClean="0"/>
              <a:t>Marriage</a:t>
            </a:r>
          </a:p>
        </p:txBody>
      </p:sp>
      <p:sp>
        <p:nvSpPr>
          <p:cNvPr id="34820" name="Rectangle 3"/>
          <p:cNvSpPr>
            <a:spLocks noGrp="1" noChangeArrowheads="1"/>
          </p:cNvSpPr>
          <p:nvPr>
            <p:ph type="body" idx="1"/>
          </p:nvPr>
        </p:nvSpPr>
        <p:spPr/>
        <p:txBody>
          <a:bodyPr/>
          <a:lstStyle/>
          <a:p>
            <a:pPr eaLnBrk="1" hangingPunct="1">
              <a:buFontTx/>
              <a:buNone/>
            </a:pPr>
            <a:endParaRPr lang="en-US" altLang="en-US" sz="4400" b="1" smtClean="0"/>
          </a:p>
          <a:p>
            <a:pPr eaLnBrk="1" hangingPunct="1">
              <a:buFontTx/>
              <a:buNone/>
            </a:pPr>
            <a:endParaRPr lang="en-US" altLang="en-US" sz="4400" b="1" smtClean="0"/>
          </a:p>
          <a:p>
            <a:pPr eaLnBrk="1" hangingPunct="1">
              <a:buFontTx/>
              <a:buNone/>
            </a:pPr>
            <a:r>
              <a:rPr lang="en-US" altLang="en-US" sz="4400" b="1" smtClean="0"/>
              <a:t>				</a:t>
            </a:r>
          </a:p>
        </p:txBody>
      </p:sp>
      <p:pic>
        <p:nvPicPr>
          <p:cNvPr id="34821" name="Picture 4" descr="mariage_digipack_3_cd_1_dvd_"/>
          <p:cNvPicPr>
            <a:picLocks noChangeAspect="1" noChangeArrowheads="1"/>
          </p:cNvPicPr>
          <p:nvPr/>
        </p:nvPicPr>
        <p:blipFill>
          <a:blip r:embed="rId2"/>
          <a:srcRect/>
          <a:stretch>
            <a:fillRect/>
          </a:stretch>
        </p:blipFill>
        <p:spPr bwMode="auto">
          <a:xfrm>
            <a:off x="3048000" y="1712913"/>
            <a:ext cx="5334000" cy="48402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p:spPr>
        <p:txBody>
          <a:bodyPr/>
          <a:lstStyle/>
          <a:p>
            <a:fld id="{E7030B43-4FE9-4A7D-9E78-79725DC41EF1}" type="slidenum">
              <a:rPr lang="en-US" altLang="en-US"/>
              <a:pPr/>
              <a:t>15</a:t>
            </a:fld>
            <a:endParaRPr lang="en-US" altLang="en-US"/>
          </a:p>
        </p:txBody>
      </p:sp>
      <p:sp>
        <p:nvSpPr>
          <p:cNvPr id="35843" name="Rectangle 2"/>
          <p:cNvSpPr>
            <a:spLocks noGrp="1" noChangeArrowheads="1"/>
          </p:cNvSpPr>
          <p:nvPr>
            <p:ph type="title"/>
          </p:nvPr>
        </p:nvSpPr>
        <p:spPr/>
        <p:txBody>
          <a:bodyPr/>
          <a:lstStyle/>
          <a:p>
            <a:pPr eaLnBrk="1" hangingPunct="1"/>
            <a:endParaRPr lang="en-US" altLang="en-US" smtClean="0"/>
          </a:p>
        </p:txBody>
      </p:sp>
      <p:sp>
        <p:nvSpPr>
          <p:cNvPr id="29700" name="Rectangle 3"/>
          <p:cNvSpPr>
            <a:spLocks noGrp="1" noChangeArrowheads="1"/>
          </p:cNvSpPr>
          <p:nvPr>
            <p:ph type="body" idx="1"/>
          </p:nvPr>
        </p:nvSpPr>
        <p:spPr/>
        <p:txBody>
          <a:bodyPr/>
          <a:lstStyle/>
          <a:p>
            <a:pPr eaLnBrk="1" hangingPunct="1"/>
            <a:r>
              <a:rPr lang="en-US" altLang="en-US" sz="2400" b="1" smtClean="0"/>
              <a:t>No Monasticism </a:t>
            </a:r>
          </a:p>
          <a:p>
            <a:pPr lvl="1" eaLnBrk="1" hangingPunct="1"/>
            <a:r>
              <a:rPr lang="en-US" altLang="en-US" sz="2400" smtClean="0"/>
              <a:t>“People before you perished because of their asceticism; they made excessive demands on themselves until Allah brought hardships on them: you can still see a few of them remaining in monasteries and temples..." (Hadith)</a:t>
            </a:r>
          </a:p>
          <a:p>
            <a:pPr lvl="1" eaLnBrk="1" hangingPunct="1"/>
            <a:endParaRPr lang="en-US" altLang="en-US" sz="2400" smtClean="0"/>
          </a:p>
          <a:p>
            <a:pPr eaLnBrk="1" hangingPunct="1"/>
            <a:r>
              <a:rPr lang="en-US" altLang="en-US" sz="2400" b="1" smtClean="0"/>
              <a:t>Prohibited Proposals </a:t>
            </a:r>
          </a:p>
          <a:p>
            <a:pPr lvl="1" eaLnBrk="1" hangingPunct="1"/>
            <a:r>
              <a:rPr lang="en-US" altLang="en-US" sz="2400" smtClean="0"/>
              <a:t>“A man must not propose to another man's betrothed unless he withdraws or gives him permission.” (Hadith)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anim calcmode="lin" valueType="num">
                                      <p:cBhvr additive="base">
                                        <p:cTn id="7" dur="500" fill="hold"/>
                                        <p:tgtEl>
                                          <p:spTgt spid="297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70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700">
                                            <p:txEl>
                                              <p:pRg st="1" end="1"/>
                                            </p:txEl>
                                          </p:spTgt>
                                        </p:tgtEl>
                                        <p:attrNameLst>
                                          <p:attrName>style.visibility</p:attrName>
                                        </p:attrNameLst>
                                      </p:cBhvr>
                                      <p:to>
                                        <p:strVal val="visible"/>
                                      </p:to>
                                    </p:set>
                                    <p:anim calcmode="lin" valueType="num">
                                      <p:cBhvr additive="base">
                                        <p:cTn id="11" dur="500" fill="hold"/>
                                        <p:tgtEl>
                                          <p:spTgt spid="2970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7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9700">
                                            <p:txEl>
                                              <p:pRg st="3" end="3"/>
                                            </p:txEl>
                                          </p:spTgt>
                                        </p:tgtEl>
                                        <p:attrNameLst>
                                          <p:attrName>style.visibility</p:attrName>
                                        </p:attrNameLst>
                                      </p:cBhvr>
                                      <p:to>
                                        <p:strVal val="visible"/>
                                      </p:to>
                                    </p:set>
                                    <p:anim calcmode="lin" valueType="num">
                                      <p:cBhvr additive="base">
                                        <p:cTn id="17" dur="500" fill="hold"/>
                                        <p:tgtEl>
                                          <p:spTgt spid="29700">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700">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9700">
                                            <p:txEl>
                                              <p:pRg st="4" end="4"/>
                                            </p:txEl>
                                          </p:spTgt>
                                        </p:tgtEl>
                                        <p:attrNameLst>
                                          <p:attrName>style.visibility</p:attrName>
                                        </p:attrNameLst>
                                      </p:cBhvr>
                                      <p:to>
                                        <p:strVal val="visible"/>
                                      </p:to>
                                    </p:set>
                                    <p:anim calcmode="lin" valueType="num">
                                      <p:cBhvr additive="base">
                                        <p:cTn id="21" dur="500" fill="hold"/>
                                        <p:tgtEl>
                                          <p:spTgt spid="29700">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970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2"/>
          </p:nvPr>
        </p:nvSpPr>
        <p:spPr>
          <a:noFill/>
        </p:spPr>
        <p:txBody>
          <a:bodyPr/>
          <a:lstStyle/>
          <a:p>
            <a:fld id="{B454E3D7-E0E0-4A46-B5F8-920ABD1B5A92}" type="slidenum">
              <a:rPr lang="en-US" altLang="en-US"/>
              <a:pPr/>
              <a:t>16</a:t>
            </a:fld>
            <a:endParaRPr lang="en-US" altLang="en-US"/>
          </a:p>
        </p:txBody>
      </p:sp>
      <p:sp>
        <p:nvSpPr>
          <p:cNvPr id="30723" name="Rectangle 2"/>
          <p:cNvSpPr>
            <a:spLocks noGrp="1" noChangeArrowheads="1"/>
          </p:cNvSpPr>
          <p:nvPr>
            <p:ph type="title"/>
          </p:nvPr>
        </p:nvSpPr>
        <p:spPr/>
        <p:txBody>
          <a:bodyPr/>
          <a:lstStyle/>
          <a:p>
            <a:pPr eaLnBrk="1" hangingPunct="1"/>
            <a:r>
              <a:rPr lang="en-US" altLang="en-US" sz="4400" smtClean="0"/>
              <a:t>Women To Whom Marriage is Prohibited</a:t>
            </a:r>
          </a:p>
        </p:txBody>
      </p:sp>
      <p:sp>
        <p:nvSpPr>
          <p:cNvPr id="30724" name="Rectangle 3"/>
          <p:cNvSpPr>
            <a:spLocks noGrp="1" noChangeArrowheads="1"/>
          </p:cNvSpPr>
          <p:nvPr>
            <p:ph type="body" idx="1"/>
          </p:nvPr>
        </p:nvSpPr>
        <p:spPr/>
        <p:txBody>
          <a:bodyPr/>
          <a:lstStyle/>
          <a:p>
            <a:pPr eaLnBrk="1" hangingPunct="1">
              <a:lnSpc>
                <a:spcPct val="80000"/>
              </a:lnSpc>
            </a:pPr>
            <a:r>
              <a:rPr lang="en-US" altLang="en-US" sz="2400" smtClean="0"/>
              <a:t>The father's wife, whether divorced or widowed. </a:t>
            </a:r>
          </a:p>
          <a:p>
            <a:pPr eaLnBrk="1" hangingPunct="1">
              <a:lnSpc>
                <a:spcPct val="80000"/>
              </a:lnSpc>
            </a:pPr>
            <a:r>
              <a:rPr lang="en-US" altLang="en-US" sz="2400" smtClean="0"/>
              <a:t>The mother, including the grandmothers on both sides.</a:t>
            </a:r>
          </a:p>
          <a:p>
            <a:pPr eaLnBrk="1" hangingPunct="1">
              <a:lnSpc>
                <a:spcPct val="80000"/>
              </a:lnSpc>
            </a:pPr>
            <a:r>
              <a:rPr lang="en-US" altLang="en-US" sz="2400" smtClean="0"/>
              <a:t>The daughter, including the granddaughters from the son or daughter.</a:t>
            </a:r>
          </a:p>
          <a:p>
            <a:pPr eaLnBrk="1" hangingPunct="1">
              <a:lnSpc>
                <a:spcPct val="80000"/>
              </a:lnSpc>
            </a:pPr>
            <a:r>
              <a:rPr lang="en-US" altLang="en-US" sz="2400" smtClean="0"/>
              <a:t>The sister, including the half, and step-sisters.</a:t>
            </a:r>
          </a:p>
          <a:p>
            <a:pPr eaLnBrk="1" hangingPunct="1">
              <a:lnSpc>
                <a:spcPct val="80000"/>
              </a:lnSpc>
            </a:pPr>
            <a:r>
              <a:rPr lang="en-US" altLang="en-US" sz="2400" smtClean="0"/>
              <a:t>The paternal aunt, whether she is the real, half, or step-sister of the father.</a:t>
            </a:r>
          </a:p>
          <a:p>
            <a:pPr eaLnBrk="1" hangingPunct="1">
              <a:lnSpc>
                <a:spcPct val="80000"/>
              </a:lnSpc>
            </a:pPr>
            <a:r>
              <a:rPr lang="en-US" altLang="en-US" sz="2400" smtClean="0"/>
              <a:t>The maternal aunt, whether she is the real, half, or step-sister of the father.</a:t>
            </a:r>
          </a:p>
          <a:p>
            <a:pPr eaLnBrk="1" hangingPunct="1">
              <a:lnSpc>
                <a:spcPct val="80000"/>
              </a:lnSpc>
            </a:pPr>
            <a:r>
              <a:rPr lang="en-US" altLang="en-US" sz="2400" smtClean="0"/>
              <a:t>The brother's daughter, i.e., his niece.</a:t>
            </a:r>
          </a:p>
          <a:p>
            <a:pPr eaLnBrk="1" hangingPunct="1">
              <a:lnSpc>
                <a:spcPct val="80000"/>
              </a:lnSpc>
            </a:pPr>
            <a:r>
              <a:rPr lang="en-US" altLang="en-US" sz="2400" smtClean="0"/>
              <a:t>The sister's daughter, i.e., his niece.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 calcmode="lin" valueType="num">
                                      <p:cBhvr additive="base">
                                        <p:cTn id="7" dur="500" fill="hold"/>
                                        <p:tgtEl>
                                          <p:spTgt spid="30723"/>
                                        </p:tgtEl>
                                        <p:attrNameLst>
                                          <p:attrName>ppt_x</p:attrName>
                                        </p:attrNameLst>
                                      </p:cBhvr>
                                      <p:tavLst>
                                        <p:tav tm="0">
                                          <p:val>
                                            <p:strVal val="#ppt_x"/>
                                          </p:val>
                                        </p:tav>
                                        <p:tav tm="100000">
                                          <p:val>
                                            <p:strVal val="#ppt_x"/>
                                          </p:val>
                                        </p:tav>
                                      </p:tavLst>
                                    </p:anim>
                                    <p:anim calcmode="lin" valueType="num">
                                      <p:cBhvr additive="base">
                                        <p:cTn id="8" dur="500" fill="hold"/>
                                        <p:tgtEl>
                                          <p:spTgt spid="3072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0724">
                                            <p:txEl>
                                              <p:pRg st="0" end="0"/>
                                            </p:txEl>
                                          </p:spTgt>
                                        </p:tgtEl>
                                        <p:attrNameLst>
                                          <p:attrName>style.visibility</p:attrName>
                                        </p:attrNameLst>
                                      </p:cBhvr>
                                      <p:to>
                                        <p:strVal val="visible"/>
                                      </p:to>
                                    </p:set>
                                    <p:anim calcmode="lin" valueType="num">
                                      <p:cBhvr additive="base">
                                        <p:cTn id="13" dur="500" fill="hold"/>
                                        <p:tgtEl>
                                          <p:spTgt spid="3072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0724">
                                            <p:txEl>
                                              <p:pRg st="1" end="1"/>
                                            </p:txEl>
                                          </p:spTgt>
                                        </p:tgtEl>
                                        <p:attrNameLst>
                                          <p:attrName>style.visibility</p:attrName>
                                        </p:attrNameLst>
                                      </p:cBhvr>
                                      <p:to>
                                        <p:strVal val="visible"/>
                                      </p:to>
                                    </p:set>
                                    <p:anim calcmode="lin" valueType="num">
                                      <p:cBhvr additive="base">
                                        <p:cTn id="19" dur="500" fill="hold"/>
                                        <p:tgtEl>
                                          <p:spTgt spid="3072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0724">
                                            <p:txEl>
                                              <p:pRg st="2" end="2"/>
                                            </p:txEl>
                                          </p:spTgt>
                                        </p:tgtEl>
                                        <p:attrNameLst>
                                          <p:attrName>style.visibility</p:attrName>
                                        </p:attrNameLst>
                                      </p:cBhvr>
                                      <p:to>
                                        <p:strVal val="visible"/>
                                      </p:to>
                                    </p:set>
                                    <p:anim calcmode="lin" valueType="num">
                                      <p:cBhvr additive="base">
                                        <p:cTn id="25" dur="500" fill="hold"/>
                                        <p:tgtEl>
                                          <p:spTgt spid="3072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2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0724">
                                            <p:txEl>
                                              <p:pRg st="3" end="3"/>
                                            </p:txEl>
                                          </p:spTgt>
                                        </p:tgtEl>
                                        <p:attrNameLst>
                                          <p:attrName>style.visibility</p:attrName>
                                        </p:attrNameLst>
                                      </p:cBhvr>
                                      <p:to>
                                        <p:strVal val="visible"/>
                                      </p:to>
                                    </p:set>
                                    <p:anim calcmode="lin" valueType="num">
                                      <p:cBhvr additive="base">
                                        <p:cTn id="31" dur="500" fill="hold"/>
                                        <p:tgtEl>
                                          <p:spTgt spid="3072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2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0724">
                                            <p:txEl>
                                              <p:pRg st="4" end="4"/>
                                            </p:txEl>
                                          </p:spTgt>
                                        </p:tgtEl>
                                        <p:attrNameLst>
                                          <p:attrName>style.visibility</p:attrName>
                                        </p:attrNameLst>
                                      </p:cBhvr>
                                      <p:to>
                                        <p:strVal val="visible"/>
                                      </p:to>
                                    </p:set>
                                    <p:anim calcmode="lin" valueType="num">
                                      <p:cBhvr additive="base">
                                        <p:cTn id="37" dur="500" fill="hold"/>
                                        <p:tgtEl>
                                          <p:spTgt spid="30724">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72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30724">
                                            <p:txEl>
                                              <p:pRg st="5" end="5"/>
                                            </p:txEl>
                                          </p:spTgt>
                                        </p:tgtEl>
                                        <p:attrNameLst>
                                          <p:attrName>style.visibility</p:attrName>
                                        </p:attrNameLst>
                                      </p:cBhvr>
                                      <p:to>
                                        <p:strVal val="visible"/>
                                      </p:to>
                                    </p:set>
                                    <p:anim calcmode="lin" valueType="num">
                                      <p:cBhvr additive="base">
                                        <p:cTn id="43" dur="500" fill="hold"/>
                                        <p:tgtEl>
                                          <p:spTgt spid="30724">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072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30724">
                                            <p:txEl>
                                              <p:pRg st="6" end="6"/>
                                            </p:txEl>
                                          </p:spTgt>
                                        </p:tgtEl>
                                        <p:attrNameLst>
                                          <p:attrName>style.visibility</p:attrName>
                                        </p:attrNameLst>
                                      </p:cBhvr>
                                      <p:to>
                                        <p:strVal val="visible"/>
                                      </p:to>
                                    </p:set>
                                    <p:anim calcmode="lin" valueType="num">
                                      <p:cBhvr additive="base">
                                        <p:cTn id="49" dur="500" fill="hold"/>
                                        <p:tgtEl>
                                          <p:spTgt spid="30724">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072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30724">
                                            <p:txEl>
                                              <p:pRg st="7" end="7"/>
                                            </p:txEl>
                                          </p:spTgt>
                                        </p:tgtEl>
                                        <p:attrNameLst>
                                          <p:attrName>style.visibility</p:attrName>
                                        </p:attrNameLst>
                                      </p:cBhvr>
                                      <p:to>
                                        <p:strVal val="visible"/>
                                      </p:to>
                                    </p:set>
                                    <p:anim calcmode="lin" valueType="num">
                                      <p:cBhvr additive="base">
                                        <p:cTn id="55" dur="500" fill="hold"/>
                                        <p:tgtEl>
                                          <p:spTgt spid="30724">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072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p:spPr>
        <p:txBody>
          <a:bodyPr/>
          <a:lstStyle/>
          <a:p>
            <a:fld id="{61CF498C-62FE-4D1F-8256-E208F1D8F194}" type="slidenum">
              <a:rPr lang="en-US" altLang="en-US"/>
              <a:pPr/>
              <a:t>17</a:t>
            </a:fld>
            <a:endParaRPr lang="en-US" altLang="en-US"/>
          </a:p>
        </p:txBody>
      </p:sp>
      <p:sp>
        <p:nvSpPr>
          <p:cNvPr id="37891" name="Rectangle 2"/>
          <p:cNvSpPr>
            <a:spLocks noGrp="1" noChangeArrowheads="1"/>
          </p:cNvSpPr>
          <p:nvPr>
            <p:ph type="title"/>
          </p:nvPr>
        </p:nvSpPr>
        <p:spPr/>
        <p:txBody>
          <a:bodyPr/>
          <a:lstStyle/>
          <a:p>
            <a:pPr eaLnBrk="1" hangingPunct="1"/>
            <a:r>
              <a:rPr lang="en-US" altLang="en-US" smtClean="0"/>
              <a:t>Women To Whom Marriage is allowed</a:t>
            </a:r>
          </a:p>
        </p:txBody>
      </p:sp>
      <p:sp>
        <p:nvSpPr>
          <p:cNvPr id="31748" name="Rectangle 3"/>
          <p:cNvSpPr>
            <a:spLocks noGrp="1" noChangeArrowheads="1"/>
          </p:cNvSpPr>
          <p:nvPr>
            <p:ph type="body" idx="1"/>
          </p:nvPr>
        </p:nvSpPr>
        <p:spPr/>
        <p:txBody>
          <a:bodyPr/>
          <a:lstStyle/>
          <a:p>
            <a:pPr eaLnBrk="1" hangingPunct="1">
              <a:lnSpc>
                <a:spcPct val="90000"/>
              </a:lnSpc>
            </a:pPr>
            <a:r>
              <a:rPr lang="en-US" altLang="en-US" sz="2500" smtClean="0"/>
              <a:t>Marriage to the Women of the People of the Book is lawful</a:t>
            </a:r>
          </a:p>
          <a:p>
            <a:pPr eaLnBrk="1" hangingPunct="1">
              <a:lnSpc>
                <a:spcPct val="90000"/>
              </a:lnSpc>
            </a:pPr>
            <a:r>
              <a:rPr lang="en-US" altLang="en-US" sz="2500" b="1" smtClean="0"/>
              <a:t>Polygamy</a:t>
            </a:r>
          </a:p>
          <a:p>
            <a:pPr lvl="1" eaLnBrk="1" hangingPunct="1">
              <a:lnSpc>
                <a:spcPct val="90000"/>
              </a:lnSpc>
            </a:pPr>
            <a:r>
              <a:rPr lang="en-US" altLang="en-US" sz="2400" smtClean="0"/>
              <a:t>“If ye fear that ye shall not be able to deal justly with the orphans, Marry women of your choice, Two or three or four; but if ye fear that ye shall not be able to deal justly (with them), then only one…” (4/3)</a:t>
            </a:r>
          </a:p>
          <a:p>
            <a:pPr lvl="1" eaLnBrk="1" hangingPunct="1">
              <a:lnSpc>
                <a:spcPct val="90000"/>
              </a:lnSpc>
            </a:pPr>
            <a:r>
              <a:rPr lang="en-US" altLang="en-US" sz="2400" smtClean="0"/>
              <a:t>“And you will not be able to do justice among (your) wives, however much you may wish to. But do not turn away (from one of them) altogether...”(4:139) </a:t>
            </a:r>
          </a:p>
          <a:p>
            <a:pPr lvl="1" eaLnBrk="1" hangingPunct="1">
              <a:lnSpc>
                <a:spcPct val="90000"/>
              </a:lnSpc>
            </a:pPr>
            <a:endParaRPr lang="en-US" altLang="en-US" sz="2400" smtClean="0"/>
          </a:p>
          <a:p>
            <a:pPr eaLnBrk="1" hangingPunct="1">
              <a:lnSpc>
                <a:spcPct val="90000"/>
              </a:lnSpc>
            </a:pPr>
            <a:endParaRPr lang="en-US" altLang="en-US" sz="22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 calcmode="lin" valueType="num">
                                      <p:cBhvr additive="base">
                                        <p:cTn id="7" dur="500" fill="hold"/>
                                        <p:tgtEl>
                                          <p:spTgt spid="37891"/>
                                        </p:tgtEl>
                                        <p:attrNameLst>
                                          <p:attrName>ppt_x</p:attrName>
                                        </p:attrNameLst>
                                      </p:cBhvr>
                                      <p:tavLst>
                                        <p:tav tm="0">
                                          <p:val>
                                            <p:strVal val="#ppt_x"/>
                                          </p:val>
                                        </p:tav>
                                        <p:tav tm="100000">
                                          <p:val>
                                            <p:strVal val="#ppt_x"/>
                                          </p:val>
                                        </p:tav>
                                      </p:tavLst>
                                    </p:anim>
                                    <p:anim calcmode="lin" valueType="num">
                                      <p:cBhvr additive="base">
                                        <p:cTn id="8" dur="500" fill="hold"/>
                                        <p:tgtEl>
                                          <p:spTgt spid="378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748">
                                            <p:txEl>
                                              <p:pRg st="0" end="0"/>
                                            </p:txEl>
                                          </p:spTgt>
                                        </p:tgtEl>
                                        <p:attrNameLst>
                                          <p:attrName>style.visibility</p:attrName>
                                        </p:attrNameLst>
                                      </p:cBhvr>
                                      <p:to>
                                        <p:strVal val="visible"/>
                                      </p:to>
                                    </p:set>
                                    <p:anim calcmode="lin" valueType="num">
                                      <p:cBhvr additive="base">
                                        <p:cTn id="13" dur="500" fill="hold"/>
                                        <p:tgtEl>
                                          <p:spTgt spid="3174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1748">
                                            <p:txEl>
                                              <p:pRg st="1" end="1"/>
                                            </p:txEl>
                                          </p:spTgt>
                                        </p:tgtEl>
                                        <p:attrNameLst>
                                          <p:attrName>style.visibility</p:attrName>
                                        </p:attrNameLst>
                                      </p:cBhvr>
                                      <p:to>
                                        <p:strVal val="visible"/>
                                      </p:to>
                                    </p:set>
                                    <p:anim calcmode="lin" valueType="num">
                                      <p:cBhvr additive="base">
                                        <p:cTn id="19" dur="500" fill="hold"/>
                                        <p:tgtEl>
                                          <p:spTgt spid="3174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8">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1748">
                                            <p:txEl>
                                              <p:pRg st="2" end="2"/>
                                            </p:txEl>
                                          </p:spTgt>
                                        </p:tgtEl>
                                        <p:attrNameLst>
                                          <p:attrName>style.visibility</p:attrName>
                                        </p:attrNameLst>
                                      </p:cBhvr>
                                      <p:to>
                                        <p:strVal val="visible"/>
                                      </p:to>
                                    </p:set>
                                    <p:anim calcmode="lin" valueType="num">
                                      <p:cBhvr additive="base">
                                        <p:cTn id="23" dur="500" fill="hold"/>
                                        <p:tgtEl>
                                          <p:spTgt spid="31748">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17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1748">
                                            <p:txEl>
                                              <p:pRg st="3" end="3"/>
                                            </p:txEl>
                                          </p:spTgt>
                                        </p:tgtEl>
                                        <p:attrNameLst>
                                          <p:attrName>style.visibility</p:attrName>
                                        </p:attrNameLst>
                                      </p:cBhvr>
                                      <p:to>
                                        <p:strVal val="visible"/>
                                      </p:to>
                                    </p:set>
                                    <p:anim calcmode="lin" valueType="num">
                                      <p:cBhvr additive="base">
                                        <p:cTn id="29" dur="500" fill="hold"/>
                                        <p:tgtEl>
                                          <p:spTgt spid="31748">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174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Pegasus"/>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Teamwork</Template>
  <TotalTime>1028</TotalTime>
  <Words>1196</Words>
  <Application>Microsoft Office PowerPoint</Application>
  <PresentationFormat>On-screen Show (4:3)</PresentationFormat>
  <Paragraphs>107</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Argosy</vt:lpstr>
      <vt:lpstr>Arial</vt:lpstr>
      <vt:lpstr>Calligrapher</vt:lpstr>
      <vt:lpstr>Pegasus</vt:lpstr>
      <vt:lpstr>Times New Roman</vt:lpstr>
      <vt:lpstr>Default Design</vt:lpstr>
      <vt:lpstr>THE ISLAMIC PRINCIPLES  PERTAINING TO  LAWFUL (HELAL)  AND  PROHIBITED (HARAM)</vt:lpstr>
      <vt:lpstr>Clothing and Adornment</vt:lpstr>
      <vt:lpstr>PowerPoint Presentation</vt:lpstr>
      <vt:lpstr>PowerPoint Presentation</vt:lpstr>
      <vt:lpstr>PowerPoint Presentation</vt:lpstr>
      <vt:lpstr>WORK AND BUSINESS TRANSACTIONS</vt:lpstr>
      <vt:lpstr>Ahadith about work</vt:lpstr>
      <vt:lpstr>Work</vt:lpstr>
      <vt:lpstr>BUSINESS TRANSACTIONS</vt:lpstr>
      <vt:lpstr>Business Transactions</vt:lpstr>
      <vt:lpstr>Business Transactions</vt:lpstr>
      <vt:lpstr>The Physical Appetites </vt:lpstr>
      <vt:lpstr>PowerPoint Presentation</vt:lpstr>
      <vt:lpstr>Marriage</vt:lpstr>
      <vt:lpstr>PowerPoint Presentation</vt:lpstr>
      <vt:lpstr>Women To Whom Marriage is Prohibited</vt:lpstr>
      <vt:lpstr>Women To Whom Marriage is allowed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ISLAMIC PRINCIPLES PERTAINING TO LAWFUL AND PROHIBITED</dc:title>
  <dc:creator>KH</dc:creator>
  <cp:lastModifiedBy>Uzair</cp:lastModifiedBy>
  <cp:revision>35</cp:revision>
  <dcterms:created xsi:type="dcterms:W3CDTF">2007-06-24T21:48:21Z</dcterms:created>
  <dcterms:modified xsi:type="dcterms:W3CDTF">2024-12-16T23:14:04Z</dcterms:modified>
</cp:coreProperties>
</file>