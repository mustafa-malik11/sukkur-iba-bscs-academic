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7" r:id="rId2"/>
    <p:sldId id="305" r:id="rId3"/>
    <p:sldId id="256" r:id="rId4"/>
    <p:sldId id="257" r:id="rId5"/>
    <p:sldId id="265" r:id="rId6"/>
    <p:sldId id="258" r:id="rId7"/>
    <p:sldId id="270" r:id="rId8"/>
    <p:sldId id="279" r:id="rId9"/>
    <p:sldId id="281" r:id="rId10"/>
    <p:sldId id="282" r:id="rId11"/>
    <p:sldId id="306" r:id="rId12"/>
    <p:sldId id="285" r:id="rId13"/>
    <p:sldId id="286" r:id="rId14"/>
    <p:sldId id="287" r:id="rId15"/>
    <p:sldId id="288" r:id="rId16"/>
    <p:sldId id="289" r:id="rId17"/>
    <p:sldId id="290" r:id="rId18"/>
    <p:sldId id="291" r:id="rId19"/>
    <p:sldId id="292" r:id="rId20"/>
    <p:sldId id="294" r:id="rId21"/>
    <p:sldId id="261" r:id="rId22"/>
    <p:sldId id="264" r:id="rId23"/>
    <p:sldId id="27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43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22-Apr-21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22-Apr-21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22-Apr-21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22-Apr-21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p:cNvPicPr>
            <a:picLocks noGrp="1" noChangeAspect="1" noChangeArrowheads="1"/>
          </p:cNvPicPr>
          <p:nvPr>
            <p:ph type="ctrTitle"/>
          </p:nvPr>
        </p:nvPicPr>
        <p:blipFill>
          <a:blip r:embed="rId2">
            <a:extLst>
              <a:ext uri="{28A0092B-C50C-407E-A947-70E740481C1C}">
                <a14:useLocalDpi xmlns:a14="http://schemas.microsoft.com/office/drawing/2010/main" val="0"/>
              </a:ext>
            </a:extLst>
          </a:blip>
          <a:srcRect/>
          <a:stretch>
            <a:fillRect/>
          </a:stretch>
        </p:blipFill>
        <p:spPr>
          <a:xfrm>
            <a:off x="2286000" y="1447800"/>
            <a:ext cx="7469188" cy="1143000"/>
          </a:xfrm>
        </p:spPr>
      </p:pic>
      <p:sp>
        <p:nvSpPr>
          <p:cNvPr id="10243" name="Rectangle 2"/>
          <p:cNvSpPr>
            <a:spLocks noGrp="1" noChangeArrowheads="1"/>
          </p:cNvSpPr>
          <p:nvPr>
            <p:ph type="subTitle" idx="1"/>
          </p:nvPr>
        </p:nvSpPr>
        <p:spPr>
          <a:xfrm>
            <a:off x="2362200" y="3276600"/>
            <a:ext cx="7391400" cy="1752600"/>
          </a:xfrm>
        </p:spPr>
        <p:txBody>
          <a:bodyPr/>
          <a:lstStyle/>
          <a:p>
            <a:pPr algn="l" eaLnBrk="1" hangingPunct="1"/>
            <a:r>
              <a:rPr lang="en-US" altLang="en-US" sz="4400"/>
              <a:t>       In the Name of </a:t>
            </a:r>
            <a:r>
              <a:rPr lang="en-US" altLang="en-US" sz="4400">
                <a:solidFill>
                  <a:schemeClr val="hlink"/>
                </a:solidFill>
              </a:rPr>
              <a:t>Allah</a:t>
            </a:r>
          </a:p>
          <a:p>
            <a:pPr algn="l" eaLnBrk="1" hangingPunct="1"/>
            <a:r>
              <a:rPr lang="en-US" altLang="en-US" smtClean="0"/>
              <a:t>   </a:t>
            </a:r>
            <a:r>
              <a:rPr lang="en-US" altLang="en-US" b="1" smtClean="0"/>
              <a:t>the Most Gracious,  the Most Merciful</a:t>
            </a:r>
          </a:p>
        </p:txBody>
      </p:sp>
    </p:spTree>
    <p:extLst>
      <p:ext uri="{BB962C8B-B14F-4D97-AF65-F5344CB8AC3E}">
        <p14:creationId xmlns:p14="http://schemas.microsoft.com/office/powerpoint/2010/main" val="3357011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774" y="2242457"/>
            <a:ext cx="8596668" cy="1320800"/>
          </a:xfrm>
        </p:spPr>
        <p:txBody>
          <a:bodyPr/>
          <a:lstStyle/>
          <a:p>
            <a:pPr algn="ctr"/>
            <a:r>
              <a:rPr lang="en-US" b="1" dirty="0" err="1" smtClean="0"/>
              <a:t>Zakat</a:t>
            </a:r>
            <a:r>
              <a:rPr lang="en-US" b="1" dirty="0" smtClean="0"/>
              <a:t> (Poor's due)</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611" y="296215"/>
            <a:ext cx="8554332" cy="409179"/>
          </a:xfrm>
        </p:spPr>
        <p:txBody>
          <a:bodyPr/>
          <a:lstStyle/>
          <a:p>
            <a:pPr algn="ctr"/>
            <a:r>
              <a:rPr lang="en-US" sz="2800" b="1" dirty="0" smtClean="0"/>
              <a:t>Meaning and Concepts</a:t>
            </a:r>
            <a:endParaRPr lang="en-US" sz="2800" dirty="0"/>
          </a:p>
        </p:txBody>
      </p:sp>
      <p:sp>
        <p:nvSpPr>
          <p:cNvPr id="3" name="Subtitle 2"/>
          <p:cNvSpPr>
            <a:spLocks noGrp="1"/>
          </p:cNvSpPr>
          <p:nvPr>
            <p:ph type="subTitle" idx="1"/>
          </p:nvPr>
        </p:nvSpPr>
        <p:spPr>
          <a:xfrm>
            <a:off x="1107583" y="1162594"/>
            <a:ext cx="8166420" cy="5421086"/>
          </a:xfrm>
        </p:spPr>
        <p:txBody>
          <a:bodyPr>
            <a:normAutofit fontScale="77500" lnSpcReduction="20000"/>
          </a:bodyPr>
          <a:lstStyle/>
          <a:p>
            <a:pPr algn="l"/>
            <a:r>
              <a:rPr lang="en-US" sz="2100" dirty="0"/>
              <a:t>The </a:t>
            </a:r>
            <a:r>
              <a:rPr lang="en-US" sz="2100" b="1" dirty="0">
                <a:solidFill>
                  <a:srgbClr val="FF0000"/>
                </a:solidFill>
              </a:rPr>
              <a:t>literal</a:t>
            </a:r>
            <a:r>
              <a:rPr lang="en-US" sz="2100" dirty="0">
                <a:solidFill>
                  <a:srgbClr val="FF0000"/>
                </a:solidFill>
              </a:rPr>
              <a:t> </a:t>
            </a:r>
            <a:r>
              <a:rPr lang="en-US" sz="2100" b="1" dirty="0">
                <a:solidFill>
                  <a:srgbClr val="FF0000"/>
                </a:solidFill>
              </a:rPr>
              <a:t>meaning of Zakat</a:t>
            </a:r>
            <a:r>
              <a:rPr lang="en-US" sz="2100" dirty="0"/>
              <a:t> is </a:t>
            </a:r>
            <a:endParaRPr lang="en-US" sz="2100" dirty="0" smtClean="0"/>
          </a:p>
          <a:p>
            <a:pPr algn="l">
              <a:buFont typeface="Wingdings" pitchFamily="2" charset="2"/>
              <a:buChar char="§"/>
            </a:pPr>
            <a:r>
              <a:rPr lang="en-US" sz="2100" dirty="0" smtClean="0"/>
              <a:t>to make clean</a:t>
            </a:r>
          </a:p>
          <a:p>
            <a:pPr algn="l">
              <a:buFont typeface="Wingdings" pitchFamily="2" charset="2"/>
              <a:buChar char="§"/>
            </a:pPr>
            <a:r>
              <a:rPr lang="en-US" sz="2100" dirty="0" smtClean="0"/>
              <a:t> purification</a:t>
            </a:r>
          </a:p>
          <a:p>
            <a:pPr algn="l">
              <a:buFont typeface="Wingdings" pitchFamily="2" charset="2"/>
              <a:buChar char="§"/>
            </a:pPr>
            <a:r>
              <a:rPr lang="en-US" sz="2100" dirty="0" smtClean="0"/>
              <a:t> </a:t>
            </a:r>
            <a:r>
              <a:rPr lang="en-US" sz="2100" dirty="0"/>
              <a:t>grow (in goodness) or 'increase'</a:t>
            </a:r>
            <a:endParaRPr lang="en-US" sz="2100" dirty="0" smtClean="0"/>
          </a:p>
          <a:p>
            <a:pPr algn="l"/>
            <a:r>
              <a:rPr lang="en-US" sz="2100" b="1" dirty="0" smtClean="0">
                <a:solidFill>
                  <a:srgbClr val="FF0000"/>
                </a:solidFill>
              </a:rPr>
              <a:t>In the Islamic</a:t>
            </a:r>
            <a:r>
              <a:rPr lang="en-US" sz="2100" b="1" dirty="0">
                <a:solidFill>
                  <a:srgbClr val="FF0000"/>
                </a:solidFill>
              </a:rPr>
              <a:t> </a:t>
            </a:r>
            <a:r>
              <a:rPr lang="en-US" sz="2100" b="1" dirty="0" smtClean="0">
                <a:solidFill>
                  <a:srgbClr val="FF0000"/>
                </a:solidFill>
              </a:rPr>
              <a:t>terminology:</a:t>
            </a:r>
          </a:p>
          <a:p>
            <a:pPr algn="l"/>
            <a:r>
              <a:rPr lang="en-US" sz="2100" b="1" dirty="0" smtClean="0"/>
              <a:t>Zakat </a:t>
            </a:r>
            <a:r>
              <a:rPr lang="en-US" sz="2100" b="1" dirty="0"/>
              <a:t>means</a:t>
            </a:r>
            <a:r>
              <a:rPr lang="en-US" sz="2100" dirty="0"/>
              <a:t> purifying your wealth for the will of </a:t>
            </a:r>
            <a:r>
              <a:rPr lang="en-US" sz="2100" dirty="0" smtClean="0"/>
              <a:t>Allah.</a:t>
            </a:r>
          </a:p>
          <a:p>
            <a:pPr algn="l"/>
            <a:endParaRPr lang="en-US" sz="2100" dirty="0" smtClean="0"/>
          </a:p>
          <a:p>
            <a:pPr marL="342900" indent="-342900" algn="l">
              <a:buFont typeface="Wingdings" panose="05000000000000000000" pitchFamily="2" charset="2"/>
              <a:buChar char="Ø"/>
            </a:pPr>
            <a:r>
              <a:rPr lang="en-US" sz="2100" i="1" dirty="0"/>
              <a:t>Zakat </a:t>
            </a:r>
            <a:r>
              <a:rPr lang="en-US" sz="2100" dirty="0"/>
              <a:t>is the </a:t>
            </a:r>
            <a:r>
              <a:rPr lang="en-US" sz="2100" dirty="0" smtClean="0"/>
              <a:t>third </a:t>
            </a:r>
            <a:r>
              <a:rPr lang="en-US" sz="2100" dirty="0"/>
              <a:t>Pillar of Islam. </a:t>
            </a:r>
            <a:endParaRPr lang="en-US" sz="2100" dirty="0" smtClean="0"/>
          </a:p>
          <a:p>
            <a:pPr marL="342900" indent="-342900" algn="l">
              <a:buFont typeface="Wingdings" panose="05000000000000000000" pitchFamily="2" charset="2"/>
              <a:buChar char="Ø"/>
            </a:pPr>
            <a:r>
              <a:rPr lang="en-US" sz="2100" dirty="0" smtClean="0"/>
              <a:t>It was ordained in the 2</a:t>
            </a:r>
            <a:r>
              <a:rPr lang="en-US" sz="2100" baseline="30000" dirty="0" smtClean="0"/>
              <a:t>nd</a:t>
            </a:r>
            <a:r>
              <a:rPr lang="en-US" sz="2100" dirty="0" smtClean="0"/>
              <a:t> A.H.</a:t>
            </a:r>
          </a:p>
          <a:p>
            <a:pPr marL="342900" indent="-342900" algn="l">
              <a:buFont typeface="Wingdings" panose="05000000000000000000" pitchFamily="2" charset="2"/>
              <a:buChar char="Ø"/>
            </a:pPr>
            <a:r>
              <a:rPr lang="en-US" sz="2100" dirty="0" smtClean="0"/>
              <a:t>It has remained a part and parcel of all the previous peoples</a:t>
            </a:r>
            <a:r>
              <a:rPr lang="en-US" sz="2100" b="1" dirty="0" smtClean="0"/>
              <a:t>.</a:t>
            </a:r>
          </a:p>
          <a:p>
            <a:pPr marL="342900" indent="-342900" algn="l">
              <a:buFont typeface="Wingdings" panose="05000000000000000000" pitchFamily="2" charset="2"/>
              <a:buChar char="q"/>
            </a:pPr>
            <a:r>
              <a:rPr lang="en-US" sz="2100" b="1" dirty="0" smtClean="0"/>
              <a:t>It </a:t>
            </a:r>
            <a:r>
              <a:rPr lang="en-US" sz="2100" b="1" dirty="0"/>
              <a:t>is an obligation (</a:t>
            </a:r>
            <a:r>
              <a:rPr lang="en-US" sz="2100" b="1" i="1" dirty="0" err="1"/>
              <a:t>Fard</a:t>
            </a:r>
            <a:r>
              <a:rPr lang="en-US" sz="2100" b="1" i="1" dirty="0"/>
              <a:t>), </a:t>
            </a:r>
            <a:r>
              <a:rPr lang="en-US" sz="2100" b="1" dirty="0"/>
              <a:t>prescribed by </a:t>
            </a:r>
            <a:r>
              <a:rPr lang="en-US" sz="2100" b="1" dirty="0" smtClean="0"/>
              <a:t>Allah Almighty </a:t>
            </a:r>
            <a:r>
              <a:rPr lang="en-US" sz="2100" b="1" dirty="0"/>
              <a:t>on those </a:t>
            </a:r>
            <a:r>
              <a:rPr lang="en-US" sz="2100" b="1" dirty="0" smtClean="0"/>
              <a:t>Muslims who </a:t>
            </a:r>
            <a:r>
              <a:rPr lang="en-US" sz="2100" b="1" dirty="0"/>
              <a:t>possess </a:t>
            </a:r>
            <a:r>
              <a:rPr lang="en-US" sz="2100" b="1" dirty="0" smtClean="0"/>
              <a:t>“</a:t>
            </a:r>
            <a:r>
              <a:rPr lang="en-US" sz="2100" b="1" dirty="0" err="1" smtClean="0">
                <a:solidFill>
                  <a:srgbClr val="FF0000"/>
                </a:solidFill>
              </a:rPr>
              <a:t>Nisab</a:t>
            </a:r>
            <a:r>
              <a:rPr lang="en-US" sz="2100" b="1" dirty="0" smtClean="0"/>
              <a:t>”, </a:t>
            </a:r>
            <a:r>
              <a:rPr lang="en-US" sz="2100" b="1" dirty="0"/>
              <a:t>to distribute a certain percentage of their annual savings or capital in goods or money among the poor and the needy. </a:t>
            </a:r>
            <a:endParaRPr lang="en-US" sz="2100" b="1" dirty="0" smtClean="0"/>
          </a:p>
          <a:p>
            <a:pPr marL="342900" indent="-342900" algn="l">
              <a:buFont typeface="Wingdings" panose="05000000000000000000" pitchFamily="2" charset="2"/>
              <a:buChar char="Ø"/>
            </a:pPr>
            <a:r>
              <a:rPr lang="en-US" sz="2100" i="1" dirty="0" err="1" smtClean="0"/>
              <a:t>Zakat</a:t>
            </a:r>
            <a:r>
              <a:rPr lang="en-US" sz="2100" i="1" dirty="0"/>
              <a:t> </a:t>
            </a:r>
            <a:r>
              <a:rPr lang="en-US" sz="2100" dirty="0"/>
              <a:t>is assessed once a  year on both capital and savings from income. </a:t>
            </a:r>
            <a:endParaRPr lang="en-US" sz="2100" dirty="0" smtClean="0"/>
          </a:p>
          <a:p>
            <a:pPr algn="l"/>
            <a:r>
              <a:rPr lang="en-US" dirty="0"/>
              <a:t/>
            </a:r>
            <a:br>
              <a:rPr lang="en-US" dirty="0"/>
            </a:br>
            <a:r>
              <a:rPr lang="en-US" dirty="0"/>
              <a:t/>
            </a:r>
            <a:br>
              <a:rPr lang="en-US" dirty="0"/>
            </a:br>
            <a:endParaRPr lang="en-US" dirty="0" smtClean="0"/>
          </a:p>
          <a:p>
            <a:pPr algn="l"/>
            <a:endParaRPr lang="en-US" dirty="0"/>
          </a:p>
        </p:txBody>
      </p:sp>
    </p:spTree>
    <p:extLst>
      <p:ext uri="{BB962C8B-B14F-4D97-AF65-F5344CB8AC3E}">
        <p14:creationId xmlns:p14="http://schemas.microsoft.com/office/powerpoint/2010/main" val="26222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587128" cy="794197"/>
          </a:xfrm>
        </p:spPr>
        <p:txBody>
          <a:bodyPr/>
          <a:lstStyle/>
          <a:p>
            <a:r>
              <a:rPr lang="en-US" dirty="0"/>
              <a:t>Importance of Zakat in the light of </a:t>
            </a:r>
            <a:r>
              <a:rPr lang="en-US" dirty="0" smtClean="0"/>
              <a:t>Quran</a:t>
            </a:r>
            <a:endParaRPr lang="en-US" dirty="0"/>
          </a:p>
        </p:txBody>
      </p:sp>
      <p:sp>
        <p:nvSpPr>
          <p:cNvPr id="3" name="Content Placeholder 2"/>
          <p:cNvSpPr>
            <a:spLocks noGrp="1"/>
          </p:cNvSpPr>
          <p:nvPr>
            <p:ph idx="1"/>
          </p:nvPr>
        </p:nvSpPr>
        <p:spPr>
          <a:xfrm>
            <a:off x="677334" y="1403797"/>
            <a:ext cx="8596668" cy="4637565"/>
          </a:xfrm>
        </p:spPr>
        <p:txBody>
          <a:bodyPr>
            <a:normAutofit/>
          </a:bodyPr>
          <a:lstStyle/>
          <a:p>
            <a:r>
              <a:rPr lang="en-US" dirty="0"/>
              <a:t>At 70 places in the Quran</a:t>
            </a:r>
            <a:r>
              <a:rPr lang="en-US" dirty="0" smtClean="0"/>
              <a:t>, </a:t>
            </a:r>
            <a:r>
              <a:rPr lang="en-US" dirty="0"/>
              <a:t>commands </a:t>
            </a:r>
            <a:r>
              <a:rPr lang="en-US" dirty="0" smtClean="0"/>
              <a:t>of </a:t>
            </a:r>
            <a:r>
              <a:rPr lang="en-US" dirty="0" err="1" smtClean="0"/>
              <a:t>Salat</a:t>
            </a:r>
            <a:r>
              <a:rPr lang="en-US" dirty="0" smtClean="0"/>
              <a:t> </a:t>
            </a:r>
            <a:r>
              <a:rPr lang="en-US" dirty="0"/>
              <a:t>and Zakat </a:t>
            </a:r>
            <a:r>
              <a:rPr lang="en-US" dirty="0" smtClean="0"/>
              <a:t>co-exist.</a:t>
            </a:r>
          </a:p>
          <a:p>
            <a:r>
              <a:rPr lang="en-US" dirty="0" smtClean="0"/>
              <a:t>Quran has depicted its virtue of 1 rupee equal to 70 rupees.</a:t>
            </a:r>
          </a:p>
          <a:p>
            <a:r>
              <a:rPr lang="fa-IR" dirty="0" smtClean="0"/>
              <a:t>اِنَّ الَّذِيْنَ اٰمَنُوْا وَعَمِلُوا الصّٰلِحٰتِ وَاَقَامُوا الصَّلٰوةَ </a:t>
            </a:r>
            <a:r>
              <a:rPr lang="fa-IR" b="1" dirty="0" smtClean="0">
                <a:solidFill>
                  <a:srgbClr val="FF0000"/>
                </a:solidFill>
              </a:rPr>
              <a:t>وَاٰتَوُا الزَّكٰوةَ</a:t>
            </a:r>
            <a:r>
              <a:rPr lang="fa-IR" dirty="0" smtClean="0">
                <a:solidFill>
                  <a:srgbClr val="FF0000"/>
                </a:solidFill>
              </a:rPr>
              <a:t> </a:t>
            </a:r>
            <a:r>
              <a:rPr lang="fa-IR" dirty="0" smtClean="0"/>
              <a:t>لَھُمْ اَجْرُھُمْ عِنْدَ رَبِّهِمْ ۚ وَلَا </a:t>
            </a:r>
            <a:r>
              <a:rPr lang="fa-IR" dirty="0" smtClean="0">
                <a:solidFill>
                  <a:srgbClr val="92D050"/>
                </a:solidFill>
              </a:rPr>
              <a:t>خَوْفٌ عَلَيْهِمْ وَلَا ھُمْ يَحْزَنُوْنَ </a:t>
            </a:r>
            <a:endParaRPr lang="en-US" dirty="0" smtClean="0">
              <a:solidFill>
                <a:srgbClr val="92D050"/>
              </a:solidFill>
            </a:endParaRPr>
          </a:p>
          <a:p>
            <a:r>
              <a:rPr lang="en-GB" b="1" dirty="0" smtClean="0"/>
              <a:t>"</a:t>
            </a:r>
            <a:r>
              <a:rPr lang="en-GB" dirty="0" smtClean="0"/>
              <a:t> </a:t>
            </a:r>
            <a:r>
              <a:rPr lang="en-GB" dirty="0"/>
              <a:t>Those who believe and do good deeds and establish </a:t>
            </a:r>
            <a:r>
              <a:rPr lang="en-GB" i="1" dirty="0" err="1"/>
              <a:t>S</a:t>
            </a:r>
            <a:r>
              <a:rPr lang="en-GB" i="1" dirty="0" err="1" smtClean="0"/>
              <a:t>alat</a:t>
            </a:r>
            <a:r>
              <a:rPr lang="en-GB" i="1" dirty="0"/>
              <a:t> </a:t>
            </a:r>
            <a:r>
              <a:rPr lang="en-GB" dirty="0"/>
              <a:t>and pay </a:t>
            </a:r>
            <a:r>
              <a:rPr lang="en-GB" i="1" dirty="0"/>
              <a:t>Z</a:t>
            </a:r>
            <a:r>
              <a:rPr lang="en-GB" i="1" dirty="0" smtClean="0"/>
              <a:t>akat</a:t>
            </a:r>
            <a:r>
              <a:rPr lang="en-GB" i="1" dirty="0"/>
              <a:t>, </a:t>
            </a:r>
            <a:r>
              <a:rPr lang="en-GB" dirty="0"/>
              <a:t>their reward is with their </a:t>
            </a:r>
            <a:r>
              <a:rPr lang="en-GB" dirty="0" err="1"/>
              <a:t>Sustainer</a:t>
            </a:r>
            <a:r>
              <a:rPr lang="en-GB" dirty="0"/>
              <a:t>; and no fear shall come upon them, nor shall they grieve." </a:t>
            </a:r>
            <a:r>
              <a:rPr lang="en-GB" b="1" dirty="0"/>
              <a:t>(2:277</a:t>
            </a:r>
            <a:r>
              <a:rPr lang="en-GB" b="1" dirty="0" smtClean="0"/>
              <a:t>)</a:t>
            </a:r>
          </a:p>
          <a:p>
            <a:pPr marL="0" indent="0">
              <a:buNone/>
            </a:pPr>
            <a:r>
              <a:rPr lang="fa-IR" dirty="0" smtClean="0"/>
              <a:t>الَّذِيْنَ يُقِيْمُوْنَ الصَّلٰوةَ </a:t>
            </a:r>
            <a:r>
              <a:rPr lang="fa-IR" sz="2000" b="1" dirty="0" smtClean="0">
                <a:solidFill>
                  <a:srgbClr val="00B050"/>
                </a:solidFill>
              </a:rPr>
              <a:t>وَيُؤْتُوْنَ الزَّكٰوةَ </a:t>
            </a:r>
            <a:r>
              <a:rPr lang="fa-IR" dirty="0" smtClean="0"/>
              <a:t>وَهُمْ بِالْاٰخِرَةِ هُمْ يُوْقِنُوْنَ  </a:t>
            </a:r>
            <a:endParaRPr lang="en-US" dirty="0" smtClean="0"/>
          </a:p>
          <a:p>
            <a:pPr marL="0" indent="0">
              <a:buNone/>
            </a:pPr>
            <a:r>
              <a:rPr lang="en-US" dirty="0" smtClean="0"/>
              <a:t> </a:t>
            </a:r>
            <a:r>
              <a:rPr lang="fa-IR" dirty="0" smtClean="0"/>
              <a:t> </a:t>
            </a:r>
            <a:r>
              <a:rPr lang="fa-IR" dirty="0" smtClean="0">
                <a:solidFill>
                  <a:srgbClr val="00B0F0"/>
                </a:solidFill>
              </a:rPr>
              <a:t>اُولٰۗىِٕكَ عَلٰي هُدًى مِّنْ رَّبِّهِمْ وَاُولٰۗىِٕكَ هُمُ الْمُفْلِحُوْنَ</a:t>
            </a:r>
            <a:r>
              <a:rPr lang="fa-IR" dirty="0" smtClean="0"/>
              <a:t>   </a:t>
            </a:r>
            <a:endParaRPr lang="en-US" dirty="0" smtClean="0"/>
          </a:p>
          <a:p>
            <a:r>
              <a:rPr lang="en-GB" b="1" dirty="0" smtClean="0"/>
              <a:t>“</a:t>
            </a:r>
            <a:r>
              <a:rPr lang="en-GB" dirty="0" smtClean="0"/>
              <a:t>Who </a:t>
            </a:r>
            <a:r>
              <a:rPr lang="en-GB" dirty="0"/>
              <a:t>establish </a:t>
            </a:r>
            <a:r>
              <a:rPr lang="en-GB" i="1" dirty="0" err="1"/>
              <a:t>S</a:t>
            </a:r>
            <a:r>
              <a:rPr lang="en-GB" i="1" dirty="0" err="1" smtClean="0"/>
              <a:t>alat</a:t>
            </a:r>
            <a:r>
              <a:rPr lang="en-GB" i="1" dirty="0"/>
              <a:t> </a:t>
            </a:r>
            <a:r>
              <a:rPr lang="en-GB" dirty="0"/>
              <a:t>and </a:t>
            </a:r>
            <a:r>
              <a:rPr lang="en-GB" dirty="0" smtClean="0"/>
              <a:t>pay </a:t>
            </a:r>
            <a:r>
              <a:rPr lang="en-GB" i="1" dirty="0"/>
              <a:t>Z</a:t>
            </a:r>
            <a:r>
              <a:rPr lang="en-GB" i="1" dirty="0" smtClean="0"/>
              <a:t>akat </a:t>
            </a:r>
            <a:r>
              <a:rPr lang="en-GB" i="1" dirty="0"/>
              <a:t>and have the assurance of the Hereafter. These are on guidance from their </a:t>
            </a:r>
            <a:r>
              <a:rPr lang="en-GB" i="1" dirty="0" err="1"/>
              <a:t>Sustainer</a:t>
            </a:r>
            <a:r>
              <a:rPr lang="en-GB" i="1" dirty="0"/>
              <a:t>, and these are the ones who will prosper </a:t>
            </a:r>
            <a:r>
              <a:rPr lang="en-GB" b="1" i="1" dirty="0"/>
              <a:t>." (31 :1-5</a:t>
            </a:r>
            <a:r>
              <a:rPr lang="en-GB" b="1" i="1" dirty="0" smtClean="0"/>
              <a:t>)</a:t>
            </a:r>
            <a:endParaRPr lang="en-US" dirty="0"/>
          </a:p>
        </p:txBody>
      </p:sp>
    </p:spTree>
    <p:extLst>
      <p:ext uri="{BB962C8B-B14F-4D97-AF65-F5344CB8AC3E}">
        <p14:creationId xmlns:p14="http://schemas.microsoft.com/office/powerpoint/2010/main" val="222046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3893"/>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677334" y="1481070"/>
            <a:ext cx="8596668" cy="5138671"/>
          </a:xfrm>
        </p:spPr>
        <p:txBody>
          <a:bodyPr>
            <a:normAutofit/>
          </a:bodyPr>
          <a:lstStyle/>
          <a:p>
            <a:pPr marL="0" indent="0">
              <a:buNone/>
            </a:pPr>
            <a:r>
              <a:rPr lang="en-US" dirty="0" smtClean="0"/>
              <a:t>	</a:t>
            </a:r>
            <a:r>
              <a:rPr lang="fa-IR" dirty="0" smtClean="0"/>
              <a:t>وَالَّذِيْنَ يَكْنِزُوْنَ الذَّهَبَ وَالْفِضَّةَ </a:t>
            </a:r>
            <a:r>
              <a:rPr lang="fa-IR" dirty="0" smtClean="0">
                <a:solidFill>
                  <a:srgbClr val="FF0000"/>
                </a:solidFill>
              </a:rPr>
              <a:t>وَلَا يُنْفِقُوْنَهَا فِيْ سَبِيْلِ اللّٰهِ  </a:t>
            </a:r>
            <a:r>
              <a:rPr lang="fa-IR" dirty="0" smtClean="0"/>
              <a:t>ۙ فَبَشِّرْهُمْ بِعَذَابٍ اَلِيْمٍ </a:t>
            </a:r>
            <a:r>
              <a:rPr lang="en-US" dirty="0"/>
              <a:t> </a:t>
            </a:r>
            <a:endParaRPr lang="en-US" dirty="0" smtClean="0"/>
          </a:p>
          <a:p>
            <a:pPr marL="0" indent="0" algn="r">
              <a:buNone/>
            </a:pPr>
            <a:r>
              <a:rPr lang="en-US" dirty="0" smtClean="0"/>
              <a:t>	</a:t>
            </a:r>
            <a:r>
              <a:rPr lang="fa-IR" dirty="0" smtClean="0"/>
              <a:t> يَّوْمَ يُحْمٰي عَلَيْهَا فِيْ نَارِ جَهَنَّمَ فَتُكْوٰي بِهَا </a:t>
            </a:r>
            <a:r>
              <a:rPr lang="fa-IR" dirty="0" smtClean="0">
                <a:solidFill>
                  <a:srgbClr val="00B050"/>
                </a:solidFill>
              </a:rPr>
              <a:t>جِبَاهُهُمْ وَجُنُوْبُهُمْ وَظُهُوْرُهُمْ </a:t>
            </a:r>
            <a:r>
              <a:rPr lang="fa-IR" dirty="0" smtClean="0"/>
              <a:t>ۭهٰذَا مَا كَنَزْتُمْ لِاَنْفُسِكُمْ فَذُوْقُوْا مَا كُنْتُمْ تَكْنِزُوْنَ</a:t>
            </a:r>
            <a:r>
              <a:rPr lang="en-US" dirty="0"/>
              <a:t> </a:t>
            </a:r>
            <a:endParaRPr lang="en-US" dirty="0" smtClean="0"/>
          </a:p>
          <a:p>
            <a:pPr marL="0" indent="0">
              <a:buNone/>
            </a:pPr>
            <a:r>
              <a:rPr lang="en-US" dirty="0" smtClean="0"/>
              <a:t>	"</a:t>
            </a:r>
            <a:r>
              <a:rPr lang="en-US" i="1" dirty="0"/>
              <a:t>Those who hoard up treasures of gold and silver and spend them not in the way of Allah; give them the news of a painful punishment, on the Day when that (wealth) will be heated in the Fire of Hell and with it will be branded their forehead, their sides, and their backs, (and it will be said to them:) 'This is the treasure which you hoarded for yourselves. Now taste of what you used to hoard.</a:t>
            </a:r>
            <a:r>
              <a:rPr lang="en-US" dirty="0"/>
              <a:t>'" [Al-Quran 9:34-35</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147528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71218" cy="794197"/>
          </a:xfrm>
        </p:spPr>
        <p:txBody>
          <a:bodyPr/>
          <a:lstStyle/>
          <a:p>
            <a:r>
              <a:rPr lang="en-US" dirty="0"/>
              <a:t>Importance of Zakat in the light of </a:t>
            </a:r>
            <a:r>
              <a:rPr lang="en-US" dirty="0" smtClean="0"/>
              <a:t>Hadith</a:t>
            </a:r>
            <a:endParaRPr lang="en-US" dirty="0"/>
          </a:p>
        </p:txBody>
      </p:sp>
      <p:sp>
        <p:nvSpPr>
          <p:cNvPr id="3" name="Content Placeholder 2"/>
          <p:cNvSpPr>
            <a:spLocks noGrp="1"/>
          </p:cNvSpPr>
          <p:nvPr>
            <p:ph idx="1"/>
          </p:nvPr>
        </p:nvSpPr>
        <p:spPr>
          <a:xfrm>
            <a:off x="677334" y="1403797"/>
            <a:ext cx="8968942" cy="5100034"/>
          </a:xfrm>
        </p:spPr>
        <p:txBody>
          <a:bodyPr>
            <a:normAutofit/>
          </a:bodyPr>
          <a:lstStyle/>
          <a:p>
            <a:r>
              <a:rPr lang="en-US" b="1" dirty="0"/>
              <a:t>Zakat is the bridge of Islam; so whoever </a:t>
            </a:r>
            <a:r>
              <a:rPr lang="en-US" b="1" dirty="0" smtClean="0"/>
              <a:t>performs, </a:t>
            </a:r>
            <a:r>
              <a:rPr lang="en-US" b="1" dirty="0"/>
              <a:t>it can cross the bridge and whoever </a:t>
            </a:r>
            <a:r>
              <a:rPr lang="en-US" b="1" dirty="0" smtClean="0"/>
              <a:t>withholds, </a:t>
            </a:r>
            <a:r>
              <a:rPr lang="en-US" b="1" dirty="0"/>
              <a:t>it will be detained beneath it. And it (Zakat) extinguishes the anger of the </a:t>
            </a:r>
            <a:r>
              <a:rPr lang="en-US" b="1" dirty="0" smtClean="0"/>
              <a:t>Lord.</a:t>
            </a:r>
          </a:p>
          <a:p>
            <a:r>
              <a:rPr lang="en-US" dirty="0" err="1" smtClean="0">
                <a:solidFill>
                  <a:srgbClr val="FF0000"/>
                </a:solidFill>
              </a:rPr>
              <a:t>Hazrat</a:t>
            </a:r>
            <a:r>
              <a:rPr lang="en-US" dirty="0" smtClean="0">
                <a:solidFill>
                  <a:srgbClr val="FF0000"/>
                </a:solidFill>
              </a:rPr>
              <a:t> </a:t>
            </a:r>
            <a:r>
              <a:rPr lang="en-US" dirty="0" err="1" smtClean="0">
                <a:solidFill>
                  <a:srgbClr val="FF0000"/>
                </a:solidFill>
              </a:rPr>
              <a:t>Asma</a:t>
            </a:r>
            <a:r>
              <a:rPr lang="en-US" dirty="0" smtClean="0">
                <a:solidFill>
                  <a:srgbClr val="FF0000"/>
                </a:solidFill>
              </a:rPr>
              <a:t> </a:t>
            </a:r>
            <a:r>
              <a:rPr lang="en-US" dirty="0"/>
              <a:t>reported: "</a:t>
            </a:r>
            <a:r>
              <a:rPr lang="en-US" i="1" dirty="0"/>
              <a:t>My aunt and I, while wearing gold bracelets, went to the Prophet (peace be upon him). He asked: 'Did you pay their Zakat?' She related that they had not. The Prophet (peace be upon him) said: 'Do you not fear that Allah will make you wear a bracelet of fire? Pay its Zakat</a:t>
            </a:r>
            <a:r>
              <a:rPr lang="en-US" i="1" dirty="0" smtClean="0"/>
              <a:t>.</a:t>
            </a:r>
          </a:p>
          <a:p>
            <a:r>
              <a:rPr lang="en-US" dirty="0" smtClean="0"/>
              <a:t> </a:t>
            </a:r>
            <a:r>
              <a:rPr lang="en-US" dirty="0" err="1" smtClean="0">
                <a:solidFill>
                  <a:srgbClr val="FF0000"/>
                </a:solidFill>
              </a:rPr>
              <a:t>Hazrat</a:t>
            </a:r>
            <a:r>
              <a:rPr lang="en-US" dirty="0" smtClean="0">
                <a:solidFill>
                  <a:srgbClr val="FF0000"/>
                </a:solidFill>
              </a:rPr>
              <a:t> Aisha </a:t>
            </a:r>
            <a:r>
              <a:rPr lang="en-US" dirty="0"/>
              <a:t>narrated: "</a:t>
            </a:r>
            <a:r>
              <a:rPr lang="en-US" i="1" dirty="0"/>
              <a:t>The Messenger of Allah came to me and saw me wearing silver rings, whereupon, he asked: 'What is this, Aisha?' I replied: 'I made them to adorn myself for you, O Messenger of Allah.' He said: 'Did you pay their Zakat?' I said: 'No, or what Allah wishes.' Then he said: 'Their punishment in Hell is enough for you</a:t>
            </a:r>
            <a:r>
              <a:rPr lang="en-US" i="1" dirty="0" smtClean="0"/>
              <a:t>.'</a:t>
            </a:r>
            <a:r>
              <a:rPr lang="en-US" dirty="0" smtClean="0"/>
              <a:t>“</a:t>
            </a:r>
          </a:p>
          <a:p>
            <a:r>
              <a:rPr lang="en-US" dirty="0"/>
              <a:t>The Prophet said, "Do not with-hold your money by counting it (i.e. hoarding it), (for if you did so), Allah would also with-hold His blessings from you."</a:t>
            </a:r>
            <a:endParaRPr lang="en-US" dirty="0" smtClean="0"/>
          </a:p>
        </p:txBody>
      </p:sp>
    </p:spTree>
    <p:extLst>
      <p:ext uri="{BB962C8B-B14F-4D97-AF65-F5344CB8AC3E}">
        <p14:creationId xmlns:p14="http://schemas.microsoft.com/office/powerpoint/2010/main" val="86352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1981200" y="381000"/>
            <a:ext cx="7772400" cy="762000"/>
          </a:xfrm>
        </p:spPr>
        <p:txBody>
          <a:bodyPr>
            <a:normAutofit/>
          </a:bodyPr>
          <a:lstStyle/>
          <a:p>
            <a:pPr>
              <a:defRPr/>
            </a:pPr>
            <a:r>
              <a:rPr lang="en-US" b="1" u="sng" dirty="0" smtClean="0"/>
              <a:t>Philosophy</a:t>
            </a:r>
            <a:endParaRPr lang="en-US" b="1" u="sng" dirty="0"/>
          </a:p>
        </p:txBody>
      </p:sp>
      <p:sp>
        <p:nvSpPr>
          <p:cNvPr id="13315" name="Rectangle 3"/>
          <p:cNvSpPr>
            <a:spLocks noGrp="1" noChangeArrowheads="1"/>
          </p:cNvSpPr>
          <p:nvPr>
            <p:ph idx="1"/>
          </p:nvPr>
        </p:nvSpPr>
        <p:spPr>
          <a:xfrm>
            <a:off x="1066800" y="1193074"/>
            <a:ext cx="8382000" cy="5181600"/>
          </a:xfrm>
        </p:spPr>
        <p:txBody>
          <a:bodyPr/>
          <a:lstStyle/>
          <a:p>
            <a:pPr eaLnBrk="1" hangingPunct="1"/>
            <a:r>
              <a:rPr lang="en-US" altLang="en-US" dirty="0" smtClean="0"/>
              <a:t>To share a small part of </a:t>
            </a:r>
            <a:r>
              <a:rPr lang="en-US" altLang="en-US" sz="3600" dirty="0">
                <a:solidFill>
                  <a:schemeClr val="hlink"/>
                </a:solidFill>
              </a:rPr>
              <a:t>Allah’</a:t>
            </a:r>
            <a:r>
              <a:rPr lang="en-US" altLang="en-US" sz="3600" dirty="0"/>
              <a:t>s</a:t>
            </a:r>
            <a:r>
              <a:rPr lang="en-US" altLang="en-US" dirty="0" smtClean="0"/>
              <a:t> material blessings with people Who are materially less blessed.</a:t>
            </a:r>
          </a:p>
          <a:p>
            <a:pPr eaLnBrk="1" hangingPunct="1"/>
            <a:endParaRPr lang="en-US" altLang="en-US" dirty="0" smtClean="0"/>
          </a:p>
          <a:p>
            <a:pPr eaLnBrk="1" hangingPunct="1"/>
            <a:r>
              <a:rPr lang="en-US" altLang="en-US" dirty="0" smtClean="0"/>
              <a:t>Help society at micro and macro level to provide basic needs to all members with dignity and love.</a:t>
            </a:r>
            <a:r>
              <a:rPr lang="en-US" altLang="en-US" dirty="0" smtClean="0">
                <a:solidFill>
                  <a:schemeClr val="hlink"/>
                </a:solidFill>
              </a:rPr>
              <a:t> </a:t>
            </a:r>
            <a:endParaRPr lang="en-US" altLang="en-US" sz="3600" dirty="0">
              <a:solidFill>
                <a:schemeClr val="hlink"/>
              </a:solidFill>
            </a:endParaRPr>
          </a:p>
          <a:p>
            <a:pPr eaLnBrk="1" hangingPunct="1">
              <a:buFont typeface="Wingdings" panose="05000000000000000000" pitchFamily="2" charset="2"/>
              <a:buNone/>
            </a:pPr>
            <a:endParaRPr lang="en-US" altLang="en-US" dirty="0" smtClean="0"/>
          </a:p>
          <a:p>
            <a:pPr eaLnBrk="1" hangingPunct="1">
              <a:buFont typeface="Wingdings" panose="05000000000000000000" pitchFamily="2" charset="2"/>
              <a:buNone/>
            </a:pPr>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3375234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09800" y="152400"/>
            <a:ext cx="7772400" cy="838200"/>
          </a:xfrm>
        </p:spPr>
        <p:txBody>
          <a:bodyPr/>
          <a:lstStyle/>
          <a:p>
            <a:pPr eaLnBrk="1" hangingPunct="1"/>
            <a:r>
              <a:rPr lang="en-US" altLang="en-US" b="1" u="sng" smtClean="0"/>
              <a:t>Who should pay </a:t>
            </a:r>
            <a:r>
              <a:rPr lang="en-US" altLang="en-US" b="1" u="sng" smtClean="0">
                <a:solidFill>
                  <a:schemeClr val="folHlink"/>
                </a:solidFill>
              </a:rPr>
              <a:t>zakat</a:t>
            </a:r>
          </a:p>
        </p:txBody>
      </p:sp>
      <p:sp>
        <p:nvSpPr>
          <p:cNvPr id="22531" name="Rectangle 3"/>
          <p:cNvSpPr>
            <a:spLocks noGrp="1" noChangeArrowheads="1"/>
          </p:cNvSpPr>
          <p:nvPr>
            <p:ph idx="1"/>
          </p:nvPr>
        </p:nvSpPr>
        <p:spPr>
          <a:xfrm>
            <a:off x="786414" y="862614"/>
            <a:ext cx="8458200" cy="5229497"/>
          </a:xfrm>
        </p:spPr>
        <p:txBody>
          <a:bodyPr>
            <a:normAutofit/>
          </a:bodyPr>
          <a:lstStyle/>
          <a:p>
            <a:pPr eaLnBrk="1" hangingPunct="1"/>
            <a:r>
              <a:rPr lang="en-US" altLang="en-US" sz="3200" b="1" dirty="0"/>
              <a:t>Any one who has in his possession more than equivalent of the value of </a:t>
            </a:r>
            <a:r>
              <a:rPr lang="en-US" altLang="en-US" sz="3200" b="1" dirty="0" smtClean="0"/>
              <a:t>87.48 grams </a:t>
            </a:r>
            <a:r>
              <a:rPr lang="en-US" altLang="en-US" sz="3200" b="1" dirty="0"/>
              <a:t>gold or </a:t>
            </a:r>
            <a:r>
              <a:rPr lang="en-US" altLang="en-US" sz="3200" b="1" dirty="0" smtClean="0"/>
              <a:t>612.36 grams </a:t>
            </a:r>
            <a:r>
              <a:rPr lang="en-US" altLang="en-US" sz="3200" b="1" dirty="0"/>
              <a:t>of silver </a:t>
            </a:r>
            <a:r>
              <a:rPr lang="en-US" altLang="en-US" sz="3200" b="1" dirty="0" smtClean="0"/>
              <a:t>over </a:t>
            </a:r>
            <a:r>
              <a:rPr lang="en-US" altLang="en-US" sz="3200" b="1" dirty="0"/>
              <a:t>and above his living </a:t>
            </a:r>
            <a:r>
              <a:rPr lang="en-US" altLang="en-US" sz="3200" b="1" dirty="0" smtClean="0"/>
              <a:t>expenses.</a:t>
            </a:r>
            <a:endParaRPr lang="en-US" altLang="en-US" sz="3200" b="1" dirty="0"/>
          </a:p>
          <a:p>
            <a:pPr eaLnBrk="1" hangingPunct="1"/>
            <a:r>
              <a:rPr lang="en-US" altLang="en-US" sz="3200" b="1" dirty="0" smtClean="0"/>
              <a:t>All </a:t>
            </a:r>
            <a:r>
              <a:rPr lang="en-US" altLang="en-US" sz="3200" b="1" dirty="0"/>
              <a:t>adults </a:t>
            </a:r>
            <a:r>
              <a:rPr lang="en-US" altLang="en-US" sz="3200" b="1" dirty="0" smtClean="0"/>
              <a:t>are individually responsible.</a:t>
            </a:r>
            <a:endParaRPr lang="en-US" altLang="en-US" sz="3200" b="1" dirty="0"/>
          </a:p>
        </p:txBody>
      </p:sp>
    </p:spTree>
    <p:extLst>
      <p:ext uri="{BB962C8B-B14F-4D97-AF65-F5344CB8AC3E}">
        <p14:creationId xmlns:p14="http://schemas.microsoft.com/office/powerpoint/2010/main" val="3804690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normAutofit/>
          </a:bodyPr>
          <a:lstStyle/>
          <a:p>
            <a:pPr>
              <a:defRPr/>
            </a:pPr>
            <a:r>
              <a:rPr lang="en-US" b="1" u="sng" dirty="0"/>
              <a:t>Typical Things on which Zakat  is  Applicable</a:t>
            </a:r>
            <a:r>
              <a:rPr lang="en-US" dirty="0"/>
              <a:t> </a:t>
            </a:r>
          </a:p>
        </p:txBody>
      </p:sp>
      <p:sp>
        <p:nvSpPr>
          <p:cNvPr id="24579" name="Rectangle 3"/>
          <p:cNvSpPr>
            <a:spLocks noGrp="1" noChangeArrowheads="1"/>
          </p:cNvSpPr>
          <p:nvPr>
            <p:ph sz="half" idx="1"/>
          </p:nvPr>
        </p:nvSpPr>
        <p:spPr/>
        <p:txBody>
          <a:bodyPr/>
          <a:lstStyle/>
          <a:p>
            <a:pPr eaLnBrk="1" hangingPunct="1">
              <a:buFont typeface="Wingdings" panose="05000000000000000000" pitchFamily="2" charset="2"/>
              <a:buNone/>
            </a:pPr>
            <a:r>
              <a:rPr lang="en-US" altLang="en-US" b="1" dirty="0" smtClean="0">
                <a:solidFill>
                  <a:schemeClr val="folHlink"/>
                </a:solidFill>
              </a:rPr>
              <a:t>      Investment:</a:t>
            </a:r>
          </a:p>
          <a:p>
            <a:pPr eaLnBrk="1" hangingPunct="1"/>
            <a:r>
              <a:rPr lang="en-US" altLang="en-US" b="1" dirty="0" smtClean="0"/>
              <a:t>Bank balance</a:t>
            </a:r>
          </a:p>
          <a:p>
            <a:pPr eaLnBrk="1" hangingPunct="1"/>
            <a:r>
              <a:rPr lang="en-US" altLang="en-US" b="1" dirty="0" smtClean="0"/>
              <a:t>Property, i.e., plots</a:t>
            </a:r>
          </a:p>
          <a:p>
            <a:pPr eaLnBrk="1" hangingPunct="1"/>
            <a:r>
              <a:rPr lang="en-US" altLang="en-US" b="1" dirty="0" smtClean="0"/>
              <a:t>Shares /fixed deposits</a:t>
            </a:r>
          </a:p>
          <a:p>
            <a:pPr eaLnBrk="1" hangingPunct="1"/>
            <a:r>
              <a:rPr lang="en-US" altLang="en-US" b="1" dirty="0" smtClean="0"/>
              <a:t>Provident fund</a:t>
            </a:r>
          </a:p>
          <a:p>
            <a:pPr eaLnBrk="1" hangingPunct="1"/>
            <a:r>
              <a:rPr lang="en-US" altLang="en-US" b="1" dirty="0" smtClean="0"/>
              <a:t>Gold, Silver</a:t>
            </a:r>
          </a:p>
          <a:p>
            <a:pPr eaLnBrk="1" hangingPunct="1"/>
            <a:endParaRPr lang="en-US" altLang="en-US" b="1" dirty="0" smtClean="0"/>
          </a:p>
        </p:txBody>
      </p:sp>
      <p:sp>
        <p:nvSpPr>
          <p:cNvPr id="24580" name="Rectangle 4"/>
          <p:cNvSpPr>
            <a:spLocks noGrp="1" noChangeArrowheads="1"/>
          </p:cNvSpPr>
          <p:nvPr>
            <p:ph sz="half" idx="2"/>
          </p:nvPr>
        </p:nvSpPr>
        <p:spPr>
          <a:xfrm>
            <a:off x="6172200" y="1905000"/>
            <a:ext cx="4343400" cy="4114800"/>
          </a:xfrm>
        </p:spPr>
        <p:txBody>
          <a:bodyPr/>
          <a:lstStyle/>
          <a:p>
            <a:pPr eaLnBrk="1" hangingPunct="1">
              <a:buFont typeface="Wingdings" panose="05000000000000000000" pitchFamily="2" charset="2"/>
              <a:buNone/>
            </a:pPr>
            <a:r>
              <a:rPr lang="en-US" altLang="en-US" b="1" dirty="0" smtClean="0"/>
              <a:t>  </a:t>
            </a:r>
            <a:endParaRPr lang="en-US" altLang="en-US" b="1" dirty="0" smtClean="0">
              <a:solidFill>
                <a:schemeClr val="folHlink"/>
              </a:solidFill>
            </a:endParaRPr>
          </a:p>
          <a:p>
            <a:pPr marL="0" indent="0" eaLnBrk="1" hangingPunct="1">
              <a:buNone/>
            </a:pPr>
            <a:endParaRPr lang="en-US" altLang="en-US" b="1" dirty="0" smtClean="0"/>
          </a:p>
          <a:p>
            <a:pPr eaLnBrk="1" hangingPunct="1"/>
            <a:r>
              <a:rPr lang="en-US" altLang="en-US" b="1" dirty="0" smtClean="0"/>
              <a:t>Business  assets like Machinery, factories etc.</a:t>
            </a:r>
          </a:p>
          <a:p>
            <a:pPr eaLnBrk="1" hangingPunct="1"/>
            <a:r>
              <a:rPr lang="en-US" altLang="en-US" b="1" dirty="0" smtClean="0"/>
              <a:t>House, Buildings/Cars for rent</a:t>
            </a:r>
          </a:p>
          <a:p>
            <a:pPr eaLnBrk="1" hangingPunct="1"/>
            <a:endParaRPr lang="en-US" altLang="en-US" dirty="0" smtClean="0"/>
          </a:p>
          <a:p>
            <a:pPr eaLnBrk="1" hangingPunct="1"/>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3804805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81200" y="533400"/>
            <a:ext cx="8077200" cy="838200"/>
          </a:xfrm>
        </p:spPr>
        <p:txBody>
          <a:bodyPr/>
          <a:lstStyle/>
          <a:p>
            <a:pPr eaLnBrk="1" hangingPunct="1"/>
            <a:r>
              <a:rPr lang="en-US" altLang="en-US" b="1" u="sng" smtClean="0"/>
              <a:t>Effective Rate  P.A</a:t>
            </a:r>
          </a:p>
        </p:txBody>
      </p:sp>
      <p:sp>
        <p:nvSpPr>
          <p:cNvPr id="147459" name="Rectangle 3"/>
          <p:cNvSpPr>
            <a:spLocks noGrp="1" noChangeArrowheads="1"/>
          </p:cNvSpPr>
          <p:nvPr>
            <p:ph idx="1"/>
          </p:nvPr>
        </p:nvSpPr>
        <p:spPr>
          <a:xfrm>
            <a:off x="1981200" y="1752600"/>
            <a:ext cx="8077200" cy="4114800"/>
          </a:xfrm>
        </p:spPr>
        <p:txBody>
          <a:bodyPr>
            <a:normAutofit/>
          </a:bodyPr>
          <a:lstStyle/>
          <a:p>
            <a:pPr marL="322326" indent="-285750">
              <a:lnSpc>
                <a:spcPct val="90000"/>
              </a:lnSpc>
              <a:buFont typeface="Wingdings" panose="05000000000000000000" pitchFamily="2" charset="2"/>
              <a:buChar char="q"/>
              <a:defRPr/>
            </a:pPr>
            <a:r>
              <a:rPr lang="en-US" b="1" dirty="0" smtClean="0"/>
              <a:t>On </a:t>
            </a:r>
            <a:r>
              <a:rPr lang="en-US" b="1" dirty="0"/>
              <a:t>wealth and Income			     </a:t>
            </a:r>
            <a:r>
              <a:rPr lang="en-US" b="1" dirty="0" smtClean="0"/>
              <a:t>     2.5</a:t>
            </a:r>
            <a:r>
              <a:rPr lang="en-US" b="1" dirty="0"/>
              <a:t>%</a:t>
            </a:r>
          </a:p>
          <a:p>
            <a:pPr marL="420624" indent="-384048">
              <a:lnSpc>
                <a:spcPct val="90000"/>
              </a:lnSpc>
              <a:buNone/>
              <a:defRPr/>
            </a:pPr>
            <a:r>
              <a:rPr lang="en-US" b="1" dirty="0"/>
              <a:t>    </a:t>
            </a:r>
          </a:p>
          <a:p>
            <a:pPr marL="322326" indent="-285750">
              <a:lnSpc>
                <a:spcPct val="90000"/>
              </a:lnSpc>
              <a:buFont typeface="Wingdings" panose="05000000000000000000" pitchFamily="2" charset="2"/>
              <a:buChar char="q"/>
              <a:defRPr/>
            </a:pPr>
            <a:r>
              <a:rPr lang="en-US" b="1" dirty="0" smtClean="0"/>
              <a:t> </a:t>
            </a:r>
            <a:r>
              <a:rPr lang="en-US" b="1" dirty="0"/>
              <a:t>On Agricultural produce                      </a:t>
            </a:r>
          </a:p>
          <a:p>
            <a:pPr marL="420624" indent="-384048">
              <a:lnSpc>
                <a:spcPct val="90000"/>
              </a:lnSpc>
              <a:buNone/>
              <a:defRPr/>
            </a:pPr>
            <a:r>
              <a:rPr lang="en-US" b="1" dirty="0"/>
              <a:t>     </a:t>
            </a:r>
            <a:r>
              <a:rPr lang="en-US" b="1" dirty="0" smtClean="0"/>
              <a:t>Irrigated with rain                              </a:t>
            </a:r>
            <a:r>
              <a:rPr lang="en-US" b="1" dirty="0"/>
              <a:t>5.0%</a:t>
            </a:r>
          </a:p>
          <a:p>
            <a:pPr marL="322326" indent="-285750">
              <a:lnSpc>
                <a:spcPct val="90000"/>
              </a:lnSpc>
              <a:buFont typeface="Wingdings" panose="05000000000000000000" pitchFamily="2" charset="2"/>
              <a:buChar char="q"/>
              <a:defRPr/>
            </a:pPr>
            <a:r>
              <a:rPr lang="en-US" b="1" dirty="0" smtClean="0"/>
              <a:t>Non irrigated with rain                       </a:t>
            </a:r>
            <a:r>
              <a:rPr lang="en-US" b="1" dirty="0"/>
              <a:t>10.0%</a:t>
            </a:r>
          </a:p>
          <a:p>
            <a:pPr marL="322326" indent="-285750">
              <a:lnSpc>
                <a:spcPct val="90000"/>
              </a:lnSpc>
              <a:buFont typeface="Wingdings" panose="05000000000000000000" pitchFamily="2" charset="2"/>
              <a:buChar char="q"/>
              <a:defRPr/>
            </a:pPr>
            <a:r>
              <a:rPr lang="en-US" b="1" dirty="0" smtClean="0"/>
              <a:t>On </a:t>
            </a:r>
            <a:r>
              <a:rPr lang="en-US" b="1" dirty="0"/>
              <a:t>Natural </a:t>
            </a:r>
            <a:r>
              <a:rPr lang="en-US" b="1" dirty="0" smtClean="0"/>
              <a:t>resources                        20.0</a:t>
            </a:r>
            <a:r>
              <a:rPr lang="en-US" b="1" dirty="0"/>
              <a:t>%</a:t>
            </a:r>
          </a:p>
          <a:p>
            <a:pPr marL="36576" indent="0">
              <a:lnSpc>
                <a:spcPct val="90000"/>
              </a:lnSpc>
              <a:buNone/>
              <a:defRPr/>
            </a:pPr>
            <a:r>
              <a:rPr lang="en-US" b="1" dirty="0" smtClean="0"/>
              <a:t>    </a:t>
            </a:r>
            <a:endParaRPr lang="en-US" b="1" dirty="0"/>
          </a:p>
          <a:p>
            <a:pPr marL="420624" indent="-384048">
              <a:lnSpc>
                <a:spcPct val="90000"/>
              </a:lnSpc>
              <a:buFont typeface="Wingdings 2"/>
              <a:buChar char=""/>
              <a:defRPr/>
            </a:pPr>
            <a:r>
              <a:rPr lang="en-US" sz="4000" b="1" dirty="0" smtClean="0">
                <a:solidFill>
                  <a:schemeClr val="folHlink"/>
                </a:solidFill>
              </a:rPr>
              <a:t>Based </a:t>
            </a:r>
            <a:r>
              <a:rPr lang="en-US" sz="4000" b="1" dirty="0">
                <a:solidFill>
                  <a:schemeClr val="folHlink"/>
                </a:solidFill>
              </a:rPr>
              <a:t>upon Lunar </a:t>
            </a:r>
            <a:r>
              <a:rPr lang="en-US" sz="4000" b="1" dirty="0" smtClean="0">
                <a:solidFill>
                  <a:schemeClr val="folHlink"/>
                </a:solidFill>
              </a:rPr>
              <a:t>Calendar</a:t>
            </a:r>
            <a:endParaRPr lang="en-US" sz="4000" b="1" dirty="0">
              <a:solidFill>
                <a:schemeClr val="folHlink"/>
              </a:solidFill>
            </a:endParaRPr>
          </a:p>
        </p:txBody>
      </p:sp>
    </p:spTree>
    <p:extLst>
      <p:ext uri="{BB962C8B-B14F-4D97-AF65-F5344CB8AC3E}">
        <p14:creationId xmlns:p14="http://schemas.microsoft.com/office/powerpoint/2010/main" val="2026292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7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7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74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74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474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4745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4745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47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6754"/>
            <a:ext cx="8596668" cy="1084217"/>
          </a:xfrm>
        </p:spPr>
        <p:txBody>
          <a:bodyPr>
            <a:normAutofit/>
          </a:bodyPr>
          <a:lstStyle/>
          <a:p>
            <a:pPr algn="ctr"/>
            <a:r>
              <a:rPr lang="en-US" b="1" u="sng" dirty="0" err="1" smtClean="0"/>
              <a:t>Zakat</a:t>
            </a:r>
            <a:r>
              <a:rPr lang="en-US" b="1" u="sng" dirty="0" smtClean="0"/>
              <a:t> is not a Tax</a:t>
            </a:r>
            <a:endParaRPr lang="en-US" dirty="0"/>
          </a:p>
        </p:txBody>
      </p:sp>
      <p:sp>
        <p:nvSpPr>
          <p:cNvPr id="3" name="Text Placeholder 2"/>
          <p:cNvSpPr>
            <a:spLocks noGrp="1"/>
          </p:cNvSpPr>
          <p:nvPr>
            <p:ph type="body" idx="1"/>
          </p:nvPr>
        </p:nvSpPr>
        <p:spPr>
          <a:xfrm>
            <a:off x="505929" y="828571"/>
            <a:ext cx="4185623" cy="576262"/>
          </a:xfrm>
        </p:spPr>
        <p:txBody>
          <a:bodyPr/>
          <a:lstStyle/>
          <a:p>
            <a:r>
              <a:rPr lang="en-US" dirty="0" err="1" smtClean="0"/>
              <a:t>zakat</a:t>
            </a:r>
            <a:endParaRPr lang="en-US" dirty="0"/>
          </a:p>
        </p:txBody>
      </p:sp>
      <p:sp>
        <p:nvSpPr>
          <p:cNvPr id="4" name="Content Placeholder 3"/>
          <p:cNvSpPr>
            <a:spLocks noGrp="1"/>
          </p:cNvSpPr>
          <p:nvPr>
            <p:ph sz="half" idx="2"/>
          </p:nvPr>
        </p:nvSpPr>
        <p:spPr>
          <a:xfrm>
            <a:off x="323047" y="1763487"/>
            <a:ext cx="4185623" cy="3598608"/>
          </a:xfrm>
        </p:spPr>
        <p:txBody>
          <a:bodyPr>
            <a:noAutofit/>
          </a:bodyPr>
          <a:lstStyle/>
          <a:p>
            <a:pPr>
              <a:lnSpc>
                <a:spcPct val="90000"/>
              </a:lnSpc>
              <a:defRPr/>
            </a:pPr>
            <a:r>
              <a:rPr lang="en-US" sz="2000" b="1" dirty="0" smtClean="0"/>
              <a:t>It is a Worship</a:t>
            </a:r>
          </a:p>
          <a:p>
            <a:pPr>
              <a:lnSpc>
                <a:spcPct val="90000"/>
              </a:lnSpc>
              <a:defRPr/>
            </a:pPr>
            <a:r>
              <a:rPr lang="en-US" sz="2000" b="1" dirty="0" smtClean="0"/>
              <a:t>Earn reward for paying</a:t>
            </a:r>
          </a:p>
          <a:p>
            <a:pPr>
              <a:lnSpc>
                <a:spcPct val="90000"/>
              </a:lnSpc>
              <a:defRPr/>
            </a:pPr>
            <a:r>
              <a:rPr lang="en-US" sz="2000" b="1" dirty="0" smtClean="0"/>
              <a:t>Obligation between servant    </a:t>
            </a:r>
          </a:p>
          <a:p>
            <a:pPr marL="533400" indent="-533400">
              <a:lnSpc>
                <a:spcPct val="90000"/>
              </a:lnSpc>
              <a:buNone/>
              <a:defRPr/>
            </a:pPr>
            <a:r>
              <a:rPr lang="en-US" sz="2000" b="1" dirty="0" smtClean="0"/>
              <a:t> 	and Lord of lords</a:t>
            </a:r>
          </a:p>
          <a:p>
            <a:pPr>
              <a:lnSpc>
                <a:spcPct val="90000"/>
              </a:lnSpc>
              <a:defRPr/>
            </a:pPr>
            <a:r>
              <a:rPr lang="en-US" sz="2000" b="1" dirty="0" smtClean="0"/>
              <a:t>Fixed rates &amp; Rules</a:t>
            </a:r>
          </a:p>
          <a:p>
            <a:pPr>
              <a:lnSpc>
                <a:spcPct val="90000"/>
              </a:lnSpc>
              <a:defRPr/>
            </a:pPr>
            <a:r>
              <a:rPr lang="en-US" sz="2000" b="1" dirty="0" smtClean="0"/>
              <a:t>Could be distributed directly</a:t>
            </a:r>
          </a:p>
          <a:p>
            <a:pPr>
              <a:lnSpc>
                <a:spcPct val="90000"/>
              </a:lnSpc>
              <a:defRPr/>
            </a:pPr>
            <a:r>
              <a:rPr lang="en-US" sz="2000" b="1" dirty="0" smtClean="0"/>
              <a:t>Used for specific purposes</a:t>
            </a:r>
          </a:p>
        </p:txBody>
      </p:sp>
      <p:sp>
        <p:nvSpPr>
          <p:cNvPr id="5" name="Text Placeholder 4"/>
          <p:cNvSpPr>
            <a:spLocks noGrp="1"/>
          </p:cNvSpPr>
          <p:nvPr>
            <p:ph type="body" sz="quarter" idx="3"/>
          </p:nvPr>
        </p:nvSpPr>
        <p:spPr>
          <a:xfrm>
            <a:off x="4722622" y="763257"/>
            <a:ext cx="4185618" cy="576262"/>
          </a:xfrm>
        </p:spPr>
        <p:txBody>
          <a:bodyPr/>
          <a:lstStyle/>
          <a:p>
            <a:r>
              <a:rPr lang="en-US" dirty="0"/>
              <a:t>T</a:t>
            </a:r>
            <a:r>
              <a:rPr lang="en-US" dirty="0" smtClean="0"/>
              <a:t>ax</a:t>
            </a:r>
            <a:endParaRPr lang="en-US" dirty="0"/>
          </a:p>
        </p:txBody>
      </p:sp>
      <p:sp>
        <p:nvSpPr>
          <p:cNvPr id="6" name="Content Placeholder 5"/>
          <p:cNvSpPr>
            <a:spLocks noGrp="1"/>
          </p:cNvSpPr>
          <p:nvPr>
            <p:ph sz="quarter" idx="4"/>
          </p:nvPr>
        </p:nvSpPr>
        <p:spPr>
          <a:xfrm>
            <a:off x="4605059" y="1783657"/>
            <a:ext cx="5923604" cy="4499577"/>
          </a:xfrm>
        </p:spPr>
        <p:txBody>
          <a:bodyPr>
            <a:noAutofit/>
          </a:bodyPr>
          <a:lstStyle/>
          <a:p>
            <a:pPr>
              <a:lnSpc>
                <a:spcPct val="90000"/>
              </a:lnSpc>
              <a:defRPr/>
            </a:pPr>
            <a:r>
              <a:rPr lang="en-US" sz="2000" b="1" dirty="0" smtClean="0"/>
              <a:t>It is a Liability.</a:t>
            </a:r>
          </a:p>
          <a:p>
            <a:pPr>
              <a:lnSpc>
                <a:spcPct val="90000"/>
              </a:lnSpc>
              <a:defRPr/>
            </a:pPr>
            <a:r>
              <a:rPr lang="en-US" sz="2000" b="1" dirty="0" smtClean="0"/>
              <a:t> No rewards</a:t>
            </a:r>
          </a:p>
          <a:p>
            <a:pPr>
              <a:lnSpc>
                <a:spcPct val="90000"/>
              </a:lnSpc>
              <a:defRPr/>
            </a:pPr>
            <a:r>
              <a:rPr lang="en-US" sz="2000" b="1" dirty="0" smtClean="0"/>
              <a:t>Obligation between Govt.</a:t>
            </a:r>
          </a:p>
          <a:p>
            <a:pPr marL="533400" indent="-533400">
              <a:lnSpc>
                <a:spcPct val="90000"/>
              </a:lnSpc>
              <a:buNone/>
              <a:defRPr/>
            </a:pPr>
            <a:r>
              <a:rPr lang="en-US" sz="2000" b="1" dirty="0" smtClean="0"/>
              <a:t>	and its Citizen</a:t>
            </a:r>
          </a:p>
          <a:p>
            <a:pPr>
              <a:lnSpc>
                <a:spcPct val="90000"/>
              </a:lnSpc>
              <a:defRPr/>
            </a:pPr>
            <a:r>
              <a:rPr lang="en-US" sz="2000" b="1" dirty="0" smtClean="0"/>
              <a:t>Changes from  time to time</a:t>
            </a:r>
          </a:p>
          <a:p>
            <a:pPr>
              <a:lnSpc>
                <a:spcPct val="90000"/>
              </a:lnSpc>
              <a:defRPr/>
            </a:pPr>
            <a:r>
              <a:rPr lang="en-US" sz="2000" b="1" dirty="0" smtClean="0"/>
              <a:t>Only Govt. uses as per its discretion</a:t>
            </a:r>
          </a:p>
          <a:p>
            <a:pPr>
              <a:lnSpc>
                <a:spcPct val="90000"/>
              </a:lnSpc>
              <a:defRPr/>
            </a:pPr>
            <a:r>
              <a:rPr lang="en-US" sz="2000" b="1" dirty="0" smtClean="0"/>
              <a:t>Used for all purposes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09800" y="152400"/>
            <a:ext cx="7772400" cy="1143000"/>
          </a:xfrm>
        </p:spPr>
        <p:txBody>
          <a:bodyPr/>
          <a:lstStyle/>
          <a:p>
            <a:pPr eaLnBrk="1" hangingPunct="1"/>
            <a:r>
              <a:rPr lang="en-US" altLang="en-US" sz="4800" b="1"/>
              <a:t>Recipient of Zakat</a:t>
            </a:r>
            <a:r>
              <a:rPr lang="en-US" altLang="en-US" smtClean="0"/>
              <a:t> </a:t>
            </a:r>
          </a:p>
        </p:txBody>
      </p:sp>
      <p:sp>
        <p:nvSpPr>
          <p:cNvPr id="28675" name="Rectangle 3"/>
          <p:cNvSpPr>
            <a:spLocks noGrp="1" noChangeArrowheads="1"/>
          </p:cNvSpPr>
          <p:nvPr>
            <p:ph idx="1"/>
          </p:nvPr>
        </p:nvSpPr>
        <p:spPr>
          <a:xfrm>
            <a:off x="2895600" y="1524000"/>
            <a:ext cx="7772400" cy="5334000"/>
          </a:xfrm>
        </p:spPr>
        <p:txBody>
          <a:bodyPr/>
          <a:lstStyle/>
          <a:p>
            <a:pPr marL="533400" indent="-533400">
              <a:buFont typeface="Wingdings" panose="05000000000000000000" pitchFamily="2" charset="2"/>
              <a:buAutoNum type="arabicPeriod"/>
            </a:pPr>
            <a:r>
              <a:rPr lang="en-US" altLang="en-US" b="1" i="1" dirty="0" err="1" smtClean="0"/>
              <a:t>Fuqara</a:t>
            </a:r>
            <a:endParaRPr lang="en-US" altLang="en-US" b="1" i="1" dirty="0" smtClean="0"/>
          </a:p>
          <a:p>
            <a:pPr marL="533400" indent="-533400">
              <a:buFont typeface="Wingdings" panose="05000000000000000000" pitchFamily="2" charset="2"/>
              <a:buAutoNum type="arabicPeriod"/>
            </a:pPr>
            <a:r>
              <a:rPr lang="en-US" altLang="en-US" b="1" i="1" dirty="0" err="1" smtClean="0"/>
              <a:t>Masakeen</a:t>
            </a:r>
            <a:endParaRPr lang="en-US" altLang="en-US" b="1" i="1" dirty="0" smtClean="0"/>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Administrator</a:t>
            </a:r>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Influencing heart</a:t>
            </a:r>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Freeing from bondage</a:t>
            </a:r>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Debtors</a:t>
            </a:r>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In way of Allah</a:t>
            </a:r>
          </a:p>
          <a:p>
            <a:pPr marL="533400" indent="-533400">
              <a:buFont typeface="Wingdings" panose="05000000000000000000" pitchFamily="2" charset="2"/>
              <a:buAutoNum type="arabicPeriod"/>
            </a:pPr>
            <a:r>
              <a:rPr lang="en-US" altLang="en-US" b="1" dirty="0" smtClean="0">
                <a:solidFill>
                  <a:schemeClr val="tx1">
                    <a:lumMod val="65000"/>
                    <a:lumOff val="35000"/>
                  </a:schemeClr>
                </a:solidFill>
              </a:rPr>
              <a:t>Wayfarer</a:t>
            </a:r>
          </a:p>
          <a:p>
            <a:pPr marL="533400" indent="-533400"/>
            <a:endParaRPr lang="en-US" altLang="en-US" b="1" dirty="0" smtClean="0"/>
          </a:p>
        </p:txBody>
      </p:sp>
    </p:spTree>
    <p:extLst>
      <p:ext uri="{BB962C8B-B14F-4D97-AF65-F5344CB8AC3E}">
        <p14:creationId xmlns:p14="http://schemas.microsoft.com/office/powerpoint/2010/main" val="19159970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200" y="152400"/>
            <a:ext cx="7772400" cy="1143000"/>
          </a:xfrm>
        </p:spPr>
        <p:txBody>
          <a:bodyPr/>
          <a:lstStyle/>
          <a:p>
            <a:pPr eaLnBrk="1" hangingPunct="1"/>
            <a:r>
              <a:rPr lang="en-US" altLang="en-US" b="1" u="sng" dirty="0" err="1" smtClean="0"/>
              <a:t>Fuqara</a:t>
            </a:r>
            <a:r>
              <a:rPr lang="en-US" altLang="en-US" b="1" u="sng" dirty="0" smtClean="0"/>
              <a:t> &amp; </a:t>
            </a:r>
            <a:r>
              <a:rPr lang="en-US" altLang="en-US" b="1" u="sng" dirty="0" err="1" smtClean="0"/>
              <a:t>Maskeen</a:t>
            </a:r>
            <a:endParaRPr lang="en-US" altLang="en-US" b="1" u="sng" dirty="0" smtClean="0"/>
          </a:p>
        </p:txBody>
      </p:sp>
      <p:sp>
        <p:nvSpPr>
          <p:cNvPr id="29699" name="Rectangle 3"/>
          <p:cNvSpPr>
            <a:spLocks noGrp="1" noChangeArrowheads="1"/>
          </p:cNvSpPr>
          <p:nvPr>
            <p:ph idx="1"/>
          </p:nvPr>
        </p:nvSpPr>
        <p:spPr>
          <a:xfrm>
            <a:off x="1752600" y="1143000"/>
            <a:ext cx="8763000" cy="5715000"/>
          </a:xfrm>
        </p:spPr>
        <p:txBody>
          <a:bodyPr/>
          <a:lstStyle/>
          <a:p>
            <a:pPr eaLnBrk="1" hangingPunct="1">
              <a:lnSpc>
                <a:spcPct val="80000"/>
              </a:lnSpc>
              <a:buFont typeface="Wingdings" panose="05000000000000000000" pitchFamily="2" charset="2"/>
              <a:buNone/>
            </a:pPr>
            <a:r>
              <a:rPr lang="en-US" altLang="en-US" sz="1400" dirty="0">
                <a:solidFill>
                  <a:schemeClr val="tx1">
                    <a:lumMod val="85000"/>
                    <a:lumOff val="15000"/>
                  </a:schemeClr>
                </a:solidFill>
              </a:rPr>
              <a:t>   </a:t>
            </a:r>
            <a:r>
              <a:rPr lang="en-US" altLang="en-US" b="1" i="1" dirty="0" err="1" smtClean="0">
                <a:solidFill>
                  <a:srgbClr val="FF0000"/>
                </a:solidFill>
              </a:rPr>
              <a:t>Fuqara</a:t>
            </a:r>
            <a:r>
              <a:rPr lang="en-US" altLang="en-US" b="1" i="1" dirty="0" smtClean="0">
                <a:solidFill>
                  <a:schemeClr val="tx1">
                    <a:lumMod val="85000"/>
                    <a:lumOff val="15000"/>
                  </a:schemeClr>
                </a:solidFill>
              </a:rPr>
              <a:t>: are the  penny less</a:t>
            </a:r>
          </a:p>
          <a:p>
            <a:pPr eaLnBrk="1" hangingPunct="1">
              <a:lnSpc>
                <a:spcPct val="80000"/>
              </a:lnSpc>
              <a:buFont typeface="Wingdings" panose="05000000000000000000" pitchFamily="2" charset="2"/>
              <a:buNone/>
            </a:pPr>
            <a:r>
              <a:rPr lang="en-US" altLang="en-US" b="1" i="1" dirty="0" smtClean="0">
                <a:solidFill>
                  <a:schemeClr val="tx1">
                    <a:lumMod val="85000"/>
                    <a:lumOff val="15000"/>
                  </a:schemeClr>
                </a:solidFill>
              </a:rPr>
              <a:t> </a:t>
            </a:r>
            <a:r>
              <a:rPr lang="en-US" altLang="en-US" b="1" i="1" dirty="0" err="1" smtClean="0">
                <a:solidFill>
                  <a:srgbClr val="FF0000"/>
                </a:solidFill>
              </a:rPr>
              <a:t>Masakeen</a:t>
            </a:r>
            <a:r>
              <a:rPr lang="en-US" altLang="en-US" b="1" i="1" dirty="0" smtClean="0">
                <a:solidFill>
                  <a:schemeClr val="tx1">
                    <a:lumMod val="85000"/>
                    <a:lumOff val="15000"/>
                  </a:schemeClr>
                </a:solidFill>
              </a:rPr>
              <a:t>: are the needy one</a:t>
            </a:r>
          </a:p>
          <a:p>
            <a:pPr eaLnBrk="1" hangingPunct="1">
              <a:lnSpc>
                <a:spcPct val="80000"/>
              </a:lnSpc>
              <a:buFont typeface="Wingdings" panose="05000000000000000000" pitchFamily="2" charset="2"/>
              <a:buNone/>
            </a:pPr>
            <a:r>
              <a:rPr lang="en-US" altLang="en-US" b="1" i="1" dirty="0" smtClean="0">
                <a:solidFill>
                  <a:schemeClr val="tx1">
                    <a:lumMod val="85000"/>
                    <a:lumOff val="15000"/>
                  </a:schemeClr>
                </a:solidFill>
              </a:rPr>
              <a:t>   </a:t>
            </a:r>
            <a:endParaRPr lang="en-US" altLang="en-US" b="1" i="1" dirty="0" smtClean="0">
              <a:solidFill>
                <a:srgbClr val="FFFF00"/>
              </a:solidFill>
            </a:endParaRPr>
          </a:p>
          <a:p>
            <a:pPr eaLnBrk="1" hangingPunct="1">
              <a:lnSpc>
                <a:spcPct val="80000"/>
              </a:lnSpc>
            </a:pPr>
            <a:r>
              <a:rPr lang="en-US" altLang="en-US" sz="2800" b="1" dirty="0"/>
              <a:t>The operative criteria which determines poverty is not how little a person has, but whether it is enough or </a:t>
            </a:r>
            <a:r>
              <a:rPr lang="en-US" altLang="en-US" sz="2800" b="1" dirty="0" smtClean="0"/>
              <a:t>not.</a:t>
            </a:r>
            <a:endParaRPr lang="en-US" altLang="en-US" sz="2800" b="1" dirty="0"/>
          </a:p>
          <a:p>
            <a:pPr eaLnBrk="1" hangingPunct="1">
              <a:lnSpc>
                <a:spcPct val="80000"/>
              </a:lnSpc>
            </a:pPr>
            <a:r>
              <a:rPr lang="en-US" altLang="en-US" sz="2800" b="1" dirty="0"/>
              <a:t>Basic need includes </a:t>
            </a:r>
            <a:r>
              <a:rPr lang="en-US" altLang="en-US" sz="2800" b="1" dirty="0">
                <a:solidFill>
                  <a:srgbClr val="FF0000"/>
                </a:solidFill>
              </a:rPr>
              <a:t>food</a:t>
            </a:r>
            <a:r>
              <a:rPr lang="en-US" altLang="en-US" sz="2800" b="1" dirty="0"/>
              <a:t>  &amp; </a:t>
            </a:r>
            <a:r>
              <a:rPr lang="en-US" altLang="en-US" sz="2800" b="1" dirty="0">
                <a:solidFill>
                  <a:srgbClr val="FF0000"/>
                </a:solidFill>
              </a:rPr>
              <a:t>clothing</a:t>
            </a:r>
            <a:r>
              <a:rPr lang="en-US" altLang="en-US" sz="2800" b="1" dirty="0"/>
              <a:t> for the person and his family as well as reasonable </a:t>
            </a:r>
            <a:r>
              <a:rPr lang="en-US" altLang="en-US" sz="2800" b="1" dirty="0">
                <a:solidFill>
                  <a:srgbClr val="FF0000"/>
                </a:solidFill>
              </a:rPr>
              <a:t>accommodation</a:t>
            </a:r>
            <a:r>
              <a:rPr lang="en-US" altLang="en-US" sz="2800" b="1" dirty="0"/>
              <a:t> and furniture and necessary tools for his trade and means of transportation</a:t>
            </a:r>
          </a:p>
          <a:p>
            <a:pPr eaLnBrk="1" hangingPunct="1">
              <a:lnSpc>
                <a:spcPct val="80000"/>
              </a:lnSpc>
            </a:pPr>
            <a:r>
              <a:rPr lang="en-US" altLang="en-US" sz="2800" b="1" dirty="0"/>
              <a:t>Richness means owning what is enough for </a:t>
            </a:r>
            <a:r>
              <a:rPr lang="en-US" altLang="en-US" sz="2800" b="1" dirty="0" smtClean="0"/>
              <a:t>one’s need.</a:t>
            </a:r>
            <a:endParaRPr lang="en-US" altLang="en-US" sz="2800" b="1" dirty="0"/>
          </a:p>
        </p:txBody>
      </p:sp>
    </p:spTree>
    <p:extLst>
      <p:ext uri="{BB962C8B-B14F-4D97-AF65-F5344CB8AC3E}">
        <p14:creationId xmlns:p14="http://schemas.microsoft.com/office/powerpoint/2010/main" val="947765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09800" y="304800"/>
            <a:ext cx="7772400" cy="1143000"/>
          </a:xfrm>
        </p:spPr>
        <p:txBody>
          <a:bodyPr/>
          <a:lstStyle/>
          <a:p>
            <a:pPr eaLnBrk="1" hangingPunct="1"/>
            <a:r>
              <a:rPr lang="en-US" altLang="en-US" sz="4800" b="1" u="sng"/>
              <a:t>Administrators</a:t>
            </a:r>
          </a:p>
        </p:txBody>
      </p:sp>
      <p:sp>
        <p:nvSpPr>
          <p:cNvPr id="30723" name="Rectangle 3"/>
          <p:cNvSpPr>
            <a:spLocks noGrp="1" noChangeArrowheads="1"/>
          </p:cNvSpPr>
          <p:nvPr>
            <p:ph idx="1"/>
          </p:nvPr>
        </p:nvSpPr>
        <p:spPr>
          <a:xfrm>
            <a:off x="642891" y="1250272"/>
            <a:ext cx="8763000" cy="5029200"/>
          </a:xfrm>
        </p:spPr>
        <p:txBody>
          <a:bodyPr/>
          <a:lstStyle/>
          <a:p>
            <a:pPr marL="0" indent="0" eaLnBrk="1" hangingPunct="1">
              <a:buNone/>
            </a:pPr>
            <a:r>
              <a:rPr lang="en-US" altLang="en-US" sz="3600" dirty="0" err="1" smtClean="0">
                <a:solidFill>
                  <a:srgbClr val="FF0000"/>
                </a:solidFill>
              </a:rPr>
              <a:t>Aameleen</a:t>
            </a:r>
            <a:r>
              <a:rPr lang="en-US" altLang="en-US" sz="3600" dirty="0"/>
              <a:t>:</a:t>
            </a:r>
            <a:r>
              <a:rPr lang="en-US" altLang="en-US" sz="3600" dirty="0" smtClean="0"/>
              <a:t> Those who are </a:t>
            </a:r>
            <a:r>
              <a:rPr lang="en-US" altLang="en-US" sz="3600" dirty="0"/>
              <a:t>employed for </a:t>
            </a:r>
            <a:r>
              <a:rPr lang="en-US" altLang="en-US" sz="3600" dirty="0" smtClean="0"/>
              <a:t>collection </a:t>
            </a:r>
            <a:r>
              <a:rPr lang="en-US" altLang="en-US" sz="3600" dirty="0"/>
              <a:t>and maintenance of record, </a:t>
            </a:r>
            <a:r>
              <a:rPr lang="en-US" altLang="en-US" sz="3600" dirty="0" smtClean="0"/>
              <a:t>can be paid </a:t>
            </a:r>
            <a:r>
              <a:rPr lang="en-US" altLang="en-US" sz="3600" dirty="0"/>
              <a:t>from </a:t>
            </a:r>
            <a:r>
              <a:rPr lang="en-US" altLang="en-US" sz="3600" dirty="0" smtClean="0"/>
              <a:t>Zakat </a:t>
            </a:r>
            <a:r>
              <a:rPr lang="en-US" altLang="en-US" sz="3600" dirty="0"/>
              <a:t>even if they are </a:t>
            </a:r>
            <a:r>
              <a:rPr lang="en-US" altLang="en-US" sz="3600" dirty="0" smtClean="0"/>
              <a:t>rich.</a:t>
            </a:r>
            <a:endParaRPr lang="en-US" altLang="en-US" sz="3600" dirty="0"/>
          </a:p>
        </p:txBody>
      </p:sp>
    </p:spTree>
    <p:extLst>
      <p:ext uri="{BB962C8B-B14F-4D97-AF65-F5344CB8AC3E}">
        <p14:creationId xmlns:p14="http://schemas.microsoft.com/office/powerpoint/2010/main" val="1849383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b="1" u="sng" dirty="0" smtClean="0"/>
              <a:t>Influencing Hearts</a:t>
            </a:r>
          </a:p>
        </p:txBody>
      </p:sp>
      <p:sp>
        <p:nvSpPr>
          <p:cNvPr id="31747" name="Rectangle 3"/>
          <p:cNvSpPr>
            <a:spLocks noGrp="1" noChangeArrowheads="1"/>
          </p:cNvSpPr>
          <p:nvPr>
            <p:ph idx="1"/>
          </p:nvPr>
        </p:nvSpPr>
        <p:spPr>
          <a:xfrm>
            <a:off x="587202" y="1626833"/>
            <a:ext cx="8686800" cy="4343400"/>
          </a:xfrm>
        </p:spPr>
        <p:txBody>
          <a:bodyPr/>
          <a:lstStyle/>
          <a:p>
            <a:pPr marL="0" indent="0" eaLnBrk="1" hangingPunct="1">
              <a:buNone/>
            </a:pPr>
            <a:r>
              <a:rPr lang="en-US" altLang="en-US" sz="3600" dirty="0" err="1">
                <a:solidFill>
                  <a:srgbClr val="FF0000"/>
                </a:solidFill>
              </a:rPr>
              <a:t>Maallafatatil</a:t>
            </a:r>
            <a:r>
              <a:rPr lang="en-US" altLang="en-US" sz="3600" dirty="0">
                <a:solidFill>
                  <a:srgbClr val="FF0000"/>
                </a:solidFill>
              </a:rPr>
              <a:t> </a:t>
            </a:r>
            <a:r>
              <a:rPr lang="en-US" altLang="en-US" sz="3600" dirty="0" err="1" smtClean="0">
                <a:solidFill>
                  <a:srgbClr val="FF0000"/>
                </a:solidFill>
              </a:rPr>
              <a:t>Quloob</a:t>
            </a:r>
            <a:r>
              <a:rPr lang="en-US" altLang="en-US" sz="3600" dirty="0"/>
              <a:t>:</a:t>
            </a:r>
            <a:r>
              <a:rPr lang="en-US" altLang="en-US" sz="3600" dirty="0" smtClean="0"/>
              <a:t> Influenced </a:t>
            </a:r>
            <a:r>
              <a:rPr lang="en-US" altLang="en-US" sz="3600" dirty="0"/>
              <a:t>hearts towards Islam </a:t>
            </a:r>
            <a:r>
              <a:rPr lang="en-US" altLang="en-US" sz="3600" dirty="0" smtClean="0"/>
              <a:t>through charity or kindness.</a:t>
            </a:r>
            <a:endParaRPr lang="en-US" altLang="en-US" sz="3600" dirty="0"/>
          </a:p>
          <a:p>
            <a:pPr eaLnBrk="1" hangingPunct="1"/>
            <a:endParaRPr lang="en-US" altLang="en-US" sz="3600" b="1" dirty="0"/>
          </a:p>
          <a:p>
            <a:pPr marL="0" indent="0" eaLnBrk="1" hangingPunct="1">
              <a:buNone/>
            </a:pPr>
            <a:endParaRPr lang="en-US" altLang="en-US" sz="3600" b="1" dirty="0"/>
          </a:p>
        </p:txBody>
      </p:sp>
    </p:spTree>
    <p:extLst>
      <p:ext uri="{BB962C8B-B14F-4D97-AF65-F5344CB8AC3E}">
        <p14:creationId xmlns:p14="http://schemas.microsoft.com/office/powerpoint/2010/main" val="1620226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b="1" u="sng" smtClean="0"/>
              <a:t>Freeing from Bondage</a:t>
            </a:r>
          </a:p>
        </p:txBody>
      </p:sp>
      <p:sp>
        <p:nvSpPr>
          <p:cNvPr id="32771" name="Rectangle 3"/>
          <p:cNvSpPr>
            <a:spLocks noGrp="1" noChangeArrowheads="1"/>
          </p:cNvSpPr>
          <p:nvPr>
            <p:ph idx="1"/>
          </p:nvPr>
        </p:nvSpPr>
        <p:spPr>
          <a:xfrm>
            <a:off x="1140822" y="1606732"/>
            <a:ext cx="8763000" cy="4267200"/>
          </a:xfrm>
        </p:spPr>
        <p:txBody>
          <a:bodyPr/>
          <a:lstStyle/>
          <a:p>
            <a:pPr eaLnBrk="1" hangingPunct="1"/>
            <a:r>
              <a:rPr lang="en-US" altLang="en-US" sz="3600" dirty="0" smtClean="0">
                <a:solidFill>
                  <a:srgbClr val="FF0000"/>
                </a:solidFill>
              </a:rPr>
              <a:t>Riqab</a:t>
            </a:r>
            <a:r>
              <a:rPr lang="en-US" altLang="en-US" sz="3600" dirty="0" smtClean="0"/>
              <a:t>: signifies </a:t>
            </a:r>
            <a:r>
              <a:rPr lang="en-US" altLang="en-US" sz="3600" dirty="0"/>
              <a:t>someone who is freed from </a:t>
            </a:r>
            <a:r>
              <a:rPr lang="en-US" altLang="en-US" sz="3600" dirty="0" smtClean="0"/>
              <a:t>bondage.</a:t>
            </a:r>
            <a:endParaRPr lang="en-US" altLang="en-US" sz="3600" dirty="0"/>
          </a:p>
          <a:p>
            <a:pPr eaLnBrk="1" hangingPunct="1"/>
            <a:endParaRPr lang="en-US" altLang="en-US" sz="3600" dirty="0"/>
          </a:p>
          <a:p>
            <a:pPr eaLnBrk="1" hangingPunct="1"/>
            <a:r>
              <a:rPr lang="en-US" altLang="en-US" sz="3600" dirty="0" smtClean="0"/>
              <a:t>Captives </a:t>
            </a:r>
            <a:r>
              <a:rPr lang="en-US" altLang="en-US" sz="3600" dirty="0"/>
              <a:t>of war</a:t>
            </a:r>
          </a:p>
          <a:p>
            <a:pPr eaLnBrk="1" hangingPunct="1"/>
            <a:endParaRPr lang="en-US" altLang="en-US" sz="3600" b="1" dirty="0"/>
          </a:p>
        </p:txBody>
      </p:sp>
    </p:spTree>
    <p:extLst>
      <p:ext uri="{BB962C8B-B14F-4D97-AF65-F5344CB8AC3E}">
        <p14:creationId xmlns:p14="http://schemas.microsoft.com/office/powerpoint/2010/main" val="15483418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133600" y="304800"/>
            <a:ext cx="7772400" cy="1143000"/>
          </a:xfrm>
        </p:spPr>
        <p:txBody>
          <a:bodyPr/>
          <a:lstStyle/>
          <a:p>
            <a:pPr eaLnBrk="1" hangingPunct="1"/>
            <a:r>
              <a:rPr lang="en-US" altLang="en-US" sz="4800" b="1" u="sng"/>
              <a:t>Debtors</a:t>
            </a:r>
          </a:p>
        </p:txBody>
      </p:sp>
      <p:sp>
        <p:nvSpPr>
          <p:cNvPr id="133123" name="Rectangle 3"/>
          <p:cNvSpPr>
            <a:spLocks noGrp="1" noChangeArrowheads="1"/>
          </p:cNvSpPr>
          <p:nvPr>
            <p:ph idx="1"/>
          </p:nvPr>
        </p:nvSpPr>
        <p:spPr>
          <a:xfrm>
            <a:off x="603682" y="1447800"/>
            <a:ext cx="8610600" cy="4953000"/>
          </a:xfrm>
        </p:spPr>
        <p:txBody>
          <a:bodyPr>
            <a:normAutofit/>
          </a:bodyPr>
          <a:lstStyle/>
          <a:p>
            <a:pPr marL="420624" indent="-384048">
              <a:buFont typeface="Wingdings 2"/>
              <a:buChar char=""/>
              <a:defRPr/>
            </a:pPr>
            <a:r>
              <a:rPr lang="en-US" sz="3200" dirty="0" err="1" smtClean="0">
                <a:solidFill>
                  <a:srgbClr val="FF0000"/>
                </a:solidFill>
              </a:rPr>
              <a:t>Gharimeen</a:t>
            </a:r>
            <a:r>
              <a:rPr lang="en-US" sz="3200" dirty="0"/>
              <a:t>:</a:t>
            </a:r>
            <a:r>
              <a:rPr lang="en-US" sz="3200" dirty="0" smtClean="0"/>
              <a:t> bankrupts </a:t>
            </a:r>
            <a:endParaRPr lang="en-US" sz="3200" dirty="0"/>
          </a:p>
          <a:p>
            <a:pPr marL="420624" indent="-384048">
              <a:buFont typeface="Wingdings 2"/>
              <a:buChar char=""/>
              <a:defRPr/>
            </a:pPr>
            <a:r>
              <a:rPr lang="en-US" sz="3200" dirty="0"/>
              <a:t>Condition that debtor himself should not possess sufficient funds or goods to clear the </a:t>
            </a:r>
            <a:r>
              <a:rPr lang="en-US" sz="3200" dirty="0" smtClean="0"/>
              <a:t>debt.</a:t>
            </a:r>
            <a:endParaRPr lang="en-US" sz="3200" dirty="0"/>
          </a:p>
          <a:p>
            <a:pPr marL="420624" indent="-384048">
              <a:buFont typeface="Wingdings 2"/>
              <a:buChar char=""/>
              <a:defRPr/>
            </a:pPr>
            <a:r>
              <a:rPr lang="en-US" sz="3200" dirty="0"/>
              <a:t>Debt incurred for legitimate purpose incl. Blood money, unexpected penalty and not due to gambling, drinking, intoxicants or lavish expense in </a:t>
            </a:r>
            <a:r>
              <a:rPr lang="en-US" sz="3200" dirty="0" smtClean="0"/>
              <a:t>marriage.</a:t>
            </a:r>
            <a:endParaRPr lang="en-US" sz="3200" dirty="0"/>
          </a:p>
          <a:p>
            <a:pPr marL="420624" indent="-384048">
              <a:buFont typeface="Wingdings 2"/>
              <a:buChar char=""/>
              <a:defRPr/>
            </a:pPr>
            <a:endParaRPr lang="en-US" sz="3600" b="1" dirty="0"/>
          </a:p>
        </p:txBody>
      </p:sp>
    </p:spTree>
    <p:extLst>
      <p:ext uri="{BB962C8B-B14F-4D97-AF65-F5344CB8AC3E}">
        <p14:creationId xmlns:p14="http://schemas.microsoft.com/office/powerpoint/2010/main" val="3493082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z="4800" b="1" u="sng"/>
              <a:t>In Way of Allah</a:t>
            </a:r>
          </a:p>
        </p:txBody>
      </p:sp>
      <p:sp>
        <p:nvSpPr>
          <p:cNvPr id="34819" name="Rectangle 3"/>
          <p:cNvSpPr>
            <a:spLocks noGrp="1" noChangeArrowheads="1"/>
          </p:cNvSpPr>
          <p:nvPr>
            <p:ph idx="1"/>
          </p:nvPr>
        </p:nvSpPr>
        <p:spPr>
          <a:xfrm>
            <a:off x="591105" y="1861352"/>
            <a:ext cx="8534400" cy="4267200"/>
          </a:xfrm>
        </p:spPr>
        <p:txBody>
          <a:bodyPr/>
          <a:lstStyle/>
          <a:p>
            <a:pPr marL="0" indent="0" eaLnBrk="1" hangingPunct="1">
              <a:buNone/>
            </a:pPr>
            <a:r>
              <a:rPr lang="en-US" altLang="en-US" sz="3600" b="1" dirty="0">
                <a:solidFill>
                  <a:srgbClr val="FF0000"/>
                </a:solidFill>
              </a:rPr>
              <a:t>Fe </a:t>
            </a:r>
            <a:r>
              <a:rPr lang="en-US" altLang="en-US" sz="3600" b="1" dirty="0" smtClean="0">
                <a:solidFill>
                  <a:srgbClr val="FF0000"/>
                </a:solidFill>
              </a:rPr>
              <a:t>sabeelillah</a:t>
            </a:r>
            <a:r>
              <a:rPr lang="en-US" altLang="en-US" sz="3600" b="1" dirty="0"/>
              <a:t>:</a:t>
            </a:r>
            <a:r>
              <a:rPr lang="en-US" altLang="en-US" sz="3600" b="1" dirty="0" smtClean="0"/>
              <a:t> </a:t>
            </a:r>
            <a:r>
              <a:rPr lang="en-US" altLang="en-US" sz="3600" dirty="0"/>
              <a:t>Wide </a:t>
            </a:r>
            <a:r>
              <a:rPr lang="en-US" altLang="en-US" sz="3600" dirty="0" smtClean="0"/>
              <a:t>interpretation</a:t>
            </a:r>
            <a:endParaRPr lang="en-US" altLang="en-US" sz="3600" dirty="0"/>
          </a:p>
          <a:p>
            <a:pPr eaLnBrk="1" hangingPunct="1">
              <a:buFont typeface="Wingdings" panose="05000000000000000000" pitchFamily="2" charset="2"/>
              <a:buChar char="§"/>
            </a:pPr>
            <a:r>
              <a:rPr lang="en-US" altLang="en-US" sz="3600" dirty="0" smtClean="0"/>
              <a:t>Including Jihad</a:t>
            </a:r>
          </a:p>
          <a:p>
            <a:pPr eaLnBrk="1" hangingPunct="1">
              <a:buFont typeface="Wingdings" panose="05000000000000000000" pitchFamily="2" charset="2"/>
              <a:buChar char="§"/>
            </a:pPr>
            <a:r>
              <a:rPr lang="en-US" altLang="en-US" sz="3600" dirty="0" smtClean="0"/>
              <a:t>invitation </a:t>
            </a:r>
            <a:r>
              <a:rPr lang="en-US" altLang="en-US" sz="3600" dirty="0"/>
              <a:t>to </a:t>
            </a:r>
            <a:r>
              <a:rPr lang="en-US" altLang="en-US" sz="3600" dirty="0" smtClean="0"/>
              <a:t>Islam</a:t>
            </a:r>
          </a:p>
          <a:p>
            <a:pPr eaLnBrk="1" hangingPunct="1">
              <a:buFont typeface="Wingdings" panose="05000000000000000000" pitchFamily="2" charset="2"/>
              <a:buChar char="§"/>
            </a:pPr>
            <a:r>
              <a:rPr lang="en-US" altLang="en-US" sz="3600" dirty="0" smtClean="0"/>
              <a:t>education </a:t>
            </a:r>
          </a:p>
          <a:p>
            <a:pPr eaLnBrk="1" hangingPunct="1">
              <a:buFont typeface="Wingdings" panose="05000000000000000000" pitchFamily="2" charset="2"/>
              <a:buChar char="§"/>
            </a:pPr>
            <a:r>
              <a:rPr lang="en-US" altLang="en-US" sz="3600" dirty="0" smtClean="0"/>
              <a:t>anything </a:t>
            </a:r>
            <a:r>
              <a:rPr lang="en-US" altLang="en-US" sz="3600" dirty="0"/>
              <a:t>serving the cause of Islam</a:t>
            </a:r>
          </a:p>
        </p:txBody>
      </p:sp>
    </p:spTree>
    <p:extLst>
      <p:ext uri="{BB962C8B-B14F-4D97-AF65-F5344CB8AC3E}">
        <p14:creationId xmlns:p14="http://schemas.microsoft.com/office/powerpoint/2010/main" val="1784111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sz="5400" b="1" u="sng"/>
              <a:t>Traveler</a:t>
            </a:r>
          </a:p>
        </p:txBody>
      </p:sp>
      <p:sp>
        <p:nvSpPr>
          <p:cNvPr id="35843" name="Rectangle 3"/>
          <p:cNvSpPr>
            <a:spLocks noGrp="1" noChangeArrowheads="1"/>
          </p:cNvSpPr>
          <p:nvPr>
            <p:ph idx="1"/>
          </p:nvPr>
        </p:nvSpPr>
        <p:spPr>
          <a:xfrm>
            <a:off x="408373" y="1829539"/>
            <a:ext cx="8534400" cy="4267200"/>
          </a:xfrm>
        </p:spPr>
        <p:txBody>
          <a:bodyPr/>
          <a:lstStyle/>
          <a:p>
            <a:pPr marL="0" indent="0" eaLnBrk="1" hangingPunct="1">
              <a:buNone/>
            </a:pPr>
            <a:r>
              <a:rPr lang="en-US" altLang="en-US" sz="3600" b="1" dirty="0" err="1">
                <a:solidFill>
                  <a:srgbClr val="FF0000"/>
                </a:solidFill>
              </a:rPr>
              <a:t>Ibnis</a:t>
            </a:r>
            <a:r>
              <a:rPr lang="en-US" altLang="en-US" sz="3600" b="1" dirty="0">
                <a:solidFill>
                  <a:srgbClr val="FF0000"/>
                </a:solidFill>
              </a:rPr>
              <a:t> </a:t>
            </a:r>
            <a:r>
              <a:rPr lang="en-US" altLang="en-US" sz="3600" b="1" dirty="0" err="1" smtClean="0">
                <a:solidFill>
                  <a:srgbClr val="FF0000"/>
                </a:solidFill>
              </a:rPr>
              <a:t>Sabeel</a:t>
            </a:r>
            <a:r>
              <a:rPr lang="en-US" altLang="en-US" sz="3600" b="1" dirty="0"/>
              <a:t>:</a:t>
            </a:r>
            <a:r>
              <a:rPr lang="en-US" altLang="en-US" sz="3600" b="1" dirty="0" smtClean="0"/>
              <a:t> </a:t>
            </a:r>
            <a:r>
              <a:rPr lang="en-US" altLang="en-US" sz="3600" dirty="0"/>
              <a:t>Can be paid from </a:t>
            </a:r>
            <a:r>
              <a:rPr lang="en-US" altLang="en-US" sz="3600" dirty="0" smtClean="0"/>
              <a:t>Zakat </a:t>
            </a:r>
            <a:r>
              <a:rPr lang="en-US" altLang="en-US" sz="3600" dirty="0"/>
              <a:t>even though he may be rich at </a:t>
            </a:r>
            <a:r>
              <a:rPr lang="en-US" altLang="en-US" sz="3600" dirty="0" smtClean="0"/>
              <a:t>home if </a:t>
            </a:r>
            <a:r>
              <a:rPr lang="en-US" altLang="en-US" sz="3600" dirty="0"/>
              <a:t>during the journey he becomes destitute and unable to meet his expenses to </a:t>
            </a:r>
            <a:r>
              <a:rPr lang="en-US" altLang="en-US" sz="3600" dirty="0" smtClean="0"/>
              <a:t>return.</a:t>
            </a:r>
            <a:endParaRPr lang="en-US" altLang="en-US" sz="3600" dirty="0"/>
          </a:p>
          <a:p>
            <a:pPr eaLnBrk="1" hangingPunct="1"/>
            <a:endParaRPr lang="en-US" altLang="en-US" sz="3600" b="1" dirty="0"/>
          </a:p>
        </p:txBody>
      </p:sp>
    </p:spTree>
    <p:extLst>
      <p:ext uri="{BB962C8B-B14F-4D97-AF65-F5344CB8AC3E}">
        <p14:creationId xmlns:p14="http://schemas.microsoft.com/office/powerpoint/2010/main" val="1006945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133600" y="152400"/>
            <a:ext cx="7772400" cy="1143000"/>
          </a:xfrm>
        </p:spPr>
        <p:txBody>
          <a:bodyPr/>
          <a:lstStyle/>
          <a:p>
            <a:pPr eaLnBrk="1" hangingPunct="1"/>
            <a:r>
              <a:rPr lang="en-US" altLang="en-US" b="1" u="sng" smtClean="0"/>
              <a:t>Where zakat can</a:t>
            </a:r>
            <a:r>
              <a:rPr lang="en-US" altLang="en-US" b="1" u="sng" smtClean="0">
                <a:latin typeface="Times New Roman" panose="02020603050405020304" pitchFamily="18" charset="0"/>
              </a:rPr>
              <a:t>’</a:t>
            </a:r>
            <a:r>
              <a:rPr lang="en-US" altLang="en-US" b="1" u="sng" smtClean="0"/>
              <a:t>t be used</a:t>
            </a:r>
          </a:p>
        </p:txBody>
      </p:sp>
      <p:sp>
        <p:nvSpPr>
          <p:cNvPr id="37891" name="Rectangle 3"/>
          <p:cNvSpPr>
            <a:spLocks noGrp="1" noChangeArrowheads="1"/>
          </p:cNvSpPr>
          <p:nvPr>
            <p:ph idx="1"/>
          </p:nvPr>
        </p:nvSpPr>
        <p:spPr>
          <a:xfrm>
            <a:off x="878149" y="1295400"/>
            <a:ext cx="7772400" cy="4572000"/>
          </a:xfrm>
        </p:spPr>
        <p:txBody>
          <a:bodyPr/>
          <a:lstStyle/>
          <a:p>
            <a:pPr eaLnBrk="1" hangingPunct="1"/>
            <a:r>
              <a:rPr lang="en-US" altLang="en-US" sz="2800" b="1" dirty="0" smtClean="0"/>
              <a:t>For persons with sufficient / adequate means of living</a:t>
            </a:r>
          </a:p>
          <a:p>
            <a:pPr eaLnBrk="1" hangingPunct="1"/>
            <a:r>
              <a:rPr lang="en-US" altLang="en-US" sz="2800" b="1" dirty="0" smtClean="0"/>
              <a:t>For one’s dependents  like children</a:t>
            </a:r>
          </a:p>
          <a:p>
            <a:pPr eaLnBrk="1" hangingPunct="1"/>
            <a:r>
              <a:rPr lang="en-US" altLang="en-US" sz="2800" b="1" dirty="0"/>
              <a:t>F</a:t>
            </a:r>
            <a:r>
              <a:rPr lang="en-US" altLang="en-US" sz="2800" b="1" dirty="0" smtClean="0"/>
              <a:t>or investments</a:t>
            </a:r>
          </a:p>
          <a:p>
            <a:pPr eaLnBrk="1" hangingPunct="1"/>
            <a:r>
              <a:rPr lang="en-US" altLang="en-US" sz="2800" b="1" dirty="0" smtClean="0"/>
              <a:t>Buying luxury goods</a:t>
            </a:r>
          </a:p>
          <a:p>
            <a:pPr eaLnBrk="1" hangingPunct="1"/>
            <a:r>
              <a:rPr lang="en-US" altLang="en-US" sz="2800" b="1" dirty="0" smtClean="0"/>
              <a:t>On wasteful Activities</a:t>
            </a:r>
          </a:p>
          <a:p>
            <a:pPr eaLnBrk="1" hangingPunct="1"/>
            <a:r>
              <a:rPr lang="en-US" altLang="en-US" sz="2800" b="1" dirty="0" smtClean="0"/>
              <a:t>On road works and infrastructure</a:t>
            </a:r>
          </a:p>
          <a:p>
            <a:pPr eaLnBrk="1" hangingPunct="1"/>
            <a:endParaRPr lang="en-US" altLang="en-US" sz="2800" dirty="0" smtClean="0"/>
          </a:p>
          <a:p>
            <a:pPr eaLnBrk="1" hangingPunct="1"/>
            <a:endParaRPr lang="en-US" altLang="en-US" dirty="0" smtClean="0"/>
          </a:p>
        </p:txBody>
      </p:sp>
    </p:spTree>
    <p:extLst>
      <p:ext uri="{BB962C8B-B14F-4D97-AF65-F5344CB8AC3E}">
        <p14:creationId xmlns:p14="http://schemas.microsoft.com/office/powerpoint/2010/main" val="2846504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58592"/>
          </a:xfrm>
        </p:spPr>
        <p:txBody>
          <a:bodyPr>
            <a:normAutofit fontScale="90000"/>
          </a:bodyPr>
          <a:lstStyle/>
          <a:p>
            <a:r>
              <a:rPr lang="en-US" dirty="0"/>
              <a:t>Objectives of Zakat</a:t>
            </a:r>
            <a:br>
              <a:rPr lang="en-US" dirty="0"/>
            </a:br>
            <a:endParaRPr lang="en-US" dirty="0"/>
          </a:p>
        </p:txBody>
      </p:sp>
      <p:sp>
        <p:nvSpPr>
          <p:cNvPr id="3" name="Content Placeholder 2"/>
          <p:cNvSpPr>
            <a:spLocks noGrp="1"/>
          </p:cNvSpPr>
          <p:nvPr>
            <p:ph idx="1"/>
          </p:nvPr>
        </p:nvSpPr>
        <p:spPr>
          <a:xfrm>
            <a:off x="677334" y="1378039"/>
            <a:ext cx="8596668" cy="4663323"/>
          </a:xfrm>
        </p:spPr>
        <p:txBody>
          <a:bodyPr>
            <a:normAutofit/>
          </a:bodyPr>
          <a:lstStyle/>
          <a:p>
            <a:r>
              <a:rPr lang="en-US" b="1" dirty="0"/>
              <a:t>Islam neither approves of </a:t>
            </a:r>
            <a:r>
              <a:rPr lang="en-US" b="1" dirty="0">
                <a:solidFill>
                  <a:srgbClr val="FF0000"/>
                </a:solidFill>
              </a:rPr>
              <a:t>hoarding and unlimited building up of capital</a:t>
            </a:r>
            <a:r>
              <a:rPr lang="en-US" b="1" dirty="0"/>
              <a:t>, nor of </a:t>
            </a:r>
            <a:r>
              <a:rPr lang="en-US" b="1" dirty="0">
                <a:solidFill>
                  <a:srgbClr val="FF0000"/>
                </a:solidFill>
              </a:rPr>
              <a:t>compulsory equal distribution of wealth</a:t>
            </a:r>
            <a:r>
              <a:rPr lang="en-US" b="1" dirty="0"/>
              <a:t>, as both are unjust</a:t>
            </a:r>
            <a:r>
              <a:rPr lang="en-US" b="1" dirty="0" smtClean="0"/>
              <a:t>.</a:t>
            </a:r>
          </a:p>
          <a:p>
            <a:pPr>
              <a:buFont typeface="Wingdings" panose="05000000000000000000" pitchFamily="2" charset="2"/>
              <a:buChar char="q"/>
            </a:pPr>
            <a:r>
              <a:rPr lang="en-GB" b="1" dirty="0"/>
              <a:t> The economic objective of Islam is just and humane. distribution of wealth, as stated in </a:t>
            </a:r>
            <a:r>
              <a:rPr lang="en-GB" b="1" dirty="0" smtClean="0"/>
              <a:t>Qur'an:</a:t>
            </a:r>
          </a:p>
          <a:p>
            <a:pPr marL="0" indent="0" algn="r">
              <a:buNone/>
            </a:pPr>
            <a:r>
              <a:rPr lang="ar-AE" dirty="0"/>
              <a:t>كَيْ لَا يَكُونَ دُولَةً بَيْنَ الْأَغْنِيَاءِ مِنكُمْ </a:t>
            </a:r>
            <a:endParaRPr lang="en-GB" b="1" dirty="0" smtClean="0"/>
          </a:p>
          <a:p>
            <a:pPr>
              <a:buFont typeface="Wingdings" panose="05000000000000000000" pitchFamily="2" charset="2"/>
              <a:buChar char="q"/>
            </a:pPr>
            <a:r>
              <a:rPr lang="en-GB" b="1" dirty="0"/>
              <a:t>"...so that this (wealth) may not circulate solely among the </a:t>
            </a:r>
            <a:r>
              <a:rPr lang="en-GB" b="1"/>
              <a:t>rich </a:t>
            </a:r>
            <a:r>
              <a:rPr lang="en-GB" b="1" smtClean="0"/>
              <a:t>from </a:t>
            </a:r>
            <a:r>
              <a:rPr lang="en-GB" b="1" dirty="0"/>
              <a:t>you." (59:7</a:t>
            </a:r>
            <a:r>
              <a:rPr lang="en-GB" b="1" dirty="0" smtClean="0"/>
              <a:t>)</a:t>
            </a:r>
          </a:p>
        </p:txBody>
      </p:sp>
    </p:spTree>
    <p:extLst>
      <p:ext uri="{BB962C8B-B14F-4D97-AF65-F5344CB8AC3E}">
        <p14:creationId xmlns:p14="http://schemas.microsoft.com/office/powerpoint/2010/main" val="405942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6214"/>
            <a:ext cx="8596668" cy="669701"/>
          </a:xfrm>
        </p:spPr>
        <p:txBody>
          <a:bodyPr>
            <a:normAutofit/>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677334" y="1378039"/>
            <a:ext cx="8596668" cy="4881093"/>
          </a:xfrm>
        </p:spPr>
        <p:txBody>
          <a:bodyPr/>
          <a:lstStyle/>
          <a:p>
            <a:r>
              <a:rPr lang="en-GB" b="1" i="1" dirty="0"/>
              <a:t>Zakat </a:t>
            </a:r>
            <a:r>
              <a:rPr lang="en-GB" b="1" dirty="0"/>
              <a:t>, when honestly practiced, results in freeing the society from class distinctions, rivalries, suspicion and corruption</a:t>
            </a:r>
            <a:r>
              <a:rPr lang="en-GB" b="1" dirty="0" smtClean="0"/>
              <a:t>.</a:t>
            </a:r>
          </a:p>
          <a:p>
            <a:r>
              <a:rPr lang="en-GB" b="1" dirty="0"/>
              <a:t>It produces a community of people who love and respect each other, and who have sympathy and concern for each other's welfare</a:t>
            </a:r>
            <a:r>
              <a:rPr lang="en-GB" b="1" dirty="0" smtClean="0"/>
              <a:t>.</a:t>
            </a:r>
          </a:p>
          <a:p>
            <a:r>
              <a:rPr lang="en-GB" b="1" dirty="0" smtClean="0"/>
              <a:t>while </a:t>
            </a:r>
            <a:r>
              <a:rPr lang="en-GB" b="1" dirty="0"/>
              <a:t>those who are poor have the obligation to be patient, to work to improve their situation, and to be free of envy</a:t>
            </a:r>
          </a:p>
          <a:p>
            <a:r>
              <a:rPr lang="en-US" b="1" dirty="0"/>
              <a:t>Qur'an tells us that it is not a man's wealth or position but his God-consciousness, the quality of his character, and the manner in which he uses whatever is given to him by God which determines his ultimate destiny in the Hereafter. </a:t>
            </a:r>
            <a:endParaRPr lang="en-US" dirty="0"/>
          </a:p>
          <a:p>
            <a:endParaRPr lang="en-US" dirty="0"/>
          </a:p>
        </p:txBody>
      </p:sp>
    </p:spTree>
    <p:extLst>
      <p:ext uri="{BB962C8B-B14F-4D97-AF65-F5344CB8AC3E}">
        <p14:creationId xmlns:p14="http://schemas.microsoft.com/office/powerpoint/2010/main" val="93153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77334" y="609600"/>
            <a:ext cx="8596668" cy="866503"/>
          </a:xfrm>
        </p:spPr>
        <p:txBody>
          <a:bodyPr/>
          <a:lstStyle/>
          <a:p>
            <a:pPr algn="ctr" eaLnBrk="1" hangingPunct="1"/>
            <a:r>
              <a:rPr lang="en-US" altLang="en-US" b="1" u="sng" dirty="0" smtClean="0"/>
              <a:t>Objectives of </a:t>
            </a:r>
            <a:r>
              <a:rPr lang="en-US" altLang="en-US" b="1" u="sng" dirty="0" err="1" smtClean="0"/>
              <a:t>Zakat</a:t>
            </a:r>
            <a:endParaRPr lang="en-US" altLang="en-US" b="1" u="sng" dirty="0" smtClean="0"/>
          </a:p>
        </p:txBody>
      </p:sp>
      <p:sp>
        <p:nvSpPr>
          <p:cNvPr id="14339" name="Rectangle 3"/>
          <p:cNvSpPr>
            <a:spLocks noGrp="1" noChangeArrowheads="1"/>
          </p:cNvSpPr>
          <p:nvPr>
            <p:ph idx="1"/>
          </p:nvPr>
        </p:nvSpPr>
        <p:spPr>
          <a:xfrm>
            <a:off x="2209800" y="1981200"/>
            <a:ext cx="7772400" cy="4648200"/>
          </a:xfrm>
        </p:spPr>
        <p:txBody>
          <a:bodyPr/>
          <a:lstStyle/>
          <a:p>
            <a:pPr eaLnBrk="1" hangingPunct="1"/>
            <a:r>
              <a:rPr lang="en-US" altLang="en-US" dirty="0" smtClean="0"/>
              <a:t>Establish a welfare System in the Society</a:t>
            </a:r>
          </a:p>
          <a:p>
            <a:pPr eaLnBrk="1" hangingPunct="1"/>
            <a:r>
              <a:rPr lang="en-US" altLang="en-US" dirty="0" smtClean="0"/>
              <a:t>Ensure circulation of wealth</a:t>
            </a:r>
          </a:p>
          <a:p>
            <a:pPr eaLnBrk="1" hangingPunct="1"/>
            <a:r>
              <a:rPr lang="en-US" altLang="en-US" dirty="0" smtClean="0"/>
              <a:t>Create spirit of sharing</a:t>
            </a:r>
          </a:p>
          <a:p>
            <a:pPr eaLnBrk="1" hangingPunct="1"/>
            <a:r>
              <a:rPr lang="en-US" altLang="en-US" dirty="0" smtClean="0"/>
              <a:t>Reduce love for Wealth</a:t>
            </a:r>
          </a:p>
          <a:p>
            <a:pPr eaLnBrk="1" hangingPunct="1"/>
            <a:r>
              <a:rPr lang="en-US" altLang="en-US" dirty="0" smtClean="0"/>
              <a:t>Generate harmony/love in the community</a:t>
            </a:r>
          </a:p>
          <a:p>
            <a:pPr marL="342900" lvl="2" indent="-342900"/>
            <a:r>
              <a:rPr lang="en-US" altLang="en-US" sz="1800" dirty="0" smtClean="0">
                <a:solidFill>
                  <a:schemeClr val="tx1">
                    <a:lumMod val="65000"/>
                    <a:lumOff val="35000"/>
                  </a:schemeClr>
                </a:solidFill>
              </a:rPr>
              <a:t>A Way to Earn Rewards</a:t>
            </a:r>
          </a:p>
          <a:p>
            <a:pPr eaLnBrk="1" hangingPunct="1">
              <a:buNone/>
            </a:pPr>
            <a:endParaRPr lang="en-US" altLang="en-US" dirty="0" smtClean="0"/>
          </a:p>
        </p:txBody>
      </p:sp>
    </p:spTree>
    <p:extLst>
      <p:ext uri="{BB962C8B-B14F-4D97-AF65-F5344CB8AC3E}">
        <p14:creationId xmlns:p14="http://schemas.microsoft.com/office/powerpoint/2010/main" val="997210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378</TotalTime>
  <Words>811</Words>
  <Application>Microsoft Office PowerPoint</Application>
  <PresentationFormat>Widescreen</PresentationFormat>
  <Paragraphs>140</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Tahoma</vt:lpstr>
      <vt:lpstr>Times New Roman</vt:lpstr>
      <vt:lpstr>Trebuchet MS</vt:lpstr>
      <vt:lpstr>Wingdings</vt:lpstr>
      <vt:lpstr>Wingdings 2</vt:lpstr>
      <vt:lpstr>Wingdings 3</vt:lpstr>
      <vt:lpstr>Facet</vt:lpstr>
      <vt:lpstr>PowerPoint Presentation</vt:lpstr>
      <vt:lpstr>Zakat (Poor's due)</vt:lpstr>
      <vt:lpstr>Meaning and Concepts</vt:lpstr>
      <vt:lpstr>Importance of Zakat in the light of Quran</vt:lpstr>
      <vt:lpstr>Cont.</vt:lpstr>
      <vt:lpstr>Importance of Zakat in the light of Hadith</vt:lpstr>
      <vt:lpstr>Philosophy</vt:lpstr>
      <vt:lpstr>Who should pay zakat</vt:lpstr>
      <vt:lpstr>Typical Things on which Zakat  is  Applicable </vt:lpstr>
      <vt:lpstr>Effective Rate  P.A</vt:lpstr>
      <vt:lpstr>Zakat is not a Tax</vt:lpstr>
      <vt:lpstr>Recipient of Zakat </vt:lpstr>
      <vt:lpstr>Fuqara &amp; Maskeen</vt:lpstr>
      <vt:lpstr>Administrators</vt:lpstr>
      <vt:lpstr>Influencing Hearts</vt:lpstr>
      <vt:lpstr>Freeing from Bondage</vt:lpstr>
      <vt:lpstr>Debtors</vt:lpstr>
      <vt:lpstr>In Way of Allah</vt:lpstr>
      <vt:lpstr>Traveler</vt:lpstr>
      <vt:lpstr>Where zakat can’t be used</vt:lpstr>
      <vt:lpstr>Objectives of Zakat </vt:lpstr>
      <vt:lpstr>Cont:</vt:lpstr>
      <vt:lpstr>Objectives of Zakat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Zakat Meaning and Concepts</dc:title>
  <dc:creator>student</dc:creator>
  <cp:lastModifiedBy>Microsoft</cp:lastModifiedBy>
  <cp:revision>57</cp:revision>
  <dcterms:created xsi:type="dcterms:W3CDTF">2016-02-01T07:13:47Z</dcterms:created>
  <dcterms:modified xsi:type="dcterms:W3CDTF">2021-04-22T09:04:53Z</dcterms:modified>
</cp:coreProperties>
</file>