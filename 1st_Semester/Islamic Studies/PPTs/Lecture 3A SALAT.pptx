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63" r:id="rId4"/>
    <p:sldId id="257" r:id="rId5"/>
    <p:sldId id="259" r:id="rId6"/>
    <p:sldId id="258" r:id="rId7"/>
    <p:sldId id="262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24-Mar-21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lah" TargetMode="External"/><Relationship Id="rId2" Type="http://schemas.openxmlformats.org/officeDocument/2006/relationships/hyperlink" Target="https://en.wikipedia.org/wiki/Prophets_and_messengers_in_Isla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ezsoftech.com/islamic/meraj.as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335" y="141668"/>
            <a:ext cx="11642502" cy="875763"/>
          </a:xfrm>
        </p:spPr>
        <p:txBody>
          <a:bodyPr/>
          <a:lstStyle/>
          <a:p>
            <a:pPr algn="l"/>
            <a:r>
              <a:rPr lang="en-US" sz="3200" b="1" dirty="0" smtClean="0"/>
              <a:t>             MEANING </a:t>
            </a:r>
            <a:r>
              <a:rPr lang="en-US" sz="3200" b="1" dirty="0" smtClean="0"/>
              <a:t>AND CONCEPT OF SALAT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006" y="1107584"/>
            <a:ext cx="9427335" cy="4546242"/>
          </a:xfrm>
        </p:spPr>
        <p:txBody>
          <a:bodyPr>
            <a:normAutofit/>
          </a:bodyPr>
          <a:lstStyle/>
          <a:p>
            <a:pPr algn="l"/>
            <a:r>
              <a:rPr lang="ar-AE" sz="2800" b="1" dirty="0"/>
              <a:t>ص ل و </a:t>
            </a:r>
            <a:r>
              <a:rPr lang="en-US" sz="2800" b="1" dirty="0" smtClean="0"/>
              <a:t>    </a:t>
            </a:r>
          </a:p>
          <a:p>
            <a:pPr algn="l"/>
            <a:r>
              <a:rPr lang="en-US" sz="2800" dirty="0"/>
              <a:t>P</a:t>
            </a:r>
            <a:r>
              <a:rPr lang="en-US" sz="2800" dirty="0" smtClean="0"/>
              <a:t>rayer </a:t>
            </a:r>
            <a:endParaRPr lang="en-US" sz="2800" dirty="0" smtClean="0"/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800" dirty="0" smtClean="0"/>
              <a:t>Supplication / Dua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800" dirty="0" smtClean="0"/>
              <a:t>Commendation / </a:t>
            </a:r>
            <a:r>
              <a:rPr lang="en-US" sz="2800" dirty="0" smtClean="0"/>
              <a:t>H</a:t>
            </a:r>
            <a:r>
              <a:rPr lang="en-US" sz="2800" dirty="0" smtClean="0"/>
              <a:t>onour</a:t>
            </a:r>
            <a:endParaRPr lang="en-US" sz="2800" dirty="0" smtClean="0"/>
          </a:p>
          <a:p>
            <a:pPr marL="457200" indent="-457200" algn="l">
              <a:buFont typeface="Wingdings" pitchFamily="2" charset="2"/>
              <a:buChar char="q"/>
            </a:pPr>
            <a:r>
              <a:rPr lang="en-US" sz="2800" i="1" dirty="0"/>
              <a:t>Salat </a:t>
            </a:r>
            <a:r>
              <a:rPr lang="en-US" sz="2800" dirty="0"/>
              <a:t>means a special form of </a:t>
            </a:r>
            <a:r>
              <a:rPr lang="en-US" sz="2800" dirty="0" smtClean="0"/>
              <a:t>worship, performed on its specific time. </a:t>
            </a:r>
            <a:endParaRPr lang="en-US" sz="2800" dirty="0"/>
          </a:p>
          <a:p>
            <a:pPr algn="l"/>
            <a:endParaRPr lang="en-US" sz="2800" dirty="0" smtClean="0"/>
          </a:p>
          <a:p>
            <a:pPr algn="l"/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09402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875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Importance of Salat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54481"/>
            <a:ext cx="8596668" cy="448688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 All </a:t>
            </a:r>
            <a:r>
              <a:rPr lang="en-US" sz="2400" dirty="0" smtClean="0">
                <a:hlinkClick r:id="rId2" tooltip="Prophets and messengers in Islam"/>
              </a:rPr>
              <a:t>prophets</a:t>
            </a:r>
            <a:r>
              <a:rPr lang="en-US" sz="2400" dirty="0" smtClean="0"/>
              <a:t> of </a:t>
            </a:r>
            <a:r>
              <a:rPr lang="en-US" sz="2400" dirty="0" smtClean="0">
                <a:hlinkClick r:id="rId3" tooltip="Allah"/>
              </a:rPr>
              <a:t>Allah</a:t>
            </a:r>
            <a:r>
              <a:rPr lang="en-US" sz="2400" dirty="0" smtClean="0"/>
              <a:t> offered daily </a:t>
            </a:r>
            <a:r>
              <a:rPr lang="en-US" sz="2400" dirty="0" smtClean="0"/>
              <a:t>prayers.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Remaining worships like </a:t>
            </a:r>
            <a:r>
              <a:rPr lang="en-US" sz="2400" dirty="0" smtClean="0"/>
              <a:t>Fasting, </a:t>
            </a:r>
            <a:r>
              <a:rPr lang="en-US" sz="2400" dirty="0" smtClean="0"/>
              <a:t>Z</a:t>
            </a:r>
            <a:r>
              <a:rPr lang="en-US" sz="2400" dirty="0" smtClean="0"/>
              <a:t>akat and Hajj </a:t>
            </a:r>
            <a:r>
              <a:rPr lang="en-US" sz="2400" dirty="0" smtClean="0"/>
              <a:t>are excused in some </a:t>
            </a:r>
            <a:r>
              <a:rPr lang="en-US" sz="2400" dirty="0" smtClean="0"/>
              <a:t>conditions, but </a:t>
            </a:r>
            <a:r>
              <a:rPr lang="en-US" sz="2400" dirty="0" smtClean="0"/>
              <a:t>Salat is </a:t>
            </a:r>
            <a:r>
              <a:rPr lang="en-US" sz="2400" dirty="0" smtClean="0">
                <a:solidFill>
                  <a:srgbClr val="FF0000"/>
                </a:solidFill>
              </a:rPr>
              <a:t>never ever excused </a:t>
            </a:r>
            <a:r>
              <a:rPr lang="en-US" sz="2400" dirty="0" smtClean="0"/>
              <a:t>in any </a:t>
            </a:r>
            <a:r>
              <a:rPr lang="en-US" sz="2400" dirty="0" smtClean="0"/>
              <a:t>situation. If </a:t>
            </a:r>
            <a:r>
              <a:rPr lang="en-US" sz="2400" dirty="0" smtClean="0"/>
              <a:t>you are </a:t>
            </a:r>
            <a:r>
              <a:rPr lang="en-US" sz="2400" dirty="0" smtClean="0"/>
              <a:t>travelling, sick, or </a:t>
            </a:r>
            <a:r>
              <a:rPr lang="en-US" sz="2400" dirty="0" smtClean="0"/>
              <a:t>in the situation of </a:t>
            </a:r>
            <a:r>
              <a:rPr lang="en-US" sz="2400" dirty="0" smtClean="0"/>
              <a:t>fighting, there will be leniency.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Daily worship </a:t>
            </a:r>
            <a:r>
              <a:rPr lang="en-US" sz="2400" dirty="0" smtClean="0">
                <a:solidFill>
                  <a:srgbClr val="FF0000"/>
                </a:solidFill>
              </a:rPr>
              <a:t>reminds Muslims to give thanks for God's blessings</a:t>
            </a:r>
            <a:r>
              <a:rPr lang="en-US" sz="2400" dirty="0" smtClean="0"/>
              <a:t> and that submission to God takes precedence over all other </a:t>
            </a:r>
            <a:r>
              <a:rPr lang="en-US" sz="2400" dirty="0" smtClean="0"/>
              <a:t>concerns.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While in Salah one communicates with Allah (SWT) and experiences His presence. That's why a Hadith says: </a:t>
            </a:r>
            <a:r>
              <a:rPr lang="en-US" sz="2400" u="sng" dirty="0" smtClean="0">
                <a:hlinkClick r:id="rId4"/>
              </a:rPr>
              <a:t>Salah is the </a:t>
            </a:r>
            <a:r>
              <a:rPr lang="en-US" sz="2400" u="sng" dirty="0" err="1" smtClean="0">
                <a:hlinkClick r:id="rId4"/>
              </a:rPr>
              <a:t>Meraj</a:t>
            </a:r>
            <a:r>
              <a:rPr lang="en-US" sz="2400" u="sng" dirty="0" smtClean="0">
                <a:hlinkClick r:id="rId4"/>
              </a:rPr>
              <a:t> of a </a:t>
            </a:r>
            <a:r>
              <a:rPr lang="en-US" sz="2400" u="sng" dirty="0" err="1" smtClean="0">
                <a:hlinkClick r:id="rId4"/>
              </a:rPr>
              <a:t>Momin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9955"/>
          </a:xfrm>
        </p:spPr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71223"/>
            <a:ext cx="8596668" cy="44701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5.</a:t>
            </a:r>
            <a:r>
              <a:rPr lang="en-US" dirty="0" smtClean="0">
                <a:solidFill>
                  <a:schemeClr val="accent1"/>
                </a:solidFill>
              </a:rPr>
              <a:t>	</a:t>
            </a:r>
            <a:r>
              <a:rPr lang="en-US" sz="2400" dirty="0" smtClean="0"/>
              <a:t>The </a:t>
            </a:r>
            <a:r>
              <a:rPr lang="en-US" sz="2400" dirty="0"/>
              <a:t>importance of the Salah was further demonstrated </a:t>
            </a:r>
            <a:r>
              <a:rPr lang="en-US" sz="2400" dirty="0" smtClean="0"/>
              <a:t>	by</a:t>
            </a:r>
            <a:r>
              <a:rPr lang="en-US" sz="2400" dirty="0"/>
              <a:t> </a:t>
            </a:r>
            <a:r>
              <a:rPr lang="en-US" sz="2400" dirty="0" smtClean="0"/>
              <a:t>the Holy Prophet </a:t>
            </a:r>
            <a:r>
              <a:rPr lang="en-US" sz="2400" dirty="0" smtClean="0"/>
              <a:t>	P.B.U.H</a:t>
            </a:r>
            <a:r>
              <a:rPr lang="en-US" sz="2400" dirty="0"/>
              <a:t> </a:t>
            </a:r>
            <a:r>
              <a:rPr lang="en-US" sz="2400" dirty="0" smtClean="0"/>
              <a:t>while he was </a:t>
            </a:r>
            <a:r>
              <a:rPr lang="en-US" sz="2400" dirty="0"/>
              <a:t>on his </a:t>
            </a:r>
            <a:r>
              <a:rPr lang="en-US" sz="2400" dirty="0" smtClean="0"/>
              <a:t>	deathbed</a:t>
            </a:r>
            <a:r>
              <a:rPr lang="en-US" sz="2400" dirty="0" smtClean="0"/>
              <a:t>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	</a:t>
            </a:r>
            <a:r>
              <a:rPr lang="en-US" sz="2400" dirty="0" smtClean="0"/>
              <a:t> </a:t>
            </a:r>
            <a:r>
              <a:rPr lang="ar-AE" sz="2400" dirty="0" smtClean="0">
                <a:solidFill>
                  <a:srgbClr val="FF0000"/>
                </a:solidFill>
              </a:rPr>
              <a:t>الصَّلاةَ </a:t>
            </a:r>
            <a:r>
              <a:rPr lang="ar-AE" sz="2400" dirty="0">
                <a:solidFill>
                  <a:srgbClr val="FF0000"/>
                </a:solidFill>
              </a:rPr>
              <a:t>، الصَّلاةَ وَمَا مَلَكَت أَيْمَانُكُم</a:t>
            </a:r>
            <a:r>
              <a:rPr lang="ar-AE" sz="2400" dirty="0"/>
              <a:t>. </a:t>
            </a:r>
            <a:r>
              <a:rPr lang="ar-AE" sz="2400" dirty="0" smtClean="0"/>
              <a:t>“</a:t>
            </a:r>
            <a:r>
              <a:rPr lang="en-US" sz="2400" dirty="0" smtClean="0"/>
              <a:t>” </a:t>
            </a:r>
            <a:r>
              <a:rPr lang="en-US" sz="2400" dirty="0" smtClean="0"/>
              <a:t>The </a:t>
            </a:r>
            <a:r>
              <a:rPr lang="en-US" sz="2400" dirty="0"/>
              <a:t>Salah, I remind you </a:t>
            </a:r>
            <a:r>
              <a:rPr lang="en-US" sz="2400" dirty="0" smtClean="0"/>
              <a:t>	of </a:t>
            </a:r>
            <a:r>
              <a:rPr lang="en-US" sz="2400" dirty="0"/>
              <a:t>the Salah; and </a:t>
            </a:r>
            <a:r>
              <a:rPr lang="en-US" sz="2400" dirty="0" smtClean="0"/>
              <a:t>	to look </a:t>
            </a:r>
            <a:r>
              <a:rPr lang="en-US" sz="2400" dirty="0"/>
              <a:t>after the </a:t>
            </a:r>
            <a:r>
              <a:rPr lang="en-US" sz="2400" dirty="0" smtClean="0"/>
              <a:t>servants.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6</a:t>
            </a:r>
            <a:r>
              <a:rPr lang="en-US" sz="2400" dirty="0" smtClean="0">
                <a:solidFill>
                  <a:schemeClr val="accent1"/>
                </a:solidFill>
              </a:rPr>
              <a:t>.</a:t>
            </a:r>
            <a:r>
              <a:rPr lang="en-US" sz="2400" dirty="0" smtClean="0"/>
              <a:t>	Salah </a:t>
            </a:r>
            <a:r>
              <a:rPr lang="en-US" sz="2400" dirty="0">
                <a:solidFill>
                  <a:srgbClr val="FF0000"/>
                </a:solidFill>
              </a:rPr>
              <a:t>strengthens</a:t>
            </a:r>
            <a:r>
              <a:rPr lang="en-US" sz="2400" dirty="0"/>
              <a:t> the foundations of our faith. It </a:t>
            </a: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prepares</a:t>
            </a:r>
            <a:r>
              <a:rPr lang="en-US" sz="2400" dirty="0" smtClean="0"/>
              <a:t> </a:t>
            </a:r>
            <a:r>
              <a:rPr lang="en-US" sz="2400" dirty="0"/>
              <a:t>a person </a:t>
            </a:r>
            <a:r>
              <a:rPr lang="en-US" sz="2400" dirty="0" smtClean="0"/>
              <a:t>to </a:t>
            </a:r>
            <a:r>
              <a:rPr lang="en-US" sz="2400" dirty="0"/>
              <a:t>live the life of goodness and </a:t>
            </a:r>
            <a:r>
              <a:rPr lang="en-US" sz="2400" dirty="0" smtClean="0"/>
              <a:t>	obedience </a:t>
            </a:r>
            <a:r>
              <a:rPr lang="en-US" sz="2400" dirty="0"/>
              <a:t>to Allah (SWT), and it </a:t>
            </a:r>
            <a:r>
              <a:rPr lang="en-US" sz="2400" dirty="0">
                <a:solidFill>
                  <a:srgbClr val="FF0000"/>
                </a:solidFill>
              </a:rPr>
              <a:t>builds</a:t>
            </a:r>
            <a:r>
              <a:rPr lang="en-US" sz="2400" dirty="0"/>
              <a:t> </a:t>
            </a:r>
            <a:r>
              <a:rPr lang="en-US" sz="2400" dirty="0" smtClean="0"/>
              <a:t>	courage </a:t>
            </a:r>
            <a:r>
              <a:rPr lang="en-US" sz="2400" dirty="0"/>
              <a:t>and </a:t>
            </a:r>
            <a:r>
              <a:rPr lang="en-US" sz="2400" dirty="0" smtClean="0"/>
              <a:t>	determination</a:t>
            </a:r>
            <a:r>
              <a:rPr lang="en-US" sz="2400" dirty="0"/>
              <a:t>. Every time we perform Salah, we </a:t>
            </a:r>
            <a:r>
              <a:rPr lang="en-US" sz="2400" dirty="0">
                <a:solidFill>
                  <a:srgbClr val="FF0000"/>
                </a:solidFill>
              </a:rPr>
              <a:t>renew</a:t>
            </a:r>
            <a:r>
              <a:rPr lang="en-US" sz="2400" dirty="0"/>
              <a:t> </a:t>
            </a:r>
            <a:r>
              <a:rPr lang="en-US" sz="2400" dirty="0" smtClean="0"/>
              <a:t>	our commitments </a:t>
            </a:r>
            <a:r>
              <a:rPr lang="en-US" sz="2400" dirty="0"/>
              <a:t>to Allah (SWT) and we </a:t>
            </a:r>
            <a:r>
              <a:rPr lang="en-US" sz="2400" dirty="0">
                <a:solidFill>
                  <a:srgbClr val="FF0000"/>
                </a:solidFill>
              </a:rPr>
              <a:t>rid</a:t>
            </a:r>
            <a:r>
              <a:rPr lang="en-US" sz="2400" dirty="0"/>
              <a:t> ourselves </a:t>
            </a:r>
            <a:r>
              <a:rPr lang="en-US" sz="2400" dirty="0" smtClean="0"/>
              <a:t>of</a:t>
            </a:r>
            <a:r>
              <a:rPr lang="en-US" sz="2400" dirty="0" smtClean="0"/>
              <a:t> 	worldly </a:t>
            </a:r>
            <a:r>
              <a:rPr lang="en-US" sz="2400" dirty="0"/>
              <a:t>pressures five </a:t>
            </a:r>
            <a:r>
              <a:rPr lang="en-US" sz="2400" dirty="0" smtClean="0"/>
              <a:t>times </a:t>
            </a:r>
            <a:r>
              <a:rPr lang="en-US" sz="2400" dirty="0"/>
              <a:t>a </a:t>
            </a:r>
            <a:r>
              <a:rPr lang="en-US" sz="2400" dirty="0" smtClean="0"/>
              <a:t>day.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818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327" y="90152"/>
            <a:ext cx="11597056" cy="798490"/>
          </a:xfrm>
        </p:spPr>
        <p:txBody>
          <a:bodyPr/>
          <a:lstStyle/>
          <a:p>
            <a:r>
              <a:rPr lang="en-US" b="1" dirty="0"/>
              <a:t>Importance of </a:t>
            </a:r>
            <a:r>
              <a:rPr lang="en-US" b="1" dirty="0" smtClean="0"/>
              <a:t>Salat </a:t>
            </a:r>
            <a:r>
              <a:rPr lang="en-US" b="1" dirty="0"/>
              <a:t>in the light of </a:t>
            </a:r>
            <a:r>
              <a:rPr lang="en-US" b="1" dirty="0" smtClean="0"/>
              <a:t>Quran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04" y="888643"/>
            <a:ext cx="11900078" cy="5795492"/>
          </a:xfrm>
        </p:spPr>
        <p:txBody>
          <a:bodyPr/>
          <a:lstStyle/>
          <a:p>
            <a:r>
              <a:rPr lang="en-US" dirty="0"/>
              <a:t>No fundamental element of Islam has been stressed as much as prayer in the Holy Qur’ān. Indeed, Allah mentions </a:t>
            </a:r>
            <a:r>
              <a:rPr lang="en-US" dirty="0" smtClean="0"/>
              <a:t>it </a:t>
            </a:r>
            <a:r>
              <a:rPr lang="en-US" dirty="0"/>
              <a:t>over 700 verses of the </a:t>
            </a:r>
            <a:r>
              <a:rPr lang="en-US" dirty="0" smtClean="0"/>
              <a:t>Holy Quran</a:t>
            </a:r>
            <a:r>
              <a:rPr lang="en-US" dirty="0" smtClean="0"/>
              <a:t>. Some of them are as follow:</a:t>
            </a:r>
            <a:endParaRPr lang="en-US" dirty="0" smtClean="0"/>
          </a:p>
          <a:p>
            <a:r>
              <a:rPr lang="ar-AE" dirty="0" smtClean="0">
                <a:solidFill>
                  <a:srgbClr val="FF0000"/>
                </a:solidFill>
              </a:rPr>
              <a:t>وَأَقِيمُواْ </a:t>
            </a:r>
            <a:r>
              <a:rPr lang="ar-AE" dirty="0">
                <a:solidFill>
                  <a:srgbClr val="FF0000"/>
                </a:solidFill>
              </a:rPr>
              <a:t>الصَّلاَةَ وَآتُواْ الزَّكَاةَ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i="1" dirty="0"/>
              <a:t>Establish prayers </a:t>
            </a:r>
            <a:r>
              <a:rPr lang="en-US" i="1" dirty="0" smtClean="0"/>
              <a:t>(</a:t>
            </a:r>
            <a:r>
              <a:rPr lang="en-US" i="1" dirty="0"/>
              <a:t>S</a:t>
            </a:r>
            <a:r>
              <a:rPr lang="en-US" i="1" dirty="0" smtClean="0"/>
              <a:t>alat</a:t>
            </a:r>
            <a:r>
              <a:rPr lang="en-US" i="1" dirty="0"/>
              <a:t>) and pay the poor-due </a:t>
            </a:r>
            <a:r>
              <a:rPr lang="en-US" i="1" dirty="0" smtClean="0"/>
              <a:t>(</a:t>
            </a:r>
            <a:r>
              <a:rPr lang="en-US" i="1" dirty="0" err="1"/>
              <a:t>Z</a:t>
            </a:r>
            <a:r>
              <a:rPr lang="en-US" i="1" dirty="0" err="1" smtClean="0"/>
              <a:t>akāt</a:t>
            </a:r>
            <a:r>
              <a:rPr lang="en-US" i="1" dirty="0"/>
              <a:t>).</a:t>
            </a:r>
            <a:endParaRPr lang="en-US" b="1" dirty="0" smtClean="0"/>
          </a:p>
          <a:p>
            <a:r>
              <a:rPr lang="ar-AE" dirty="0" smtClean="0">
                <a:solidFill>
                  <a:srgbClr val="FF0000"/>
                </a:solidFill>
              </a:rPr>
              <a:t>وَأْمُرْ </a:t>
            </a:r>
            <a:r>
              <a:rPr lang="ar-AE" dirty="0">
                <a:solidFill>
                  <a:srgbClr val="FF0000"/>
                </a:solidFill>
              </a:rPr>
              <a:t>أَهْلَكَ بِالصَّلَاةِ وَاصْطَبِرْ عَلَيْهَا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Enjoin prayer on </a:t>
            </a:r>
            <a:r>
              <a:rPr lang="en-US" i="1" dirty="0" smtClean="0"/>
              <a:t>your</a:t>
            </a:r>
            <a:r>
              <a:rPr lang="en-US" i="1" dirty="0" smtClean="0"/>
              <a:t> </a:t>
            </a:r>
            <a:r>
              <a:rPr lang="en-US" i="1" dirty="0"/>
              <a:t>people, and be constant </a:t>
            </a:r>
            <a:r>
              <a:rPr lang="en-US" i="1" dirty="0" smtClean="0"/>
              <a:t>therein.</a:t>
            </a:r>
            <a:endParaRPr lang="en-US" i="1" dirty="0" smtClean="0"/>
          </a:p>
          <a:p>
            <a:r>
              <a:rPr lang="ar-AE" dirty="0">
                <a:solidFill>
                  <a:srgbClr val="FF0000"/>
                </a:solidFill>
              </a:rPr>
              <a:t>إِنَّ الصَّلاَةَ كَانَتْ عَلَى الْمُؤْمِنِينَ كِتَابًا مَّوْقُوتًا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Worship at fixed hours </a:t>
            </a:r>
            <a:r>
              <a:rPr lang="en-US" i="1" dirty="0" smtClean="0"/>
              <a:t>has </a:t>
            </a:r>
            <a:r>
              <a:rPr lang="en-US" i="1" dirty="0"/>
              <a:t>been enjoined on the believers.</a:t>
            </a:r>
            <a:endParaRPr lang="en-US" dirty="0"/>
          </a:p>
          <a:p>
            <a:r>
              <a:rPr lang="ar-AE" dirty="0" smtClean="0">
                <a:solidFill>
                  <a:srgbClr val="FF0000"/>
                </a:solidFill>
              </a:rPr>
              <a:t>مَا </a:t>
            </a:r>
            <a:r>
              <a:rPr lang="ar-AE" dirty="0">
                <a:solidFill>
                  <a:srgbClr val="FF0000"/>
                </a:solidFill>
              </a:rPr>
              <a:t>سَلَكَكُمْ فِي سَقَرَ قَالُوا لَمْ نَكُ مِنَ الْمُصَلِّينَ</a:t>
            </a:r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i="1" dirty="0"/>
              <a:t>What led you into Hell Fire?” They will say: “We were not of those who prayed</a:t>
            </a:r>
            <a:r>
              <a:rPr lang="en-US" i="1" dirty="0" smtClean="0"/>
              <a:t>”</a:t>
            </a:r>
          </a:p>
          <a:p>
            <a:r>
              <a:rPr lang="fa-IR" dirty="0" smtClean="0"/>
              <a:t>و</a:t>
            </a:r>
            <a:r>
              <a:rPr lang="fa-IR" dirty="0" smtClean="0">
                <a:solidFill>
                  <a:srgbClr val="FF0000"/>
                </a:solidFill>
              </a:rPr>
              <a:t>َاَقِيْمُوا الصَّلٰوةَ وَلَا تَكُوْنُوْا مِنَ الْمُشْرِكِيْنَ </a:t>
            </a:r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dirty="0"/>
              <a:t>Establish </a:t>
            </a:r>
            <a:r>
              <a:rPr lang="en-US" dirty="0"/>
              <a:t>S</a:t>
            </a:r>
            <a:r>
              <a:rPr lang="en-US" dirty="0" smtClean="0"/>
              <a:t>alat </a:t>
            </a:r>
            <a:r>
              <a:rPr lang="en-US" dirty="0"/>
              <a:t>and do not be among mushrikeen (Surah Rum, 30:31) 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34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115910"/>
            <a:ext cx="10256829" cy="837127"/>
          </a:xfrm>
        </p:spPr>
        <p:txBody>
          <a:bodyPr>
            <a:normAutofit/>
          </a:bodyPr>
          <a:lstStyle/>
          <a:p>
            <a:r>
              <a:rPr lang="en-US" sz="3200" b="1" dirty="0"/>
              <a:t>Importance of Salat in the light of </a:t>
            </a:r>
            <a:r>
              <a:rPr lang="en-US" sz="3200" b="1" dirty="0" smtClean="0"/>
              <a:t>Hadith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46" y="850006"/>
            <a:ext cx="11797048" cy="5847007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If S</a:t>
            </a:r>
            <a:r>
              <a:rPr lang="en-US" dirty="0" smtClean="0"/>
              <a:t>alat </a:t>
            </a:r>
            <a:r>
              <a:rPr lang="en-US" dirty="0"/>
              <a:t>is accepted by Allah, all good deeds will be accepted, &amp; if S</a:t>
            </a:r>
            <a:r>
              <a:rPr lang="en-US" dirty="0" smtClean="0"/>
              <a:t>alat </a:t>
            </a:r>
            <a:r>
              <a:rPr lang="en-US" dirty="0"/>
              <a:t>is rejected, all good deeds will be </a:t>
            </a:r>
            <a:r>
              <a:rPr lang="en-US" dirty="0" smtClean="0"/>
              <a:t>rejected.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key to Heaven is Salah. The key to Salah is Purification</a:t>
            </a:r>
            <a:r>
              <a:rPr lang="en-US" dirty="0" smtClean="0"/>
              <a:t>.(Hadith)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"</a:t>
            </a:r>
            <a:r>
              <a:rPr lang="en-US" dirty="0"/>
              <a:t>Everything has a face and the face of your religion is Salah </a:t>
            </a:r>
            <a:r>
              <a:rPr lang="en-US" dirty="0" smtClean="0"/>
              <a:t>(</a:t>
            </a:r>
            <a:r>
              <a:rPr lang="en-US" dirty="0" err="1" smtClean="0"/>
              <a:t>Namaz</a:t>
            </a:r>
            <a:r>
              <a:rPr lang="en-US" dirty="0"/>
              <a:t>); none of you should stain the face of his religion</a:t>
            </a:r>
            <a:r>
              <a:rPr lang="en-US" dirty="0" smtClean="0"/>
              <a:t>.“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Abu </a:t>
            </a:r>
            <a:r>
              <a:rPr lang="en-US" dirty="0">
                <a:solidFill>
                  <a:srgbClr val="FF0000"/>
                </a:solidFill>
              </a:rPr>
              <a:t>Huraira </a:t>
            </a:r>
            <a:r>
              <a:rPr lang="en-US" dirty="0" err="1" smtClean="0">
                <a:solidFill>
                  <a:srgbClr val="FF0000"/>
                </a:solidFill>
              </a:rPr>
              <a:t>RadiyAllahu`anhu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narrates that once </a:t>
            </a:r>
            <a:r>
              <a:rPr lang="en-US" dirty="0" smtClean="0"/>
              <a:t>Muhammad (S.A.W) </a:t>
            </a:r>
            <a:r>
              <a:rPr lang="en-US" dirty="0"/>
              <a:t>asked his companions, ‘Do you think that dirt can remain on a person bathing five times a day in </a:t>
            </a:r>
            <a:r>
              <a:rPr lang="en-US" dirty="0">
                <a:solidFill>
                  <a:srgbClr val="FF0000"/>
                </a:solidFill>
              </a:rPr>
              <a:t>a brook running in front of his door</a:t>
            </a:r>
            <a:r>
              <a:rPr lang="en-US" dirty="0"/>
              <a:t>?’ ‘No’, replied the compan­ions, ‘No dirt can remain on his body.’ Muhammad remarked: ‘So, exactly similar is the effect of S</a:t>
            </a:r>
            <a:r>
              <a:rPr lang="en-US" dirty="0" smtClean="0"/>
              <a:t>alat </a:t>
            </a:r>
            <a:r>
              <a:rPr lang="en-US" dirty="0"/>
              <a:t>offered five times a day. With the grace of Allah, it washes away all the sins’.(Bukhari, Muslim)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Abu </a:t>
            </a:r>
            <a:r>
              <a:rPr lang="en-US" dirty="0" err="1">
                <a:solidFill>
                  <a:srgbClr val="FF0000"/>
                </a:solidFill>
              </a:rPr>
              <a:t>Zar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RadiyAllahu</a:t>
            </a:r>
            <a:r>
              <a:rPr lang="en-US" dirty="0">
                <a:solidFill>
                  <a:srgbClr val="FF0000"/>
                </a:solidFill>
              </a:rPr>
              <a:t> `</a:t>
            </a:r>
            <a:r>
              <a:rPr lang="en-US" dirty="0" err="1">
                <a:solidFill>
                  <a:srgbClr val="FF0000"/>
                </a:solidFill>
              </a:rPr>
              <a:t>anhu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narrates that once </a:t>
            </a:r>
            <a:r>
              <a:rPr lang="en-US" dirty="0"/>
              <a:t>Muhammad (S.A.W) </a:t>
            </a:r>
            <a:r>
              <a:rPr lang="en-US" dirty="0"/>
              <a:t>came out of his house. It was autumn and the leaves were falling off the trees. He </a:t>
            </a:r>
            <a:r>
              <a:rPr lang="en-US" dirty="0">
                <a:solidFill>
                  <a:srgbClr val="FF0000"/>
                </a:solidFill>
              </a:rPr>
              <a:t>caught a branch of a tree </a:t>
            </a:r>
            <a:r>
              <a:rPr lang="en-US" dirty="0"/>
              <a:t>and its leaves began to drop in large number. At this he remarked, ‘O, Abu </a:t>
            </a:r>
            <a:r>
              <a:rPr lang="en-US" dirty="0" err="1"/>
              <a:t>Zar</a:t>
            </a:r>
            <a:r>
              <a:rPr lang="en-US" dirty="0"/>
              <a:t>! when a Muslim offers his </a:t>
            </a:r>
            <a:r>
              <a:rPr lang="en-US" dirty="0"/>
              <a:t>S</a:t>
            </a:r>
            <a:r>
              <a:rPr lang="en-US" dirty="0" smtClean="0"/>
              <a:t>alat </a:t>
            </a:r>
            <a:r>
              <a:rPr lang="en-US" dirty="0"/>
              <a:t>to please Allah, his sins are shed away from him just as these leaves are falling off this tree</a:t>
            </a:r>
            <a:r>
              <a:rPr lang="en-US" dirty="0" smtClean="0"/>
              <a:t>.’(Musnad e Ahmed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Abu </a:t>
            </a:r>
            <a:r>
              <a:rPr lang="en-US" dirty="0"/>
              <a:t>Huraira narrated: Muhammad said, “</a:t>
            </a:r>
            <a:r>
              <a:rPr lang="en-US" dirty="0">
                <a:solidFill>
                  <a:srgbClr val="FF0000"/>
                </a:solidFill>
              </a:rPr>
              <a:t>The angels keep on asking Allah’s forgiveness </a:t>
            </a:r>
            <a:r>
              <a:rPr lang="en-US" dirty="0"/>
              <a:t>for anyone of you, as long as he is at his </a:t>
            </a:r>
            <a:r>
              <a:rPr lang="en-US" dirty="0" err="1" smtClean="0"/>
              <a:t>Mu’salla</a:t>
            </a:r>
            <a:r>
              <a:rPr lang="en-US" dirty="0"/>
              <a:t> </a:t>
            </a:r>
            <a:r>
              <a:rPr lang="en-US" dirty="0" smtClean="0"/>
              <a:t>(praying </a:t>
            </a:r>
            <a:r>
              <a:rPr lang="en-US" dirty="0"/>
              <a:t>place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8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1668"/>
            <a:ext cx="11055320" cy="734095"/>
          </a:xfrm>
        </p:spPr>
        <p:txBody>
          <a:bodyPr/>
          <a:lstStyle/>
          <a:p>
            <a:r>
              <a:rPr lang="en-US" dirty="0"/>
              <a:t>Benefits of Salat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875763"/>
            <a:ext cx="11758411" cy="58083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u="sng" dirty="0" smtClean="0"/>
              <a:t>Establishing </a:t>
            </a:r>
            <a:r>
              <a:rPr lang="en-US" b="1" u="sng" dirty="0"/>
              <a:t>Salah </a:t>
            </a:r>
            <a:r>
              <a:rPr lang="en-US" b="1" u="sng" dirty="0" smtClean="0"/>
              <a:t>develops </a:t>
            </a:r>
            <a:r>
              <a:rPr lang="en-US" b="1" u="sng" dirty="0"/>
              <a:t>Taqwa (</a:t>
            </a:r>
            <a:r>
              <a:rPr lang="en-US" b="1" u="sng" dirty="0">
                <a:solidFill>
                  <a:srgbClr val="FF0000"/>
                </a:solidFill>
              </a:rPr>
              <a:t>Fear</a:t>
            </a:r>
            <a:r>
              <a:rPr lang="en-US" b="1" u="sng" dirty="0"/>
              <a:t> and Awareness of Allah</a:t>
            </a:r>
            <a:r>
              <a:rPr lang="en-US" b="1" u="sng" dirty="0" smtClean="0"/>
              <a:t>).</a:t>
            </a:r>
            <a:endParaRPr lang="en-US" u="sng" dirty="0"/>
          </a:p>
          <a:p>
            <a:pPr marL="0" indent="0">
              <a:buNone/>
            </a:pPr>
            <a:r>
              <a:rPr lang="en-US" dirty="0" smtClean="0"/>
              <a:t>“</a:t>
            </a:r>
            <a:r>
              <a:rPr lang="en-US" dirty="0"/>
              <a:t>This is the Book in which there is no doubt, a guidance for those who have taqwa; who believe in the unseen, and who </a:t>
            </a:r>
            <a:r>
              <a:rPr lang="en-US" dirty="0" smtClean="0"/>
              <a:t>establish </a:t>
            </a:r>
            <a:r>
              <a:rPr lang="en-US" b="1" dirty="0" smtClean="0"/>
              <a:t>Salah</a:t>
            </a:r>
            <a:r>
              <a:rPr lang="en-US" dirty="0"/>
              <a:t>, and spend out of what we have provided for them” (2: 2-3</a:t>
            </a:r>
            <a:r>
              <a:rPr lang="en-US" dirty="0" smtClean="0"/>
              <a:t>)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u="sng" dirty="0" smtClean="0"/>
              <a:t>Salah </a:t>
            </a:r>
            <a:r>
              <a:rPr lang="en-US" b="1" u="sng" dirty="0"/>
              <a:t>i</a:t>
            </a:r>
            <a:r>
              <a:rPr lang="en-US" b="1" u="sng" dirty="0" smtClean="0"/>
              <a:t>s </a:t>
            </a:r>
            <a:r>
              <a:rPr lang="en-US" b="1" u="sng" dirty="0"/>
              <a:t>the </a:t>
            </a:r>
            <a:r>
              <a:rPr lang="en-US" b="1" u="sng" dirty="0" smtClean="0"/>
              <a:t>sign </a:t>
            </a:r>
            <a:r>
              <a:rPr lang="en-US" b="1" u="sng" dirty="0"/>
              <a:t>of a </a:t>
            </a:r>
            <a:r>
              <a:rPr lang="en-US" b="1" u="sng" dirty="0" smtClean="0"/>
              <a:t>b</a:t>
            </a:r>
            <a:r>
              <a:rPr lang="en-US" b="1" u="sng" dirty="0" smtClean="0"/>
              <a:t>eliever.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fa-IR" dirty="0" smtClean="0"/>
              <a:t>وَالْمُؤْمِنُوْنَ </a:t>
            </a:r>
            <a:r>
              <a:rPr lang="fa-IR" dirty="0" smtClean="0"/>
              <a:t>وَالْمُؤْمِنٰتُ بَعْضُهُمْ اَوْلِيَاۗءُ بَعْضٍ ۘ يَاْمُرُوْنَ بِالْمَعْرُوْفِ وَيَنْهَوْنَ عَنِ الْمُنْكَرِ وَيُقِيْمُوْنَ الصَّلٰوةَ وَيُؤْتُوْنَ الزَّكٰوةَ وَيُطِيْعُوْنَ اللّٰهَ </a:t>
            </a:r>
            <a:r>
              <a:rPr lang="fa-IR" dirty="0" smtClean="0"/>
              <a:t>وَرَسُوْلَهٗ  </a:t>
            </a:r>
            <a:r>
              <a:rPr lang="fa-IR" dirty="0" smtClean="0"/>
              <a:t>ۭ اُولٰۗىِٕكَ سَيَرْحَمُهُمُ اللّٰهُ  ۭاِنَّ اللّٰهَ عَزِيْزٌ </a:t>
            </a:r>
            <a:r>
              <a:rPr lang="fa-IR" dirty="0" smtClean="0"/>
              <a:t>حَكِيْمٌ </a:t>
            </a:r>
            <a:r>
              <a:rPr lang="en-US" dirty="0" smtClean="0"/>
              <a:t>	</a:t>
            </a:r>
            <a:endParaRPr lang="en-US" u="sng" dirty="0"/>
          </a:p>
          <a:p>
            <a:pPr marL="0" indent="0">
              <a:buNone/>
            </a:pPr>
            <a:r>
              <a:rPr lang="en-US" b="1" dirty="0"/>
              <a:t> </a:t>
            </a:r>
            <a:r>
              <a:rPr lang="en-US" dirty="0"/>
              <a:t>“The believers, men and women, are protecting friends of one another; they </a:t>
            </a:r>
            <a:r>
              <a:rPr lang="en-US" dirty="0">
                <a:solidFill>
                  <a:srgbClr val="FF0000"/>
                </a:solidFill>
              </a:rPr>
              <a:t>enjoin good and forbid evil</a:t>
            </a:r>
            <a:r>
              <a:rPr lang="en-US" dirty="0"/>
              <a:t>, and they establish </a:t>
            </a:r>
            <a:r>
              <a:rPr lang="en-US" b="1" dirty="0"/>
              <a:t>Salah</a:t>
            </a:r>
            <a:r>
              <a:rPr lang="en-US" dirty="0"/>
              <a:t>, and give </a:t>
            </a:r>
            <a:r>
              <a:rPr lang="en-US" dirty="0" err="1"/>
              <a:t>Zakah</a:t>
            </a:r>
            <a:r>
              <a:rPr lang="en-US" dirty="0"/>
              <a:t>, and obey Allah and His Messenger. Allah will have His Mercy on them, and surely, Allah is All-Mighty, All-Wise.” (9: 71</a:t>
            </a:r>
            <a:r>
              <a:rPr lang="en-US" dirty="0" smtClean="0"/>
              <a:t>)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u="sng" dirty="0" smtClean="0"/>
              <a:t>Those </a:t>
            </a:r>
            <a:r>
              <a:rPr lang="en-US" b="1" u="sng" dirty="0"/>
              <a:t>w</a:t>
            </a:r>
            <a:r>
              <a:rPr lang="en-US" b="1" u="sng" dirty="0" smtClean="0"/>
              <a:t>ho </a:t>
            </a:r>
            <a:r>
              <a:rPr lang="en-US" b="1" u="sng" dirty="0"/>
              <a:t>p</a:t>
            </a:r>
            <a:r>
              <a:rPr lang="en-US" b="1" u="sng" dirty="0" smtClean="0"/>
              <a:t>ray </a:t>
            </a:r>
            <a:r>
              <a:rPr lang="en-US" b="1" u="sng" dirty="0" smtClean="0"/>
              <a:t>wi</a:t>
            </a:r>
            <a:r>
              <a:rPr lang="en-US" b="1" u="sng" dirty="0" smtClean="0"/>
              <a:t>ll </a:t>
            </a:r>
            <a:r>
              <a:rPr lang="en-US" b="1" u="sng" dirty="0"/>
              <a:t>h</a:t>
            </a:r>
            <a:r>
              <a:rPr lang="en-US" b="1" u="sng" dirty="0" smtClean="0"/>
              <a:t>ave </a:t>
            </a:r>
            <a:r>
              <a:rPr lang="en-US" b="1" u="sng" dirty="0"/>
              <a:t>n</a:t>
            </a:r>
            <a:r>
              <a:rPr lang="en-US" b="1" u="sng" dirty="0" smtClean="0"/>
              <a:t>othing </a:t>
            </a:r>
            <a:r>
              <a:rPr lang="en-US" b="1" u="sng" dirty="0"/>
              <a:t>to </a:t>
            </a:r>
            <a:r>
              <a:rPr lang="en-US" b="1" u="sng" dirty="0" smtClean="0"/>
              <a:t>fear </a:t>
            </a:r>
            <a:r>
              <a:rPr lang="en-US" b="1" u="sng" dirty="0"/>
              <a:t>on the Day of Judgment</a:t>
            </a:r>
            <a:endParaRPr lang="en-US" u="sng" dirty="0"/>
          </a:p>
          <a:p>
            <a:pPr marL="0" indent="0">
              <a:buNone/>
            </a:pPr>
            <a:r>
              <a:rPr lang="en-US" dirty="0" smtClean="0"/>
              <a:t>“</a:t>
            </a:r>
            <a:r>
              <a:rPr lang="en-US" dirty="0"/>
              <a:t>Truly, those who believe and do righteous deeds, and perform </a:t>
            </a:r>
            <a:r>
              <a:rPr lang="en-US" b="1" dirty="0"/>
              <a:t>Salah</a:t>
            </a:r>
            <a:r>
              <a:rPr lang="en-US" dirty="0"/>
              <a:t>, and give </a:t>
            </a:r>
            <a:r>
              <a:rPr lang="en-US" dirty="0" smtClean="0"/>
              <a:t>Zakat, </a:t>
            </a:r>
            <a:r>
              <a:rPr lang="en-US" dirty="0"/>
              <a:t>they will have their reward with their Lord. On them shall be no fear, nor shall they grieve.” (2:277)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69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5865"/>
          </a:xfrm>
        </p:spPr>
        <p:txBody>
          <a:bodyPr/>
          <a:lstStyle/>
          <a:p>
            <a:r>
              <a:rPr lang="en-US" dirty="0" smtClean="0"/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5465"/>
            <a:ext cx="8596668" cy="4495897"/>
          </a:xfrm>
        </p:spPr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b="1" u="sng" dirty="0"/>
              <a:t>Allah’s Help Comes Through </a:t>
            </a:r>
            <a:r>
              <a:rPr lang="en-US" b="1" u="sng" dirty="0" err="1" smtClean="0"/>
              <a:t>Salah</a:t>
            </a:r>
            <a:endParaRPr lang="en-US" b="1" u="sng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fa-IR" dirty="0" smtClean="0"/>
              <a:t>وَاسْتَعِيْنُوْا بِالصَّبْرِ </a:t>
            </a:r>
            <a:r>
              <a:rPr lang="fa-IR" dirty="0" smtClean="0"/>
              <a:t>وَالصَّلٰوةِ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“</a:t>
            </a:r>
            <a:r>
              <a:rPr lang="en-US" dirty="0"/>
              <a:t>Seek help through patience and </a:t>
            </a:r>
            <a:r>
              <a:rPr lang="en-US" b="1" dirty="0" smtClean="0"/>
              <a:t>Salah</a:t>
            </a:r>
            <a:endParaRPr lang="en-US" dirty="0"/>
          </a:p>
          <a:p>
            <a:r>
              <a:rPr lang="en-US" b="1" u="sng" dirty="0" smtClean="0"/>
              <a:t>Prayer </a:t>
            </a:r>
            <a:r>
              <a:rPr lang="en-US" b="1" u="sng" dirty="0"/>
              <a:t>Protects Against </a:t>
            </a:r>
            <a:r>
              <a:rPr lang="en-US" b="1" u="sng" dirty="0" smtClean="0"/>
              <a:t>Evils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a-IR" dirty="0" smtClean="0"/>
              <a:t>اِنَّ الصَّلٰوةَ تَنْهٰى عَنِ الْفَحْشَاۗءِ وَالْمُنْكَرِ 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 </a:t>
            </a:r>
            <a:r>
              <a:rPr lang="en-US" dirty="0" smtClean="0"/>
              <a:t>Verily</a:t>
            </a:r>
            <a:r>
              <a:rPr lang="en-US" dirty="0"/>
              <a:t>, </a:t>
            </a:r>
            <a:r>
              <a:rPr lang="en-US" b="1" dirty="0"/>
              <a:t>Salah</a:t>
            </a:r>
            <a:r>
              <a:rPr lang="en-US" dirty="0"/>
              <a:t> prevents from lewdness and evils. And </a:t>
            </a:r>
            <a:r>
              <a:rPr lang="en-US" dirty="0" smtClean="0"/>
              <a:t>indeed (29:45)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smtClean="0"/>
              <a:t>Leaving Salah Leads to Shirk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fa-IR" dirty="0" smtClean="0"/>
              <a:t>وَاَقِيْمُوا </a:t>
            </a:r>
            <a:r>
              <a:rPr lang="fa-IR" dirty="0" smtClean="0"/>
              <a:t>الصَّلٰوةَ وَلَا تَكُوْنُوْا مِنَ </a:t>
            </a:r>
            <a:r>
              <a:rPr lang="fa-IR" dirty="0" smtClean="0"/>
              <a:t>الْمُشْرِكِيْنَ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 </a:t>
            </a:r>
            <a:r>
              <a:rPr lang="en-US" b="1" dirty="0" smtClean="0"/>
              <a:t>A</a:t>
            </a:r>
            <a:r>
              <a:rPr lang="en-US" dirty="0" smtClean="0"/>
              <a:t>nd </a:t>
            </a:r>
            <a:r>
              <a:rPr lang="en-US" dirty="0"/>
              <a:t>perform </a:t>
            </a:r>
            <a:r>
              <a:rPr lang="en-US" b="1" dirty="0"/>
              <a:t>Salah</a:t>
            </a:r>
            <a:r>
              <a:rPr lang="en-US" dirty="0"/>
              <a:t> and be not of those who commit Shirk.” (30: 31</a:t>
            </a:r>
            <a:r>
              <a:rPr lang="en-US" dirty="0" smtClean="0"/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rgbClr val="FF0000"/>
                </a:solidFill>
              </a:rPr>
              <a:t>Shirk </a:t>
            </a:r>
            <a:r>
              <a:rPr lang="en-US" dirty="0" err="1" smtClean="0">
                <a:solidFill>
                  <a:srgbClr val="FF0000"/>
                </a:solidFill>
              </a:rPr>
              <a:t>Jali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dirty="0" err="1" smtClean="0">
                <a:solidFill>
                  <a:srgbClr val="FF0000"/>
                </a:solidFill>
              </a:rPr>
              <a:t>Khafi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9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4197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SPRITUAL BENEFITS OF PRAYAR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9167"/>
            <a:ext cx="8596668" cy="455219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/>
              <a:t>.	The prayer provides </a:t>
            </a:r>
            <a:r>
              <a:rPr lang="en-US" dirty="0">
                <a:solidFill>
                  <a:srgbClr val="FF0000"/>
                </a:solidFill>
              </a:rPr>
              <a:t>a constant reminder </a:t>
            </a:r>
            <a:r>
              <a:rPr lang="en-US" dirty="0"/>
              <a:t>of </a:t>
            </a:r>
            <a:r>
              <a:rPr lang="en-US" dirty="0" smtClean="0"/>
              <a:t>the </a:t>
            </a:r>
            <a:r>
              <a:rPr lang="en-US" dirty="0" smtClean="0"/>
              <a:t>most </a:t>
            </a:r>
            <a:r>
              <a:rPr lang="en-US" dirty="0" smtClean="0"/>
              <a:t>important </a:t>
            </a:r>
            <a:r>
              <a:rPr lang="en-US" dirty="0" smtClean="0"/>
              <a:t>feature </a:t>
            </a:r>
            <a:r>
              <a:rPr lang="en-US" dirty="0"/>
              <a:t>of </a:t>
            </a:r>
            <a:r>
              <a:rPr lang="en-US" dirty="0" smtClean="0"/>
              <a:t>	our </a:t>
            </a:r>
            <a:r>
              <a:rPr lang="en-US" dirty="0" smtClean="0"/>
              <a:t>creation.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	</a:t>
            </a:r>
            <a:r>
              <a:rPr lang="en-US" dirty="0" smtClean="0"/>
              <a:t>It </a:t>
            </a:r>
            <a:r>
              <a:rPr lang="en-US" dirty="0"/>
              <a:t>provides </a:t>
            </a:r>
            <a:r>
              <a:rPr lang="en-US" dirty="0">
                <a:solidFill>
                  <a:srgbClr val="FF0000"/>
                </a:solidFill>
              </a:rPr>
              <a:t>direct connection </a:t>
            </a:r>
            <a:r>
              <a:rPr lang="en-US" dirty="0"/>
              <a:t>to </a:t>
            </a:r>
            <a:r>
              <a:rPr lang="en-US" dirty="0" smtClean="0"/>
              <a:t>Allah.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	</a:t>
            </a:r>
            <a:r>
              <a:rPr lang="en-US" dirty="0" smtClean="0"/>
              <a:t>It </a:t>
            </a:r>
            <a:r>
              <a:rPr lang="en-US" dirty="0">
                <a:solidFill>
                  <a:srgbClr val="FF0000"/>
                </a:solidFill>
              </a:rPr>
              <a:t>purifies</a:t>
            </a:r>
            <a:r>
              <a:rPr lang="en-US" dirty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heart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 smtClean="0"/>
              <a:t>.</a:t>
            </a:r>
            <a:r>
              <a:rPr lang="en-US" dirty="0"/>
              <a:t>	</a:t>
            </a:r>
            <a:r>
              <a:rPr lang="en-US" dirty="0" smtClean="0"/>
              <a:t>It </a:t>
            </a:r>
            <a:r>
              <a:rPr lang="en-US" dirty="0"/>
              <a:t>enhances </a:t>
            </a:r>
            <a:r>
              <a:rPr lang="en-US" dirty="0">
                <a:solidFill>
                  <a:srgbClr val="FF0000"/>
                </a:solidFill>
              </a:rPr>
              <a:t>moral </a:t>
            </a:r>
            <a:r>
              <a:rPr lang="en-US" dirty="0" smtClean="0">
                <a:solidFill>
                  <a:srgbClr val="FF0000"/>
                </a:solidFill>
              </a:rPr>
              <a:t>elevation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</a:t>
            </a:r>
            <a:r>
              <a:rPr lang="en-US" dirty="0"/>
              <a:t>	</a:t>
            </a:r>
            <a:r>
              <a:rPr lang="en-US" dirty="0" smtClean="0"/>
              <a:t>It </a:t>
            </a:r>
            <a:r>
              <a:rPr lang="en-US" dirty="0"/>
              <a:t>establishes </a:t>
            </a:r>
            <a:r>
              <a:rPr lang="en-US" dirty="0" smtClean="0">
                <a:solidFill>
                  <a:srgbClr val="FF0000"/>
                </a:solidFill>
              </a:rPr>
              <a:t>patience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>
                <a:solidFill>
                  <a:srgbClr val="FF0000"/>
                </a:solidFill>
              </a:rPr>
              <a:t>sincerity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</a:t>
            </a:r>
            <a:r>
              <a:rPr lang="en-US" dirty="0" smtClean="0"/>
              <a:t>.</a:t>
            </a:r>
            <a:r>
              <a:rPr lang="en-US" dirty="0"/>
              <a:t>	I</a:t>
            </a:r>
            <a:r>
              <a:rPr lang="en-US" dirty="0" smtClean="0"/>
              <a:t>t </a:t>
            </a:r>
            <a:r>
              <a:rPr lang="en-US" dirty="0"/>
              <a:t>provides </a:t>
            </a:r>
            <a:r>
              <a:rPr lang="en-US" dirty="0">
                <a:solidFill>
                  <a:srgbClr val="FF0000"/>
                </a:solidFill>
              </a:rPr>
              <a:t>means of repentance </a:t>
            </a:r>
            <a:r>
              <a:rPr lang="en-US" dirty="0"/>
              <a:t>(</a:t>
            </a:r>
            <a:r>
              <a:rPr lang="en-US" dirty="0" smtClean="0"/>
              <a:t>feeling </a:t>
            </a:r>
            <a:r>
              <a:rPr lang="en-US" dirty="0" smtClean="0"/>
              <a:t>of being extremely </a:t>
            </a:r>
            <a:r>
              <a:rPr lang="en-US" dirty="0" smtClean="0"/>
              <a:t>sorry).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7</a:t>
            </a:r>
            <a:r>
              <a:rPr lang="en-US" dirty="0" smtClean="0"/>
              <a:t>.</a:t>
            </a:r>
            <a:r>
              <a:rPr lang="en-US" dirty="0"/>
              <a:t>	</a:t>
            </a:r>
            <a:r>
              <a:rPr lang="en-US" dirty="0" smtClean="0"/>
              <a:t>It </a:t>
            </a:r>
            <a:r>
              <a:rPr lang="en-US" dirty="0">
                <a:solidFill>
                  <a:srgbClr val="FF0000"/>
                </a:solidFill>
              </a:rPr>
              <a:t>restrains from </a:t>
            </a:r>
            <a:r>
              <a:rPr lang="en-US" dirty="0" smtClean="0"/>
              <a:t>shameful </a:t>
            </a:r>
            <a:r>
              <a:rPr lang="en-US" dirty="0" smtClean="0"/>
              <a:t>deeds.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9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19" y="291062"/>
            <a:ext cx="6755432" cy="72784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/>
              <a:t>SOCIAL BENEFITS OF SALAT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6829"/>
            <a:ext cx="8596668" cy="4534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1.	It </a:t>
            </a:r>
            <a:r>
              <a:rPr lang="en-US" dirty="0" smtClean="0"/>
              <a:t>creates </a:t>
            </a:r>
            <a:r>
              <a:rPr lang="en-US" dirty="0" smtClean="0">
                <a:solidFill>
                  <a:srgbClr val="FF0000"/>
                </a:solidFill>
              </a:rPr>
              <a:t>unity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	</a:t>
            </a:r>
            <a:r>
              <a:rPr lang="en-US" dirty="0" smtClean="0"/>
              <a:t>It </a:t>
            </a:r>
            <a:r>
              <a:rPr lang="en-US" dirty="0"/>
              <a:t>gives </a:t>
            </a:r>
            <a:r>
              <a:rPr lang="en-US" dirty="0">
                <a:solidFill>
                  <a:srgbClr val="FF0000"/>
                </a:solidFill>
              </a:rPr>
              <a:t>sense of </a:t>
            </a:r>
            <a:r>
              <a:rPr lang="en-US" dirty="0" smtClean="0">
                <a:solidFill>
                  <a:srgbClr val="FF0000"/>
                </a:solidFill>
              </a:rPr>
              <a:t>friendship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	</a:t>
            </a:r>
            <a:r>
              <a:rPr lang="en-US" dirty="0" smtClean="0"/>
              <a:t>It </a:t>
            </a:r>
            <a:r>
              <a:rPr lang="en-US" dirty="0"/>
              <a:t>reinforces the </a:t>
            </a:r>
            <a:r>
              <a:rPr lang="en-US" dirty="0">
                <a:solidFill>
                  <a:srgbClr val="FF0000"/>
                </a:solidFill>
              </a:rPr>
              <a:t>bonds of </a:t>
            </a:r>
            <a:r>
              <a:rPr lang="en-US" dirty="0" smtClean="0">
                <a:solidFill>
                  <a:srgbClr val="FF0000"/>
                </a:solidFill>
              </a:rPr>
              <a:t>brotherhood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 smtClean="0"/>
              <a:t>.</a:t>
            </a:r>
            <a:r>
              <a:rPr lang="en-US" dirty="0"/>
              <a:t>	</a:t>
            </a:r>
            <a:r>
              <a:rPr lang="en-US" dirty="0" smtClean="0"/>
              <a:t>It </a:t>
            </a:r>
            <a:r>
              <a:rPr lang="en-US" dirty="0" smtClean="0">
                <a:solidFill>
                  <a:srgbClr val="FF0000"/>
                </a:solidFill>
              </a:rPr>
              <a:t>strengthens the ties </a:t>
            </a:r>
            <a:r>
              <a:rPr lang="en-US" dirty="0" smtClean="0"/>
              <a:t>b/w elderly and young, rich and poor and strong 		and weak.</a:t>
            </a:r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</a:t>
            </a:r>
            <a:r>
              <a:rPr lang="en-US" dirty="0" smtClean="0"/>
              <a:t>	It allows to learn to </a:t>
            </a:r>
            <a:r>
              <a:rPr lang="en-US" dirty="0" smtClean="0">
                <a:solidFill>
                  <a:srgbClr val="FF0000"/>
                </a:solidFill>
              </a:rPr>
              <a:t>look out for his brothers needs </a:t>
            </a:r>
            <a:r>
              <a:rPr lang="en-US" dirty="0" smtClean="0"/>
              <a:t>and problems.</a:t>
            </a:r>
          </a:p>
          <a:p>
            <a:pPr marL="0" indent="0">
              <a:buNone/>
            </a:pPr>
            <a:r>
              <a:rPr lang="en-US" dirty="0"/>
              <a:t>6</a:t>
            </a:r>
            <a:r>
              <a:rPr lang="en-US" dirty="0" smtClean="0"/>
              <a:t>.</a:t>
            </a:r>
            <a:r>
              <a:rPr lang="en-US" dirty="0"/>
              <a:t>	</a:t>
            </a:r>
            <a:r>
              <a:rPr lang="en-US" dirty="0" smtClean="0"/>
              <a:t>It </a:t>
            </a:r>
            <a:r>
              <a:rPr lang="en-US" dirty="0"/>
              <a:t>establishes an example of </a:t>
            </a:r>
            <a:r>
              <a:rPr lang="en-US" dirty="0">
                <a:solidFill>
                  <a:srgbClr val="FF0000"/>
                </a:solidFill>
              </a:rPr>
              <a:t>social </a:t>
            </a:r>
            <a:r>
              <a:rPr lang="en-US" dirty="0" smtClean="0">
                <a:solidFill>
                  <a:srgbClr val="FF0000"/>
                </a:solidFill>
              </a:rPr>
              <a:t>integration</a:t>
            </a:r>
            <a:r>
              <a:rPr lang="en-US" dirty="0" smtClean="0"/>
              <a:t>/mixing </a:t>
            </a:r>
            <a:r>
              <a:rPr lang="en-US" dirty="0"/>
              <a:t>and compassion </a:t>
            </a:r>
            <a:r>
              <a:rPr lang="en-US" dirty="0" smtClean="0"/>
              <a:t>			for one an other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287</TotalTime>
  <Words>260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Courier New</vt:lpstr>
      <vt:lpstr>Tahoma</vt:lpstr>
      <vt:lpstr>Trebuchet MS</vt:lpstr>
      <vt:lpstr>Wingdings</vt:lpstr>
      <vt:lpstr>Wingdings 3</vt:lpstr>
      <vt:lpstr>Facet</vt:lpstr>
      <vt:lpstr>             MEANING AND CONCEPT OF SALAT</vt:lpstr>
      <vt:lpstr>Importance of Salat </vt:lpstr>
      <vt:lpstr>Cont.</vt:lpstr>
      <vt:lpstr>Importance of Salat in the light of Quran</vt:lpstr>
      <vt:lpstr>Importance of Salat in the light of Hadith</vt:lpstr>
      <vt:lpstr>Benefits of Salat</vt:lpstr>
      <vt:lpstr>continued</vt:lpstr>
      <vt:lpstr>SPRITUAL BENEFITS OF PRAYAR </vt:lpstr>
      <vt:lpstr>SOCIAL BENEFITS OF SALAT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Microsoft</cp:lastModifiedBy>
  <cp:revision>48</cp:revision>
  <dcterms:created xsi:type="dcterms:W3CDTF">2016-02-01T05:22:26Z</dcterms:created>
  <dcterms:modified xsi:type="dcterms:W3CDTF">2021-03-24T05:43:04Z</dcterms:modified>
</cp:coreProperties>
</file>