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75"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4" name="Group 13"/>
          <p:cNvGrpSpPr/>
          <p:nvPr/>
        </p:nvGrpSpPr>
        <p:grpSpPr>
          <a:xfrm>
            <a:off x="-1588" y="0"/>
            <a:ext cx="12193588" cy="6861555"/>
            <a:chOff x="-1588" y="0"/>
            <a:chExt cx="12193588" cy="6861555"/>
          </a:xfrm>
        </p:grpSpPr>
        <p:sp>
          <p:nvSpPr>
            <p:cNvPr id="9" name="Rectangle 8"/>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a:prstGeom prst="rect">
            <a:avLst/>
          </a:prstGeom>
        </p:spPr>
        <p:txBody>
          <a:bodyPr anchor="b"/>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tx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rot="5400000">
            <a:off x="10158984" y="1792224"/>
            <a:ext cx="990599" cy="304799"/>
          </a:xfrm>
        </p:spPr>
        <p:txBody>
          <a:bodyPr/>
          <a:lstStyle>
            <a:lvl1pPr algn="l">
              <a:defRPr b="0">
                <a:solidFill>
                  <a:schemeClr val="bg1"/>
                </a:solidFill>
              </a:defRPr>
            </a:lvl1pPr>
          </a:lstStyle>
          <a:p>
            <a:fld id="{E9462EF3-3C4F-43EE-ACEE-D4B806740EA3}" type="datetimeFigureOut">
              <a:rPr lang="en-US" dirty="0"/>
              <a:pPr/>
              <a:t>11/17/2024</a:t>
            </a:fld>
            <a:endParaRPr lang="en-US" dirty="0"/>
          </a:p>
        </p:txBody>
      </p:sp>
      <p:sp>
        <p:nvSpPr>
          <p:cNvPr id="5" name="Footer Placeholder 4"/>
          <p:cNvSpPr>
            <a:spLocks noGrp="1"/>
          </p:cNvSpPr>
          <p:nvPr>
            <p:ph type="ftr" sz="quarter" idx="11"/>
          </p:nvPr>
        </p:nvSpPr>
        <p:spPr>
          <a:xfrm rot="5400000">
            <a:off x="8951976" y="3227832"/>
            <a:ext cx="3867912" cy="310896"/>
          </a:xfrm>
        </p:spPr>
        <p:txBody>
          <a:bodyPr/>
          <a:lstStyle>
            <a:lvl1pPr>
              <a:defRPr sz="1000" b="0">
                <a:solidFill>
                  <a:schemeClr val="bg1"/>
                </a:solidFill>
              </a:defRPr>
            </a:lvl1pPr>
          </a:lstStyle>
          <a:p>
            <a:endParaRPr lang="en-US" dirty="0"/>
          </a:p>
        </p:txBody>
      </p:sp>
      <p:sp>
        <p:nvSpPr>
          <p:cNvPr id="8" name="Rectangle 7"/>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9"/>
            <a:ext cx="8825659" cy="706964"/>
          </a:xfrm>
          <a:prstGeom prst="rect">
            <a:avLst/>
          </a:prstGeom>
        </p:spPr>
        <p:txBody>
          <a:bodyPr anchor="ctr"/>
          <a:lstStyle/>
          <a:p>
            <a:r>
              <a:rPr lang="en-US" smtClean="0"/>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76C0EF2-9919-473B-8215-8616BAF10692}" type="datetimeFigureOut">
              <a:rPr lang="en-US" dirty="0"/>
              <a:t>11/17/2024</a:t>
            </a:fld>
            <a:endParaRPr lang="en-US" dirty="0"/>
          </a:p>
        </p:txBody>
      </p:sp>
      <p:sp>
        <p:nvSpPr>
          <p:cNvPr id="5" name="Footer Placeholder 4"/>
          <p:cNvSpPr>
            <a:spLocks noGrp="1"/>
          </p:cNvSpPr>
          <p:nvPr>
            <p:ph type="ftr" sz="quarter" idx="11"/>
          </p:nvPr>
        </p:nvSpPr>
        <p:spPr/>
        <p:txBody>
          <a:bodyPr/>
          <a:lstStyle>
            <a:lvl1pPr>
              <a:defRPr sz="1000" b="1"/>
            </a:lvl1p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7" name="Group 16"/>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Rectangle 8"/>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9192"/>
            <a:ext cx="4343400" cy="2286000"/>
          </a:xfrm>
          <a:prstGeom prst="rect">
            <a:avLst/>
          </a:prstGeom>
        </p:spPr>
        <p:txBody>
          <a:bodyPr anchor="ctr" anchorCtr="0"/>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94576" y="2679192"/>
            <a:ext cx="3758184" cy="2286000"/>
          </a:xfrm>
        </p:spPr>
        <p:txBody>
          <a:bodyPr anchor="ctr" anchorCtr="0"/>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09472EB-AC54-4713-BFC2-BEB621108C63}" type="datetimeFigureOut">
              <a:rPr lang="en-US" dirty="0"/>
              <a:t>11/17/2024</a:t>
            </a:fld>
            <a:endParaRPr lang="en-US" dirty="0"/>
          </a:p>
        </p:txBody>
      </p:sp>
      <p:sp>
        <p:nvSpPr>
          <p:cNvPr id="5" name="Footer Placeholder 4"/>
          <p:cNvSpPr>
            <a:spLocks noGrp="1"/>
          </p:cNvSpPr>
          <p:nvPr>
            <p:ph type="ftr" sz="quarter" idx="11"/>
          </p:nvPr>
        </p:nvSpPr>
        <p:spPr/>
        <p:txBody>
          <a:bodyPr/>
          <a:lstStyle>
            <a:lvl1pPr>
              <a:defRPr sz="1000" b="1"/>
            </a:lvl1pPr>
          </a:lstStyle>
          <a:p>
            <a:endParaRPr lang="en-US" dirty="0"/>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54953" y="969264"/>
            <a:ext cx="8825659" cy="704088"/>
          </a:xfrm>
          <a:prstGeom prst="rect">
            <a:avLst/>
          </a:prstGeo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54954" y="2603500"/>
            <a:ext cx="4828032" cy="3416301"/>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8776" y="2603500"/>
            <a:ext cx="4828032" cy="341630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9455A0C-791E-4545-B787-F98AD45CD761}" type="datetimeFigureOut">
              <a:rPr lang="en-US" dirty="0"/>
              <a:t>11/17/2024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54954" y="969264"/>
            <a:ext cx="8825659" cy="704088"/>
          </a:xfrm>
          <a:prstGeom prst="rect">
            <a:avLst/>
          </a:prstGeom>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6040"/>
            <a:ext cx="4828032"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54954" y="3198448"/>
            <a:ext cx="4828032" cy="284378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08776" y="2606040"/>
            <a:ext cx="4828032"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08711" y="3187921"/>
            <a:ext cx="4825160" cy="2854311"/>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2536B77-F4F4-4427-AC4F-9A623798AD82}" type="datetimeFigureOut">
              <a:rPr lang="en-US" dirty="0"/>
              <a:t>11/17/2024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52144" y="969264"/>
            <a:ext cx="8825659" cy="704088"/>
          </a:xfrm>
          <a:prstGeom prst="rect">
            <a:avLst/>
          </a:prstGeo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D8BE790C-34EB-4565-8437-CACF4CDB7822}" type="datetimeFigureOut">
              <a:rPr lang="en-US" dirty="0"/>
              <a:t>11/17/2024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4A4C11-22B8-4A4E-8126-B3AF6B948A8E}" type="datetimeFigureOut">
              <a:rPr lang="en-US" dirty="0"/>
              <a:t>11/17/2024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Rectangle 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8" name="Group 17"/>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3" y="1298448"/>
            <a:ext cx="2793159" cy="1597152"/>
          </a:xfrm>
          <a:prstGeom prst="rect">
            <a:avLst/>
          </a:prstGeo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779008" y="1447800"/>
            <a:ext cx="5195997" cy="45720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bwMode="gray">
          <a:xfrm>
            <a:off x="1154953" y="3129280"/>
            <a:ext cx="2793159" cy="2895599"/>
          </a:xfrm>
        </p:spPr>
        <p:txBody>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6ED06B6-C816-4861-964D-15A98395707D}" type="datetimeFigureOut">
              <a:rPr lang="en-US" dirty="0"/>
              <a:t>11/17/2024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18" name="Group 17"/>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59" cy="1735668"/>
          </a:xfrm>
          <a:prstGeom prst="rect">
            <a:avLst/>
          </a:prstGeo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0B1A8AB-EA7C-4B1B-9D73-E2551851FABE}" type="datetimeFigureOut">
              <a:rPr lang="en-US" dirty="0"/>
              <a:t>11/17/2024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17" name="Group 16"/>
          <p:cNvGrpSpPr/>
          <p:nvPr/>
        </p:nvGrpSpPr>
        <p:grpSpPr>
          <a:xfrm>
            <a:off x="-1588" y="0"/>
            <a:ext cx="12193588" cy="6861555"/>
            <a:chOff x="-1588" y="0"/>
            <a:chExt cx="12193588" cy="6861555"/>
          </a:xfrm>
        </p:grpSpPr>
        <p:sp>
          <p:nvSpPr>
            <p:cNvPr id="11" name="Rectangle 10"/>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7" y="4969927"/>
            <a:ext cx="8825657" cy="566738"/>
          </a:xfrm>
          <a:prstGeom prst="rect">
            <a:avLst/>
          </a:prstGeo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bwMode="gray">
          <a:xfrm>
            <a:off x="1154957" y="5536665"/>
            <a:ext cx="8825656" cy="493712"/>
          </a:xfrm>
        </p:spPr>
        <p:txBody>
          <a:bodyPr>
            <a:normAutofit/>
          </a:bodyPr>
          <a:lstStyle>
            <a:lvl1pPr marL="0" indent="0">
              <a:buNone/>
              <a:defRPr sz="12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6343B39-165A-4B68-AA5C-581F5336313C}" type="datetimeFigureOut">
              <a:rPr lang="en-US" dirty="0"/>
              <a:t>11/17/2024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6" name="Group 15"/>
          <p:cNvGrpSpPr/>
          <p:nvPr/>
        </p:nvGrpSpPr>
        <p:grpSpPr>
          <a:xfrm>
            <a:off x="-1588" y="0"/>
            <a:ext cx="12193588" cy="6861555"/>
            <a:chOff x="-1588" y="0"/>
            <a:chExt cx="12193588" cy="6861555"/>
          </a:xfrm>
        </p:grpSpPr>
        <p:sp>
          <p:nvSpPr>
            <p:cNvPr id="10" name="Rectangle 9"/>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0704"/>
            <a:ext cx="8833104" cy="1371600"/>
          </a:xfrm>
          <a:prstGeom prst="rect">
            <a:avLst/>
          </a:prstGeom>
        </p:spPr>
        <p:txBody>
          <a:bodyPr anchor="ctr" anchorCtr="0"/>
          <a:lstStyle>
            <a:lvl1pPr>
              <a:defRPr sz="40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2144" y="3547872"/>
            <a:ext cx="8825659" cy="2478024"/>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42C8C57-33F9-4259-AC4F-0E3F5BEC9B94}" type="datetimeFigureOut">
              <a:rPr lang="en-US" dirty="0"/>
              <a:t>11/17/2024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1588" y="0"/>
            <a:ext cx="12193588" cy="6861555"/>
            <a:chOff x="-1588" y="0"/>
            <a:chExt cx="12193588" cy="6861555"/>
          </a:xfrm>
        </p:grpSpPr>
        <p:sp>
          <p:nvSpPr>
            <p:cNvPr id="16" name="Rectangle 15"/>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Oval 17"/>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7"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2" name="TextBox 11"/>
          <p:cNvSpPr txBox="1"/>
          <p:nvPr/>
        </p:nvSpPr>
        <p:spPr bwMode="gray">
          <a:xfrm>
            <a:off x="898295" y="596767"/>
            <a:ext cx="801912" cy="156966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9600" dirty="0">
                <a:solidFill>
                  <a:schemeClr val="tx2">
                    <a:lumMod val="40000"/>
                    <a:lumOff val="60000"/>
                  </a:schemeClr>
                </a:solidFill>
              </a:rPr>
              <a:t>“</a:t>
            </a:r>
          </a:p>
        </p:txBody>
      </p:sp>
      <p:sp>
        <p:nvSpPr>
          <p:cNvPr id="15" name="TextBox 14"/>
          <p:cNvSpPr txBox="1"/>
          <p:nvPr/>
        </p:nvSpPr>
        <p:spPr bwMode="gray">
          <a:xfrm>
            <a:off x="9715063" y="2629300"/>
            <a:ext cx="801912" cy="156966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9600" dirty="0">
                <a:solidFill>
                  <a:schemeClr val="tx2">
                    <a:lumMod val="40000"/>
                    <a:lumOff val="60000"/>
                  </a:schemeClr>
                </a:solidFill>
              </a:rPr>
              <a:t>”</a:t>
            </a:r>
          </a:p>
        </p:txBody>
      </p:sp>
      <p:sp>
        <p:nvSpPr>
          <p:cNvPr id="2" name="Title 1"/>
          <p:cNvSpPr>
            <a:spLocks noGrp="1"/>
          </p:cNvSpPr>
          <p:nvPr>
            <p:ph type="title"/>
          </p:nvPr>
        </p:nvSpPr>
        <p:spPr>
          <a:xfrm>
            <a:off x="1574801" y="980517"/>
            <a:ext cx="8460983" cy="2698249"/>
          </a:xfrm>
          <a:prstGeom prst="rect">
            <a:avLst/>
          </a:prstGeom>
        </p:spPr>
        <p:txBody>
          <a:bodyPr anchor="ctr" anchorCtr="0"/>
          <a:lstStyle>
            <a:lvl1pPr>
              <a:defRPr sz="4000"/>
            </a:lvl1pPr>
          </a:lstStyle>
          <a:p>
            <a:r>
              <a:rPr lang="en-US" smtClean="0"/>
              <a:t>Click to edit Master title style</a:t>
            </a:r>
            <a:endParaRPr lang="en-US" dirty="0"/>
          </a:p>
        </p:txBody>
      </p:sp>
      <p:sp>
        <p:nvSpPr>
          <p:cNvPr id="11" name="Text Placeholder 3"/>
          <p:cNvSpPr>
            <a:spLocks noGrp="1"/>
          </p:cNvSpPr>
          <p:nvPr>
            <p:ph type="body" sz="half" idx="14"/>
          </p:nvPr>
        </p:nvSpPr>
        <p:spPr bwMode="gray">
          <a:xfrm>
            <a:off x="1945945" y="3679987"/>
            <a:ext cx="7725772" cy="342174"/>
          </a:xfrm>
        </p:spPr>
        <p:txBody>
          <a:bodyPr vert="horz" lIns="91440" tIns="45720" rIns="91440" bIns="45720" rtlCol="0" anchor="t">
            <a:normAutofit/>
          </a:bodyPr>
          <a:lstStyle>
            <a:lvl1pPr>
              <a:buNone/>
              <a:defRPr lang="en-US" sz="1400" cap="small" dirty="0">
                <a:solidFill>
                  <a:schemeClr val="tx2">
                    <a:lumMod val="40000"/>
                    <a:lumOff val="60000"/>
                  </a:schemeClr>
                </a:solidFill>
                <a:latin typeface="+mn-lt"/>
              </a:defRPr>
            </a:lvl1pPr>
          </a:lstStyle>
          <a:p>
            <a:pPr marL="0" lvl="0" indent="0">
              <a:buNone/>
            </a:pPr>
            <a:r>
              <a:rPr lang="en-US" smtClean="0"/>
              <a:t>Click to edit Master text styles</a:t>
            </a:r>
          </a:p>
        </p:txBody>
      </p:sp>
      <p:sp>
        <p:nvSpPr>
          <p:cNvPr id="10" name="Text Placeholder 3"/>
          <p:cNvSpPr>
            <a:spLocks noGrp="1"/>
          </p:cNvSpPr>
          <p:nvPr>
            <p:ph type="body" sz="half" idx="2"/>
          </p:nvPr>
        </p:nvSpPr>
        <p:spPr>
          <a:xfrm>
            <a:off x="1154954" y="5029198"/>
            <a:ext cx="8825659" cy="997858"/>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748772B-8FA2-401F-A0A1-A59855EDBC3E}" type="datetimeFigureOut">
              <a:rPr lang="en-US" dirty="0"/>
              <a:t>11/17/2024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23" name="Rectangle 2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6" name="Group 15"/>
          <p:cNvGrpSpPr/>
          <p:nvPr/>
        </p:nvGrpSpPr>
        <p:grpSpPr>
          <a:xfrm>
            <a:off x="-1588" y="0"/>
            <a:ext cx="12193588" cy="6861555"/>
            <a:chOff x="-1588" y="0"/>
            <a:chExt cx="12193588" cy="6861555"/>
          </a:xfrm>
        </p:grpSpPr>
        <p:sp>
          <p:nvSpPr>
            <p:cNvPr id="11" name="Rectangle 10"/>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3525"/>
            <a:ext cx="8865623" cy="1819656"/>
          </a:xfrm>
          <a:prstGeom prst="rect">
            <a:avLst/>
          </a:prstGeo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5029200"/>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3DD5BDE-5A90-4611-82E9-0FC5746D30C5}" type="datetimeFigureOut">
              <a:rPr lang="en-US" dirty="0"/>
              <a:t>11/17/2024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3129168"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1154954" y="3179764"/>
            <a:ext cx="3129168"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12721" y="2603500"/>
            <a:ext cx="3145380"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4512721" y="3179764"/>
            <a:ext cx="3145380"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886700" y="2595032"/>
            <a:ext cx="3161029" cy="58473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886700" y="3179764"/>
            <a:ext cx="3161029"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4384991" y="2603500"/>
            <a:ext cx="32564" cy="3423554"/>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5824" y="2603500"/>
            <a:ext cx="0" cy="3423554"/>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ADDA17D-0BEA-4E76-A7FC-F7C188BC48D1}" type="datetimeFigureOut">
              <a:rPr lang="en-US" dirty="0"/>
              <a:t>11/17/2024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nchor="ctr" anchorCtr="0"/>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4532845"/>
            <a:ext cx="3050438" cy="576260"/>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1334552" y="2610916"/>
            <a:ext cx="2691242" cy="1584094"/>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1154954" y="5109107"/>
            <a:ext cx="3050438"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68865" y="4532842"/>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474846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4568865" y="5109108"/>
            <a:ext cx="3050438" cy="91257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983433" y="4532842"/>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983433" y="5109107"/>
            <a:ext cx="3050438" cy="91794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4384245" y="2603500"/>
            <a:ext cx="1" cy="3461811"/>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7352" y="2603500"/>
            <a:ext cx="0" cy="3461811"/>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6909AC7D-18CA-4236-82B9-D75EB1D66EAE}" type="datetimeFigureOut">
              <a:rPr lang="en-US" dirty="0"/>
              <a:t>11/17/2024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2595033"/>
            <a:ext cx="8825659" cy="3424768"/>
          </a:xfrm>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68300E-C023-45CD-A0BE-EDB7A8C6EA8B}" type="datetimeFigureOut">
              <a:rPr lang="en-US" dirty="0"/>
              <a:t>11/17/2024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8" name="Group 7"/>
          <p:cNvGrpSpPr/>
          <p:nvPr/>
        </p:nvGrpSpPr>
        <p:grpSpPr>
          <a:xfrm>
            <a:off x="-1588" y="0"/>
            <a:ext cx="12193588" cy="6861555"/>
            <a:chOff x="-1588" y="0"/>
            <a:chExt cx="12193588" cy="6861555"/>
          </a:xfrm>
        </p:grpSpPr>
        <p:sp>
          <p:nvSpPr>
            <p:cNvPr id="15" name="Rectangle 14"/>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Rectangle 12"/>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6"/>
            <a:ext cx="1441567" cy="4748591"/>
          </a:xfrm>
          <a:prstGeom prst="rect">
            <a:avLst/>
          </a:prstGeo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1278465"/>
            <a:ext cx="6256025" cy="474859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B620EAD-E369-4933-8469-ED7764B56A1B}" type="datetimeFigureOut">
              <a:rPr lang="en-US" dirty="0"/>
              <a:t>11/17/2024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20" name="Rectangle 1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1"/>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19">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20"/>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4"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7"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30"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652760" y="6391656"/>
            <a:ext cx="990599" cy="304799"/>
          </a:xfrm>
          <a:prstGeom prst="rect">
            <a:avLst/>
          </a:prstGeom>
        </p:spPr>
        <p:txBody>
          <a:bodyPr vert="horz" lIns="91440" tIns="45720" rIns="91440" bIns="45720" rtlCol="0" anchor="ctr" anchorCtr="0"/>
          <a:lstStyle>
            <a:lvl1pPr algn="r">
              <a:defRPr sz="1000" b="1" i="0">
                <a:solidFill>
                  <a:schemeClr val="accent1"/>
                </a:solidFill>
              </a:defRPr>
            </a:lvl1pPr>
          </a:lstStyle>
          <a:p>
            <a:fld id="{90786BE5-D2A3-4BF0-8B30-D7403E61B3DC}" type="datetimeFigureOut">
              <a:rPr lang="en-US" dirty="0"/>
              <a:t>11/17/2024</a:t>
            </a:fld>
            <a:endParaRPr lang="en-US" dirty="0"/>
          </a:p>
        </p:txBody>
      </p:sp>
      <p:sp>
        <p:nvSpPr>
          <p:cNvPr id="5" name="Footer Placeholder 4"/>
          <p:cNvSpPr>
            <a:spLocks noGrp="1"/>
          </p:cNvSpPr>
          <p:nvPr>
            <p:ph type="ftr" sz="quarter" idx="3"/>
          </p:nvPr>
        </p:nvSpPr>
        <p:spPr>
          <a:xfrm>
            <a:off x="557784" y="6391656"/>
            <a:ext cx="3867912" cy="310896"/>
          </a:xfrm>
          <a:prstGeom prst="rect">
            <a:avLst/>
          </a:prstGeom>
        </p:spPr>
        <p:txBody>
          <a:bodyPr vert="horz" lIns="91440" tIns="45720" rIns="91440" bIns="45720" rtlCol="0" anchor="ctr" anchorCtr="0"/>
          <a:lstStyle>
            <a:lvl1pPr algn="l">
              <a:defRPr sz="1000" b="1" i="0">
                <a:solidFill>
                  <a:schemeClr val="accent1"/>
                </a:solidFill>
              </a:defRPr>
            </a:lvl1pPr>
          </a:lstStyle>
          <a:p>
            <a:endParaRPr lang="en-US" dirty="0"/>
          </a:p>
        </p:txBody>
      </p:sp>
      <p:sp>
        <p:nvSpPr>
          <p:cNvPr id="29" name="Rectangle 2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94716" y="953037"/>
            <a:ext cx="6375042" cy="954107"/>
          </a:xfrm>
          <a:prstGeom prst="rect">
            <a:avLst/>
          </a:prstGeom>
          <a:noFill/>
        </p:spPr>
        <p:txBody>
          <a:bodyPr wrap="square" rtlCol="0">
            <a:spAutoFit/>
          </a:bodyPr>
          <a:lstStyle/>
          <a:p>
            <a:pPr algn="ctr"/>
            <a:r>
              <a:rPr lang="en-US" sz="2800" b="1" dirty="0" smtClean="0">
                <a:solidFill>
                  <a:schemeClr val="bg1"/>
                </a:solidFill>
                <a:latin typeface="Arial Black" panose="020B0A04020102020204" pitchFamily="34" charset="0"/>
              </a:rPr>
              <a:t>ICT(information Communication Technology)</a:t>
            </a:r>
            <a:endParaRPr lang="en-US" sz="2800" b="1" dirty="0">
              <a:solidFill>
                <a:schemeClr val="bg1"/>
              </a:solidFill>
              <a:latin typeface="Arial Black" panose="020B0A04020102020204" pitchFamily="34" charset="0"/>
            </a:endParaRPr>
          </a:p>
        </p:txBody>
      </p:sp>
      <p:sp>
        <p:nvSpPr>
          <p:cNvPr id="5" name="TextBox 4"/>
          <p:cNvSpPr txBox="1"/>
          <p:nvPr/>
        </p:nvSpPr>
        <p:spPr>
          <a:xfrm>
            <a:off x="2794716" y="2560750"/>
            <a:ext cx="6375042" cy="523220"/>
          </a:xfrm>
          <a:prstGeom prst="rect">
            <a:avLst/>
          </a:prstGeom>
          <a:noFill/>
        </p:spPr>
        <p:txBody>
          <a:bodyPr wrap="square" rtlCol="0">
            <a:spAutoFit/>
          </a:bodyPr>
          <a:lstStyle/>
          <a:p>
            <a:pPr algn="ctr"/>
            <a:r>
              <a:rPr lang="en-US" sz="2800" b="1" dirty="0" smtClean="0">
                <a:solidFill>
                  <a:schemeClr val="bg1"/>
                </a:solidFill>
                <a:latin typeface="Arial Black" panose="020B0A04020102020204" pitchFamily="34" charset="0"/>
              </a:rPr>
              <a:t>IT(information  Technology)</a:t>
            </a:r>
            <a:endParaRPr lang="en-US" sz="2800" b="1" dirty="0">
              <a:solidFill>
                <a:schemeClr val="bg1"/>
              </a:solidFill>
              <a:latin typeface="Arial Black" panose="020B0A04020102020204" pitchFamily="34" charset="0"/>
            </a:endParaRPr>
          </a:p>
        </p:txBody>
      </p:sp>
    </p:spTree>
    <p:extLst>
      <p:ext uri="{BB962C8B-B14F-4D97-AF65-F5344CB8AC3E}">
        <p14:creationId xmlns:p14="http://schemas.microsoft.com/office/powerpoint/2010/main" val="1713898421"/>
      </p:ext>
    </p:extLst>
  </p:cSld>
  <p:clrMapOvr>
    <a:masterClrMapping/>
  </p:clrMapOvr>
  <p:transition spd="slow">
    <p:randomBar dir="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70479" y="1197734"/>
            <a:ext cx="5009881" cy="461665"/>
          </a:xfrm>
          <a:prstGeom prst="rect">
            <a:avLst/>
          </a:prstGeom>
          <a:noFill/>
        </p:spPr>
        <p:txBody>
          <a:bodyPr wrap="square" rtlCol="0">
            <a:spAutoFit/>
          </a:bodyPr>
          <a:lstStyle/>
          <a:p>
            <a:r>
              <a:rPr lang="en-US" sz="2400" b="1" dirty="0" smtClean="0">
                <a:solidFill>
                  <a:schemeClr val="bg1"/>
                </a:solidFill>
                <a:latin typeface="Arial Black" panose="020B0A04020102020204" pitchFamily="34" charset="0"/>
              </a:rPr>
              <a:t>IT  (Information technology)</a:t>
            </a:r>
            <a:endParaRPr lang="en-US" sz="2400" b="1" dirty="0">
              <a:solidFill>
                <a:schemeClr val="bg1"/>
              </a:solidFill>
              <a:latin typeface="Arial Black" panose="020B0A04020102020204" pitchFamily="34" charset="0"/>
            </a:endParaRPr>
          </a:p>
        </p:txBody>
      </p:sp>
      <p:sp>
        <p:nvSpPr>
          <p:cNvPr id="3" name="TextBox 2"/>
          <p:cNvSpPr txBox="1"/>
          <p:nvPr/>
        </p:nvSpPr>
        <p:spPr>
          <a:xfrm>
            <a:off x="904929" y="2380130"/>
            <a:ext cx="6774287" cy="646331"/>
          </a:xfrm>
          <a:prstGeom prst="rect">
            <a:avLst/>
          </a:prstGeom>
          <a:noFill/>
        </p:spPr>
        <p:txBody>
          <a:bodyPr wrap="square" rtlCol="0">
            <a:spAutoFit/>
          </a:bodyPr>
          <a:lstStyle/>
          <a:p>
            <a:r>
              <a:rPr lang="en-US" dirty="0" smtClean="0">
                <a:solidFill>
                  <a:schemeClr val="bg1"/>
                </a:solidFill>
                <a:latin typeface="Arial Black" panose="020B0A04020102020204" pitchFamily="34" charset="0"/>
              </a:rPr>
              <a:t>IT focuses mainly on using computers and software to manage and process information.</a:t>
            </a:r>
            <a:endParaRPr lang="en-US" dirty="0">
              <a:solidFill>
                <a:schemeClr val="bg1"/>
              </a:solidFill>
              <a:latin typeface="Arial Black" panose="020B0A04020102020204" pitchFamily="34" charset="0"/>
            </a:endParaRPr>
          </a:p>
        </p:txBody>
      </p:sp>
      <p:sp>
        <p:nvSpPr>
          <p:cNvPr id="4" name="TextBox 3"/>
          <p:cNvSpPr txBox="1"/>
          <p:nvPr/>
        </p:nvSpPr>
        <p:spPr>
          <a:xfrm>
            <a:off x="904930" y="3438659"/>
            <a:ext cx="6774287" cy="646331"/>
          </a:xfrm>
          <a:prstGeom prst="rect">
            <a:avLst/>
          </a:prstGeom>
          <a:noFill/>
        </p:spPr>
        <p:txBody>
          <a:bodyPr wrap="square" rtlCol="0">
            <a:spAutoFit/>
          </a:bodyPr>
          <a:lstStyle/>
          <a:p>
            <a:r>
              <a:rPr lang="en-US" dirty="0" smtClean="0">
                <a:solidFill>
                  <a:schemeClr val="bg1"/>
                </a:solidFill>
                <a:latin typeface="Arial Black" panose="020B0A04020102020204" pitchFamily="34" charset="0"/>
              </a:rPr>
              <a:t>Ex : using a computer to store documents or run a database.</a:t>
            </a:r>
            <a:endParaRPr lang="en-US" dirty="0">
              <a:solidFill>
                <a:schemeClr val="bg1"/>
              </a:solidFill>
              <a:latin typeface="Arial Black" panose="020B0A04020102020204" pitchFamily="34" charset="0"/>
            </a:endParaRPr>
          </a:p>
        </p:txBody>
      </p:sp>
      <p:pic>
        <p:nvPicPr>
          <p:cNvPr id="2050" name="Picture 2" descr="https://www.techquintal.com/wp-content/uploads/2021/05/Information-Technolog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91717" y="2182969"/>
            <a:ext cx="3644721" cy="251138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192454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64405" y="1232217"/>
            <a:ext cx="8680361" cy="1077218"/>
          </a:xfrm>
          <a:prstGeom prst="rect">
            <a:avLst/>
          </a:prstGeom>
          <a:noFill/>
        </p:spPr>
        <p:txBody>
          <a:bodyPr wrap="square" rtlCol="0">
            <a:spAutoFit/>
          </a:bodyPr>
          <a:lstStyle/>
          <a:p>
            <a:pPr algn="ctr"/>
            <a:r>
              <a:rPr lang="en-US" sz="3200" b="1" dirty="0" smtClean="0">
                <a:solidFill>
                  <a:schemeClr val="bg1"/>
                </a:solidFill>
                <a:latin typeface="Arial Black" panose="020B0A04020102020204" pitchFamily="34" charset="0"/>
              </a:rPr>
              <a:t>ICT  (Information Communication technology)</a:t>
            </a:r>
            <a:endParaRPr lang="en-US" sz="3200" b="1" dirty="0">
              <a:solidFill>
                <a:schemeClr val="bg1"/>
              </a:solidFill>
              <a:latin typeface="Arial Black" panose="020B0A04020102020204" pitchFamily="34" charset="0"/>
            </a:endParaRPr>
          </a:p>
        </p:txBody>
      </p:sp>
      <p:pic>
        <p:nvPicPr>
          <p:cNvPr id="1030" name="Picture 6" descr="https://as2.ftcdn.net/v2/jpg/05/17/23/95/1000_F_517239518_PUEfknsnmbUQGVDT0mFKj9A1AvCUL4ML.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42478" y="2537138"/>
            <a:ext cx="3026535" cy="2678806"/>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1468191" y="2722379"/>
            <a:ext cx="6774287" cy="2308324"/>
          </a:xfrm>
          <a:prstGeom prst="rect">
            <a:avLst/>
          </a:prstGeom>
          <a:noFill/>
        </p:spPr>
        <p:txBody>
          <a:bodyPr wrap="square" rtlCol="0">
            <a:spAutoFit/>
          </a:bodyPr>
          <a:lstStyle/>
          <a:p>
            <a:r>
              <a:rPr lang="en-US" b="1" dirty="0">
                <a:solidFill>
                  <a:schemeClr val="bg1"/>
                </a:solidFill>
                <a:latin typeface="Arial Black" panose="020B0A04020102020204" pitchFamily="34" charset="0"/>
              </a:rPr>
              <a:t>Information and communications technology (ICT) is the use of computing and </a:t>
            </a:r>
            <a:r>
              <a:rPr lang="en-US" b="1" dirty="0" smtClean="0">
                <a:solidFill>
                  <a:schemeClr val="bg1"/>
                </a:solidFill>
                <a:latin typeface="Arial Black" panose="020B0A04020102020204" pitchFamily="34" charset="0"/>
              </a:rPr>
              <a:t>telecommunication technologies</a:t>
            </a:r>
            <a:r>
              <a:rPr lang="en-US" b="1" dirty="0">
                <a:solidFill>
                  <a:schemeClr val="bg1"/>
                </a:solidFill>
                <a:latin typeface="Arial Black" panose="020B0A04020102020204" pitchFamily="34" charset="0"/>
              </a:rPr>
              <a:t>, systems, and tools to facilitate the way information is created, collected, processed, transmitted, and stored. It includes computing technologies like servers, laptop computers, and software applications, as well as the wired and wireless </a:t>
            </a:r>
            <a:r>
              <a:rPr lang="en-US" b="1" dirty="0" smtClean="0">
                <a:solidFill>
                  <a:schemeClr val="bg1"/>
                </a:solidFill>
                <a:latin typeface="Arial Black" panose="020B0A04020102020204" pitchFamily="34" charset="0"/>
              </a:rPr>
              <a:t>communication.</a:t>
            </a:r>
            <a:endParaRPr lang="en-US" b="1" dirty="0">
              <a:solidFill>
                <a:schemeClr val="bg1"/>
              </a:solidFill>
              <a:latin typeface="Arial Black" panose="020B0A04020102020204" pitchFamily="34" charset="0"/>
            </a:endParaRPr>
          </a:p>
        </p:txBody>
      </p:sp>
    </p:spTree>
    <p:extLst>
      <p:ext uri="{BB962C8B-B14F-4D97-AF65-F5344CB8AC3E}">
        <p14:creationId xmlns:p14="http://schemas.microsoft.com/office/powerpoint/2010/main" val="294939453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026730" y="1816840"/>
            <a:ext cx="7147776" cy="707886"/>
          </a:xfrm>
          <a:prstGeom prst="rect">
            <a:avLst/>
          </a:prstGeom>
          <a:noFill/>
        </p:spPr>
        <p:txBody>
          <a:bodyPr wrap="square" rtlCol="0">
            <a:spAutoFit/>
          </a:bodyPr>
          <a:lstStyle/>
          <a:p>
            <a:pPr algn="ctr"/>
            <a:r>
              <a:rPr lang="en-US" sz="4000" dirty="0" smtClean="0">
                <a:solidFill>
                  <a:schemeClr val="bg1"/>
                </a:solidFill>
                <a:latin typeface="Arial Black" panose="020B0A04020102020204" pitchFamily="34" charset="0"/>
              </a:rPr>
              <a:t>ICT ?</a:t>
            </a:r>
            <a:endParaRPr lang="en-US" sz="4000" dirty="0">
              <a:solidFill>
                <a:schemeClr val="bg1"/>
              </a:solidFill>
              <a:latin typeface="Arial Black" panose="020B0A04020102020204" pitchFamily="34" charset="0"/>
            </a:endParaRPr>
          </a:p>
        </p:txBody>
      </p:sp>
      <p:sp>
        <p:nvSpPr>
          <p:cNvPr id="4" name="TextBox 3"/>
          <p:cNvSpPr txBox="1"/>
          <p:nvPr/>
        </p:nvSpPr>
        <p:spPr>
          <a:xfrm>
            <a:off x="896205" y="2820669"/>
            <a:ext cx="7147776" cy="707886"/>
          </a:xfrm>
          <a:prstGeom prst="rect">
            <a:avLst/>
          </a:prstGeom>
          <a:noFill/>
        </p:spPr>
        <p:txBody>
          <a:bodyPr wrap="square" rtlCol="0">
            <a:spAutoFit/>
          </a:bodyPr>
          <a:lstStyle/>
          <a:p>
            <a:pPr algn="ctr"/>
            <a:r>
              <a:rPr lang="en-US" sz="4000" dirty="0" smtClean="0">
                <a:solidFill>
                  <a:schemeClr val="bg1"/>
                </a:solidFill>
                <a:latin typeface="Arial Black" panose="020B0A04020102020204" pitchFamily="34" charset="0"/>
              </a:rPr>
              <a:t>IT ?</a:t>
            </a:r>
            <a:endParaRPr lang="en-US" sz="4000" dirty="0">
              <a:solidFill>
                <a:schemeClr val="bg1"/>
              </a:solidFill>
              <a:latin typeface="Arial Black" panose="020B0A04020102020204" pitchFamily="34" charset="0"/>
            </a:endParaRPr>
          </a:p>
        </p:txBody>
      </p:sp>
      <p:pic>
        <p:nvPicPr>
          <p:cNvPr id="4098" name="Picture 2" descr="http://clipart-library.com/images/pc7rLGMKi.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39000" y="1520897"/>
            <a:ext cx="3848100" cy="3602646"/>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361820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22112" y="1574017"/>
            <a:ext cx="7147776" cy="646331"/>
          </a:xfrm>
          <a:prstGeom prst="rect">
            <a:avLst/>
          </a:prstGeom>
          <a:noFill/>
        </p:spPr>
        <p:txBody>
          <a:bodyPr wrap="square" rtlCol="0">
            <a:spAutoFit/>
          </a:bodyPr>
          <a:lstStyle/>
          <a:p>
            <a:r>
              <a:rPr lang="en-US" dirty="0" smtClean="0">
                <a:solidFill>
                  <a:schemeClr val="bg1"/>
                </a:solidFill>
                <a:latin typeface="Arial Black" panose="020B0A04020102020204" pitchFamily="34" charset="0"/>
              </a:rPr>
              <a:t>ICT(information and communication technology) is the broader term compared to IT(information technology).</a:t>
            </a:r>
            <a:endParaRPr lang="en-US" dirty="0">
              <a:solidFill>
                <a:schemeClr val="bg1"/>
              </a:solidFill>
              <a:latin typeface="Arial Black" panose="020B0A04020102020204" pitchFamily="34" charset="0"/>
            </a:endParaRPr>
          </a:p>
        </p:txBody>
      </p:sp>
      <p:pic>
        <p:nvPicPr>
          <p:cNvPr id="3074" name="Picture 2" descr="https://c8.alamy.com/comp/HH9WA7/face-silly-shocked-confused-man-surprised-astonished-guy-isolated-HH9WA7.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82625" y="2717442"/>
            <a:ext cx="3745605" cy="2884868"/>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5" name="Rectangle 4"/>
          <p:cNvSpPr/>
          <p:nvPr/>
        </p:nvSpPr>
        <p:spPr>
          <a:xfrm>
            <a:off x="1386625" y="3076703"/>
            <a:ext cx="6096000" cy="1754326"/>
          </a:xfrm>
          <a:prstGeom prst="rect">
            <a:avLst/>
          </a:prstGeom>
        </p:spPr>
        <p:txBody>
          <a:bodyPr>
            <a:spAutoFit/>
          </a:bodyPr>
          <a:lstStyle/>
          <a:p>
            <a:r>
              <a:rPr lang="en-US" dirty="0">
                <a:solidFill>
                  <a:schemeClr val="bg1"/>
                </a:solidFill>
                <a:latin typeface="Arial Black" panose="020B0A04020102020204" pitchFamily="34" charset="0"/>
              </a:rPr>
              <a:t>ICT Includes everything that IT does, but also adds the communication aspect. </a:t>
            </a:r>
          </a:p>
          <a:p>
            <a:r>
              <a:rPr lang="en-US" dirty="0">
                <a:solidFill>
                  <a:schemeClr val="bg1"/>
                </a:solidFill>
                <a:latin typeface="Arial Black" panose="020B0A04020102020204" pitchFamily="34" charset="0"/>
              </a:rPr>
              <a:t>So, ICT is about using technology to process, store and share information through communication tools like the internet, phones, or networks</a:t>
            </a:r>
          </a:p>
        </p:txBody>
      </p:sp>
    </p:spTree>
    <p:extLst>
      <p:ext uri="{BB962C8B-B14F-4D97-AF65-F5344CB8AC3E}">
        <p14:creationId xmlns:p14="http://schemas.microsoft.com/office/powerpoint/2010/main" val="266878473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469152" y="1070610"/>
            <a:ext cx="4683175" cy="584775"/>
          </a:xfrm>
          <a:prstGeom prst="rect">
            <a:avLst/>
          </a:prstGeom>
          <a:noFill/>
        </p:spPr>
        <p:txBody>
          <a:bodyPr wrap="square" rtlCol="0">
            <a:spAutoFit/>
          </a:bodyPr>
          <a:lstStyle/>
          <a:p>
            <a:pPr algn="ctr"/>
            <a:r>
              <a:rPr lang="en-US" sz="3200" b="1" dirty="0" smtClean="0">
                <a:solidFill>
                  <a:schemeClr val="bg1"/>
                </a:solidFill>
                <a:latin typeface="Arial Black" panose="020B0A04020102020204" pitchFamily="34" charset="0"/>
              </a:rPr>
              <a:t>Advantages of IT</a:t>
            </a:r>
            <a:endParaRPr lang="en-US" sz="3200" b="1" dirty="0">
              <a:solidFill>
                <a:schemeClr val="bg1"/>
              </a:solidFill>
              <a:latin typeface="Arial Black" panose="020B0A04020102020204" pitchFamily="34" charset="0"/>
            </a:endParaRPr>
          </a:p>
        </p:txBody>
      </p:sp>
      <p:sp>
        <p:nvSpPr>
          <p:cNvPr id="4" name="Rectangle 2"/>
          <p:cNvSpPr>
            <a:spLocks noChangeArrowheads="1"/>
          </p:cNvSpPr>
          <p:nvPr/>
        </p:nvSpPr>
        <p:spPr bwMode="auto">
          <a:xfrm>
            <a:off x="1761564" y="2019344"/>
            <a:ext cx="8545032"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bg1"/>
                </a:solidFill>
                <a:effectLst/>
                <a:latin typeface="Arial" panose="020B0604020202020204" pitchFamily="34" charset="0"/>
              </a:rPr>
              <a:t>Increased Efficiency and Productivity</a:t>
            </a:r>
            <a:endParaRPr kumimoji="0" lang="en-US" altLang="en-US" sz="1800" b="0" i="0" u="none" strike="noStrike" cap="none" normalizeH="0" baseline="0" dirty="0" smtClean="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bg1"/>
                </a:solidFill>
                <a:effectLst/>
                <a:latin typeface="Arial" panose="020B0604020202020204" pitchFamily="34" charset="0"/>
              </a:rPr>
              <a:t>Automation of routine tasks saves time and reduces errors.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bg1"/>
                </a:solidFill>
                <a:effectLst/>
                <a:latin typeface="Arial" panose="020B0604020202020204" pitchFamily="34" charset="0"/>
              </a:rPr>
              <a:t>Tools like ERP systems and project management software streamline operations.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bg1"/>
                </a:solidFill>
                <a:effectLst/>
                <a:latin typeface="Arial" panose="020B0604020202020204" pitchFamily="34" charset="0"/>
              </a:rPr>
              <a:t>Global Connectivity</a:t>
            </a:r>
            <a:endParaRPr kumimoji="0" lang="en-US" altLang="en-US" sz="1800" b="0" i="0" u="none" strike="noStrike" cap="none" normalizeH="0" baseline="0" dirty="0" smtClean="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bg1"/>
                </a:solidFill>
                <a:effectLst/>
                <a:latin typeface="Arial" panose="020B0604020202020204" pitchFamily="34" charset="0"/>
              </a:rPr>
              <a:t>Enables communication and collaboration across the globe through emails,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bg1"/>
                </a:solidFill>
                <a:effectLst/>
                <a:latin typeface="Arial" panose="020B0604020202020204" pitchFamily="34" charset="0"/>
              </a:rPr>
              <a:t> video conferencing, and social media.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bg1"/>
                </a:solidFill>
                <a:effectLst/>
                <a:latin typeface="Arial" panose="020B0604020202020204" pitchFamily="34" charset="0"/>
              </a:rPr>
              <a:t>Facilitates remote work and global markets.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bg1"/>
              </a:solidFill>
              <a:effectLst/>
              <a:latin typeface="Arial" panose="020B0604020202020204" pitchFamily="34" charset="0"/>
            </a:endParaRPr>
          </a:p>
        </p:txBody>
      </p:sp>
    </p:spTree>
    <p:extLst>
      <p:ext uri="{BB962C8B-B14F-4D97-AF65-F5344CB8AC3E}">
        <p14:creationId xmlns:p14="http://schemas.microsoft.com/office/powerpoint/2010/main" val="258175189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1688268" y="2310531"/>
            <a:ext cx="8921032"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bg1"/>
                </a:solidFill>
                <a:effectLst/>
                <a:latin typeface="Arial" panose="020B0604020202020204" pitchFamily="34" charset="0"/>
              </a:rPr>
              <a:t>Access to Information</a:t>
            </a:r>
            <a:endParaRPr kumimoji="0" lang="en-US" altLang="en-US" sz="1800" b="0" i="0" u="none" strike="noStrike" cap="none" normalizeH="0" baseline="0" dirty="0" smtClean="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bg1"/>
                </a:solidFill>
                <a:effectLst/>
                <a:latin typeface="Arial" panose="020B0604020202020204" pitchFamily="34" charset="0"/>
              </a:rPr>
              <a:t>Provides quick access to vast amounts of information via the internet and databases.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bg1"/>
                </a:solidFill>
                <a:effectLst/>
                <a:latin typeface="Arial" panose="020B0604020202020204" pitchFamily="34" charset="0"/>
              </a:rPr>
              <a:t>Enhances decision- making with data analytics and business intelligence tools.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bg1"/>
                </a:solidFill>
                <a:effectLst/>
                <a:latin typeface="Arial" panose="020B0604020202020204" pitchFamily="34" charset="0"/>
              </a:rPr>
              <a:t>Innovation and Creativity</a:t>
            </a:r>
            <a:endParaRPr kumimoji="0" lang="en-US" altLang="en-US" sz="1800" b="0" i="0" u="none" strike="noStrike" cap="none" normalizeH="0" baseline="0" dirty="0" smtClean="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bg1"/>
                </a:solidFill>
                <a:effectLst/>
                <a:latin typeface="Arial" panose="020B0604020202020204" pitchFamily="34" charset="0"/>
              </a:rPr>
              <a:t>Supports the development of new products, services, and business models.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bg1"/>
                </a:solidFill>
                <a:effectLst/>
                <a:latin typeface="Arial" panose="020B0604020202020204" pitchFamily="34" charset="0"/>
              </a:rPr>
              <a:t>Enables creative tools for design, art, and multimedia.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bg1"/>
                </a:solidFill>
                <a:effectLst/>
                <a:latin typeface="Arial" panose="020B0604020202020204" pitchFamily="34" charset="0"/>
              </a:rPr>
              <a:t>Cost Savings</a:t>
            </a:r>
            <a:endParaRPr kumimoji="0" lang="en-US" altLang="en-US" sz="1800" b="0" i="0" u="none" strike="noStrike" cap="none" normalizeH="0" baseline="0" dirty="0" smtClean="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bg1"/>
                </a:solidFill>
                <a:effectLst/>
                <a:latin typeface="Arial" panose="020B0604020202020204" pitchFamily="34" charset="0"/>
              </a:rPr>
              <a:t>Reduces costs through automation, outsourcing, and cloud computing.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bg1"/>
                </a:solidFill>
                <a:effectLst/>
                <a:latin typeface="Arial" panose="020B0604020202020204" pitchFamily="34" charset="0"/>
              </a:rPr>
              <a:t>Minimizes physical storage with digital data management.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bg1"/>
              </a:solidFill>
              <a:effectLst/>
              <a:latin typeface="Arial" panose="020B0604020202020204" pitchFamily="34" charset="0"/>
            </a:endParaRPr>
          </a:p>
        </p:txBody>
      </p:sp>
      <p:sp>
        <p:nvSpPr>
          <p:cNvPr id="3" name="TextBox 2"/>
          <p:cNvSpPr txBox="1"/>
          <p:nvPr/>
        </p:nvSpPr>
        <p:spPr>
          <a:xfrm>
            <a:off x="3327484" y="1173641"/>
            <a:ext cx="4683175" cy="584775"/>
          </a:xfrm>
          <a:prstGeom prst="rect">
            <a:avLst/>
          </a:prstGeom>
          <a:noFill/>
        </p:spPr>
        <p:txBody>
          <a:bodyPr wrap="square" rtlCol="0">
            <a:spAutoFit/>
          </a:bodyPr>
          <a:lstStyle/>
          <a:p>
            <a:pPr algn="ctr"/>
            <a:r>
              <a:rPr lang="en-US" sz="3200" b="1" dirty="0" smtClean="0">
                <a:solidFill>
                  <a:schemeClr val="bg1"/>
                </a:solidFill>
                <a:latin typeface="Arial Black" panose="020B0A04020102020204" pitchFamily="34" charset="0"/>
              </a:rPr>
              <a:t>Advantages of IT</a:t>
            </a:r>
            <a:endParaRPr lang="en-US" sz="3200" b="1" dirty="0">
              <a:solidFill>
                <a:schemeClr val="bg1"/>
              </a:solidFill>
              <a:latin typeface="Arial Black" panose="020B0A04020102020204" pitchFamily="34" charset="0"/>
            </a:endParaRPr>
          </a:p>
        </p:txBody>
      </p:sp>
    </p:spTree>
    <p:extLst>
      <p:ext uri="{BB962C8B-B14F-4D97-AF65-F5344CB8AC3E}">
        <p14:creationId xmlns:p14="http://schemas.microsoft.com/office/powerpoint/2010/main" val="284527132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2152665" y="2189506"/>
            <a:ext cx="8057655"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bg1"/>
                </a:solidFill>
                <a:effectLst/>
                <a:latin typeface="Arial" panose="020B0604020202020204" pitchFamily="34" charset="0"/>
              </a:rPr>
              <a:t>Cybersecurity Risks</a:t>
            </a:r>
            <a:endParaRPr kumimoji="0" lang="en-US" altLang="en-US" sz="1800" b="0" i="0" u="none" strike="noStrike" cap="none" normalizeH="0" baseline="0" dirty="0" smtClean="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bg1"/>
                </a:solidFill>
                <a:effectLst/>
                <a:latin typeface="Arial" panose="020B0604020202020204" pitchFamily="34" charset="0"/>
              </a:rPr>
              <a:t>Susceptible to hacking, phishing, and malware attacks.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bg1"/>
                </a:solidFill>
                <a:effectLst/>
                <a:latin typeface="Arial" panose="020B0604020202020204" pitchFamily="34" charset="0"/>
              </a:rPr>
              <a:t>Potential for data breaches leading to privacy violations.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bg1"/>
                </a:solidFill>
                <a:effectLst/>
                <a:latin typeface="Arial" panose="020B0604020202020204" pitchFamily="34" charset="0"/>
              </a:rPr>
              <a:t>Job Displacement</a:t>
            </a:r>
            <a:endParaRPr kumimoji="0" lang="en-US" altLang="en-US" sz="1800" b="0" i="0" u="none" strike="noStrike" cap="none" normalizeH="0" baseline="0" dirty="0" smtClean="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bg1"/>
                </a:solidFill>
                <a:effectLst/>
                <a:latin typeface="Arial" panose="020B0604020202020204" pitchFamily="34" charset="0"/>
              </a:rPr>
              <a:t>Automation can replace jobs in manual or repetitive roles.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bg1"/>
                </a:solidFill>
                <a:effectLst/>
                <a:latin typeface="Arial" panose="020B0604020202020204" pitchFamily="34" charset="0"/>
              </a:rPr>
              <a:t>Creates a need for upskilling to stay relevant in the workforce.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bg1"/>
                </a:solidFill>
                <a:effectLst/>
                <a:latin typeface="Arial" panose="020B0604020202020204" pitchFamily="34" charset="0"/>
              </a:rPr>
              <a:t>Dependency and Overreliance</a:t>
            </a:r>
            <a:endParaRPr kumimoji="0" lang="en-US" altLang="en-US" sz="1800" b="0" i="0" u="none" strike="noStrike" cap="none" normalizeH="0" baseline="0" dirty="0" smtClean="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bg1"/>
                </a:solidFill>
                <a:effectLst/>
                <a:latin typeface="Arial" panose="020B0604020202020204" pitchFamily="34" charset="0"/>
              </a:rPr>
              <a:t>Organizations and individuals may become overly dependent on IT systems.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bg1"/>
                </a:solidFill>
                <a:effectLst/>
                <a:latin typeface="Arial" panose="020B0604020202020204" pitchFamily="34" charset="0"/>
              </a:rPr>
              <a:t>Failures or downtime can disrupt operations and services.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bg1"/>
              </a:solidFill>
              <a:effectLst/>
              <a:latin typeface="Arial" panose="020B0604020202020204" pitchFamily="34" charset="0"/>
            </a:endParaRPr>
          </a:p>
        </p:txBody>
      </p:sp>
      <p:sp>
        <p:nvSpPr>
          <p:cNvPr id="3" name="TextBox 2"/>
          <p:cNvSpPr txBox="1"/>
          <p:nvPr/>
        </p:nvSpPr>
        <p:spPr>
          <a:xfrm>
            <a:off x="3327484" y="1173641"/>
            <a:ext cx="4683175" cy="584775"/>
          </a:xfrm>
          <a:prstGeom prst="rect">
            <a:avLst/>
          </a:prstGeom>
          <a:noFill/>
        </p:spPr>
        <p:txBody>
          <a:bodyPr wrap="square" rtlCol="0">
            <a:spAutoFit/>
          </a:bodyPr>
          <a:lstStyle/>
          <a:p>
            <a:pPr algn="ctr"/>
            <a:r>
              <a:rPr lang="en-US" sz="3200" b="1" dirty="0" smtClean="0">
                <a:solidFill>
                  <a:schemeClr val="bg1"/>
                </a:solidFill>
                <a:latin typeface="Arial Black" panose="020B0A04020102020204" pitchFamily="34" charset="0"/>
              </a:rPr>
              <a:t>Disadvantages of IT</a:t>
            </a:r>
            <a:endParaRPr lang="en-US" sz="3200" b="1" dirty="0">
              <a:solidFill>
                <a:schemeClr val="bg1"/>
              </a:solidFill>
              <a:latin typeface="Arial Black" panose="020B0A04020102020204" pitchFamily="34" charset="0"/>
            </a:endParaRPr>
          </a:p>
        </p:txBody>
      </p:sp>
    </p:spTree>
    <p:extLst>
      <p:ext uri="{BB962C8B-B14F-4D97-AF65-F5344CB8AC3E}">
        <p14:creationId xmlns:p14="http://schemas.microsoft.com/office/powerpoint/2010/main" val="176047298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57590" y="1197735"/>
            <a:ext cx="7315199" cy="461665"/>
          </a:xfrm>
          <a:prstGeom prst="rect">
            <a:avLst/>
          </a:prstGeom>
          <a:noFill/>
        </p:spPr>
        <p:txBody>
          <a:bodyPr wrap="square" rtlCol="0">
            <a:spAutoFit/>
          </a:bodyPr>
          <a:lstStyle/>
          <a:p>
            <a:r>
              <a:rPr lang="en-US" sz="2400" dirty="0" smtClean="0">
                <a:solidFill>
                  <a:schemeClr val="bg1"/>
                </a:solidFill>
                <a:latin typeface="Arial Black" panose="020B0A04020102020204" pitchFamily="34" charset="0"/>
              </a:rPr>
              <a:t>            Introduction to computer  systems</a:t>
            </a:r>
            <a:endParaRPr lang="en-US" sz="2400" dirty="0">
              <a:solidFill>
                <a:schemeClr val="bg1"/>
              </a:solidFill>
              <a:latin typeface="Arial Black" panose="020B0A04020102020204" pitchFamily="34" charset="0"/>
            </a:endParaRPr>
          </a:p>
        </p:txBody>
      </p:sp>
      <p:sp>
        <p:nvSpPr>
          <p:cNvPr id="3" name="TextBox 2"/>
          <p:cNvSpPr txBox="1"/>
          <p:nvPr/>
        </p:nvSpPr>
        <p:spPr>
          <a:xfrm>
            <a:off x="2807595" y="2034861"/>
            <a:ext cx="6774287" cy="1015663"/>
          </a:xfrm>
          <a:prstGeom prst="rect">
            <a:avLst/>
          </a:prstGeom>
          <a:noFill/>
        </p:spPr>
        <p:txBody>
          <a:bodyPr wrap="square" rtlCol="0">
            <a:spAutoFit/>
          </a:bodyPr>
          <a:lstStyle/>
          <a:p>
            <a:r>
              <a:rPr lang="en-US" sz="2000" b="1" dirty="0" smtClean="0">
                <a:solidFill>
                  <a:schemeClr val="bg1"/>
                </a:solidFill>
              </a:rPr>
              <a:t>It is an electronic device that can receive, store , process and output data according to programmed instructions</a:t>
            </a:r>
            <a:endParaRPr lang="en-US" sz="2000" b="1" dirty="0">
              <a:solidFill>
                <a:schemeClr val="bg1"/>
              </a:solidFill>
            </a:endParaRPr>
          </a:p>
        </p:txBody>
      </p:sp>
      <p:pic>
        <p:nvPicPr>
          <p:cNvPr id="6146" name="Picture 2" descr="https://tse4.mm.bing.net/th?id=OIP.bpcxKux1waqgem8sHQHbbgHaFY&amp;pid=Api&amp;P=0&amp;h=2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34142" y="3284318"/>
            <a:ext cx="3672716" cy="2562691"/>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23235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60620" y="1120463"/>
            <a:ext cx="5666705" cy="461665"/>
          </a:xfrm>
          <a:prstGeom prst="rect">
            <a:avLst/>
          </a:prstGeom>
          <a:noFill/>
        </p:spPr>
        <p:txBody>
          <a:bodyPr wrap="square" rtlCol="0">
            <a:spAutoFit/>
          </a:bodyPr>
          <a:lstStyle/>
          <a:p>
            <a:pPr algn="ctr"/>
            <a:r>
              <a:rPr lang="en-US" sz="2400" dirty="0" smtClean="0">
                <a:solidFill>
                  <a:schemeClr val="bg1"/>
                </a:solidFill>
                <a:latin typeface="Arial Black" panose="020B0A04020102020204" pitchFamily="34" charset="0"/>
              </a:rPr>
              <a:t>Main parts of computer:</a:t>
            </a:r>
            <a:endParaRPr lang="en-US" sz="2400" dirty="0">
              <a:solidFill>
                <a:schemeClr val="bg1"/>
              </a:solidFill>
              <a:latin typeface="Arial Black" panose="020B0A04020102020204" pitchFamily="34" charset="0"/>
            </a:endParaRPr>
          </a:p>
        </p:txBody>
      </p:sp>
      <p:sp>
        <p:nvSpPr>
          <p:cNvPr id="3" name="TextBox 2"/>
          <p:cNvSpPr txBox="1"/>
          <p:nvPr/>
        </p:nvSpPr>
        <p:spPr>
          <a:xfrm>
            <a:off x="1068946" y="2097110"/>
            <a:ext cx="6800045" cy="3693319"/>
          </a:xfrm>
          <a:prstGeom prst="rect">
            <a:avLst/>
          </a:prstGeom>
          <a:noFill/>
        </p:spPr>
        <p:txBody>
          <a:bodyPr wrap="square" rtlCol="0">
            <a:spAutoFit/>
          </a:bodyPr>
          <a:lstStyle/>
          <a:p>
            <a:pPr marL="285750" indent="-285750">
              <a:buFont typeface="Arial" panose="020B0604020202020204" pitchFamily="34" charset="0"/>
              <a:buChar char="•"/>
            </a:pPr>
            <a:r>
              <a:rPr lang="en-US" dirty="0" smtClean="0">
                <a:solidFill>
                  <a:schemeClr val="bg1"/>
                </a:solidFill>
              </a:rPr>
              <a:t>Monitor: it is like a </a:t>
            </a:r>
            <a:r>
              <a:rPr lang="en-US" dirty="0" err="1" smtClean="0">
                <a:solidFill>
                  <a:schemeClr val="bg1"/>
                </a:solidFill>
              </a:rPr>
              <a:t>tv</a:t>
            </a:r>
            <a:r>
              <a:rPr lang="en-US" dirty="0" smtClean="0">
                <a:solidFill>
                  <a:schemeClr val="bg1"/>
                </a:solidFill>
              </a:rPr>
              <a:t>   screen , it displays information generated by computer.</a:t>
            </a:r>
          </a:p>
          <a:p>
            <a:pPr marL="285750" indent="-285750">
              <a:buFont typeface="Arial" panose="020B0604020202020204" pitchFamily="34" charset="0"/>
              <a:buChar char="•"/>
            </a:pPr>
            <a:endParaRPr lang="en-US" dirty="0" smtClean="0">
              <a:solidFill>
                <a:schemeClr val="bg1"/>
              </a:solidFill>
            </a:endParaRPr>
          </a:p>
          <a:p>
            <a:pPr marL="285750" indent="-285750">
              <a:buFont typeface="Arial" panose="020B0604020202020204" pitchFamily="34" charset="0"/>
              <a:buChar char="•"/>
            </a:pPr>
            <a:r>
              <a:rPr lang="en-US" dirty="0" smtClean="0">
                <a:solidFill>
                  <a:schemeClr val="bg1"/>
                </a:solidFill>
              </a:rPr>
              <a:t>Mouse: it is a pointing device , it moves with our hand to point a select things on the screen. </a:t>
            </a:r>
          </a:p>
          <a:p>
            <a:pPr marL="285750" indent="-285750">
              <a:buFont typeface="Arial" panose="020B0604020202020204" pitchFamily="34" charset="0"/>
              <a:buChar char="•"/>
            </a:pPr>
            <a:r>
              <a:rPr lang="en-US" dirty="0" smtClean="0">
                <a:solidFill>
                  <a:schemeClr val="bg1"/>
                </a:solidFill>
              </a:rPr>
              <a:t>  </a:t>
            </a:r>
          </a:p>
          <a:p>
            <a:pPr marL="285750" indent="-285750">
              <a:buFont typeface="Arial" panose="020B0604020202020204" pitchFamily="34" charset="0"/>
              <a:buChar char="•"/>
            </a:pPr>
            <a:r>
              <a:rPr lang="en-US" dirty="0" smtClean="0">
                <a:solidFill>
                  <a:schemeClr val="bg1"/>
                </a:solidFill>
              </a:rPr>
              <a:t>Cpu: it  stands for central  processing unit , it is the brain of computer . It controls all activities and calculations of computers. </a:t>
            </a:r>
          </a:p>
          <a:p>
            <a:pPr marL="285750" indent="-285750">
              <a:buFont typeface="Arial" panose="020B0604020202020204" pitchFamily="34" charset="0"/>
              <a:buChar char="•"/>
            </a:pPr>
            <a:endParaRPr lang="en-US" dirty="0" smtClean="0">
              <a:solidFill>
                <a:schemeClr val="bg1"/>
              </a:solidFill>
            </a:endParaRPr>
          </a:p>
          <a:p>
            <a:pPr marL="285750" indent="-285750">
              <a:buFont typeface="Arial" panose="020B0604020202020204" pitchFamily="34" charset="0"/>
              <a:buChar char="•"/>
            </a:pPr>
            <a:r>
              <a:rPr lang="en-US" dirty="0" err="1" smtClean="0">
                <a:solidFill>
                  <a:schemeClr val="bg1"/>
                </a:solidFill>
              </a:rPr>
              <a:t>Keyborad</a:t>
            </a:r>
            <a:r>
              <a:rPr lang="en-US" dirty="0" smtClean="0">
                <a:solidFill>
                  <a:schemeClr val="bg1"/>
                </a:solidFill>
              </a:rPr>
              <a:t>: It looks like a type writer , it is used to type letters , numbers , and symbols into the computer.  </a:t>
            </a:r>
          </a:p>
          <a:p>
            <a:pPr marL="285750" indent="-285750">
              <a:buFont typeface="Arial" panose="020B0604020202020204" pitchFamily="34" charset="0"/>
              <a:buChar char="•"/>
            </a:pPr>
            <a:endParaRPr lang="en-US" dirty="0">
              <a:solidFill>
                <a:schemeClr val="bg1"/>
              </a:solidFill>
            </a:endParaRPr>
          </a:p>
        </p:txBody>
      </p:sp>
      <p:pic>
        <p:nvPicPr>
          <p:cNvPr id="9218" name="Picture 2" descr="https://images.saymedia-content.com/.image/t_share/MTc2MjM3MjA3OTQ5MDI2NzI5/a-beginners-guide-to-computers.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52326" y="1918953"/>
            <a:ext cx="3258355" cy="3296991"/>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478722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142445" y="1262131"/>
            <a:ext cx="6181859" cy="830997"/>
          </a:xfrm>
          <a:prstGeom prst="rect">
            <a:avLst/>
          </a:prstGeom>
          <a:noFill/>
        </p:spPr>
        <p:txBody>
          <a:bodyPr wrap="square" rtlCol="0">
            <a:spAutoFit/>
          </a:bodyPr>
          <a:lstStyle/>
          <a:p>
            <a:pPr algn="ctr"/>
            <a:r>
              <a:rPr lang="en-US" sz="2400" b="1" dirty="0" smtClean="0">
                <a:solidFill>
                  <a:schemeClr val="bg1"/>
                </a:solidFill>
                <a:latin typeface="Arial Black" panose="020B0A04020102020204" pitchFamily="34" charset="0"/>
              </a:rPr>
              <a:t>Classification of Computers , or types of computers</a:t>
            </a:r>
            <a:endParaRPr lang="en-US" sz="2400" b="1" dirty="0">
              <a:solidFill>
                <a:schemeClr val="bg1"/>
              </a:solidFill>
              <a:latin typeface="Arial Black" panose="020B0A04020102020204" pitchFamily="34" charset="0"/>
            </a:endParaRPr>
          </a:p>
        </p:txBody>
      </p:sp>
      <p:sp>
        <p:nvSpPr>
          <p:cNvPr id="3" name="TextBox 2"/>
          <p:cNvSpPr txBox="1"/>
          <p:nvPr/>
        </p:nvSpPr>
        <p:spPr>
          <a:xfrm>
            <a:off x="1815920" y="2248818"/>
            <a:ext cx="6684135" cy="707886"/>
          </a:xfrm>
          <a:prstGeom prst="rect">
            <a:avLst/>
          </a:prstGeom>
          <a:noFill/>
        </p:spPr>
        <p:txBody>
          <a:bodyPr wrap="square" rtlCol="0">
            <a:spAutoFit/>
          </a:bodyPr>
          <a:lstStyle/>
          <a:p>
            <a:r>
              <a:rPr lang="en-US" sz="2000" dirty="0" smtClean="0">
                <a:solidFill>
                  <a:schemeClr val="bg1"/>
                </a:solidFill>
              </a:rPr>
              <a:t>Classification means grouping computers  based on their characteristics, features or purposes.</a:t>
            </a:r>
            <a:endParaRPr lang="en-US" sz="2000" dirty="0">
              <a:solidFill>
                <a:schemeClr val="bg1"/>
              </a:solidFill>
            </a:endParaRPr>
          </a:p>
        </p:txBody>
      </p:sp>
      <p:sp>
        <p:nvSpPr>
          <p:cNvPr id="4" name="TextBox 3"/>
          <p:cNvSpPr txBox="1"/>
          <p:nvPr/>
        </p:nvSpPr>
        <p:spPr>
          <a:xfrm>
            <a:off x="1815920" y="3112395"/>
            <a:ext cx="6181859" cy="2308324"/>
          </a:xfrm>
          <a:prstGeom prst="rect">
            <a:avLst/>
          </a:prstGeom>
          <a:noFill/>
        </p:spPr>
        <p:txBody>
          <a:bodyPr wrap="square" rtlCol="0">
            <a:spAutoFit/>
          </a:bodyPr>
          <a:lstStyle/>
          <a:p>
            <a:r>
              <a:rPr lang="en-US" dirty="0" smtClean="0">
                <a:solidFill>
                  <a:schemeClr val="bg1"/>
                </a:solidFill>
              </a:rPr>
              <a:t>Why classify computers?</a:t>
            </a:r>
          </a:p>
          <a:p>
            <a:r>
              <a:rPr lang="en-US" dirty="0" smtClean="0">
                <a:solidFill>
                  <a:schemeClr val="bg1"/>
                </a:solidFill>
              </a:rPr>
              <a:t>To understand their.</a:t>
            </a:r>
          </a:p>
          <a:p>
            <a:pPr marL="400050" indent="-400050">
              <a:buFont typeface="+mj-lt"/>
              <a:buAutoNum type="romanUcPeriod"/>
            </a:pPr>
            <a:r>
              <a:rPr lang="en-US" dirty="0" smtClean="0">
                <a:solidFill>
                  <a:schemeClr val="bg1"/>
                </a:solidFill>
              </a:rPr>
              <a:t>Processing power </a:t>
            </a:r>
          </a:p>
          <a:p>
            <a:pPr marL="400050" indent="-400050">
              <a:buFont typeface="+mj-lt"/>
              <a:buAutoNum type="romanUcPeriod"/>
            </a:pPr>
            <a:r>
              <a:rPr lang="en-US" dirty="0" smtClean="0">
                <a:solidFill>
                  <a:schemeClr val="bg1"/>
                </a:solidFill>
              </a:rPr>
              <a:t>Size and portability</a:t>
            </a:r>
          </a:p>
          <a:p>
            <a:pPr marL="400050" indent="-400050">
              <a:buFont typeface="+mj-lt"/>
              <a:buAutoNum type="romanUcPeriod"/>
            </a:pPr>
            <a:r>
              <a:rPr lang="en-US" dirty="0" smtClean="0">
                <a:solidFill>
                  <a:schemeClr val="bg1"/>
                </a:solidFill>
              </a:rPr>
              <a:t>Functionality</a:t>
            </a:r>
          </a:p>
          <a:p>
            <a:pPr marL="400050" indent="-400050">
              <a:buFont typeface="+mj-lt"/>
              <a:buAutoNum type="romanUcPeriod"/>
            </a:pPr>
            <a:r>
              <a:rPr lang="en-US" dirty="0" smtClean="0">
                <a:solidFill>
                  <a:schemeClr val="bg1"/>
                </a:solidFill>
              </a:rPr>
              <a:t>Cost</a:t>
            </a:r>
          </a:p>
          <a:p>
            <a:pPr marL="400050" indent="-400050">
              <a:buFont typeface="+mj-lt"/>
              <a:buAutoNum type="romanUcPeriod"/>
            </a:pPr>
            <a:r>
              <a:rPr lang="en-US" dirty="0" smtClean="0">
                <a:solidFill>
                  <a:schemeClr val="bg1"/>
                </a:solidFill>
              </a:rPr>
              <a:t>Performance</a:t>
            </a:r>
          </a:p>
          <a:p>
            <a:pPr marL="400050" indent="-400050">
              <a:buFont typeface="+mj-lt"/>
              <a:buAutoNum type="romanUcPeriod"/>
            </a:pPr>
            <a:r>
              <a:rPr lang="en-US" dirty="0" smtClean="0">
                <a:solidFill>
                  <a:schemeClr val="bg1"/>
                </a:solidFill>
              </a:rPr>
              <a:t>speed</a:t>
            </a:r>
            <a:endParaRPr lang="en-US" dirty="0">
              <a:solidFill>
                <a:schemeClr val="bg1"/>
              </a:solidFill>
            </a:endParaRPr>
          </a:p>
        </p:txBody>
      </p:sp>
    </p:spTree>
    <p:extLst>
      <p:ext uri="{BB962C8B-B14F-4D97-AF65-F5344CB8AC3E}">
        <p14:creationId xmlns:p14="http://schemas.microsoft.com/office/powerpoint/2010/main" val="12107414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92439" y="1030310"/>
            <a:ext cx="7276564" cy="523220"/>
          </a:xfrm>
          <a:prstGeom prst="rect">
            <a:avLst/>
          </a:prstGeom>
          <a:noFill/>
        </p:spPr>
        <p:txBody>
          <a:bodyPr wrap="square" rtlCol="0">
            <a:spAutoFit/>
          </a:bodyPr>
          <a:lstStyle/>
          <a:p>
            <a:pPr algn="ctr"/>
            <a:r>
              <a:rPr lang="en-US" sz="2800" dirty="0" smtClean="0">
                <a:solidFill>
                  <a:schemeClr val="bg1"/>
                </a:solidFill>
                <a:latin typeface="Arial Black" panose="020B0A04020102020204" pitchFamily="34" charset="0"/>
              </a:rPr>
              <a:t>Main categories of computer : </a:t>
            </a:r>
            <a:endParaRPr lang="en-US" sz="2800" dirty="0">
              <a:solidFill>
                <a:schemeClr val="bg1"/>
              </a:solidFill>
              <a:latin typeface="Arial Black" panose="020B0A04020102020204" pitchFamily="34" charset="0"/>
            </a:endParaRPr>
          </a:p>
        </p:txBody>
      </p:sp>
      <p:sp>
        <p:nvSpPr>
          <p:cNvPr id="3" name="TextBox 2"/>
          <p:cNvSpPr txBox="1"/>
          <p:nvPr/>
        </p:nvSpPr>
        <p:spPr>
          <a:xfrm>
            <a:off x="2292439" y="1785350"/>
            <a:ext cx="7276564" cy="3416320"/>
          </a:xfrm>
          <a:prstGeom prst="rect">
            <a:avLst/>
          </a:prstGeom>
          <a:noFill/>
        </p:spPr>
        <p:txBody>
          <a:bodyPr wrap="square" rtlCol="0">
            <a:spAutoFit/>
          </a:bodyPr>
          <a:lstStyle/>
          <a:p>
            <a:r>
              <a:rPr lang="en-US" b="1" dirty="0" smtClean="0">
                <a:solidFill>
                  <a:schemeClr val="bg1"/>
                </a:solidFill>
              </a:rPr>
              <a:t>Personal computer :</a:t>
            </a:r>
          </a:p>
          <a:p>
            <a:pPr marL="342900" indent="-342900">
              <a:buFont typeface="+mj-lt"/>
              <a:buAutoNum type="romanUcPeriod"/>
            </a:pPr>
            <a:r>
              <a:rPr lang="en-US" b="1" dirty="0" smtClean="0">
                <a:solidFill>
                  <a:schemeClr val="bg1"/>
                </a:solidFill>
              </a:rPr>
              <a:t>It is designed to be used by one person at a time.</a:t>
            </a:r>
          </a:p>
          <a:p>
            <a:pPr marL="342900" indent="-342900">
              <a:buFont typeface="+mj-lt"/>
              <a:buAutoNum type="romanUcPeriod"/>
            </a:pPr>
            <a:r>
              <a:rPr lang="en-US" b="1" dirty="0" smtClean="0">
                <a:solidFill>
                  <a:schemeClr val="bg1"/>
                </a:solidFill>
              </a:rPr>
              <a:t>It consists of a processor, memory and one or more input , output storage devices.</a:t>
            </a:r>
          </a:p>
          <a:p>
            <a:pPr marL="342900" indent="-342900">
              <a:buFont typeface="+mj-lt"/>
              <a:buAutoNum type="romanUcPeriod"/>
            </a:pPr>
            <a:r>
              <a:rPr lang="en-US" b="1" dirty="0" smtClean="0">
                <a:solidFill>
                  <a:schemeClr val="bg1"/>
                </a:solidFill>
              </a:rPr>
              <a:t>Personal computers are available in different shapes and size . </a:t>
            </a:r>
          </a:p>
          <a:p>
            <a:r>
              <a:rPr lang="en-US" b="1" dirty="0">
                <a:solidFill>
                  <a:schemeClr val="bg1"/>
                </a:solidFill>
              </a:rPr>
              <a:t> </a:t>
            </a:r>
            <a:r>
              <a:rPr lang="en-US" b="1" dirty="0" smtClean="0">
                <a:solidFill>
                  <a:schemeClr val="bg1"/>
                </a:solidFill>
              </a:rPr>
              <a:t>   1:  Desktop computer.</a:t>
            </a:r>
          </a:p>
          <a:p>
            <a:r>
              <a:rPr lang="en-US" b="1" dirty="0">
                <a:solidFill>
                  <a:schemeClr val="bg1"/>
                </a:solidFill>
              </a:rPr>
              <a:t> </a:t>
            </a:r>
            <a:r>
              <a:rPr lang="en-US" b="1" dirty="0" smtClean="0">
                <a:solidFill>
                  <a:schemeClr val="bg1"/>
                </a:solidFill>
              </a:rPr>
              <a:t>     &gt;tower model</a:t>
            </a:r>
          </a:p>
          <a:p>
            <a:r>
              <a:rPr lang="en-US" b="1" dirty="0">
                <a:solidFill>
                  <a:schemeClr val="bg1"/>
                </a:solidFill>
              </a:rPr>
              <a:t> </a:t>
            </a:r>
            <a:r>
              <a:rPr lang="en-US" b="1" dirty="0" smtClean="0">
                <a:solidFill>
                  <a:schemeClr val="bg1"/>
                </a:solidFill>
              </a:rPr>
              <a:t>    &gt; All in one  </a:t>
            </a:r>
          </a:p>
          <a:p>
            <a:r>
              <a:rPr lang="en-US" b="1" dirty="0">
                <a:solidFill>
                  <a:schemeClr val="bg1"/>
                </a:solidFill>
              </a:rPr>
              <a:t> </a:t>
            </a:r>
            <a:r>
              <a:rPr lang="en-US" b="1" dirty="0" smtClean="0">
                <a:solidFill>
                  <a:schemeClr val="bg1"/>
                </a:solidFill>
              </a:rPr>
              <a:t>   2:Laptop (consume less power as compared to desktop       computer .</a:t>
            </a:r>
          </a:p>
          <a:p>
            <a:r>
              <a:rPr lang="en-US" b="1" dirty="0" smtClean="0">
                <a:solidFill>
                  <a:schemeClr val="bg1"/>
                </a:solidFill>
              </a:rPr>
              <a:t>It is also all in one . </a:t>
            </a:r>
            <a:endParaRPr lang="en-US" b="1" dirty="0">
              <a:solidFill>
                <a:schemeClr val="bg1"/>
              </a:solidFill>
            </a:endParaRPr>
          </a:p>
        </p:txBody>
      </p:sp>
    </p:spTree>
    <p:extLst>
      <p:ext uri="{BB962C8B-B14F-4D97-AF65-F5344CB8AC3E}">
        <p14:creationId xmlns:p14="http://schemas.microsoft.com/office/powerpoint/2010/main" val="122072060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69713" y="991673"/>
            <a:ext cx="7070501" cy="461665"/>
          </a:xfrm>
          <a:prstGeom prst="rect">
            <a:avLst/>
          </a:prstGeom>
          <a:noFill/>
        </p:spPr>
        <p:txBody>
          <a:bodyPr wrap="square" rtlCol="0">
            <a:spAutoFit/>
          </a:bodyPr>
          <a:lstStyle/>
          <a:p>
            <a:pPr algn="ctr"/>
            <a:r>
              <a:rPr lang="en-US" sz="2400" dirty="0" smtClean="0">
                <a:solidFill>
                  <a:schemeClr val="bg1"/>
                </a:solidFill>
                <a:latin typeface="Arial Black" panose="020B0A04020102020204" pitchFamily="34" charset="0"/>
              </a:rPr>
              <a:t>Tower Desktops: </a:t>
            </a:r>
            <a:endParaRPr lang="en-US" sz="2400" dirty="0">
              <a:solidFill>
                <a:schemeClr val="bg1"/>
              </a:solidFill>
              <a:latin typeface="Arial Black" panose="020B0A04020102020204" pitchFamily="34" charset="0"/>
            </a:endParaRPr>
          </a:p>
        </p:txBody>
      </p:sp>
      <p:sp>
        <p:nvSpPr>
          <p:cNvPr id="3" name="TextBox 2"/>
          <p:cNvSpPr txBox="1"/>
          <p:nvPr/>
        </p:nvSpPr>
        <p:spPr>
          <a:xfrm>
            <a:off x="2369713" y="1711592"/>
            <a:ext cx="7315201" cy="707886"/>
          </a:xfrm>
          <a:prstGeom prst="rect">
            <a:avLst/>
          </a:prstGeom>
          <a:noFill/>
        </p:spPr>
        <p:txBody>
          <a:bodyPr wrap="square" rtlCol="0">
            <a:spAutoFit/>
          </a:bodyPr>
          <a:lstStyle/>
          <a:p>
            <a:r>
              <a:rPr lang="en-US" sz="2000" b="1" dirty="0" smtClean="0">
                <a:solidFill>
                  <a:schemeClr val="bg1"/>
                </a:solidFill>
              </a:rPr>
              <a:t>It has a separate  central processing unit (cpu) tower and peripherals,(monitor , keyboard,mouse)</a:t>
            </a:r>
            <a:endParaRPr lang="en-US" sz="2000" b="1" dirty="0">
              <a:solidFill>
                <a:schemeClr val="bg1"/>
              </a:solidFill>
            </a:endParaRPr>
          </a:p>
        </p:txBody>
      </p:sp>
      <p:pic>
        <p:nvPicPr>
          <p:cNvPr id="10242" name="Picture 2" descr="https://i5.walmartimages.com/asr/3cb841fd-28ab-4929-8ea9-8510b0b13359.8f49a331db019141d3118cd1ee1c84ff.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34141" y="2677732"/>
            <a:ext cx="3812146" cy="315639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spTree>
    <p:extLst>
      <p:ext uri="{BB962C8B-B14F-4D97-AF65-F5344CB8AC3E}">
        <p14:creationId xmlns:p14="http://schemas.microsoft.com/office/powerpoint/2010/main" val="182217825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64541" y="1107583"/>
            <a:ext cx="7328079" cy="461665"/>
          </a:xfrm>
          <a:prstGeom prst="rect">
            <a:avLst/>
          </a:prstGeom>
          <a:noFill/>
        </p:spPr>
        <p:txBody>
          <a:bodyPr wrap="square" rtlCol="0">
            <a:spAutoFit/>
          </a:bodyPr>
          <a:lstStyle/>
          <a:p>
            <a:pPr algn="ctr"/>
            <a:r>
              <a:rPr lang="en-US" sz="2400" dirty="0" smtClean="0">
                <a:solidFill>
                  <a:schemeClr val="bg1"/>
                </a:solidFill>
                <a:latin typeface="Arial Black" panose="020B0A04020102020204" pitchFamily="34" charset="0"/>
              </a:rPr>
              <a:t>All in one desktop:</a:t>
            </a:r>
            <a:endParaRPr lang="en-US" sz="2400" dirty="0">
              <a:solidFill>
                <a:schemeClr val="bg1"/>
              </a:solidFill>
              <a:latin typeface="Arial Black" panose="020B0A04020102020204" pitchFamily="34" charset="0"/>
            </a:endParaRPr>
          </a:p>
        </p:txBody>
      </p:sp>
      <p:sp>
        <p:nvSpPr>
          <p:cNvPr id="3" name="TextBox 2"/>
          <p:cNvSpPr txBox="1"/>
          <p:nvPr/>
        </p:nvSpPr>
        <p:spPr>
          <a:xfrm>
            <a:off x="1481069" y="2455950"/>
            <a:ext cx="6284891" cy="1015663"/>
          </a:xfrm>
          <a:prstGeom prst="rect">
            <a:avLst/>
          </a:prstGeom>
          <a:noFill/>
        </p:spPr>
        <p:txBody>
          <a:bodyPr wrap="square" rtlCol="0">
            <a:spAutoFit/>
          </a:bodyPr>
          <a:lstStyle/>
          <a:p>
            <a:r>
              <a:rPr lang="en-US" sz="2000" b="1" dirty="0">
                <a:solidFill>
                  <a:schemeClr val="bg1"/>
                </a:solidFill>
              </a:rPr>
              <a:t>AIO desktops integrate the cpu, monitor</a:t>
            </a:r>
            <a:r>
              <a:rPr lang="en-US" sz="2000" b="1" dirty="0" smtClean="0">
                <a:solidFill>
                  <a:schemeClr val="bg1"/>
                </a:solidFill>
              </a:rPr>
              <a:t>,</a:t>
            </a:r>
          </a:p>
          <a:p>
            <a:r>
              <a:rPr lang="en-US" sz="2000" b="1" dirty="0" smtClean="0">
                <a:solidFill>
                  <a:schemeClr val="bg1"/>
                </a:solidFill>
              </a:rPr>
              <a:t> </a:t>
            </a:r>
            <a:r>
              <a:rPr lang="en-US" sz="2000" b="1" dirty="0">
                <a:solidFill>
                  <a:schemeClr val="bg1"/>
                </a:solidFill>
              </a:rPr>
              <a:t>and peripherals into a single unit.</a:t>
            </a:r>
          </a:p>
          <a:p>
            <a:endParaRPr lang="en-US" sz="2000" b="1" dirty="0">
              <a:solidFill>
                <a:schemeClr val="bg1"/>
              </a:solidFill>
            </a:endParaRPr>
          </a:p>
        </p:txBody>
      </p:sp>
      <p:pic>
        <p:nvPicPr>
          <p:cNvPr id="11266" name="Picture 2" descr="https://tse1.mm.bing.net/th?id=OIP.p-1HWbT2nIQ__27R0SwGhQHaHa&amp;pid=Api&amp;P=0&amp;h=2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63957" y="2455950"/>
            <a:ext cx="3257327" cy="2846567"/>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879090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70468" y="1146220"/>
            <a:ext cx="7096259" cy="954107"/>
          </a:xfrm>
          <a:prstGeom prst="rect">
            <a:avLst/>
          </a:prstGeom>
          <a:noFill/>
        </p:spPr>
        <p:txBody>
          <a:bodyPr wrap="square" rtlCol="0">
            <a:spAutoFit/>
          </a:bodyPr>
          <a:lstStyle/>
          <a:p>
            <a:pPr algn="ctr"/>
            <a:r>
              <a:rPr lang="en-US" sz="2800" b="1" dirty="0" smtClean="0">
                <a:solidFill>
                  <a:schemeClr val="bg1"/>
                </a:solidFill>
                <a:latin typeface="Arial Black" panose="020B0A04020102020204" pitchFamily="34" charset="0"/>
              </a:rPr>
              <a:t>Mobile devices:</a:t>
            </a:r>
          </a:p>
          <a:p>
            <a:pPr algn="ctr"/>
            <a:r>
              <a:rPr lang="en-US" sz="2800" b="1" dirty="0" smtClean="0">
                <a:solidFill>
                  <a:schemeClr val="bg1"/>
                </a:solidFill>
                <a:latin typeface="Arial Black" panose="020B0A04020102020204" pitchFamily="34" charset="0"/>
              </a:rPr>
              <a:t> </a:t>
            </a:r>
            <a:endParaRPr lang="en-US" sz="2800" b="1" dirty="0">
              <a:solidFill>
                <a:schemeClr val="bg1"/>
              </a:solidFill>
              <a:latin typeface="Arial Black" panose="020B0A04020102020204" pitchFamily="34" charset="0"/>
            </a:endParaRPr>
          </a:p>
        </p:txBody>
      </p:sp>
      <p:sp>
        <p:nvSpPr>
          <p:cNvPr id="3" name="Rectangle 2"/>
          <p:cNvSpPr/>
          <p:nvPr/>
        </p:nvSpPr>
        <p:spPr>
          <a:xfrm>
            <a:off x="1633471" y="2100327"/>
            <a:ext cx="6096000" cy="1477328"/>
          </a:xfrm>
          <a:prstGeom prst="rect">
            <a:avLst/>
          </a:prstGeom>
        </p:spPr>
        <p:txBody>
          <a:bodyPr>
            <a:spAutoFit/>
          </a:bodyPr>
          <a:lstStyle/>
          <a:p>
            <a:endParaRPr lang="en-US" b="1" dirty="0">
              <a:solidFill>
                <a:schemeClr val="bg1"/>
              </a:solidFill>
            </a:endParaRPr>
          </a:p>
          <a:p>
            <a:r>
              <a:rPr lang="en-US" b="1" dirty="0">
                <a:solidFill>
                  <a:schemeClr val="bg1"/>
                </a:solidFill>
              </a:rPr>
              <a:t>A mobile devices is a computing device designed to hold in the hand . </a:t>
            </a:r>
          </a:p>
          <a:p>
            <a:r>
              <a:rPr lang="en-US" b="1" dirty="0">
                <a:solidFill>
                  <a:schemeClr val="bg1"/>
                </a:solidFill>
              </a:rPr>
              <a:t>The program and data are permenanately stored on the special memory or on a card.</a:t>
            </a:r>
          </a:p>
        </p:txBody>
      </p:sp>
      <p:sp>
        <p:nvSpPr>
          <p:cNvPr id="4" name="AutoShape 2" descr="https://tse4.mm.bing.net/th?id=OIP.JFAbdbd2o_JfGckENrBkOQHaE7&amp;pid=Api&amp;P=0&amp;h=220"/>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2292" name="Picture 4" descr="https://tse4.mm.bing.net/th?id=OIP.JFAbdbd2o_JfGckENrBkOQHaE7&amp;pid=Api&amp;P=0&amp;h=2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66468" y="2100327"/>
            <a:ext cx="3152775" cy="209550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p:spPr>
      </p:pic>
    </p:spTree>
    <p:extLst>
      <p:ext uri="{BB962C8B-B14F-4D97-AF65-F5344CB8AC3E}">
        <p14:creationId xmlns:p14="http://schemas.microsoft.com/office/powerpoint/2010/main" val="241166273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37904" y="978794"/>
            <a:ext cx="4546243" cy="523220"/>
          </a:xfrm>
          <a:prstGeom prst="rect">
            <a:avLst/>
          </a:prstGeom>
          <a:noFill/>
        </p:spPr>
        <p:txBody>
          <a:bodyPr wrap="square" rtlCol="0">
            <a:spAutoFit/>
          </a:bodyPr>
          <a:lstStyle/>
          <a:p>
            <a:r>
              <a:rPr lang="en-US" sz="2800" dirty="0" smtClean="0">
                <a:solidFill>
                  <a:schemeClr val="bg1"/>
                </a:solidFill>
                <a:latin typeface="Arial Black" panose="020B0A04020102020204" pitchFamily="34" charset="0"/>
              </a:rPr>
              <a:t>Mini Computer:</a:t>
            </a:r>
            <a:endParaRPr lang="en-US" sz="2800" dirty="0">
              <a:solidFill>
                <a:schemeClr val="bg1"/>
              </a:solidFill>
              <a:latin typeface="Arial Black" panose="020B0A04020102020204" pitchFamily="34" charset="0"/>
            </a:endParaRPr>
          </a:p>
        </p:txBody>
      </p:sp>
      <p:sp>
        <p:nvSpPr>
          <p:cNvPr id="3" name="TextBox 2"/>
          <p:cNvSpPr txBox="1"/>
          <p:nvPr/>
        </p:nvSpPr>
        <p:spPr>
          <a:xfrm>
            <a:off x="1365162" y="2058472"/>
            <a:ext cx="7018985" cy="2616101"/>
          </a:xfrm>
          <a:prstGeom prst="rect">
            <a:avLst/>
          </a:prstGeom>
          <a:noFill/>
        </p:spPr>
        <p:txBody>
          <a:bodyPr wrap="square" rtlCol="0">
            <a:spAutoFit/>
          </a:bodyPr>
          <a:lstStyle/>
          <a:p>
            <a:endParaRPr lang="en-US" b="1" dirty="0" smtClean="0">
              <a:solidFill>
                <a:schemeClr val="bg1"/>
              </a:solidFill>
            </a:endParaRPr>
          </a:p>
          <a:p>
            <a:r>
              <a:rPr lang="en-US" b="1" dirty="0" smtClean="0">
                <a:solidFill>
                  <a:schemeClr val="bg1"/>
                </a:solidFill>
              </a:rPr>
              <a:t>Released in 1960’s :</a:t>
            </a:r>
          </a:p>
          <a:p>
            <a:r>
              <a:rPr lang="en-US" b="1" dirty="0" smtClean="0">
                <a:solidFill>
                  <a:schemeClr val="bg1"/>
                </a:solidFill>
              </a:rPr>
              <a:t>Minicomputers got their name because of their small size compare to other computer of the day.</a:t>
            </a:r>
          </a:p>
          <a:p>
            <a:r>
              <a:rPr lang="en-US" sz="2000" b="1" u="sng" dirty="0" smtClean="0">
                <a:solidFill>
                  <a:schemeClr val="bg1"/>
                </a:solidFill>
              </a:rPr>
              <a:t>Mini computers are also called midrange computers.</a:t>
            </a:r>
            <a:endParaRPr lang="en-US" b="1" u="sng" dirty="0" smtClean="0">
              <a:solidFill>
                <a:schemeClr val="bg1"/>
              </a:solidFill>
            </a:endParaRPr>
          </a:p>
          <a:p>
            <a:r>
              <a:rPr lang="en-US" b="1" dirty="0" smtClean="0">
                <a:solidFill>
                  <a:schemeClr val="bg1"/>
                </a:solidFill>
              </a:rPr>
              <a:t>Because they sit between mainframe computers (large , expensive , powerful systems used by orginizations).</a:t>
            </a:r>
          </a:p>
          <a:p>
            <a:r>
              <a:rPr lang="en-US" b="1" dirty="0" smtClean="0">
                <a:solidFill>
                  <a:schemeClr val="bg1"/>
                </a:solidFill>
              </a:rPr>
              <a:t>And micro computers  (smaller, personal , computers like desktops or laptops. </a:t>
            </a:r>
          </a:p>
        </p:txBody>
      </p:sp>
      <p:sp>
        <p:nvSpPr>
          <p:cNvPr id="4" name="TextBox 3"/>
          <p:cNvSpPr txBox="1"/>
          <p:nvPr/>
        </p:nvSpPr>
        <p:spPr>
          <a:xfrm>
            <a:off x="1365163" y="4674573"/>
            <a:ext cx="5499279" cy="646331"/>
          </a:xfrm>
          <a:prstGeom prst="rect">
            <a:avLst/>
          </a:prstGeom>
          <a:noFill/>
        </p:spPr>
        <p:txBody>
          <a:bodyPr wrap="square" rtlCol="0">
            <a:spAutoFit/>
          </a:bodyPr>
          <a:lstStyle/>
          <a:p>
            <a:r>
              <a:rPr lang="en-US" dirty="0" smtClean="0"/>
              <a:t>Example :</a:t>
            </a:r>
          </a:p>
          <a:p>
            <a:endParaRPr lang="en-US" dirty="0"/>
          </a:p>
        </p:txBody>
      </p:sp>
      <p:sp>
        <p:nvSpPr>
          <p:cNvPr id="5" name="TextBox 4"/>
          <p:cNvSpPr txBox="1"/>
          <p:nvPr/>
        </p:nvSpPr>
        <p:spPr>
          <a:xfrm>
            <a:off x="1365162" y="5320904"/>
            <a:ext cx="5499279" cy="646331"/>
          </a:xfrm>
          <a:prstGeom prst="rect">
            <a:avLst/>
          </a:prstGeom>
          <a:noFill/>
        </p:spPr>
        <p:txBody>
          <a:bodyPr wrap="square" rtlCol="0">
            <a:spAutoFit/>
          </a:bodyPr>
          <a:lstStyle/>
          <a:p>
            <a:r>
              <a:rPr lang="en-US" dirty="0" smtClean="0">
                <a:solidFill>
                  <a:schemeClr val="bg1"/>
                </a:solidFill>
              </a:rPr>
              <a:t>DEC PDP-8- One of the first mini computers , used in business and universities in 1960’s </a:t>
            </a:r>
            <a:endParaRPr lang="en-US" dirty="0">
              <a:solidFill>
                <a:schemeClr val="bg1"/>
              </a:solidFill>
            </a:endParaRPr>
          </a:p>
        </p:txBody>
      </p:sp>
    </p:spTree>
    <p:extLst>
      <p:ext uri="{BB962C8B-B14F-4D97-AF65-F5344CB8AC3E}">
        <p14:creationId xmlns:p14="http://schemas.microsoft.com/office/powerpoint/2010/main" val="246879716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83346" y="824248"/>
            <a:ext cx="7405353" cy="830997"/>
          </a:xfrm>
          <a:prstGeom prst="rect">
            <a:avLst/>
          </a:prstGeom>
          <a:noFill/>
        </p:spPr>
        <p:txBody>
          <a:bodyPr wrap="square" rtlCol="0">
            <a:spAutoFit/>
          </a:bodyPr>
          <a:lstStyle/>
          <a:p>
            <a:pPr algn="ctr"/>
            <a:r>
              <a:rPr lang="en-US" sz="2400" b="1" dirty="0" smtClean="0">
                <a:solidFill>
                  <a:schemeClr val="bg1"/>
                </a:solidFill>
                <a:latin typeface="Arial Black" panose="020B0A04020102020204" pitchFamily="34" charset="0"/>
              </a:rPr>
              <a:t>Main Frame computers:</a:t>
            </a:r>
          </a:p>
          <a:p>
            <a:pPr algn="ctr"/>
            <a:endParaRPr lang="en-US" sz="2400" b="1" dirty="0">
              <a:solidFill>
                <a:schemeClr val="bg1"/>
              </a:solidFill>
              <a:latin typeface="Arial Black" panose="020B0A04020102020204" pitchFamily="34" charset="0"/>
            </a:endParaRPr>
          </a:p>
        </p:txBody>
      </p:sp>
      <p:sp>
        <p:nvSpPr>
          <p:cNvPr id="3" name="TextBox 2"/>
          <p:cNvSpPr txBox="1"/>
          <p:nvPr/>
        </p:nvSpPr>
        <p:spPr>
          <a:xfrm>
            <a:off x="1983345" y="1470579"/>
            <a:ext cx="7405353" cy="646331"/>
          </a:xfrm>
          <a:prstGeom prst="rect">
            <a:avLst/>
          </a:prstGeom>
          <a:noFill/>
        </p:spPr>
        <p:txBody>
          <a:bodyPr wrap="square" rtlCol="0">
            <a:spAutoFit/>
          </a:bodyPr>
          <a:lstStyle/>
          <a:p>
            <a:r>
              <a:rPr lang="en-US" dirty="0" smtClean="0">
                <a:solidFill>
                  <a:schemeClr val="bg1"/>
                </a:solidFill>
              </a:rPr>
              <a:t>These are large computers in terms of power , speed and price.</a:t>
            </a:r>
          </a:p>
          <a:p>
            <a:r>
              <a:rPr lang="en-US" dirty="0" smtClean="0">
                <a:solidFill>
                  <a:schemeClr val="bg1"/>
                </a:solidFill>
              </a:rPr>
              <a:t> </a:t>
            </a:r>
            <a:endParaRPr lang="en-US" dirty="0">
              <a:solidFill>
                <a:schemeClr val="bg1"/>
              </a:solidFill>
            </a:endParaRPr>
          </a:p>
        </p:txBody>
      </p:sp>
      <p:sp>
        <p:nvSpPr>
          <p:cNvPr id="4" name="TextBox 3"/>
          <p:cNvSpPr txBox="1"/>
          <p:nvPr/>
        </p:nvSpPr>
        <p:spPr>
          <a:xfrm>
            <a:off x="1983345" y="2116910"/>
            <a:ext cx="7405353" cy="646331"/>
          </a:xfrm>
          <a:prstGeom prst="rect">
            <a:avLst/>
          </a:prstGeom>
          <a:noFill/>
        </p:spPr>
        <p:txBody>
          <a:bodyPr wrap="square" rtlCol="0">
            <a:spAutoFit/>
          </a:bodyPr>
          <a:lstStyle/>
          <a:p>
            <a:r>
              <a:rPr lang="en-US" dirty="0" smtClean="0">
                <a:solidFill>
                  <a:schemeClr val="bg1"/>
                </a:solidFill>
              </a:rPr>
              <a:t>It consist of multiple processor , it is more powerful than mini computers.</a:t>
            </a:r>
            <a:endParaRPr lang="en-US" dirty="0">
              <a:solidFill>
                <a:schemeClr val="bg1"/>
              </a:solidFill>
            </a:endParaRPr>
          </a:p>
        </p:txBody>
      </p:sp>
      <p:sp>
        <p:nvSpPr>
          <p:cNvPr id="5" name="TextBox 4"/>
          <p:cNvSpPr txBox="1"/>
          <p:nvPr/>
        </p:nvSpPr>
        <p:spPr>
          <a:xfrm>
            <a:off x="1983345" y="3086406"/>
            <a:ext cx="7405353" cy="646331"/>
          </a:xfrm>
          <a:prstGeom prst="rect">
            <a:avLst/>
          </a:prstGeom>
          <a:noFill/>
        </p:spPr>
        <p:txBody>
          <a:bodyPr wrap="square" rtlCol="0">
            <a:spAutoFit/>
          </a:bodyPr>
          <a:lstStyle/>
          <a:p>
            <a:r>
              <a:rPr lang="en-US" dirty="0" smtClean="0">
                <a:solidFill>
                  <a:schemeClr val="bg1"/>
                </a:solidFill>
              </a:rPr>
              <a:t>Used in large organizations such as insurance company and banks. Where many people frequently need  use the same data.  </a:t>
            </a:r>
            <a:endParaRPr lang="en-US" dirty="0">
              <a:solidFill>
                <a:schemeClr val="bg1"/>
              </a:solidFill>
            </a:endParaRPr>
          </a:p>
        </p:txBody>
      </p:sp>
      <p:sp>
        <p:nvSpPr>
          <p:cNvPr id="6" name="TextBox 5"/>
          <p:cNvSpPr txBox="1"/>
          <p:nvPr/>
        </p:nvSpPr>
        <p:spPr>
          <a:xfrm>
            <a:off x="1983345" y="3856992"/>
            <a:ext cx="7405353" cy="646331"/>
          </a:xfrm>
          <a:prstGeom prst="rect">
            <a:avLst/>
          </a:prstGeom>
          <a:noFill/>
        </p:spPr>
        <p:txBody>
          <a:bodyPr wrap="square" rtlCol="0">
            <a:spAutoFit/>
          </a:bodyPr>
          <a:lstStyle/>
          <a:p>
            <a:r>
              <a:rPr lang="en-US" dirty="0" smtClean="0">
                <a:solidFill>
                  <a:schemeClr val="bg1"/>
                </a:solidFill>
              </a:rPr>
              <a:t>In a traditional mainframe environment, each user access the mainframes resources through a device called a terminal.</a:t>
            </a:r>
            <a:endParaRPr lang="en-US" dirty="0">
              <a:solidFill>
                <a:schemeClr val="bg1"/>
              </a:solidFill>
            </a:endParaRPr>
          </a:p>
        </p:txBody>
      </p:sp>
    </p:spTree>
    <p:extLst>
      <p:ext uri="{BB962C8B-B14F-4D97-AF65-F5344CB8AC3E}">
        <p14:creationId xmlns:p14="http://schemas.microsoft.com/office/powerpoint/2010/main" val="281776526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68191" y="1429555"/>
            <a:ext cx="5499279" cy="461665"/>
          </a:xfrm>
          <a:prstGeom prst="rect">
            <a:avLst/>
          </a:prstGeom>
          <a:noFill/>
        </p:spPr>
        <p:txBody>
          <a:bodyPr wrap="square" rtlCol="0">
            <a:spAutoFit/>
          </a:bodyPr>
          <a:lstStyle/>
          <a:p>
            <a:r>
              <a:rPr lang="en-US" sz="2400" b="1" dirty="0" smtClean="0">
                <a:solidFill>
                  <a:schemeClr val="bg1"/>
                </a:solidFill>
              </a:rPr>
              <a:t>Terminal:</a:t>
            </a:r>
            <a:endParaRPr lang="en-US" sz="2400" b="1" dirty="0">
              <a:solidFill>
                <a:schemeClr val="bg1"/>
              </a:solidFill>
            </a:endParaRPr>
          </a:p>
        </p:txBody>
      </p:sp>
      <p:sp>
        <p:nvSpPr>
          <p:cNvPr id="3" name="TextBox 2"/>
          <p:cNvSpPr txBox="1"/>
          <p:nvPr/>
        </p:nvSpPr>
        <p:spPr>
          <a:xfrm>
            <a:off x="1468190" y="1981200"/>
            <a:ext cx="5499279" cy="646331"/>
          </a:xfrm>
          <a:prstGeom prst="rect">
            <a:avLst/>
          </a:prstGeom>
          <a:noFill/>
        </p:spPr>
        <p:txBody>
          <a:bodyPr wrap="square" rtlCol="0">
            <a:spAutoFit/>
          </a:bodyPr>
          <a:lstStyle/>
          <a:p>
            <a:r>
              <a:rPr lang="en-US" b="1" dirty="0" smtClean="0">
                <a:solidFill>
                  <a:schemeClr val="bg1"/>
                </a:solidFill>
              </a:rPr>
              <a:t>A terminal is a device that allows users to interact with the mainframe(Like bridge)  </a:t>
            </a:r>
            <a:endParaRPr lang="en-US" b="1" dirty="0">
              <a:solidFill>
                <a:schemeClr val="bg1"/>
              </a:solidFill>
            </a:endParaRPr>
          </a:p>
        </p:txBody>
      </p:sp>
      <p:sp>
        <p:nvSpPr>
          <p:cNvPr id="4" name="TextBox 3"/>
          <p:cNvSpPr txBox="1"/>
          <p:nvPr/>
        </p:nvSpPr>
        <p:spPr>
          <a:xfrm>
            <a:off x="1468190" y="2809844"/>
            <a:ext cx="5499279" cy="923330"/>
          </a:xfrm>
          <a:prstGeom prst="rect">
            <a:avLst/>
          </a:prstGeom>
          <a:noFill/>
        </p:spPr>
        <p:txBody>
          <a:bodyPr wrap="square" rtlCol="0">
            <a:spAutoFit/>
          </a:bodyPr>
          <a:lstStyle/>
          <a:p>
            <a:r>
              <a:rPr lang="en-US" b="1" dirty="0" smtClean="0">
                <a:solidFill>
                  <a:schemeClr val="bg1"/>
                </a:solidFill>
              </a:rPr>
              <a:t>Used for Entering data.</a:t>
            </a:r>
          </a:p>
          <a:p>
            <a:r>
              <a:rPr lang="en-US" b="1" dirty="0" smtClean="0">
                <a:solidFill>
                  <a:schemeClr val="bg1"/>
                </a:solidFill>
              </a:rPr>
              <a:t>Retrieving data.</a:t>
            </a:r>
          </a:p>
          <a:p>
            <a:r>
              <a:rPr lang="en-US" b="1" dirty="0" smtClean="0">
                <a:solidFill>
                  <a:schemeClr val="bg1"/>
                </a:solidFill>
              </a:rPr>
              <a:t>Input/output device </a:t>
            </a:r>
          </a:p>
        </p:txBody>
      </p:sp>
    </p:spTree>
    <p:extLst>
      <p:ext uri="{BB962C8B-B14F-4D97-AF65-F5344CB8AC3E}">
        <p14:creationId xmlns:p14="http://schemas.microsoft.com/office/powerpoint/2010/main" val="319165426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41679" y="1300766"/>
            <a:ext cx="5499279" cy="461665"/>
          </a:xfrm>
          <a:prstGeom prst="rect">
            <a:avLst/>
          </a:prstGeom>
          <a:noFill/>
        </p:spPr>
        <p:txBody>
          <a:bodyPr wrap="square" rtlCol="0">
            <a:spAutoFit/>
          </a:bodyPr>
          <a:lstStyle/>
          <a:p>
            <a:r>
              <a:rPr lang="en-US" sz="2400" b="1" dirty="0" smtClean="0">
                <a:solidFill>
                  <a:schemeClr val="bg1"/>
                </a:solidFill>
              </a:rPr>
              <a:t>There are </a:t>
            </a:r>
            <a:r>
              <a:rPr lang="en-US" sz="2400" b="1" dirty="0" smtClean="0">
                <a:solidFill>
                  <a:schemeClr val="bg1"/>
                </a:solidFill>
              </a:rPr>
              <a:t>two </a:t>
            </a:r>
            <a:r>
              <a:rPr lang="en-US" sz="2400" b="1" dirty="0" smtClean="0">
                <a:solidFill>
                  <a:schemeClr val="bg1"/>
                </a:solidFill>
              </a:rPr>
              <a:t>types of terminals. </a:t>
            </a:r>
            <a:endParaRPr lang="en-US" sz="2400" b="1" dirty="0">
              <a:solidFill>
                <a:schemeClr val="bg1"/>
              </a:solidFill>
            </a:endParaRPr>
          </a:p>
        </p:txBody>
      </p:sp>
      <p:sp>
        <p:nvSpPr>
          <p:cNvPr id="3" name="TextBox 2"/>
          <p:cNvSpPr txBox="1"/>
          <p:nvPr/>
        </p:nvSpPr>
        <p:spPr>
          <a:xfrm>
            <a:off x="1841678" y="1826653"/>
            <a:ext cx="5499279" cy="369332"/>
          </a:xfrm>
          <a:prstGeom prst="rect">
            <a:avLst/>
          </a:prstGeom>
          <a:noFill/>
        </p:spPr>
        <p:txBody>
          <a:bodyPr wrap="square" rtlCol="0">
            <a:spAutoFit/>
          </a:bodyPr>
          <a:lstStyle/>
          <a:p>
            <a:r>
              <a:rPr lang="en-US" b="1" dirty="0" smtClean="0">
                <a:solidFill>
                  <a:schemeClr val="bg1"/>
                </a:solidFill>
              </a:rPr>
              <a:t>1.Dumb Terminal.</a:t>
            </a:r>
            <a:endParaRPr lang="en-US" b="1" dirty="0">
              <a:solidFill>
                <a:schemeClr val="bg1"/>
              </a:solidFill>
            </a:endParaRPr>
          </a:p>
        </p:txBody>
      </p:sp>
      <p:sp>
        <p:nvSpPr>
          <p:cNvPr id="4" name="TextBox 3"/>
          <p:cNvSpPr txBox="1"/>
          <p:nvPr/>
        </p:nvSpPr>
        <p:spPr>
          <a:xfrm>
            <a:off x="1841678" y="2256086"/>
            <a:ext cx="5499279" cy="2308324"/>
          </a:xfrm>
          <a:prstGeom prst="rect">
            <a:avLst/>
          </a:prstGeom>
          <a:noFill/>
        </p:spPr>
        <p:txBody>
          <a:bodyPr wrap="square" rtlCol="0">
            <a:spAutoFit/>
          </a:bodyPr>
          <a:lstStyle/>
          <a:p>
            <a:r>
              <a:rPr lang="en-US" dirty="0">
                <a:solidFill>
                  <a:schemeClr val="bg1"/>
                </a:solidFill>
              </a:rPr>
              <a:t> </a:t>
            </a:r>
            <a:r>
              <a:rPr lang="en-US" dirty="0" smtClean="0">
                <a:solidFill>
                  <a:schemeClr val="bg1"/>
                </a:solidFill>
              </a:rPr>
              <a:t>Does not store or process  data.</a:t>
            </a:r>
          </a:p>
          <a:p>
            <a:r>
              <a:rPr lang="en-US" dirty="0" smtClean="0">
                <a:solidFill>
                  <a:schemeClr val="bg1"/>
                </a:solidFill>
              </a:rPr>
              <a:t>As it is data will send to the remote server.</a:t>
            </a:r>
          </a:p>
          <a:p>
            <a:r>
              <a:rPr lang="en-US" dirty="0" smtClean="0">
                <a:solidFill>
                  <a:schemeClr val="bg1"/>
                </a:solidFill>
              </a:rPr>
              <a:t>And that server will compute that data.</a:t>
            </a:r>
          </a:p>
          <a:p>
            <a:r>
              <a:rPr lang="en-US" dirty="0" smtClean="0">
                <a:solidFill>
                  <a:schemeClr val="bg1"/>
                </a:solidFill>
              </a:rPr>
              <a:t>And then it will response on the dumb terminal screen.</a:t>
            </a:r>
          </a:p>
          <a:p>
            <a:r>
              <a:rPr lang="en-US" dirty="0" smtClean="0">
                <a:solidFill>
                  <a:schemeClr val="bg1"/>
                </a:solidFill>
              </a:rPr>
              <a:t>It simply use for data entering.</a:t>
            </a:r>
          </a:p>
          <a:p>
            <a:r>
              <a:rPr lang="en-US" dirty="0" smtClean="0">
                <a:solidFill>
                  <a:schemeClr val="bg1"/>
                </a:solidFill>
              </a:rPr>
              <a:t>Ex : Air  line reservation system. </a:t>
            </a:r>
          </a:p>
          <a:p>
            <a:endParaRPr lang="en-US" dirty="0">
              <a:solidFill>
                <a:schemeClr val="bg1"/>
              </a:solidFill>
            </a:endParaRPr>
          </a:p>
        </p:txBody>
      </p:sp>
    </p:spTree>
    <p:extLst>
      <p:ext uri="{BB962C8B-B14F-4D97-AF65-F5344CB8AC3E}">
        <p14:creationId xmlns:p14="http://schemas.microsoft.com/office/powerpoint/2010/main" val="356400360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41677" y="1659227"/>
            <a:ext cx="5499279" cy="461665"/>
          </a:xfrm>
          <a:prstGeom prst="rect">
            <a:avLst/>
          </a:prstGeom>
          <a:noFill/>
        </p:spPr>
        <p:txBody>
          <a:bodyPr wrap="square" rtlCol="0">
            <a:spAutoFit/>
          </a:bodyPr>
          <a:lstStyle/>
          <a:p>
            <a:r>
              <a:rPr lang="en-US" sz="2400" b="1" dirty="0" smtClean="0">
                <a:solidFill>
                  <a:schemeClr val="bg1"/>
                </a:solidFill>
              </a:rPr>
              <a:t>Smart terminal:</a:t>
            </a:r>
            <a:endParaRPr lang="en-US" sz="2400" b="1" dirty="0">
              <a:solidFill>
                <a:schemeClr val="bg1"/>
              </a:solidFill>
            </a:endParaRPr>
          </a:p>
        </p:txBody>
      </p:sp>
      <p:sp>
        <p:nvSpPr>
          <p:cNvPr id="3" name="TextBox 2"/>
          <p:cNvSpPr txBox="1"/>
          <p:nvPr/>
        </p:nvSpPr>
        <p:spPr>
          <a:xfrm>
            <a:off x="1841678" y="2256086"/>
            <a:ext cx="5499279" cy="1200329"/>
          </a:xfrm>
          <a:prstGeom prst="rect">
            <a:avLst/>
          </a:prstGeom>
          <a:noFill/>
        </p:spPr>
        <p:txBody>
          <a:bodyPr wrap="square" rtlCol="0">
            <a:spAutoFit/>
          </a:bodyPr>
          <a:lstStyle/>
          <a:p>
            <a:r>
              <a:rPr lang="en-US" b="1" dirty="0" smtClean="0">
                <a:solidFill>
                  <a:schemeClr val="bg1"/>
                </a:solidFill>
              </a:rPr>
              <a:t>Limited memory:</a:t>
            </a:r>
          </a:p>
          <a:p>
            <a:r>
              <a:rPr lang="en-US" b="1" dirty="0" smtClean="0">
                <a:solidFill>
                  <a:schemeClr val="bg1"/>
                </a:solidFill>
              </a:rPr>
              <a:t>It is used for data entry.</a:t>
            </a:r>
          </a:p>
          <a:p>
            <a:r>
              <a:rPr lang="en-US" b="1" dirty="0" smtClean="0">
                <a:solidFill>
                  <a:schemeClr val="bg1"/>
                </a:solidFill>
              </a:rPr>
              <a:t>Debit cart machine.</a:t>
            </a:r>
          </a:p>
          <a:p>
            <a:r>
              <a:rPr lang="en-US" b="1" dirty="0" smtClean="0">
                <a:solidFill>
                  <a:schemeClr val="bg1"/>
                </a:solidFill>
              </a:rPr>
              <a:t>And it is connected with main system.</a:t>
            </a:r>
            <a:endParaRPr lang="en-US" b="1" dirty="0">
              <a:solidFill>
                <a:schemeClr val="bg1"/>
              </a:solidFill>
            </a:endParaRPr>
          </a:p>
        </p:txBody>
      </p:sp>
    </p:spTree>
    <p:extLst>
      <p:ext uri="{BB962C8B-B14F-4D97-AF65-F5344CB8AC3E}">
        <p14:creationId xmlns:p14="http://schemas.microsoft.com/office/powerpoint/2010/main" val="356647089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841678" y="1826653"/>
            <a:ext cx="5898525" cy="830997"/>
          </a:xfrm>
          <a:prstGeom prst="rect">
            <a:avLst/>
          </a:prstGeom>
          <a:noFill/>
        </p:spPr>
        <p:txBody>
          <a:bodyPr wrap="square" rtlCol="0">
            <a:spAutoFit/>
          </a:bodyPr>
          <a:lstStyle/>
          <a:p>
            <a:r>
              <a:rPr lang="en-US" sz="2400" b="1" dirty="0" smtClean="0">
                <a:solidFill>
                  <a:schemeClr val="bg1"/>
                </a:solidFill>
              </a:rPr>
              <a:t>Super Computers: </a:t>
            </a:r>
          </a:p>
          <a:p>
            <a:endParaRPr lang="en-US" sz="2400" b="1" dirty="0">
              <a:solidFill>
                <a:schemeClr val="bg1"/>
              </a:solidFill>
            </a:endParaRPr>
          </a:p>
        </p:txBody>
      </p:sp>
      <p:sp>
        <p:nvSpPr>
          <p:cNvPr id="5" name="TextBox 4"/>
          <p:cNvSpPr txBox="1"/>
          <p:nvPr/>
        </p:nvSpPr>
        <p:spPr>
          <a:xfrm>
            <a:off x="1841677" y="2472984"/>
            <a:ext cx="5898525" cy="646331"/>
          </a:xfrm>
          <a:prstGeom prst="rect">
            <a:avLst/>
          </a:prstGeom>
          <a:noFill/>
        </p:spPr>
        <p:txBody>
          <a:bodyPr wrap="square" rtlCol="0">
            <a:spAutoFit/>
          </a:bodyPr>
          <a:lstStyle/>
          <a:p>
            <a:r>
              <a:rPr lang="en-US" dirty="0" smtClean="0">
                <a:solidFill>
                  <a:schemeClr val="bg1"/>
                </a:solidFill>
              </a:rPr>
              <a:t>These are the most powerful computers made, and physically they are some  of the largest.  </a:t>
            </a:r>
            <a:endParaRPr lang="en-US" dirty="0">
              <a:solidFill>
                <a:schemeClr val="bg1"/>
              </a:solidFill>
            </a:endParaRPr>
          </a:p>
        </p:txBody>
      </p:sp>
      <p:sp>
        <p:nvSpPr>
          <p:cNvPr id="6" name="TextBox 5"/>
          <p:cNvSpPr txBox="1"/>
          <p:nvPr/>
        </p:nvSpPr>
        <p:spPr>
          <a:xfrm>
            <a:off x="1841676" y="3235225"/>
            <a:ext cx="5898525" cy="923330"/>
          </a:xfrm>
          <a:prstGeom prst="rect">
            <a:avLst/>
          </a:prstGeom>
          <a:noFill/>
        </p:spPr>
        <p:txBody>
          <a:bodyPr wrap="square" rtlCol="0">
            <a:spAutoFit/>
          </a:bodyPr>
          <a:lstStyle/>
          <a:p>
            <a:r>
              <a:rPr lang="en-US" dirty="0" smtClean="0">
                <a:solidFill>
                  <a:schemeClr val="bg1"/>
                </a:solidFill>
              </a:rPr>
              <a:t>These systems can process huge amounts of data , and fastest super computers  can perform the more than one trillion calculations per seconds</a:t>
            </a:r>
            <a:endParaRPr lang="en-US" dirty="0">
              <a:solidFill>
                <a:schemeClr val="bg1"/>
              </a:solidFill>
            </a:endParaRPr>
          </a:p>
        </p:txBody>
      </p:sp>
    </p:spTree>
    <p:extLst>
      <p:ext uri="{BB962C8B-B14F-4D97-AF65-F5344CB8AC3E}">
        <p14:creationId xmlns:p14="http://schemas.microsoft.com/office/powerpoint/2010/main" val="380680816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58343" y="1324377"/>
            <a:ext cx="5898525" cy="830997"/>
          </a:xfrm>
          <a:prstGeom prst="rect">
            <a:avLst/>
          </a:prstGeom>
          <a:noFill/>
        </p:spPr>
        <p:txBody>
          <a:bodyPr wrap="square" rtlCol="0">
            <a:spAutoFit/>
          </a:bodyPr>
          <a:lstStyle/>
          <a:p>
            <a:r>
              <a:rPr lang="en-US" sz="2400" b="1" dirty="0" smtClean="0">
                <a:solidFill>
                  <a:schemeClr val="bg1"/>
                </a:solidFill>
              </a:rPr>
              <a:t>Embedded Computers: </a:t>
            </a:r>
          </a:p>
          <a:p>
            <a:endParaRPr lang="en-US" sz="2400" b="1" dirty="0">
              <a:solidFill>
                <a:schemeClr val="bg1"/>
              </a:solidFill>
            </a:endParaRPr>
          </a:p>
        </p:txBody>
      </p:sp>
      <p:sp>
        <p:nvSpPr>
          <p:cNvPr id="5" name="TextBox 4"/>
          <p:cNvSpPr txBox="1"/>
          <p:nvPr/>
        </p:nvSpPr>
        <p:spPr>
          <a:xfrm>
            <a:off x="1558342" y="1970708"/>
            <a:ext cx="7031867" cy="923330"/>
          </a:xfrm>
          <a:prstGeom prst="rect">
            <a:avLst/>
          </a:prstGeom>
          <a:noFill/>
        </p:spPr>
        <p:txBody>
          <a:bodyPr wrap="square" rtlCol="0">
            <a:spAutoFit/>
          </a:bodyPr>
          <a:lstStyle/>
          <a:p>
            <a:r>
              <a:rPr lang="en-US" dirty="0" smtClean="0">
                <a:solidFill>
                  <a:schemeClr val="bg1"/>
                </a:solidFill>
              </a:rPr>
              <a:t>AN embedded computer  (embedded programs)  is a special purpose computer that functions as a component in a larger product.</a:t>
            </a:r>
            <a:endParaRPr lang="en-US" dirty="0">
              <a:solidFill>
                <a:schemeClr val="bg1"/>
              </a:solidFill>
            </a:endParaRPr>
          </a:p>
        </p:txBody>
      </p:sp>
      <p:sp>
        <p:nvSpPr>
          <p:cNvPr id="6" name="TextBox 5"/>
          <p:cNvSpPr txBox="1"/>
          <p:nvPr/>
        </p:nvSpPr>
        <p:spPr>
          <a:xfrm>
            <a:off x="1442431" y="3273862"/>
            <a:ext cx="5898525" cy="646331"/>
          </a:xfrm>
          <a:prstGeom prst="rect">
            <a:avLst/>
          </a:prstGeom>
          <a:noFill/>
        </p:spPr>
        <p:txBody>
          <a:bodyPr wrap="square" rtlCol="0">
            <a:spAutoFit/>
          </a:bodyPr>
          <a:lstStyle/>
          <a:p>
            <a:r>
              <a:rPr lang="en-US" dirty="0" smtClean="0">
                <a:solidFill>
                  <a:schemeClr val="bg1"/>
                </a:solidFill>
              </a:rPr>
              <a:t>Ex : used in  car lock and unlock </a:t>
            </a:r>
          </a:p>
          <a:p>
            <a:r>
              <a:rPr lang="en-US" dirty="0">
                <a:solidFill>
                  <a:schemeClr val="bg1"/>
                </a:solidFill>
              </a:rPr>
              <a:t> </a:t>
            </a:r>
            <a:r>
              <a:rPr lang="en-US" dirty="0" smtClean="0">
                <a:solidFill>
                  <a:schemeClr val="bg1"/>
                </a:solidFill>
              </a:rPr>
              <a:t>    used in air conditions </a:t>
            </a:r>
            <a:endParaRPr lang="en-US" dirty="0">
              <a:solidFill>
                <a:schemeClr val="bg1"/>
              </a:solidFill>
            </a:endParaRPr>
          </a:p>
        </p:txBody>
      </p:sp>
    </p:spTree>
    <p:extLst>
      <p:ext uri="{BB962C8B-B14F-4D97-AF65-F5344CB8AC3E}">
        <p14:creationId xmlns:p14="http://schemas.microsoft.com/office/powerpoint/2010/main" val="270286364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841677" y="1417663"/>
            <a:ext cx="5898525" cy="830997"/>
          </a:xfrm>
          <a:prstGeom prst="rect">
            <a:avLst/>
          </a:prstGeom>
          <a:noFill/>
        </p:spPr>
        <p:txBody>
          <a:bodyPr wrap="square" rtlCol="0">
            <a:spAutoFit/>
          </a:bodyPr>
          <a:lstStyle/>
          <a:p>
            <a:r>
              <a:rPr lang="en-US" sz="2400" dirty="0" smtClean="0">
                <a:solidFill>
                  <a:schemeClr val="bg1"/>
                </a:solidFill>
                <a:latin typeface="Arial Black" panose="020B0A04020102020204" pitchFamily="34" charset="0"/>
              </a:rPr>
              <a:t>Server Computers: </a:t>
            </a:r>
          </a:p>
          <a:p>
            <a:endParaRPr lang="en-US" sz="2400" dirty="0">
              <a:solidFill>
                <a:schemeClr val="bg1"/>
              </a:solidFill>
              <a:latin typeface="Arial Black" panose="020B0A04020102020204" pitchFamily="34" charset="0"/>
            </a:endParaRPr>
          </a:p>
        </p:txBody>
      </p:sp>
      <p:sp>
        <p:nvSpPr>
          <p:cNvPr id="5" name="TextBox 4"/>
          <p:cNvSpPr txBox="1"/>
          <p:nvPr/>
        </p:nvSpPr>
        <p:spPr>
          <a:xfrm>
            <a:off x="1841677" y="2472984"/>
            <a:ext cx="7031867" cy="1200329"/>
          </a:xfrm>
          <a:prstGeom prst="rect">
            <a:avLst/>
          </a:prstGeom>
          <a:noFill/>
        </p:spPr>
        <p:txBody>
          <a:bodyPr wrap="square" rtlCol="0">
            <a:spAutoFit/>
          </a:bodyPr>
          <a:lstStyle/>
          <a:p>
            <a:r>
              <a:rPr lang="en-US" dirty="0" smtClean="0">
                <a:solidFill>
                  <a:schemeClr val="bg1"/>
                </a:solidFill>
              </a:rPr>
              <a:t>Server computer is a role that means we can assign to any computer.</a:t>
            </a:r>
          </a:p>
          <a:p>
            <a:r>
              <a:rPr lang="en-US" dirty="0" smtClean="0">
                <a:solidFill>
                  <a:schemeClr val="bg1"/>
                </a:solidFill>
              </a:rPr>
              <a:t>A server computer that provides services to the computers and other devices connected to a network.</a:t>
            </a:r>
            <a:endParaRPr lang="en-US" dirty="0">
              <a:solidFill>
                <a:schemeClr val="bg1"/>
              </a:solidFill>
            </a:endParaRPr>
          </a:p>
        </p:txBody>
      </p:sp>
      <p:sp>
        <p:nvSpPr>
          <p:cNvPr id="6" name="TextBox 5"/>
          <p:cNvSpPr txBox="1"/>
          <p:nvPr/>
        </p:nvSpPr>
        <p:spPr>
          <a:xfrm>
            <a:off x="1841677" y="4068437"/>
            <a:ext cx="7031867" cy="923330"/>
          </a:xfrm>
          <a:prstGeom prst="rect">
            <a:avLst/>
          </a:prstGeom>
          <a:noFill/>
        </p:spPr>
        <p:txBody>
          <a:bodyPr wrap="square" rtlCol="0">
            <a:spAutoFit/>
          </a:bodyPr>
          <a:lstStyle/>
          <a:p>
            <a:r>
              <a:rPr lang="en-US" dirty="0" smtClean="0">
                <a:solidFill>
                  <a:schemeClr val="bg1"/>
                </a:solidFill>
              </a:rPr>
              <a:t>Client Computers: are those who request to the server computers for resources.</a:t>
            </a:r>
          </a:p>
          <a:p>
            <a:r>
              <a:rPr lang="en-US" dirty="0" smtClean="0">
                <a:solidFill>
                  <a:schemeClr val="bg1"/>
                </a:solidFill>
              </a:rPr>
              <a:t>It is less powerful than server computers</a:t>
            </a:r>
            <a:endParaRPr lang="en-US" dirty="0">
              <a:solidFill>
                <a:schemeClr val="bg1"/>
              </a:solidFill>
            </a:endParaRPr>
          </a:p>
        </p:txBody>
      </p:sp>
    </p:spTree>
    <p:extLst>
      <p:ext uri="{BB962C8B-B14F-4D97-AF65-F5344CB8AC3E}">
        <p14:creationId xmlns:p14="http://schemas.microsoft.com/office/powerpoint/2010/main" val="526042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852409" y="2551141"/>
            <a:ext cx="6892346" cy="923330"/>
          </a:xfrm>
          <a:prstGeom prst="rect">
            <a:avLst/>
          </a:prstGeom>
          <a:noFill/>
        </p:spPr>
        <p:txBody>
          <a:bodyPr wrap="square" rtlCol="0">
            <a:spAutoFit/>
          </a:bodyPr>
          <a:lstStyle/>
          <a:p>
            <a:r>
              <a:rPr lang="en-US" dirty="0" smtClean="0">
                <a:solidFill>
                  <a:schemeClr val="bg1"/>
                </a:solidFill>
              </a:rPr>
              <a:t>1: Control  access to the hardware , software and data.</a:t>
            </a:r>
          </a:p>
          <a:p>
            <a:r>
              <a:rPr lang="en-US" dirty="0" smtClean="0">
                <a:solidFill>
                  <a:schemeClr val="bg1"/>
                </a:solidFill>
              </a:rPr>
              <a:t>2.Centralized  storage for software , data and information.</a:t>
            </a:r>
          </a:p>
          <a:p>
            <a:r>
              <a:rPr lang="en-US" dirty="0" smtClean="0">
                <a:solidFill>
                  <a:schemeClr val="bg1"/>
                </a:solidFill>
              </a:rPr>
              <a:t>3.Data Processing  </a:t>
            </a:r>
            <a:endParaRPr lang="en-US" dirty="0">
              <a:solidFill>
                <a:schemeClr val="bg1"/>
              </a:solidFill>
            </a:endParaRPr>
          </a:p>
        </p:txBody>
      </p:sp>
      <p:sp>
        <p:nvSpPr>
          <p:cNvPr id="8" name="TextBox 7"/>
          <p:cNvSpPr txBox="1"/>
          <p:nvPr/>
        </p:nvSpPr>
        <p:spPr>
          <a:xfrm>
            <a:off x="1994077" y="1789141"/>
            <a:ext cx="5898525" cy="830997"/>
          </a:xfrm>
          <a:prstGeom prst="rect">
            <a:avLst/>
          </a:prstGeom>
          <a:noFill/>
        </p:spPr>
        <p:txBody>
          <a:bodyPr wrap="square" rtlCol="0">
            <a:spAutoFit/>
          </a:bodyPr>
          <a:lstStyle/>
          <a:p>
            <a:r>
              <a:rPr lang="en-US" sz="2400" dirty="0" smtClean="0">
                <a:solidFill>
                  <a:schemeClr val="bg1"/>
                </a:solidFill>
                <a:latin typeface="Arial Black" panose="020B0A04020102020204" pitchFamily="34" charset="0"/>
              </a:rPr>
              <a:t>Services</a:t>
            </a:r>
            <a:r>
              <a:rPr lang="en-US" sz="2400" dirty="0">
                <a:solidFill>
                  <a:schemeClr val="bg1"/>
                </a:solidFill>
                <a:latin typeface="Arial Black" panose="020B0A04020102020204" pitchFamily="34" charset="0"/>
              </a:rPr>
              <a:t> </a:t>
            </a:r>
            <a:r>
              <a:rPr lang="en-US" sz="2400" dirty="0" smtClean="0">
                <a:solidFill>
                  <a:schemeClr val="bg1"/>
                </a:solidFill>
                <a:latin typeface="Arial Black" panose="020B0A04020102020204" pitchFamily="34" charset="0"/>
              </a:rPr>
              <a:t>of server computer.</a:t>
            </a:r>
          </a:p>
          <a:p>
            <a:endParaRPr lang="en-US" sz="2400" dirty="0">
              <a:solidFill>
                <a:schemeClr val="bg1"/>
              </a:solidFill>
              <a:latin typeface="Arial Black" panose="020B0A04020102020204" pitchFamily="34" charset="0"/>
            </a:endParaRPr>
          </a:p>
        </p:txBody>
      </p:sp>
    </p:spTree>
    <p:extLst>
      <p:ext uri="{BB962C8B-B14F-4D97-AF65-F5344CB8AC3E}">
        <p14:creationId xmlns:p14="http://schemas.microsoft.com/office/powerpoint/2010/main" val="355139704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491800" y="2493564"/>
            <a:ext cx="6892346" cy="1477328"/>
          </a:xfrm>
          <a:prstGeom prst="rect">
            <a:avLst/>
          </a:prstGeom>
          <a:noFill/>
        </p:spPr>
        <p:txBody>
          <a:bodyPr wrap="square" rtlCol="0">
            <a:spAutoFit/>
          </a:bodyPr>
          <a:lstStyle/>
          <a:p>
            <a:r>
              <a:rPr lang="en-US" dirty="0" smtClean="0">
                <a:solidFill>
                  <a:schemeClr val="bg1"/>
                </a:solidFill>
              </a:rPr>
              <a:t>Computers Users : </a:t>
            </a:r>
            <a:r>
              <a:rPr lang="en-US" b="1" dirty="0" smtClean="0">
                <a:solidFill>
                  <a:schemeClr val="bg1"/>
                </a:solidFill>
              </a:rPr>
              <a:t>Definition</a:t>
            </a:r>
            <a:r>
              <a:rPr lang="en-US" b="1" dirty="0">
                <a:solidFill>
                  <a:schemeClr val="bg1"/>
                </a:solidFill>
              </a:rPr>
              <a:t>:</a:t>
            </a:r>
            <a:r>
              <a:rPr lang="en-US" dirty="0">
                <a:solidFill>
                  <a:schemeClr val="bg1"/>
                </a:solidFill>
              </a:rPr>
              <a:t/>
            </a:r>
            <a:br>
              <a:rPr lang="en-US" dirty="0">
                <a:solidFill>
                  <a:schemeClr val="bg1"/>
                </a:solidFill>
              </a:rPr>
            </a:br>
            <a:r>
              <a:rPr lang="en-US" dirty="0">
                <a:solidFill>
                  <a:schemeClr val="bg1"/>
                </a:solidFill>
              </a:rPr>
              <a:t>A computer user refers to anyone who operates a computer to perform various tasks. They typically interact with software applications, websites, or systems to achieve their personal, educational, or professional goals.</a:t>
            </a:r>
          </a:p>
        </p:txBody>
      </p:sp>
      <p:sp>
        <p:nvSpPr>
          <p:cNvPr id="5" name="TextBox 4"/>
          <p:cNvSpPr txBox="1"/>
          <p:nvPr/>
        </p:nvSpPr>
        <p:spPr>
          <a:xfrm>
            <a:off x="1633468" y="1540361"/>
            <a:ext cx="5898525" cy="461665"/>
          </a:xfrm>
          <a:prstGeom prst="rect">
            <a:avLst/>
          </a:prstGeom>
          <a:noFill/>
        </p:spPr>
        <p:txBody>
          <a:bodyPr wrap="square" rtlCol="0">
            <a:spAutoFit/>
          </a:bodyPr>
          <a:lstStyle/>
          <a:p>
            <a:r>
              <a:rPr lang="en-US" sz="2400" b="1" dirty="0" smtClean="0">
                <a:solidFill>
                  <a:schemeClr val="bg1"/>
                </a:solidFill>
              </a:rPr>
              <a:t>Computer Users: </a:t>
            </a:r>
            <a:endParaRPr lang="en-US" sz="2400" b="1" dirty="0">
              <a:solidFill>
                <a:schemeClr val="bg1"/>
              </a:solidFill>
            </a:endParaRPr>
          </a:p>
        </p:txBody>
      </p:sp>
      <p:sp>
        <p:nvSpPr>
          <p:cNvPr id="6" name="TextBox 5"/>
          <p:cNvSpPr txBox="1"/>
          <p:nvPr/>
        </p:nvSpPr>
        <p:spPr>
          <a:xfrm>
            <a:off x="1633468" y="1939532"/>
            <a:ext cx="5898525" cy="461665"/>
          </a:xfrm>
          <a:prstGeom prst="rect">
            <a:avLst/>
          </a:prstGeom>
          <a:noFill/>
        </p:spPr>
        <p:txBody>
          <a:bodyPr wrap="square" rtlCol="0">
            <a:spAutoFit/>
          </a:bodyPr>
          <a:lstStyle/>
          <a:p>
            <a:r>
              <a:rPr lang="en-US" sz="2400" dirty="0" smtClean="0">
                <a:solidFill>
                  <a:schemeClr val="bg1"/>
                </a:solidFill>
                <a:latin typeface="Arial Black" panose="020B0A04020102020204" pitchFamily="34" charset="0"/>
              </a:rPr>
              <a:t>Computer Professionals: </a:t>
            </a:r>
            <a:endParaRPr lang="en-US" sz="2400" dirty="0">
              <a:solidFill>
                <a:schemeClr val="bg1"/>
              </a:solidFill>
              <a:latin typeface="Arial Black" panose="020B0A04020102020204" pitchFamily="34" charset="0"/>
            </a:endParaRPr>
          </a:p>
        </p:txBody>
      </p:sp>
    </p:spTree>
    <p:extLst>
      <p:ext uri="{BB962C8B-B14F-4D97-AF65-F5344CB8AC3E}">
        <p14:creationId xmlns:p14="http://schemas.microsoft.com/office/powerpoint/2010/main" val="383198264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852409" y="2329692"/>
            <a:ext cx="8407697" cy="3139321"/>
          </a:xfrm>
          <a:prstGeom prst="rect">
            <a:avLst/>
          </a:prstGeom>
          <a:noFill/>
        </p:spPr>
        <p:txBody>
          <a:bodyPr wrap="square" rtlCol="0">
            <a:spAutoFit/>
          </a:bodyPr>
          <a:lstStyle/>
          <a:p>
            <a:r>
              <a:rPr lang="en-US" dirty="0">
                <a:solidFill>
                  <a:schemeClr val="bg1"/>
                </a:solidFill>
              </a:rPr>
              <a:t/>
            </a:r>
            <a:br>
              <a:rPr lang="en-US" dirty="0">
                <a:solidFill>
                  <a:schemeClr val="bg1"/>
                </a:solidFill>
              </a:rPr>
            </a:br>
            <a:r>
              <a:rPr lang="en-US" b="1" dirty="0">
                <a:solidFill>
                  <a:schemeClr val="bg1"/>
                </a:solidFill>
              </a:rPr>
              <a:t>Computer Professionals</a:t>
            </a:r>
          </a:p>
          <a:p>
            <a:r>
              <a:rPr lang="en-US" b="1" dirty="0">
                <a:solidFill>
                  <a:schemeClr val="bg1"/>
                </a:solidFill>
              </a:rPr>
              <a:t>Definition:</a:t>
            </a:r>
            <a:r>
              <a:rPr lang="en-US" dirty="0">
                <a:solidFill>
                  <a:schemeClr val="bg1"/>
                </a:solidFill>
              </a:rPr>
              <a:t/>
            </a:r>
            <a:br>
              <a:rPr lang="en-US" dirty="0">
                <a:solidFill>
                  <a:schemeClr val="bg1"/>
                </a:solidFill>
              </a:rPr>
            </a:br>
            <a:r>
              <a:rPr lang="en-US" dirty="0">
                <a:solidFill>
                  <a:schemeClr val="bg1"/>
                </a:solidFill>
              </a:rPr>
              <a:t>A computer professional is someone who has specialized knowledge, skills, and training in the field of computing. They design, develop, manage, and maintain computer systems, software, and networks.</a:t>
            </a:r>
          </a:p>
          <a:p>
            <a:r>
              <a:rPr lang="en-US" b="1" dirty="0">
                <a:solidFill>
                  <a:schemeClr val="bg1"/>
                </a:solidFill>
              </a:rPr>
              <a:t>Key Characteristics:</a:t>
            </a:r>
            <a:endParaRPr lang="en-US" dirty="0">
              <a:solidFill>
                <a:schemeClr val="bg1"/>
              </a:solidFill>
            </a:endParaRPr>
          </a:p>
          <a:p>
            <a:r>
              <a:rPr lang="en-US" b="1" dirty="0">
                <a:solidFill>
                  <a:schemeClr val="bg1"/>
                </a:solidFill>
              </a:rPr>
              <a:t>Expertise:</a:t>
            </a:r>
            <a:r>
              <a:rPr lang="en-US" dirty="0">
                <a:solidFill>
                  <a:schemeClr val="bg1"/>
                </a:solidFill>
              </a:rPr>
              <a:t> Requires in-depth technical knowledge in areas like programming, network security, database management, or hardware design.</a:t>
            </a:r>
          </a:p>
          <a:p>
            <a:endParaRPr lang="en-US" dirty="0">
              <a:solidFill>
                <a:schemeClr val="bg1"/>
              </a:solidFill>
            </a:endParaRPr>
          </a:p>
        </p:txBody>
      </p:sp>
      <p:sp>
        <p:nvSpPr>
          <p:cNvPr id="5" name="TextBox 4"/>
          <p:cNvSpPr txBox="1"/>
          <p:nvPr/>
        </p:nvSpPr>
        <p:spPr>
          <a:xfrm>
            <a:off x="1852409" y="1472674"/>
            <a:ext cx="5898525" cy="461665"/>
          </a:xfrm>
          <a:prstGeom prst="rect">
            <a:avLst/>
          </a:prstGeom>
          <a:noFill/>
        </p:spPr>
        <p:txBody>
          <a:bodyPr wrap="square" rtlCol="0">
            <a:spAutoFit/>
          </a:bodyPr>
          <a:lstStyle/>
          <a:p>
            <a:r>
              <a:rPr lang="en-US" sz="2400" dirty="0" smtClean="0">
                <a:solidFill>
                  <a:schemeClr val="bg1"/>
                </a:solidFill>
                <a:latin typeface="Arial Black" panose="020B0A04020102020204" pitchFamily="34" charset="0"/>
              </a:rPr>
              <a:t>Computer Professionals: </a:t>
            </a:r>
            <a:endParaRPr lang="en-US" sz="2400" dirty="0">
              <a:solidFill>
                <a:schemeClr val="bg1"/>
              </a:solidFill>
              <a:latin typeface="Arial Black" panose="020B0A04020102020204" pitchFamily="34" charset="0"/>
            </a:endParaRPr>
          </a:p>
        </p:txBody>
      </p:sp>
    </p:spTree>
    <p:extLst>
      <p:ext uri="{BB962C8B-B14F-4D97-AF65-F5344CB8AC3E}">
        <p14:creationId xmlns:p14="http://schemas.microsoft.com/office/powerpoint/2010/main" val="308982365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448997" y="1472674"/>
            <a:ext cx="5898525" cy="461665"/>
          </a:xfrm>
          <a:prstGeom prst="rect">
            <a:avLst/>
          </a:prstGeom>
          <a:noFill/>
        </p:spPr>
        <p:txBody>
          <a:bodyPr wrap="square" rtlCol="0">
            <a:spAutoFit/>
          </a:bodyPr>
          <a:lstStyle/>
          <a:p>
            <a:r>
              <a:rPr lang="en-US" sz="2400" u="sng" dirty="0" smtClean="0">
                <a:solidFill>
                  <a:schemeClr val="bg1"/>
                </a:solidFill>
                <a:latin typeface="Arial Black" panose="020B0A04020102020204" pitchFamily="34" charset="0"/>
              </a:rPr>
              <a:t>Processor:</a:t>
            </a:r>
            <a:endParaRPr lang="en-US" sz="2400" u="sng" dirty="0">
              <a:solidFill>
                <a:schemeClr val="bg1"/>
              </a:solidFill>
              <a:latin typeface="Arial Black" panose="020B0A04020102020204" pitchFamily="34" charset="0"/>
            </a:endParaRPr>
          </a:p>
        </p:txBody>
      </p:sp>
      <p:sp>
        <p:nvSpPr>
          <p:cNvPr id="3" name="TextBox 2"/>
          <p:cNvSpPr txBox="1"/>
          <p:nvPr/>
        </p:nvSpPr>
        <p:spPr>
          <a:xfrm>
            <a:off x="1448997" y="2337768"/>
            <a:ext cx="5898525" cy="369332"/>
          </a:xfrm>
          <a:prstGeom prst="rect">
            <a:avLst/>
          </a:prstGeom>
          <a:noFill/>
        </p:spPr>
        <p:txBody>
          <a:bodyPr wrap="square" rtlCol="0">
            <a:spAutoFit/>
          </a:bodyPr>
          <a:lstStyle/>
          <a:p>
            <a:r>
              <a:rPr lang="en-US" dirty="0" smtClean="0">
                <a:solidFill>
                  <a:schemeClr val="bg1"/>
                </a:solidFill>
                <a:latin typeface="Arial Black" panose="020B0A04020102020204" pitchFamily="34" charset="0"/>
              </a:rPr>
              <a:t>IT is a chip which is called CPU.</a:t>
            </a:r>
            <a:endParaRPr lang="en-US" dirty="0">
              <a:solidFill>
                <a:schemeClr val="bg1"/>
              </a:solidFill>
              <a:latin typeface="Arial Black" panose="020B0A04020102020204" pitchFamily="34" charset="0"/>
            </a:endParaRPr>
          </a:p>
        </p:txBody>
      </p:sp>
      <p:sp>
        <p:nvSpPr>
          <p:cNvPr id="5" name="TextBox 4"/>
          <p:cNvSpPr txBox="1"/>
          <p:nvPr/>
        </p:nvSpPr>
        <p:spPr>
          <a:xfrm>
            <a:off x="1448996" y="2907027"/>
            <a:ext cx="5898525" cy="646331"/>
          </a:xfrm>
          <a:prstGeom prst="rect">
            <a:avLst/>
          </a:prstGeom>
          <a:noFill/>
        </p:spPr>
        <p:txBody>
          <a:bodyPr wrap="square" rtlCol="0">
            <a:spAutoFit/>
          </a:bodyPr>
          <a:lstStyle/>
          <a:p>
            <a:r>
              <a:rPr lang="en-US" dirty="0" smtClean="0">
                <a:solidFill>
                  <a:schemeClr val="bg1"/>
                </a:solidFill>
                <a:latin typeface="Arial Black" panose="020B0A04020102020204" pitchFamily="34" charset="0"/>
              </a:rPr>
              <a:t>It is embedded in motherboard </a:t>
            </a:r>
            <a:r>
              <a:rPr lang="en-US" u="sng" dirty="0" smtClean="0">
                <a:solidFill>
                  <a:schemeClr val="bg1"/>
                </a:solidFill>
                <a:latin typeface="Arial Black" panose="020B0A04020102020204" pitchFamily="34" charset="0"/>
              </a:rPr>
              <a:t>processor slot.</a:t>
            </a:r>
            <a:endParaRPr lang="en-US" u="sng" dirty="0">
              <a:solidFill>
                <a:schemeClr val="bg1"/>
              </a:solidFill>
              <a:latin typeface="Arial Black" panose="020B0A04020102020204" pitchFamily="34" charset="0"/>
            </a:endParaRPr>
          </a:p>
        </p:txBody>
      </p:sp>
      <p:sp>
        <p:nvSpPr>
          <p:cNvPr id="6" name="AutoShape 2" descr="https://static1.makeuseofimages.com/wp-content/uploads/2017/06/What-is-CPU-Featured.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0" name="Picture 6" descr="https://thumbs.dreamstime.com/z/dise%C3%B1o-del-microprocesador-de-la-cpu-inform%C3%A1tica-un-servidor-moderno-detalles-macros-tecnolog%C3%ADa-tema-tecnolog-electr-nica-14657686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78393" y="1703506"/>
            <a:ext cx="3480773" cy="2806373"/>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936369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48997" y="1472674"/>
            <a:ext cx="5898525" cy="461665"/>
          </a:xfrm>
          <a:prstGeom prst="rect">
            <a:avLst/>
          </a:prstGeom>
          <a:noFill/>
        </p:spPr>
        <p:txBody>
          <a:bodyPr wrap="square" rtlCol="0">
            <a:spAutoFit/>
          </a:bodyPr>
          <a:lstStyle/>
          <a:p>
            <a:r>
              <a:rPr lang="en-US" sz="2400" u="sng" dirty="0" smtClean="0">
                <a:solidFill>
                  <a:schemeClr val="bg1"/>
                </a:solidFill>
                <a:latin typeface="Arial Black" panose="020B0A04020102020204" pitchFamily="34" charset="0"/>
              </a:rPr>
              <a:t>Core I : (Intel) </a:t>
            </a:r>
            <a:endParaRPr lang="en-US" sz="2400" u="sng" dirty="0">
              <a:solidFill>
                <a:schemeClr val="bg1"/>
              </a:solidFill>
              <a:latin typeface="Arial Black" panose="020B0A04020102020204" pitchFamily="34" charset="0"/>
            </a:endParaRPr>
          </a:p>
        </p:txBody>
      </p:sp>
      <p:sp>
        <p:nvSpPr>
          <p:cNvPr id="3" name="TextBox 2"/>
          <p:cNvSpPr txBox="1"/>
          <p:nvPr/>
        </p:nvSpPr>
        <p:spPr>
          <a:xfrm>
            <a:off x="1448996" y="2176404"/>
            <a:ext cx="5898525" cy="369332"/>
          </a:xfrm>
          <a:prstGeom prst="rect">
            <a:avLst/>
          </a:prstGeom>
          <a:noFill/>
        </p:spPr>
        <p:txBody>
          <a:bodyPr wrap="square" rtlCol="0">
            <a:spAutoFit/>
          </a:bodyPr>
          <a:lstStyle/>
          <a:p>
            <a:r>
              <a:rPr lang="en-US" u="sng" dirty="0" smtClean="0">
                <a:solidFill>
                  <a:schemeClr val="bg1"/>
                </a:solidFill>
                <a:latin typeface="Arial Black" panose="020B0A04020102020204" pitchFamily="34" charset="0"/>
              </a:rPr>
              <a:t>IT shows the speed of the processor .</a:t>
            </a:r>
            <a:endParaRPr lang="en-US" u="sng" dirty="0">
              <a:solidFill>
                <a:schemeClr val="bg1"/>
              </a:solidFill>
              <a:latin typeface="Arial Black" panose="020B0A04020102020204" pitchFamily="34" charset="0"/>
            </a:endParaRPr>
          </a:p>
        </p:txBody>
      </p:sp>
      <p:sp>
        <p:nvSpPr>
          <p:cNvPr id="4" name="TextBox 3"/>
          <p:cNvSpPr txBox="1"/>
          <p:nvPr/>
        </p:nvSpPr>
        <p:spPr>
          <a:xfrm>
            <a:off x="1448992" y="2730402"/>
            <a:ext cx="6202381" cy="369332"/>
          </a:xfrm>
          <a:prstGeom prst="rect">
            <a:avLst/>
          </a:prstGeom>
          <a:noFill/>
        </p:spPr>
        <p:txBody>
          <a:bodyPr wrap="square" rtlCol="0">
            <a:spAutoFit/>
          </a:bodyPr>
          <a:lstStyle/>
          <a:p>
            <a:r>
              <a:rPr lang="en-US" u="sng" dirty="0" smtClean="0">
                <a:solidFill>
                  <a:schemeClr val="bg1"/>
                </a:solidFill>
                <a:latin typeface="Arial Black" panose="020B0A04020102020204" pitchFamily="34" charset="0"/>
              </a:rPr>
              <a:t>Dual core processor means 2 core.</a:t>
            </a:r>
            <a:endParaRPr lang="en-US" u="sng" dirty="0">
              <a:solidFill>
                <a:schemeClr val="bg1"/>
              </a:solidFill>
              <a:latin typeface="Arial Black" panose="020B0A04020102020204" pitchFamily="34" charset="0"/>
            </a:endParaRPr>
          </a:p>
        </p:txBody>
      </p:sp>
      <p:sp>
        <p:nvSpPr>
          <p:cNvPr id="5" name="TextBox 4"/>
          <p:cNvSpPr txBox="1"/>
          <p:nvPr/>
        </p:nvSpPr>
        <p:spPr>
          <a:xfrm>
            <a:off x="1448992" y="3297608"/>
            <a:ext cx="6202381" cy="369332"/>
          </a:xfrm>
          <a:prstGeom prst="rect">
            <a:avLst/>
          </a:prstGeom>
          <a:noFill/>
        </p:spPr>
        <p:txBody>
          <a:bodyPr wrap="square" rtlCol="0">
            <a:spAutoFit/>
          </a:bodyPr>
          <a:lstStyle/>
          <a:p>
            <a:r>
              <a:rPr lang="en-US" u="sng" dirty="0" smtClean="0">
                <a:solidFill>
                  <a:schemeClr val="bg1"/>
                </a:solidFill>
                <a:latin typeface="Arial Black" panose="020B0A04020102020204" pitchFamily="34" charset="0"/>
              </a:rPr>
              <a:t>Quad core processor means 4 core.</a:t>
            </a:r>
            <a:endParaRPr lang="en-US" u="sng" dirty="0">
              <a:solidFill>
                <a:schemeClr val="bg1"/>
              </a:solidFill>
              <a:latin typeface="Arial Black" panose="020B0A04020102020204" pitchFamily="34" charset="0"/>
            </a:endParaRPr>
          </a:p>
        </p:txBody>
      </p:sp>
      <p:sp>
        <p:nvSpPr>
          <p:cNvPr id="6" name="TextBox 5"/>
          <p:cNvSpPr txBox="1"/>
          <p:nvPr/>
        </p:nvSpPr>
        <p:spPr>
          <a:xfrm>
            <a:off x="1448992" y="3823953"/>
            <a:ext cx="6202381" cy="369332"/>
          </a:xfrm>
          <a:prstGeom prst="rect">
            <a:avLst/>
          </a:prstGeom>
          <a:noFill/>
        </p:spPr>
        <p:txBody>
          <a:bodyPr wrap="square" rtlCol="0">
            <a:spAutoFit/>
          </a:bodyPr>
          <a:lstStyle/>
          <a:p>
            <a:r>
              <a:rPr lang="en-US" u="sng" dirty="0" smtClean="0">
                <a:solidFill>
                  <a:schemeClr val="bg1"/>
                </a:solidFill>
                <a:latin typeface="Arial Black" panose="020B0A04020102020204" pitchFamily="34" charset="0"/>
              </a:rPr>
              <a:t>Hexa core processor means  core.</a:t>
            </a:r>
            <a:endParaRPr lang="en-US" u="sng" dirty="0">
              <a:solidFill>
                <a:schemeClr val="bg1"/>
              </a:solidFill>
              <a:latin typeface="Arial Black" panose="020B0A04020102020204" pitchFamily="34" charset="0"/>
            </a:endParaRPr>
          </a:p>
        </p:txBody>
      </p:sp>
      <p:sp>
        <p:nvSpPr>
          <p:cNvPr id="7" name="TextBox 6"/>
          <p:cNvSpPr txBox="1"/>
          <p:nvPr/>
        </p:nvSpPr>
        <p:spPr>
          <a:xfrm>
            <a:off x="1448992" y="4463295"/>
            <a:ext cx="6202381" cy="369332"/>
          </a:xfrm>
          <a:prstGeom prst="rect">
            <a:avLst/>
          </a:prstGeom>
          <a:noFill/>
        </p:spPr>
        <p:txBody>
          <a:bodyPr wrap="square" rtlCol="0">
            <a:spAutoFit/>
          </a:bodyPr>
          <a:lstStyle/>
          <a:p>
            <a:r>
              <a:rPr lang="en-US" u="sng" dirty="0" smtClean="0">
                <a:solidFill>
                  <a:schemeClr val="bg1"/>
                </a:solidFill>
                <a:latin typeface="Arial Black" panose="020B0A04020102020204" pitchFamily="34" charset="0"/>
              </a:rPr>
              <a:t>Processor = </a:t>
            </a:r>
            <a:r>
              <a:rPr lang="en-US" u="sng" dirty="0" err="1" smtClean="0">
                <a:solidFill>
                  <a:schemeClr val="bg1"/>
                </a:solidFill>
                <a:latin typeface="Arial Black" panose="020B0A04020102020204" pitchFamily="34" charset="0"/>
              </a:rPr>
              <a:t>Gega</a:t>
            </a:r>
            <a:r>
              <a:rPr lang="en-US" u="sng" dirty="0" smtClean="0">
                <a:solidFill>
                  <a:schemeClr val="bg1"/>
                </a:solidFill>
                <a:latin typeface="Arial Black" panose="020B0A04020102020204" pitchFamily="34" charset="0"/>
              </a:rPr>
              <a:t> Hertz And Mega Hertz</a:t>
            </a:r>
            <a:endParaRPr lang="en-US" u="sng" dirty="0">
              <a:solidFill>
                <a:schemeClr val="bg1"/>
              </a:solidFill>
              <a:latin typeface="Arial Black" panose="020B0A04020102020204" pitchFamily="34" charset="0"/>
            </a:endParaRPr>
          </a:p>
        </p:txBody>
      </p:sp>
    </p:spTree>
    <p:extLst>
      <p:ext uri="{BB962C8B-B14F-4D97-AF65-F5344CB8AC3E}">
        <p14:creationId xmlns:p14="http://schemas.microsoft.com/office/powerpoint/2010/main" val="217238356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145182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190166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96063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32995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252154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FFC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EC7F02AD-9687-440F-A9DF-FAA6F22270D7}"/>
    </a:ext>
  </a:extLst>
</a:theme>
</file>

<file path=docProps/app.xml><?xml version="1.0" encoding="utf-8"?>
<Properties xmlns="http://schemas.openxmlformats.org/officeDocument/2006/extended-properties" xmlns:vt="http://schemas.openxmlformats.org/officeDocument/2006/docPropsVTypes">
  <Template>TM02900722[[fn=Ion Boardroom]]</Template>
  <TotalTime>571</TotalTime>
  <Words>1129</Words>
  <Application>Microsoft Office PowerPoint</Application>
  <PresentationFormat>Widescreen</PresentationFormat>
  <Paragraphs>146</Paragraphs>
  <Slides>33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Arial Black</vt:lpstr>
      <vt:lpstr>Century Gothic</vt:lpstr>
      <vt:lpstr>Wingdings 3</vt:lpstr>
      <vt:lpstr>Ion Boardroom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Noor!!!!</dc:creator>
  <cp:lastModifiedBy>Noor!!!!</cp:lastModifiedBy>
  <cp:revision>45</cp:revision>
  <dcterms:created xsi:type="dcterms:W3CDTF">2024-11-17T07:57:18Z</dcterms:created>
  <dcterms:modified xsi:type="dcterms:W3CDTF">2024-11-18T04:05:26Z</dcterms:modified>
</cp:coreProperties>
</file>