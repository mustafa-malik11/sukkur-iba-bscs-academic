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465" r:id="rId2"/>
    <p:sldId id="448" r:id="rId3"/>
    <p:sldId id="449" r:id="rId4"/>
    <p:sldId id="450" r:id="rId5"/>
    <p:sldId id="500" r:id="rId6"/>
    <p:sldId id="460" r:id="rId7"/>
    <p:sldId id="461" r:id="rId8"/>
    <p:sldId id="476" r:id="rId9"/>
    <p:sldId id="454" r:id="rId10"/>
    <p:sldId id="482" r:id="rId11"/>
    <p:sldId id="485" r:id="rId12"/>
    <p:sldId id="487" r:id="rId13"/>
    <p:sldId id="489" r:id="rId14"/>
    <p:sldId id="483" r:id="rId15"/>
    <p:sldId id="456" r:id="rId16"/>
    <p:sldId id="491" r:id="rId17"/>
    <p:sldId id="492" r:id="rId18"/>
    <p:sldId id="464" r:id="rId19"/>
    <p:sldId id="498" r:id="rId20"/>
    <p:sldId id="496" r:id="rId21"/>
    <p:sldId id="497" r:id="rId22"/>
  </p:sldIdLst>
  <p:sldSz cx="9144000" cy="6858000" type="screen4x3"/>
  <p:notesSz cx="6858000" cy="9144000"/>
  <p:custShowLst>
    <p:custShow name="Custom Show 1" id="0">
      <p:sldLst/>
    </p:custShow>
  </p:custShowLst>
  <p:defaultTextStyle>
    <a:defPPr>
      <a:defRPr lang="en-CA"/>
    </a:defPPr>
    <a:lvl1pPr algn="l" rtl="0" fontAlgn="base">
      <a:spcBef>
        <a:spcPct val="20000"/>
      </a:spcBef>
      <a:spcAft>
        <a:spcPct val="0"/>
      </a:spcAft>
      <a:defRPr sz="2800" kern="1200">
        <a:solidFill>
          <a:srgbClr val="FFFF00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omic Sans MS" pitchFamily="66" charset="0"/>
        <a:ea typeface="+mn-ea"/>
        <a:cs typeface="+mn-cs"/>
        <a:sym typeface="Symbol" pitchFamily="18" charset="2"/>
      </a:defRPr>
    </a:lvl1pPr>
    <a:lvl2pPr marL="457200" algn="l" rtl="0" fontAlgn="base">
      <a:spcBef>
        <a:spcPct val="20000"/>
      </a:spcBef>
      <a:spcAft>
        <a:spcPct val="0"/>
      </a:spcAft>
      <a:defRPr sz="2800" kern="1200">
        <a:solidFill>
          <a:srgbClr val="FFFF00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omic Sans MS" pitchFamily="66" charset="0"/>
        <a:ea typeface="+mn-ea"/>
        <a:cs typeface="+mn-cs"/>
        <a:sym typeface="Symbol" pitchFamily="18" charset="2"/>
      </a:defRPr>
    </a:lvl2pPr>
    <a:lvl3pPr marL="914400" algn="l" rtl="0" fontAlgn="base">
      <a:spcBef>
        <a:spcPct val="20000"/>
      </a:spcBef>
      <a:spcAft>
        <a:spcPct val="0"/>
      </a:spcAft>
      <a:defRPr sz="2800" kern="1200">
        <a:solidFill>
          <a:srgbClr val="FFFF00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omic Sans MS" pitchFamily="66" charset="0"/>
        <a:ea typeface="+mn-ea"/>
        <a:cs typeface="+mn-cs"/>
        <a:sym typeface="Symbol" pitchFamily="18" charset="2"/>
      </a:defRPr>
    </a:lvl3pPr>
    <a:lvl4pPr marL="1371600" algn="l" rtl="0" fontAlgn="base">
      <a:spcBef>
        <a:spcPct val="20000"/>
      </a:spcBef>
      <a:spcAft>
        <a:spcPct val="0"/>
      </a:spcAft>
      <a:defRPr sz="2800" kern="1200">
        <a:solidFill>
          <a:srgbClr val="FFFF00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omic Sans MS" pitchFamily="66" charset="0"/>
        <a:ea typeface="+mn-ea"/>
        <a:cs typeface="+mn-cs"/>
        <a:sym typeface="Symbol" pitchFamily="18" charset="2"/>
      </a:defRPr>
    </a:lvl4pPr>
    <a:lvl5pPr marL="1828800" algn="l" rtl="0" fontAlgn="base">
      <a:spcBef>
        <a:spcPct val="20000"/>
      </a:spcBef>
      <a:spcAft>
        <a:spcPct val="0"/>
      </a:spcAft>
      <a:defRPr sz="2800" kern="1200">
        <a:solidFill>
          <a:srgbClr val="FFFF00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omic Sans MS" pitchFamily="66" charset="0"/>
        <a:ea typeface="+mn-ea"/>
        <a:cs typeface="+mn-cs"/>
        <a:sym typeface="Symbol" pitchFamily="18" charset="2"/>
      </a:defRPr>
    </a:lvl5pPr>
    <a:lvl6pPr marL="2286000" algn="l" defTabSz="914400" rtl="0" eaLnBrk="1" latinLnBrk="0" hangingPunct="1">
      <a:defRPr sz="2800" kern="1200">
        <a:solidFill>
          <a:srgbClr val="FFFF00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omic Sans MS" pitchFamily="66" charset="0"/>
        <a:ea typeface="+mn-ea"/>
        <a:cs typeface="+mn-cs"/>
        <a:sym typeface="Symbol" pitchFamily="18" charset="2"/>
      </a:defRPr>
    </a:lvl6pPr>
    <a:lvl7pPr marL="2743200" algn="l" defTabSz="914400" rtl="0" eaLnBrk="1" latinLnBrk="0" hangingPunct="1">
      <a:defRPr sz="2800" kern="1200">
        <a:solidFill>
          <a:srgbClr val="FFFF00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omic Sans MS" pitchFamily="66" charset="0"/>
        <a:ea typeface="+mn-ea"/>
        <a:cs typeface="+mn-cs"/>
        <a:sym typeface="Symbol" pitchFamily="18" charset="2"/>
      </a:defRPr>
    </a:lvl7pPr>
    <a:lvl8pPr marL="3200400" algn="l" defTabSz="914400" rtl="0" eaLnBrk="1" latinLnBrk="0" hangingPunct="1">
      <a:defRPr sz="2800" kern="1200">
        <a:solidFill>
          <a:srgbClr val="FFFF00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omic Sans MS" pitchFamily="66" charset="0"/>
        <a:ea typeface="+mn-ea"/>
        <a:cs typeface="+mn-cs"/>
        <a:sym typeface="Symbol" pitchFamily="18" charset="2"/>
      </a:defRPr>
    </a:lvl8pPr>
    <a:lvl9pPr marL="3657600" algn="l" defTabSz="914400" rtl="0" eaLnBrk="1" latinLnBrk="0" hangingPunct="1">
      <a:defRPr sz="2800" kern="1200">
        <a:solidFill>
          <a:srgbClr val="FFFF00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omic Sans MS" pitchFamily="66" charset="0"/>
        <a:ea typeface="+mn-ea"/>
        <a:cs typeface="+mn-cs"/>
        <a:sym typeface="Symbol" pitchFamily="18" charset="2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0"/>
      </p:ext>
    </p:extLst>
  </p:showPr>
  <p:clrMru>
    <a:srgbClr val="00FFFF"/>
    <a:srgbClr val="00CC00"/>
    <a:srgbClr val="FF3300"/>
    <a:srgbClr val="66FF33"/>
    <a:srgbClr val="00CCFF"/>
    <a:srgbClr val="FFFF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35" autoAdjust="0"/>
    <p:restoredTop sz="90929"/>
  </p:normalViewPr>
  <p:slideViewPr>
    <p:cSldViewPr>
      <p:cViewPr>
        <p:scale>
          <a:sx n="106" d="100"/>
          <a:sy n="106" d="100"/>
        </p:scale>
        <p:origin x="-636" y="3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D77A112-BAB3-48E2-8C6B-03945F003C99}" type="datetimeFigureOut">
              <a:rPr lang="en-US"/>
              <a:pPr>
                <a:defRPr/>
              </a:pPr>
              <a:t>2/24/2015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594B48B-80CC-465B-8DA4-AF72EA287F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155724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noProof="0" smtClean="0"/>
              <a:t>Click to edit Master text styles</a:t>
            </a:r>
          </a:p>
          <a:p>
            <a:pPr lvl="1"/>
            <a:r>
              <a:rPr lang="en-CA" noProof="0" smtClean="0"/>
              <a:t>Second level</a:t>
            </a:r>
          </a:p>
          <a:p>
            <a:pPr lvl="2"/>
            <a:r>
              <a:rPr lang="en-CA" noProof="0" smtClean="0"/>
              <a:t>Third level</a:t>
            </a:r>
          </a:p>
          <a:p>
            <a:pPr lvl="3"/>
            <a:r>
              <a:rPr lang="en-CA" noProof="0" smtClean="0"/>
              <a:t>Fourth level</a:t>
            </a:r>
          </a:p>
          <a:p>
            <a:pPr lvl="4"/>
            <a:r>
              <a:rPr lang="en-CA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fld id="{424761D2-6B99-4A5F-A82A-3BACA6AE0B5D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="" xmlns:p14="http://schemas.microsoft.com/office/powerpoint/2010/main" val="13576315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F440BD-4AFE-48C7-A81E-F01540EBACA1}" type="slidenum">
              <a:rPr lang="zh-TW" altLang="en-US"/>
              <a:pPr/>
              <a:t>20</a:t>
            </a:fld>
            <a:endParaRPr lang="en-US" altLang="zh-TW"/>
          </a:p>
        </p:txBody>
      </p:sp>
      <p:sp>
        <p:nvSpPr>
          <p:cNvPr id="312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2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C6FAC3-2003-4861-9846-9154F5388A27}" type="slidenum">
              <a:rPr lang="zh-TW" altLang="en-US"/>
              <a:pPr/>
              <a:t>21</a:t>
            </a:fld>
            <a:endParaRPr lang="en-US" altLang="zh-TW"/>
          </a:p>
        </p:txBody>
      </p:sp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p:\msoffice\My Projects\Rosen 6e 2007\Imagebank\JPEGs07-24-06\ch01\jpeg\t01_4_001.jpg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January 29, 2013</a:t>
            </a:r>
            <a:endParaRPr lang="en-CA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Applied Discrete Mathematics                                                   Week 1: Logic and Sets</a:t>
            </a:r>
            <a:endParaRPr lang="en-CA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6BC0A2-CC07-4ACA-A0DB-C3CFB309EBAA}" type="slidenum">
              <a:rPr lang="en-CA" smtClean="0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January 29, 2013</a:t>
            </a:r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Applied Discrete Mathematics                                                   Week 1: Logic and Sets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260AA0-0669-4126-B4D9-A79F583096E9}" type="slidenum">
              <a:rPr lang="en-CA" smtClean="0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January 29, 2013</a:t>
            </a:r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Applied Discrete Mathematics                                                   Week 1: Logic and Sets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EECD52-4D58-449F-A47D-FC09C27B2651}" type="slidenum">
              <a:rPr lang="en-CA" smtClean="0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January 29, 2013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Applied Discrete Mathematics                                                   Week 1: Logic and Sets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188AE5-1CDC-4336-BF52-0E6362246B4D}" type="slidenum">
              <a:rPr lang="en-CA" smtClean="0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January 29, 2013</a:t>
            </a:r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Applied Discrete Mathematics                                                   Week 1: Logic and Sets</a:t>
            </a:r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DADAE5-353A-411D-847E-4DAB6F1CD6E1}" type="slidenum">
              <a:rPr lang="en-CA" smtClean="0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January 29, 2013</a:t>
            </a:r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Applied Discrete Mathematics                                                   Week 1: Logic and Sets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5DFE19-C106-4FF0-A912-11F5CED32BDB}" type="slidenum">
              <a:rPr lang="en-CA" smtClean="0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January 29, 2013</a:t>
            </a:r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Applied Discrete Mathematics                                                   Week 1: Logic and Sets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F46B92-805C-4373-8AD1-B5196888E5F2}" type="slidenum">
              <a:rPr lang="en-CA" smtClean="0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January 29, 2013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Applied Discrete Mathematics                                                   Week 1: Logic and Sets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CD72B7-9688-4FFF-B101-216203F90F6C}" type="slidenum">
              <a:rPr lang="en-CA" smtClean="0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January 29, 2013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Applied Discrete Mathematics                                                   Week 1: Logic and Sets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pPr>
              <a:defRPr/>
            </a:pPr>
            <a:fld id="{2658422A-CD8B-47F9-B450-C5468E22A1A8}" type="slidenum">
              <a:rPr lang="en-CA" smtClean="0"/>
              <a:pPr>
                <a:defRPr/>
              </a:pPr>
              <a:t>‹#›</a:t>
            </a:fld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January 29, 2013</a:t>
            </a:r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Applied Discrete Mathematics                                                   Week 1: Logic and Sets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F3F374-61B2-49F7-9B3A-E4CCB7C0F844}" type="slidenum">
              <a:rPr lang="en-CA" smtClean="0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January 29, 2013</a:t>
            </a:r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Applied Discrete Mathematics                                                   Week 1: Logic and Sets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B07D19-BBF7-4582-A657-94E8F5CCC39B}" type="slidenum">
              <a:rPr lang="en-CA" smtClean="0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mtClean="0"/>
              <a:t>January 29, 2013</a:t>
            </a:r>
            <a:endParaRPr lang="en-CA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mtClean="0"/>
              <a:t>Applied Discrete Mathematics                                                   Week 1: Logic and Sets</a:t>
            </a:r>
            <a:endParaRPr lang="en-CA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878B78F6-A932-4FAA-9CC9-1C60908B615B}" type="slidenum">
              <a:rPr lang="en-CA" smtClean="0"/>
              <a:pPr>
                <a:defRPr/>
              </a:pPr>
              <a:t>‹#›</a:t>
            </a:fld>
            <a:endParaRPr lang="en-CA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Predicates and Quantifiers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838200"/>
            <a:ext cx="8534400" cy="5715000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buNone/>
              <a:defRPr/>
            </a:pPr>
            <a:r>
              <a:rPr lang="en-US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PROPOSITIONAL FUNCTION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 </a:t>
            </a:r>
            <a:r>
              <a:rPr lang="en-US" dirty="0" smtClean="0">
                <a:sym typeface="Symbol" pitchFamily="18" charset="2"/>
              </a:rPr>
              <a:t>(open sentence)</a:t>
            </a:r>
          </a:p>
          <a:p>
            <a:pPr marL="0" indent="0" eaLnBrk="1" hangingPunct="1">
              <a:buNone/>
              <a:defRPr/>
            </a:pPr>
            <a:r>
              <a:rPr lang="en-US" dirty="0" smtClean="0">
                <a:sym typeface="Symbol" pitchFamily="18" charset="2"/>
              </a:rPr>
              <a:t>Statement involving one or more variables e.g.: x &gt; 5.</a:t>
            </a:r>
          </a:p>
          <a:p>
            <a:pPr marL="0" indent="0" eaLnBrk="1" hangingPunct="1">
              <a:buNone/>
              <a:defRPr/>
            </a:pPr>
            <a:endParaRPr lang="en-US" dirty="0" smtClean="0">
              <a:sym typeface="Symbol" pitchFamily="18" charset="2"/>
            </a:endParaRPr>
          </a:p>
          <a:p>
            <a:pPr marL="0" indent="0" eaLnBrk="1" hangingPunct="1">
              <a:buFont typeface="Wingdings" pitchFamily="2" charset="2"/>
              <a:buChar char="Ø"/>
              <a:defRPr/>
            </a:pPr>
            <a:r>
              <a:rPr lang="en-US" dirty="0" smtClean="0">
                <a:sym typeface="Symbol" pitchFamily="18" charset="2"/>
              </a:rPr>
              <a:t>This statement has two parts .</a:t>
            </a:r>
          </a:p>
          <a:p>
            <a:pPr marL="0" indent="0" eaLnBrk="1" hangingPunct="1">
              <a:buNone/>
              <a:defRPr/>
            </a:pPr>
            <a:r>
              <a:rPr lang="en-US" dirty="0" smtClean="0">
                <a:sym typeface="Symbol" pitchFamily="18" charset="2"/>
              </a:rPr>
              <a:t>First part: The variable x which is the subject</a:t>
            </a:r>
          </a:p>
          <a:p>
            <a:pPr marL="0" indent="0" eaLnBrk="1" hangingPunct="1">
              <a:buNone/>
              <a:defRPr/>
            </a:pPr>
            <a:r>
              <a:rPr lang="en-US" dirty="0" smtClean="0">
                <a:sym typeface="Symbol" pitchFamily="18" charset="2"/>
              </a:rPr>
              <a:t>Second part: The predicate ‘ greater than 5’</a:t>
            </a:r>
          </a:p>
          <a:p>
            <a:pPr marL="0" indent="0">
              <a:spcBef>
                <a:spcPct val="65000"/>
              </a:spcBef>
              <a:buNone/>
              <a:defRPr/>
            </a:pPr>
            <a:r>
              <a:rPr lang="en-US" dirty="0" smtClean="0">
                <a:sym typeface="Symbol" pitchFamily="18" charset="2"/>
              </a:rPr>
              <a:t>Propositional function is represented by P(x) where P is the predicate and x is the variable.</a:t>
            </a:r>
          </a:p>
          <a:p>
            <a:pPr marL="0" indent="0">
              <a:spcBef>
                <a:spcPct val="65000"/>
              </a:spcBef>
              <a:buFont typeface="Wingdings" pitchFamily="2" charset="2"/>
              <a:buChar char="Ø"/>
              <a:defRPr/>
            </a:pPr>
            <a:r>
              <a:rPr lang="en-US" dirty="0" smtClean="0">
                <a:sym typeface="Symbol" pitchFamily="18" charset="2"/>
              </a:rPr>
              <a:t>If a value is assigned to the variable x, then P(x) becomes a proposition</a:t>
            </a:r>
            <a:r>
              <a:rPr lang="en-US" sz="2000" dirty="0" smtClean="0">
                <a:sym typeface="Symbol" pitchFamily="18" charset="2"/>
              </a:rPr>
              <a:t>.</a:t>
            </a:r>
          </a:p>
          <a:p>
            <a:pPr marL="0" indent="0">
              <a:spcBef>
                <a:spcPct val="65000"/>
              </a:spcBef>
              <a:defRPr/>
            </a:pPr>
            <a:r>
              <a:rPr lang="en-US" sz="2000" dirty="0" smtClean="0"/>
              <a:t>What is the truth value of P(2) ? </a:t>
            </a:r>
          </a:p>
          <a:p>
            <a:pPr marL="0" indent="0">
              <a:spcBef>
                <a:spcPct val="65000"/>
              </a:spcBef>
              <a:defRPr/>
            </a:pPr>
            <a:r>
              <a:rPr lang="en-US" sz="2000" dirty="0" smtClean="0"/>
              <a:t>What is the truth value of P(9) ? </a:t>
            </a:r>
          </a:p>
          <a:p>
            <a:pPr marL="0" indent="0">
              <a:spcBef>
                <a:spcPct val="65000"/>
              </a:spcBef>
              <a:buNone/>
              <a:defRPr/>
            </a:pPr>
            <a:endParaRPr lang="en-US" sz="2000" dirty="0" smtClean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0" indent="0">
              <a:spcBef>
                <a:spcPct val="65000"/>
              </a:spcBef>
              <a:defRPr/>
            </a:pPr>
            <a:endParaRPr lang="en-US" sz="2000" dirty="0" smtClean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0" indent="0">
              <a:spcBef>
                <a:spcPct val="65000"/>
              </a:spcBef>
              <a:defRPr/>
            </a:pPr>
            <a:endParaRPr lang="en-US" sz="2000" dirty="0" smtClean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0" indent="0">
              <a:spcBef>
                <a:spcPct val="65000"/>
              </a:spcBef>
              <a:defRPr/>
            </a:pPr>
            <a:endParaRPr lang="en-US" sz="2000" dirty="0" smtClean="0">
              <a:sym typeface="Symbol" pitchFamily="18" charset="2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495800" y="5486400"/>
            <a:ext cx="1219200" cy="5334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False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495800" y="5943600"/>
            <a:ext cx="1219200" cy="5334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True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1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311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1000"/>
                                        <p:tgtEl>
                                          <p:spTgt spid="311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1000"/>
                                        <p:tgtEl>
                                          <p:spTgt spid="311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311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withGroup">
                            <p:stCondLst>
                              <p:cond delay="400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1000"/>
                                        <p:tgtEl>
                                          <p:spTgt spid="311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0"/>
                            </p:stCondLst>
                            <p:childTnLst>
                              <p:par>
                                <p:cTn id="2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1000"/>
                                        <p:tgtEl>
                                          <p:spTgt spid="311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1000"/>
                                        <p:tgtEl>
                                          <p:spTgt spid="311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1000"/>
                                        <p:tgtEl>
                                          <p:spTgt spid="311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299" grpId="0" uiExpand="1" build="p" autoUpdateAnimBg="0"/>
      <p:bldP spid="3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762000"/>
            <a:ext cx="8763000" cy="5791200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  <a:defRPr/>
            </a:pPr>
            <a:r>
              <a:rPr lang="en-US" dirty="0" smtClean="0">
                <a:sym typeface="Symbol" pitchFamily="18" charset="2"/>
              </a:rPr>
              <a:t>Consider the propositional function Q(x, y, z) defined by:  </a:t>
            </a:r>
          </a:p>
          <a:p>
            <a:pPr marL="0" indent="0" eaLnBrk="1" hangingPunct="1">
              <a:buNone/>
              <a:defRPr/>
            </a:pPr>
            <a:r>
              <a:rPr lang="en-US" dirty="0" smtClean="0">
                <a:sym typeface="Symbol" pitchFamily="18" charset="2"/>
              </a:rPr>
              <a:t>x + y = z.</a:t>
            </a:r>
          </a:p>
          <a:p>
            <a:pPr marL="0" indent="0" algn="just" eaLnBrk="1" hangingPunct="1">
              <a:spcBef>
                <a:spcPct val="65000"/>
              </a:spcBef>
              <a:buNone/>
              <a:defRPr/>
            </a:pPr>
            <a:r>
              <a:rPr lang="en-US" dirty="0" smtClean="0">
                <a:sym typeface="Symbol" pitchFamily="18" charset="2"/>
              </a:rPr>
              <a:t>Here, Q is the predicate and x, y, and z are the variables.</a:t>
            </a:r>
          </a:p>
          <a:p>
            <a:pPr marL="0" indent="0" algn="just">
              <a:spcBef>
                <a:spcPct val="65000"/>
              </a:spcBef>
              <a:buNone/>
              <a:defRPr/>
            </a:pPr>
            <a:r>
              <a:rPr lang="en-US" dirty="0" smtClean="0"/>
              <a:t>What is the truth value of Q(2, 3, 5) ?  </a:t>
            </a:r>
          </a:p>
          <a:p>
            <a:pPr marL="0" indent="0" algn="just">
              <a:spcBef>
                <a:spcPct val="65000"/>
              </a:spcBef>
              <a:buNone/>
              <a:defRPr/>
            </a:pPr>
            <a:r>
              <a:rPr lang="en-US" dirty="0" smtClean="0"/>
              <a:t>What is the truth value of Q(0,1,2) ?    </a:t>
            </a:r>
          </a:p>
          <a:p>
            <a:pPr>
              <a:buNone/>
            </a:pPr>
            <a:endParaRPr lang="en-US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r>
              <a:rPr lang="en-US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QUANTIFIER</a:t>
            </a:r>
          </a:p>
          <a:p>
            <a:pPr marL="0" algn="just">
              <a:buNone/>
            </a:pPr>
            <a:r>
              <a:rPr lang="en-US" dirty="0" smtClean="0"/>
              <a:t>A quantifier is an operator used to create a proposition from a propositional function.</a:t>
            </a:r>
          </a:p>
          <a:p>
            <a:pPr marL="0" indent="0" algn="just">
              <a:spcBef>
                <a:spcPct val="65000"/>
              </a:spcBef>
              <a:buNone/>
              <a:defRPr/>
            </a:pPr>
            <a:endParaRPr lang="en-US" sz="2800" dirty="0" smtClean="0"/>
          </a:p>
          <a:p>
            <a:pPr marL="0" indent="0" algn="just">
              <a:spcBef>
                <a:spcPct val="65000"/>
              </a:spcBef>
              <a:buNone/>
              <a:defRPr/>
            </a:pPr>
            <a:endParaRPr lang="en-US" sz="2800" dirty="0" smtClean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0" indent="0" algn="just" eaLnBrk="1" hangingPunct="1">
              <a:spcBef>
                <a:spcPct val="65000"/>
              </a:spcBef>
              <a:buNone/>
              <a:defRPr/>
            </a:pPr>
            <a:endParaRPr lang="en-US" sz="2800" dirty="0" smtClean="0">
              <a:sym typeface="Symbol" pitchFamily="18" charset="2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5715000" y="2590800"/>
            <a:ext cx="1219200" cy="5334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True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715000" y="3276600"/>
            <a:ext cx="1219200" cy="5334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False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12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312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312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312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1000"/>
                                        <p:tgtEl>
                                          <p:spTgt spid="312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1000"/>
                                        <p:tgtEl>
                                          <p:spTgt spid="312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1000"/>
                                        <p:tgtEl>
                                          <p:spTgt spid="312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323" grpId="0" uiExpand="1" build="p" autoUpdateAnimBg="0"/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382000" cy="5791200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  <a:defRPr/>
            </a:pPr>
            <a:r>
              <a:rPr lang="en-US" sz="28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UNIVERSAL QUANTIFIER</a:t>
            </a:r>
          </a:p>
          <a:p>
            <a:pPr marL="0" indent="0" eaLnBrk="1" hangingPunct="1">
              <a:buNone/>
              <a:defRPr/>
            </a:pPr>
            <a:r>
              <a:rPr lang="en-US" sz="2800" dirty="0" smtClean="0">
                <a:sym typeface="Symbol" pitchFamily="18" charset="2"/>
              </a:rPr>
              <a:t>Let P(x) be a propositional function. The Universal quantification of P(x) is the proposition</a:t>
            </a:r>
          </a:p>
          <a:p>
            <a:pPr marL="0" indent="0" eaLnBrk="1" hangingPunct="1">
              <a:buNone/>
              <a:defRPr/>
            </a:pPr>
            <a:r>
              <a:rPr lang="en-US" sz="2800" dirty="0" smtClean="0">
                <a:sym typeface="Symbol" pitchFamily="18" charset="2"/>
              </a:rPr>
              <a:t> “ P(x) is true For all values of x in the </a:t>
            </a:r>
            <a:r>
              <a:rPr lang="en-US" sz="2800" u="sng" dirty="0" smtClean="0">
                <a:sym typeface="Symbol" pitchFamily="18" charset="2"/>
              </a:rPr>
              <a:t>universe of discourse”.</a:t>
            </a:r>
          </a:p>
          <a:p>
            <a:pPr marL="0" indent="0" eaLnBrk="1" hangingPunct="1">
              <a:defRPr/>
            </a:pPr>
            <a:endParaRPr lang="en-US" sz="1600" dirty="0" smtClean="0">
              <a:sym typeface="Symbol" pitchFamily="18" charset="2"/>
            </a:endParaRPr>
          </a:p>
          <a:p>
            <a:pPr marL="0" indent="0" eaLnBrk="1" hangingPunct="1">
              <a:buFont typeface="Wingdings" pitchFamily="2" charset="2"/>
              <a:buChar char="Ø"/>
              <a:defRPr/>
            </a:pPr>
            <a:r>
              <a:rPr lang="en-US" sz="2800" dirty="0" smtClean="0">
                <a:sym typeface="Symbol" pitchFamily="18" charset="2"/>
              </a:rPr>
              <a:t>Why is it important to specify Universe of Discourse? 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sym typeface="Symbol" pitchFamily="18" charset="2"/>
              </a:rPr>
              <a:t>Let x = the character ‘a’</a:t>
            </a:r>
          </a:p>
          <a:p>
            <a:pPr lvl="1">
              <a:lnSpc>
                <a:spcPct val="90000"/>
              </a:lnSpc>
            </a:pPr>
            <a:r>
              <a:rPr lang="en-US" dirty="0" smtClean="0">
                <a:sym typeface="Symbol" pitchFamily="18" charset="2"/>
              </a:rPr>
              <a:t>Is ‘a’+1 &gt; ‘a’?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sym typeface="Symbol" pitchFamily="18" charset="2"/>
              </a:rPr>
              <a:t>Let x = the state of Pakistan</a:t>
            </a:r>
          </a:p>
          <a:p>
            <a:pPr lvl="1">
              <a:lnSpc>
                <a:spcPct val="90000"/>
              </a:lnSpc>
            </a:pPr>
            <a:r>
              <a:rPr lang="en-US" dirty="0" smtClean="0">
                <a:sym typeface="Symbol" pitchFamily="18" charset="2"/>
              </a:rPr>
              <a:t>Is Pakistan+1 &gt; Pakistan?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sym typeface="Symbol" pitchFamily="18" charset="2"/>
              </a:rPr>
              <a:t>You need to specify your universe!</a:t>
            </a:r>
          </a:p>
          <a:p>
            <a:pPr marL="0" indent="0" eaLnBrk="1" hangingPunct="1">
              <a:buFont typeface="Wingdings" pitchFamily="2" charset="2"/>
              <a:buChar char="Ø"/>
              <a:defRPr/>
            </a:pPr>
            <a:endParaRPr lang="en-US" sz="2800" dirty="0" smtClean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3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3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3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13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3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3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13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13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13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13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13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13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13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3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133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133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7" grpId="0" uiExpand="1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382000" cy="5791200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  <a:defRPr/>
            </a:pPr>
            <a:r>
              <a:rPr lang="en-US" sz="2800" dirty="0" smtClean="0">
                <a:sym typeface="Symbol" pitchFamily="18" charset="2"/>
              </a:rPr>
              <a:t>Notation: x P(x)   “for all x P(x)” or “for every x P(x)”</a:t>
            </a:r>
          </a:p>
          <a:p>
            <a:pPr marL="0" indent="0" eaLnBrk="1" hangingPunct="1">
              <a:defRPr/>
            </a:pPr>
            <a:endParaRPr lang="en-US" sz="1600" dirty="0" smtClean="0">
              <a:sym typeface="Symbol" pitchFamily="18" charset="2"/>
            </a:endParaRPr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The universal quantification </a:t>
            </a:r>
            <a:r>
              <a:rPr lang="en-US" sz="2800" dirty="0" smtClean="0">
                <a:sym typeface="Symbol" pitchFamily="18" charset="2"/>
              </a:rPr>
              <a:t>x P(x) </a:t>
            </a:r>
            <a:r>
              <a:rPr lang="en-US" sz="2800" dirty="0" smtClean="0"/>
              <a:t>implies:</a:t>
            </a:r>
          </a:p>
          <a:p>
            <a:pPr algn="ctr">
              <a:buFont typeface="Wingdings" pitchFamily="2" charset="2"/>
              <a:buNone/>
            </a:pPr>
            <a:r>
              <a:rPr lang="en-US" sz="2800" dirty="0" smtClean="0"/>
              <a:t>P(x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) </a:t>
            </a:r>
            <a:r>
              <a:rPr lang="en-US" sz="2800" dirty="0" smtClean="0">
                <a:sym typeface="Symbol" pitchFamily="18" charset="2"/>
              </a:rPr>
              <a:t> P(x</a:t>
            </a:r>
            <a:r>
              <a:rPr lang="en-US" sz="2800" baseline="-25000" dirty="0" smtClean="0"/>
              <a:t>2</a:t>
            </a:r>
            <a:r>
              <a:rPr lang="en-US" sz="2800" dirty="0" smtClean="0">
                <a:sym typeface="Symbol" pitchFamily="18" charset="2"/>
              </a:rPr>
              <a:t>)  …  P(</a:t>
            </a:r>
            <a:r>
              <a:rPr lang="en-US" sz="2800" dirty="0" err="1" smtClean="0">
                <a:sym typeface="Symbol" pitchFamily="18" charset="2"/>
              </a:rPr>
              <a:t>x</a:t>
            </a:r>
            <a:r>
              <a:rPr lang="en-US" sz="2800" baseline="-25000" dirty="0" err="1" smtClean="0"/>
              <a:t>n</a:t>
            </a:r>
            <a:r>
              <a:rPr lang="en-US" sz="2800" dirty="0" smtClean="0">
                <a:sym typeface="Symbol" pitchFamily="18" charset="2"/>
              </a:rPr>
              <a:t>)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>
                <a:sym typeface="Symbol" pitchFamily="18" charset="2"/>
              </a:rPr>
              <a:t>x P(x) is either true or false, so it is a proposition, not a propositional function.</a:t>
            </a:r>
          </a:p>
          <a:p>
            <a:pPr marL="0" indent="0" eaLnBrk="1" hangingPunct="1">
              <a:buFont typeface="Wingdings" pitchFamily="2" charset="2"/>
              <a:buChar char="Ø"/>
              <a:defRPr/>
            </a:pPr>
            <a:endParaRPr lang="en-US" sz="2800" dirty="0" smtClean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13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3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3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13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13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3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7" grpId="0" uiExpand="1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85800"/>
            <a:ext cx="8382000" cy="5715000"/>
          </a:xfrm>
        </p:spPr>
        <p:txBody>
          <a:bodyPr>
            <a:normAutofit/>
          </a:bodyPr>
          <a:lstStyle/>
          <a:p>
            <a:pPr marL="0" indent="0" algn="just">
              <a:buNone/>
              <a:defRPr/>
            </a:pPr>
            <a:r>
              <a:rPr lang="en-US" dirty="0" smtClean="0">
                <a:sym typeface="Symbol" pitchFamily="18" charset="2"/>
              </a:rPr>
              <a:t>What is the truth value of x P(x), where P(x) is the statement “x</a:t>
            </a:r>
            <a:r>
              <a:rPr lang="en-US" baseline="30000" dirty="0" smtClean="0">
                <a:sym typeface="Symbol" pitchFamily="18" charset="2"/>
              </a:rPr>
              <a:t>2 </a:t>
            </a:r>
            <a:r>
              <a:rPr lang="en-US" dirty="0" smtClean="0">
                <a:sym typeface="Symbol" pitchFamily="18" charset="2"/>
              </a:rPr>
              <a:t>&lt;10” and the universe of discourse consists of positive integers not exceeding 4?</a:t>
            </a:r>
          </a:p>
          <a:p>
            <a:pPr marL="0" indent="0" algn="just" eaLnBrk="1" hangingPunct="1">
              <a:buNone/>
              <a:defRPr/>
            </a:pPr>
            <a:r>
              <a:rPr lang="en-US" dirty="0" smtClean="0">
                <a:sym typeface="Symbol" pitchFamily="18" charset="2"/>
              </a:rPr>
              <a:t>False</a:t>
            </a:r>
          </a:p>
          <a:p>
            <a:pPr marL="0" indent="0" algn="just" eaLnBrk="1" hangingPunct="1">
              <a:buNone/>
              <a:defRPr/>
            </a:pPr>
            <a:endParaRPr lang="en-US" dirty="0" smtClean="0">
              <a:solidFill>
                <a:srgbClr val="66FF33"/>
              </a:solidFill>
              <a:sym typeface="Symbol" pitchFamily="18" charset="2"/>
            </a:endParaRPr>
          </a:p>
          <a:p>
            <a:pPr marL="0" indent="0" algn="just">
              <a:buNone/>
              <a:defRPr/>
            </a:pPr>
            <a:r>
              <a:rPr lang="en-US" dirty="0" smtClean="0">
                <a:sym typeface="Symbol" pitchFamily="18" charset="2"/>
              </a:rPr>
              <a:t>What is the truth value of x (x</a:t>
            </a:r>
            <a:r>
              <a:rPr lang="en-US" baseline="30000" dirty="0" smtClean="0">
                <a:sym typeface="Symbol" pitchFamily="18" charset="2"/>
              </a:rPr>
              <a:t>2</a:t>
            </a:r>
            <a:r>
              <a:rPr lang="en-US" dirty="0" smtClean="0">
                <a:sym typeface="Symbol" pitchFamily="18" charset="2"/>
              </a:rPr>
              <a:t> ≥</a:t>
            </a:r>
            <a:r>
              <a:rPr lang="en-US" baseline="30000" dirty="0" smtClean="0">
                <a:sym typeface="Symbol" pitchFamily="18" charset="2"/>
              </a:rPr>
              <a:t> </a:t>
            </a:r>
            <a:r>
              <a:rPr lang="en-US" dirty="0" smtClean="0">
                <a:sym typeface="Symbol" pitchFamily="18" charset="2"/>
              </a:rPr>
              <a:t>x)</a:t>
            </a:r>
            <a:r>
              <a:rPr lang="en-US" baseline="30000" dirty="0" smtClean="0">
                <a:sym typeface="Symbol" pitchFamily="18" charset="2"/>
              </a:rPr>
              <a:t> </a:t>
            </a:r>
            <a:r>
              <a:rPr lang="en-US" dirty="0" smtClean="0">
                <a:sym typeface="Symbol" pitchFamily="18" charset="2"/>
              </a:rPr>
              <a:t> ” if the universe of discourse consists of </a:t>
            </a:r>
            <a:r>
              <a:rPr lang="en-US" dirty="0" err="1" smtClean="0">
                <a:sym typeface="Symbol" pitchFamily="18" charset="2"/>
              </a:rPr>
              <a:t>i</a:t>
            </a:r>
            <a:r>
              <a:rPr lang="en-US" dirty="0" smtClean="0">
                <a:sym typeface="Symbol" pitchFamily="18" charset="2"/>
              </a:rPr>
              <a:t>) all real numbers ii) all integers?</a:t>
            </a:r>
          </a:p>
          <a:p>
            <a:pPr marL="0" indent="0">
              <a:buNone/>
              <a:defRPr/>
            </a:pPr>
            <a:endParaRPr lang="en-US" dirty="0" smtClean="0">
              <a:sym typeface="Symbol" pitchFamily="18" charset="2"/>
            </a:endParaRPr>
          </a:p>
          <a:p>
            <a:pPr marL="0" indent="0">
              <a:buNone/>
              <a:defRPr/>
            </a:pPr>
            <a:r>
              <a:rPr lang="en-US" dirty="0" err="1" smtClean="0">
                <a:sym typeface="Symbol" pitchFamily="18" charset="2"/>
              </a:rPr>
              <a:t>i</a:t>
            </a:r>
            <a:r>
              <a:rPr lang="en-US" dirty="0" smtClean="0">
                <a:sym typeface="Symbol" pitchFamily="18" charset="2"/>
              </a:rPr>
              <a:t>) False</a:t>
            </a:r>
          </a:p>
          <a:p>
            <a:pPr marL="0" indent="0">
              <a:buNone/>
              <a:defRPr/>
            </a:pPr>
            <a:r>
              <a:rPr lang="en-US" dirty="0" smtClean="0">
                <a:sym typeface="Symbol" pitchFamily="18" charset="2"/>
              </a:rPr>
              <a:t>ii) True</a:t>
            </a:r>
          </a:p>
          <a:p>
            <a:pPr marL="0" indent="0" eaLnBrk="1" hangingPunct="1">
              <a:buNone/>
              <a:defRPr/>
            </a:pPr>
            <a:endParaRPr lang="en-US" sz="1600" dirty="0" smtClean="0">
              <a:solidFill>
                <a:srgbClr val="66FF33"/>
              </a:solidFill>
              <a:sym typeface="Symbol" pitchFamily="18" charset="2"/>
            </a:endParaRPr>
          </a:p>
        </p:txBody>
      </p:sp>
      <p:sp>
        <p:nvSpPr>
          <p:cNvPr id="130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0052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1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31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13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13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" dur="1000"/>
                                        <p:tgtEl>
                                          <p:spTgt spid="313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13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13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2" dur="1000"/>
                                        <p:tgtEl>
                                          <p:spTgt spid="313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13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13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9" dur="1000"/>
                                        <p:tgtEl>
                                          <p:spTgt spid="313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13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13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6" dur="1000"/>
                                        <p:tgtEl>
                                          <p:spTgt spid="313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7" grpId="0" uiExpand="1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382000" cy="5867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en-US" sz="28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Existential quantification</a:t>
            </a:r>
          </a:p>
          <a:p>
            <a:pPr marL="0" indent="0" eaLnBrk="1" hangingPunct="1">
              <a:buNone/>
              <a:defRPr/>
            </a:pPr>
            <a:r>
              <a:rPr lang="en-US" dirty="0" smtClean="0">
                <a:sym typeface="Symbol" pitchFamily="18" charset="2"/>
              </a:rPr>
              <a:t>Let P(x) be a propositional function. The Existential quantification of P(x) is the proposition “There exists a value of x in the universe of discourse such that P(x) is true ”.</a:t>
            </a:r>
          </a:p>
          <a:p>
            <a:pPr marL="0" indent="0" eaLnBrk="1" hangingPunct="1">
              <a:defRPr/>
            </a:pPr>
            <a:endParaRPr lang="en-US" dirty="0" smtClean="0">
              <a:sym typeface="Symbol" pitchFamily="18" charset="2"/>
            </a:endParaRPr>
          </a:p>
          <a:p>
            <a:pPr marL="0" indent="0">
              <a:lnSpc>
                <a:spcPct val="90000"/>
              </a:lnSpc>
              <a:defRPr/>
            </a:pPr>
            <a:r>
              <a:rPr lang="en-US" dirty="0" smtClean="0">
                <a:sym typeface="Symbol" pitchFamily="18" charset="2"/>
              </a:rPr>
              <a:t>Notation : x P(x)</a:t>
            </a:r>
          </a:p>
          <a:p>
            <a:pPr marL="0" indent="0">
              <a:lnSpc>
                <a:spcPct val="90000"/>
              </a:lnSpc>
              <a:buNone/>
              <a:defRPr/>
            </a:pPr>
            <a:endParaRPr lang="en-US" dirty="0" smtClean="0">
              <a:sym typeface="Symbol" pitchFamily="18" charset="2"/>
            </a:endParaRPr>
          </a:p>
          <a:p>
            <a:r>
              <a:rPr lang="en-US" dirty="0" smtClean="0"/>
              <a:t>The existential quantification </a:t>
            </a:r>
            <a:r>
              <a:rPr lang="en-US" dirty="0" smtClean="0">
                <a:sym typeface="Symbol" pitchFamily="18" charset="2"/>
              </a:rPr>
              <a:t>x P(x) </a:t>
            </a:r>
            <a:r>
              <a:rPr lang="en-US" dirty="0" smtClean="0"/>
              <a:t>implies:</a:t>
            </a:r>
          </a:p>
          <a:p>
            <a:pPr algn="ctr">
              <a:buFont typeface="Wingdings" pitchFamily="2" charset="2"/>
              <a:buNone/>
            </a:pPr>
            <a:r>
              <a:rPr lang="en-US" dirty="0" smtClean="0"/>
              <a:t>P(x</a:t>
            </a:r>
            <a:r>
              <a:rPr lang="en-US" baseline="-25000" dirty="0" smtClean="0"/>
              <a:t>1</a:t>
            </a:r>
            <a:r>
              <a:rPr lang="en-US" dirty="0" smtClean="0"/>
              <a:t>) </a:t>
            </a:r>
            <a:r>
              <a:rPr lang="en-US" dirty="0" smtClean="0">
                <a:sym typeface="Symbol" pitchFamily="18" charset="2"/>
              </a:rPr>
              <a:t> P(x</a:t>
            </a:r>
            <a:r>
              <a:rPr lang="en-US" baseline="-25000" dirty="0" smtClean="0"/>
              <a:t>2</a:t>
            </a:r>
            <a:r>
              <a:rPr lang="en-US" dirty="0" smtClean="0">
                <a:sym typeface="Symbol" pitchFamily="18" charset="2"/>
              </a:rPr>
              <a:t>)  …  P(</a:t>
            </a:r>
            <a:r>
              <a:rPr lang="en-US" dirty="0" err="1" smtClean="0">
                <a:sym typeface="Symbol" pitchFamily="18" charset="2"/>
              </a:rPr>
              <a:t>x</a:t>
            </a:r>
            <a:r>
              <a:rPr lang="en-US" baseline="-25000" dirty="0" err="1" smtClean="0"/>
              <a:t>n</a:t>
            </a:r>
            <a:r>
              <a:rPr lang="en-US" dirty="0" smtClean="0">
                <a:sym typeface="Symbol" pitchFamily="18" charset="2"/>
              </a:rPr>
              <a:t>)</a:t>
            </a:r>
          </a:p>
          <a:p>
            <a:pPr marL="0" indent="0">
              <a:lnSpc>
                <a:spcPct val="90000"/>
              </a:lnSpc>
              <a:defRPr/>
            </a:pPr>
            <a:endParaRPr lang="en-US" dirty="0" smtClean="0">
              <a:sym typeface="Symbol" pitchFamily="18" charset="2"/>
            </a:endParaRPr>
          </a:p>
          <a:p>
            <a:pPr marL="0" indent="0" algn="just">
              <a:buNone/>
              <a:defRPr/>
            </a:pPr>
            <a:endParaRPr lang="en-US" dirty="0" smtClean="0">
              <a:sym typeface="Symbol" pitchFamily="18" charset="2"/>
            </a:endParaRPr>
          </a:p>
          <a:p>
            <a:pPr marL="0" indent="0" algn="just">
              <a:buNone/>
              <a:defRPr/>
            </a:pPr>
            <a:r>
              <a:rPr lang="en-US" dirty="0" smtClean="0">
                <a:sym typeface="Symbol" pitchFamily="18" charset="2"/>
              </a:rPr>
              <a:t>What is the truth value of x P(x), where P(x) is the statement “x</a:t>
            </a:r>
            <a:r>
              <a:rPr lang="en-US" baseline="30000" dirty="0" smtClean="0">
                <a:sym typeface="Symbol" pitchFamily="18" charset="2"/>
              </a:rPr>
              <a:t>2 </a:t>
            </a:r>
            <a:r>
              <a:rPr lang="en-US" dirty="0" smtClean="0">
                <a:sym typeface="Symbol" pitchFamily="18" charset="2"/>
              </a:rPr>
              <a:t>&lt;10” and the universe of discourse consists of positive integers not exceeding 4?</a:t>
            </a:r>
          </a:p>
          <a:p>
            <a:pPr marL="0" indent="0" algn="just">
              <a:buNone/>
              <a:defRPr/>
            </a:pPr>
            <a:r>
              <a:rPr lang="en-US" dirty="0" smtClean="0">
                <a:sym typeface="Symbol" pitchFamily="18" charset="2"/>
              </a:rPr>
              <a:t>True</a:t>
            </a:r>
          </a:p>
          <a:p>
            <a:pPr marL="0" indent="0">
              <a:lnSpc>
                <a:spcPct val="90000"/>
              </a:lnSpc>
              <a:defRPr/>
            </a:pPr>
            <a:endParaRPr lang="en-US" dirty="0" smtClean="0">
              <a:sym typeface="Symbol" pitchFamily="18" charset="2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2800" dirty="0" smtClean="0">
              <a:solidFill>
                <a:srgbClr val="00FFFF"/>
              </a:solidFill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1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13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313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313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313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3133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3133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7" grpId="0" uiExpand="1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229600" cy="5562600"/>
          </a:xfrm>
        </p:spPr>
        <p:txBody>
          <a:bodyPr/>
          <a:lstStyle/>
          <a:p>
            <a:pPr marL="0" lvl="1">
              <a:lnSpc>
                <a:spcPct val="90000"/>
              </a:lnSpc>
              <a:buNone/>
            </a:pPr>
            <a:r>
              <a:rPr lang="en-US" sz="2600" dirty="0" smtClean="0">
                <a:sym typeface="Symbol" pitchFamily="18" charset="2"/>
              </a:rPr>
              <a:t>Let </a:t>
            </a:r>
            <a:r>
              <a:rPr lang="en-US" sz="2600" dirty="0">
                <a:sym typeface="Symbol" pitchFamily="18" charset="2"/>
              </a:rPr>
              <a:t>P(x) = x+1 &gt; x</a:t>
            </a:r>
          </a:p>
          <a:p>
            <a:pPr lvl="1">
              <a:lnSpc>
                <a:spcPct val="90000"/>
              </a:lnSpc>
              <a:buNone/>
            </a:pPr>
            <a:r>
              <a:rPr lang="en-US" sz="2600" dirty="0" smtClean="0">
                <a:sym typeface="Symbol" pitchFamily="18" charset="2"/>
              </a:rPr>
              <a:t>            “</a:t>
            </a:r>
            <a:r>
              <a:rPr lang="en-US" sz="2600" dirty="0">
                <a:sym typeface="Symbol" pitchFamily="18" charset="2"/>
              </a:rPr>
              <a:t>for at least one value of x, x+1&gt;x is true</a:t>
            </a:r>
            <a:r>
              <a:rPr lang="en-US" sz="2600" dirty="0" smtClean="0">
                <a:sym typeface="Symbol" pitchFamily="18" charset="2"/>
              </a:rPr>
              <a:t>”</a:t>
            </a:r>
          </a:p>
          <a:p>
            <a:pPr lvl="1">
              <a:lnSpc>
                <a:spcPct val="90000"/>
              </a:lnSpc>
              <a:buNone/>
            </a:pPr>
            <a:r>
              <a:rPr lang="en-US" sz="2600" dirty="0" smtClean="0">
                <a:sym typeface="Symbol" pitchFamily="18" charset="2"/>
              </a:rPr>
              <a:t>             “for all values of x, x+1&gt;x is true” </a:t>
            </a:r>
          </a:p>
          <a:p>
            <a:pPr lvl="1">
              <a:lnSpc>
                <a:spcPct val="90000"/>
              </a:lnSpc>
              <a:buNone/>
            </a:pPr>
            <a:endParaRPr lang="en-US" dirty="0" smtClean="0">
              <a:sym typeface="Symbol" pitchFamily="18" charset="2"/>
            </a:endParaRPr>
          </a:p>
          <a:p>
            <a:r>
              <a:rPr lang="en-US" dirty="0" smtClean="0"/>
              <a:t>In order to show an existential quantification is true, you only have to find ONE value</a:t>
            </a:r>
          </a:p>
          <a:p>
            <a:r>
              <a:rPr lang="en-US" dirty="0" smtClean="0"/>
              <a:t>In order to show an existential quantification is false, you have to show it’s false for ALL values</a:t>
            </a:r>
          </a:p>
          <a:p>
            <a:pPr lvl="1">
              <a:lnSpc>
                <a:spcPct val="90000"/>
              </a:lnSpc>
              <a:buNone/>
            </a:pPr>
            <a:endParaRPr lang="en-US" dirty="0" smtClean="0">
              <a:sym typeface="Symbol" pitchFamily="18" charset="2"/>
            </a:endParaRPr>
          </a:p>
          <a:p>
            <a:pPr lvl="1">
              <a:lnSpc>
                <a:spcPct val="90000"/>
              </a:lnSpc>
              <a:buNone/>
            </a:pPr>
            <a:endParaRPr lang="en-US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533400" y="1143000"/>
            <a:ext cx="1371600" cy="5334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lvl="0" indent="-274320" fontAlgn="auto">
              <a:spcAft>
                <a:spcPts val="0"/>
              </a:spcAft>
              <a:buClr>
                <a:schemeClr val="accent3"/>
              </a:buClr>
              <a:buSzPct val="95000"/>
            </a:pPr>
            <a:r>
              <a:rPr lang="en-US" sz="2600" dirty="0" smtClean="0">
                <a:solidFill>
                  <a:prstClr val="black"/>
                </a:solidFill>
                <a:effectLst/>
                <a:latin typeface="Constantia"/>
              </a:rPr>
              <a:t>x P(x) :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33400" y="1524000"/>
            <a:ext cx="1524000" cy="5334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lvl="0" indent="-274320" fontAlgn="auto">
              <a:spcAft>
                <a:spcPts val="0"/>
              </a:spcAft>
              <a:buClr>
                <a:schemeClr val="accent3"/>
              </a:buClr>
              <a:buSzPct val="95000"/>
            </a:pPr>
            <a:r>
              <a:rPr lang="en-US" sz="2600" dirty="0" smtClean="0">
                <a:solidFill>
                  <a:prstClr val="black"/>
                </a:solidFill>
                <a:effectLst/>
                <a:latin typeface="Constantia"/>
              </a:rPr>
              <a:t>x P(x) :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10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10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10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685800"/>
            <a:ext cx="8610600" cy="5943600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  <a:defRPr/>
            </a:pPr>
            <a:r>
              <a:rPr lang="en-US" dirty="0" smtClean="0">
                <a:sym typeface="Symbol" pitchFamily="18" charset="2"/>
              </a:rPr>
              <a:t>Let the universe of discourse be the real numbers.</a:t>
            </a:r>
          </a:p>
          <a:p>
            <a:pPr marL="0" indent="0" eaLnBrk="1" hangingPunct="1">
              <a:defRPr/>
            </a:pPr>
            <a:endParaRPr lang="en-US" dirty="0" smtClean="0">
              <a:sym typeface="Symbol" pitchFamily="18" charset="2"/>
            </a:endParaRPr>
          </a:p>
          <a:p>
            <a:pPr marL="0" indent="0" eaLnBrk="1" hangingPunct="1">
              <a:defRPr/>
            </a:pPr>
            <a:r>
              <a:rPr lang="en-US" dirty="0" smtClean="0">
                <a:sym typeface="Symbol" pitchFamily="18" charset="2"/>
              </a:rPr>
              <a:t>What does </a:t>
            </a:r>
            <a:r>
              <a:rPr lang="en-US" dirty="0" err="1" smtClean="0">
                <a:sym typeface="Symbol" pitchFamily="18" charset="2"/>
              </a:rPr>
              <a:t>xy</a:t>
            </a:r>
            <a:r>
              <a:rPr lang="en-US" dirty="0" smtClean="0">
                <a:sym typeface="Symbol" pitchFamily="18" charset="2"/>
              </a:rPr>
              <a:t> (x + y = 320) mean ?</a:t>
            </a:r>
          </a:p>
          <a:p>
            <a:pPr marL="0" indent="0" eaLnBrk="1" hangingPunct="1">
              <a:defRPr/>
            </a:pPr>
            <a:endParaRPr lang="en-US" dirty="0" smtClean="0">
              <a:sym typeface="Symbol" pitchFamily="18" charset="2"/>
            </a:endParaRPr>
          </a:p>
          <a:p>
            <a:pPr marL="0" indent="0" eaLnBrk="1" hangingPunct="1">
              <a:buNone/>
              <a:defRPr/>
            </a:pPr>
            <a:r>
              <a:rPr lang="en-US" dirty="0" smtClean="0">
                <a:sym typeface="Symbol" pitchFamily="18" charset="2"/>
              </a:rPr>
              <a:t>“For every x there exists a y so that x + y = 320.”</a:t>
            </a:r>
          </a:p>
          <a:p>
            <a:pPr marL="0" indent="0">
              <a:buNone/>
              <a:defRPr/>
            </a:pPr>
            <a:r>
              <a:rPr lang="en-US" dirty="0" smtClean="0"/>
              <a:t>Is it true? </a:t>
            </a:r>
          </a:p>
          <a:p>
            <a:pPr marL="0" indent="0">
              <a:buNone/>
              <a:defRPr/>
            </a:pPr>
            <a:r>
              <a:rPr lang="en-US" dirty="0" smtClean="0"/>
              <a:t>Is it true for natural numbers? </a:t>
            </a:r>
          </a:p>
          <a:p>
            <a:pPr marL="0" indent="0">
              <a:buNone/>
              <a:defRPr/>
            </a:pPr>
            <a:endParaRPr lang="en-US" dirty="0" smtClean="0"/>
          </a:p>
          <a:p>
            <a:pPr marL="0" indent="0">
              <a:buNone/>
              <a:defRPr/>
            </a:pPr>
            <a:endParaRPr lang="en-US" sz="2800" dirty="0" smtClean="0"/>
          </a:p>
          <a:p>
            <a:pPr marL="0" indent="0">
              <a:buNone/>
              <a:defRPr/>
            </a:pPr>
            <a:endParaRPr lang="en-US" sz="2800" dirty="0" smtClean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0" indent="0" eaLnBrk="1" hangingPunct="1">
              <a:buNone/>
              <a:defRPr/>
            </a:pPr>
            <a:endParaRPr lang="en-US" sz="2800" dirty="0" smtClean="0">
              <a:sym typeface="Symbol" pitchFamily="18" charset="2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981200" y="3048000"/>
            <a:ext cx="1219200" cy="5334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lvl="0" indent="-274320" fontAlgn="auto">
              <a:spcAft>
                <a:spcPts val="0"/>
              </a:spcAft>
              <a:buClr>
                <a:schemeClr val="accent3"/>
              </a:buClr>
              <a:buSzPct val="95000"/>
            </a:pPr>
            <a:r>
              <a:rPr lang="en-US" sz="2600" dirty="0" smtClean="0">
                <a:solidFill>
                  <a:prstClr val="black"/>
                </a:solidFill>
                <a:effectLst/>
                <a:latin typeface="Constantia"/>
              </a:rPr>
              <a:t>Yes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800802" y="3546157"/>
            <a:ext cx="609398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dirty="0" smtClean="0">
                <a:solidFill>
                  <a:prstClr val="black"/>
                </a:solidFill>
                <a:effectLst/>
                <a:latin typeface="Constantia"/>
              </a:rPr>
              <a:t>No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7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7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7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7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17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17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7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17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17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17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43" grpId="0" uiExpand="1" build="p" autoUpdateAnimBg="0"/>
      <p:bldP spid="3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229600" cy="556260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 smtClean="0">
                <a:sym typeface="Symbol" pitchFamily="18" charset="2"/>
              </a:rPr>
              <a:t>Binding Variables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   The occurrence of a variable is said to be bound when either a quantifier is used on the variable x or a value is assigned to it.</a:t>
            </a:r>
          </a:p>
          <a:p>
            <a:endParaRPr lang="en-US" sz="2800" dirty="0" smtClean="0">
              <a:sym typeface="Symbol" pitchFamily="18" charset="2"/>
            </a:endParaRPr>
          </a:p>
          <a:p>
            <a:r>
              <a:rPr lang="en-US" sz="2800" dirty="0" smtClean="0">
                <a:sym typeface="Symbol" pitchFamily="18" charset="2"/>
              </a:rPr>
              <a:t>(</a:t>
            </a:r>
            <a:r>
              <a:rPr lang="en-US" sz="2800" dirty="0">
                <a:sym typeface="Symbol" pitchFamily="18" charset="2"/>
              </a:rPr>
              <a:t>x P(x))  Q(x</a:t>
            </a:r>
            <a:r>
              <a:rPr lang="en-US" sz="2800" dirty="0" smtClean="0">
                <a:sym typeface="Symbol" pitchFamily="18" charset="2"/>
              </a:rPr>
              <a:t>))</a:t>
            </a:r>
            <a:endParaRPr lang="en-US" sz="2800" dirty="0">
              <a:sym typeface="Symbol" pitchFamily="18" charset="2"/>
            </a:endParaRPr>
          </a:p>
          <a:p>
            <a:pPr lvl="1"/>
            <a:r>
              <a:rPr lang="en-US" sz="2400" dirty="0">
                <a:sym typeface="Symbol" pitchFamily="18" charset="2"/>
              </a:rPr>
              <a:t>The x in Q(x) is not bound; thus not a proposition</a:t>
            </a:r>
          </a:p>
          <a:p>
            <a:r>
              <a:rPr lang="en-US" sz="2800" dirty="0">
                <a:sym typeface="Symbol" pitchFamily="18" charset="2"/>
              </a:rPr>
              <a:t>(x P(x))  (x Q(x))</a:t>
            </a:r>
          </a:p>
          <a:p>
            <a:pPr lvl="1"/>
            <a:r>
              <a:rPr lang="en-US" sz="2400" dirty="0">
                <a:sym typeface="Symbol" pitchFamily="18" charset="2"/>
              </a:rPr>
              <a:t>Both x values are bound; thus it is a proposition</a:t>
            </a:r>
          </a:p>
          <a:p>
            <a:r>
              <a:rPr lang="en-US" sz="2800" dirty="0">
                <a:sym typeface="Symbol" pitchFamily="18" charset="2"/>
              </a:rPr>
              <a:t>(x P(x)  Q(x))  (y R(y))</a:t>
            </a:r>
          </a:p>
          <a:p>
            <a:pPr lvl="1"/>
            <a:r>
              <a:rPr lang="en-US" sz="2400" dirty="0">
                <a:sym typeface="Symbol" pitchFamily="18" charset="2"/>
              </a:rPr>
              <a:t>All variables are bound; thus it is a proposition</a:t>
            </a:r>
          </a:p>
          <a:p>
            <a:r>
              <a:rPr lang="en-US" sz="2800" dirty="0">
                <a:sym typeface="Symbol" pitchFamily="18" charset="2"/>
              </a:rPr>
              <a:t>(x P(x)  Q(y))  (y R(y))</a:t>
            </a:r>
          </a:p>
          <a:p>
            <a:pPr lvl="1"/>
            <a:r>
              <a:rPr lang="en-US" sz="2400" dirty="0">
                <a:sym typeface="Symbol" pitchFamily="18" charset="2"/>
              </a:rPr>
              <a:t>The y in Q(y) is not bound; this not a proposition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075F1-69CD-4513-AA74-64BCBD14F037}" type="slidenum">
              <a:rPr lang="en-US"/>
              <a:pPr/>
              <a:t>11</a:t>
            </a:fld>
            <a:endParaRPr lang="en-US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685800"/>
            <a:ext cx="8610600" cy="6019800"/>
          </a:xfrm>
        </p:spPr>
        <p:txBody>
          <a:bodyPr/>
          <a:lstStyle/>
          <a:p>
            <a:pPr marL="0" algn="just">
              <a:lnSpc>
                <a:spcPct val="90000"/>
              </a:lnSpc>
              <a:buNone/>
            </a:pPr>
            <a:r>
              <a:rPr lang="en-US" sz="2400" dirty="0" smtClean="0"/>
              <a:t>Translate the following statement using quantifiers </a:t>
            </a:r>
            <a:r>
              <a:rPr lang="en-US" sz="2400" dirty="0"/>
              <a:t>“For every student in this class, that student has studied calculus”</a:t>
            </a:r>
          </a:p>
          <a:p>
            <a:pPr algn="just">
              <a:lnSpc>
                <a:spcPct val="90000"/>
              </a:lnSpc>
              <a:buNone/>
            </a:pPr>
            <a:r>
              <a:rPr lang="en-US" sz="2400" dirty="0"/>
              <a:t>Rephrased: “For every student x in this class, x has studied calculus”</a:t>
            </a:r>
          </a:p>
          <a:p>
            <a:pPr lvl="1" algn="just">
              <a:lnSpc>
                <a:spcPct val="90000"/>
              </a:lnSpc>
            </a:pPr>
            <a:r>
              <a:rPr lang="en-US" dirty="0"/>
              <a:t>Let C(x) be “x has studied calculus”</a:t>
            </a:r>
          </a:p>
          <a:p>
            <a:pPr lvl="1" algn="just">
              <a:lnSpc>
                <a:spcPct val="90000"/>
              </a:lnSpc>
            </a:pPr>
            <a:r>
              <a:rPr lang="en-US" dirty="0"/>
              <a:t>Let S(x) be “x is a </a:t>
            </a:r>
            <a:r>
              <a:rPr lang="en-US" dirty="0" smtClean="0"/>
              <a:t>student in this class”</a:t>
            </a:r>
            <a:endParaRPr lang="en-US" dirty="0" smtClean="0"/>
          </a:p>
          <a:p>
            <a:pPr lvl="1" algn="just">
              <a:lnSpc>
                <a:spcPct val="90000"/>
              </a:lnSpc>
              <a:buNone/>
            </a:pPr>
            <a:endParaRPr lang="en-US" dirty="0"/>
          </a:p>
          <a:p>
            <a:pPr algn="just">
              <a:lnSpc>
                <a:spcPct val="90000"/>
              </a:lnSpc>
            </a:pPr>
            <a:r>
              <a:rPr lang="en-US" sz="2400" dirty="0">
                <a:sym typeface="Symbol" pitchFamily="18" charset="2"/>
              </a:rPr>
              <a:t>x </a:t>
            </a:r>
            <a:r>
              <a:rPr lang="en-US" sz="2400" dirty="0" smtClean="0">
                <a:sym typeface="Symbol" pitchFamily="18" charset="2"/>
              </a:rPr>
              <a:t>C(x)</a:t>
            </a:r>
          </a:p>
          <a:p>
            <a:pPr algn="just">
              <a:lnSpc>
                <a:spcPct val="90000"/>
              </a:lnSpc>
              <a:buNone/>
            </a:pPr>
            <a:r>
              <a:rPr lang="en-US" sz="2400" dirty="0" smtClean="0">
                <a:sym typeface="Symbol" pitchFamily="18" charset="2"/>
              </a:rPr>
              <a:t>Truth Value: </a:t>
            </a:r>
            <a:r>
              <a:rPr lang="en-US" dirty="0" smtClean="0"/>
              <a:t>True </a:t>
            </a:r>
            <a:r>
              <a:rPr lang="en-US" dirty="0"/>
              <a:t>if the universe of discourse is all students in this </a:t>
            </a:r>
            <a:r>
              <a:rPr lang="en-US" dirty="0" smtClean="0"/>
              <a:t>class</a:t>
            </a:r>
            <a:endParaRPr lang="en-US" dirty="0"/>
          </a:p>
          <a:p>
            <a:r>
              <a:rPr lang="en-US" sz="2400" dirty="0" smtClean="0">
                <a:sym typeface="Symbol" pitchFamily="18" charset="2"/>
              </a:rPr>
              <a:t>What about if the universe of discourse is all students (or all people?)</a:t>
            </a:r>
          </a:p>
          <a:p>
            <a:pPr lvl="1"/>
            <a:r>
              <a:rPr lang="en-US" dirty="0" smtClean="0">
                <a:sym typeface="Symbol" pitchFamily="18" charset="2"/>
              </a:rPr>
              <a:t>x (S(x)C(x))</a:t>
            </a:r>
          </a:p>
          <a:p>
            <a:pPr lvl="2"/>
            <a:r>
              <a:rPr lang="en-US" sz="2400" dirty="0" smtClean="0">
                <a:cs typeface="Arial" charset="0"/>
                <a:sym typeface="Symbol" pitchFamily="18" charset="2"/>
              </a:rPr>
              <a:t>This is wrong!  Why?</a:t>
            </a:r>
          </a:p>
          <a:p>
            <a:pPr lvl="1"/>
            <a:r>
              <a:rPr lang="en-US" dirty="0" smtClean="0">
                <a:sym typeface="Symbol" pitchFamily="18" charset="2"/>
              </a:rPr>
              <a:t>x (S(x)</a:t>
            </a:r>
            <a:r>
              <a:rPr lang="en-US" dirty="0" smtClean="0">
                <a:cs typeface="Arial" charset="0"/>
                <a:sym typeface="Symbol" pitchFamily="18" charset="2"/>
              </a:rPr>
              <a:t>→</a:t>
            </a:r>
            <a:r>
              <a:rPr lang="en-US" dirty="0" smtClean="0">
                <a:sym typeface="Symbol" pitchFamily="18" charset="2"/>
              </a:rPr>
              <a:t>C(x))</a:t>
            </a:r>
          </a:p>
          <a:p>
            <a:pPr lvl="1" algn="just">
              <a:lnSpc>
                <a:spcPct val="90000"/>
              </a:lnSpc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10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1000"/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1000"/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1000"/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1000"/>
                                        <p:tgtEl>
                                          <p:spTgt spid="3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1000"/>
                                        <p:tgtEl>
                                          <p:spTgt spid="30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86800" cy="5867400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sz="2800" dirty="0" smtClean="0"/>
              <a:t>Translate the following statement using quantifiers</a:t>
            </a:r>
            <a:r>
              <a:rPr lang="en-US" dirty="0" smtClean="0"/>
              <a:t> “</a:t>
            </a:r>
            <a:r>
              <a:rPr lang="en-US" dirty="0"/>
              <a:t>Some students </a:t>
            </a:r>
            <a:r>
              <a:rPr lang="en-US" dirty="0" smtClean="0"/>
              <a:t>in </a:t>
            </a:r>
            <a:r>
              <a:rPr lang="en-US" smtClean="0"/>
              <a:t>this class have </a:t>
            </a:r>
            <a:r>
              <a:rPr lang="en-US" dirty="0"/>
              <a:t>visited Mexico”</a:t>
            </a:r>
          </a:p>
          <a:p>
            <a:pPr algn="just"/>
            <a:r>
              <a:rPr lang="en-US" dirty="0" smtClean="0"/>
              <a:t>Let</a:t>
            </a:r>
            <a:r>
              <a:rPr lang="en-US" dirty="0"/>
              <a:t>:</a:t>
            </a:r>
          </a:p>
          <a:p>
            <a:pPr lvl="1" algn="just"/>
            <a:r>
              <a:rPr lang="en-US" sz="2600" dirty="0"/>
              <a:t>S(x) be “x is a student in this class”</a:t>
            </a:r>
          </a:p>
          <a:p>
            <a:pPr lvl="1" algn="just"/>
            <a:r>
              <a:rPr lang="en-US" sz="2600" dirty="0"/>
              <a:t>M(x) be “x has visited </a:t>
            </a:r>
            <a:r>
              <a:rPr lang="en-US" sz="2600" dirty="0" smtClean="0"/>
              <a:t>Mexico”</a:t>
            </a:r>
          </a:p>
          <a:p>
            <a:pPr marL="0" lvl="1" algn="just">
              <a:buNone/>
            </a:pPr>
            <a:r>
              <a:rPr lang="en-US" sz="2600" dirty="0" smtClean="0"/>
              <a:t>Rephrasing: “There exists a student who has visited Mexico”</a:t>
            </a:r>
          </a:p>
          <a:p>
            <a:pPr marL="0" lvl="1" algn="just">
              <a:buNone/>
            </a:pPr>
            <a:endParaRPr lang="en-US" sz="2600" dirty="0" smtClean="0"/>
          </a:p>
          <a:p>
            <a:pPr algn="just"/>
            <a:r>
              <a:rPr lang="en-US" dirty="0" smtClean="0">
                <a:sym typeface="Symbol" pitchFamily="18" charset="2"/>
              </a:rPr>
              <a:t>x M(x)</a:t>
            </a:r>
          </a:p>
          <a:p>
            <a:pPr algn="just">
              <a:buNone/>
            </a:pPr>
            <a:r>
              <a:rPr lang="en-US" sz="2600" dirty="0" smtClean="0">
                <a:sym typeface="Symbol" pitchFamily="18" charset="2"/>
              </a:rPr>
              <a:t>Truth Value: </a:t>
            </a:r>
            <a:r>
              <a:rPr lang="en-US" sz="2600" dirty="0" smtClean="0"/>
              <a:t>True if the universe of discourse is all students</a:t>
            </a:r>
          </a:p>
          <a:p>
            <a:pPr algn="just"/>
            <a:r>
              <a:rPr lang="en-US" dirty="0" smtClean="0">
                <a:sym typeface="Symbol" pitchFamily="18" charset="2"/>
              </a:rPr>
              <a:t>What about if the universe of discourse is all people?</a:t>
            </a:r>
          </a:p>
          <a:p>
            <a:pPr lvl="1" algn="just"/>
            <a:r>
              <a:rPr lang="en-US" sz="2600" dirty="0" smtClean="0">
                <a:sym typeface="Symbol" pitchFamily="18" charset="2"/>
              </a:rPr>
              <a:t>x (S(x) </a:t>
            </a:r>
            <a:r>
              <a:rPr lang="en-US" sz="2600" dirty="0" smtClean="0">
                <a:cs typeface="Arial" charset="0"/>
                <a:sym typeface="Symbol" pitchFamily="18" charset="2"/>
              </a:rPr>
              <a:t>→</a:t>
            </a:r>
            <a:r>
              <a:rPr lang="en-US" sz="2600" dirty="0" smtClean="0">
                <a:sym typeface="Symbol" pitchFamily="18" charset="2"/>
              </a:rPr>
              <a:t> M(x))</a:t>
            </a:r>
          </a:p>
          <a:p>
            <a:pPr lvl="2" algn="just"/>
            <a:r>
              <a:rPr lang="en-US" sz="2600" dirty="0" smtClean="0">
                <a:cs typeface="Arial" charset="0"/>
                <a:sym typeface="Symbol" pitchFamily="18" charset="2"/>
              </a:rPr>
              <a:t>This is wrong!  Why?</a:t>
            </a:r>
          </a:p>
          <a:p>
            <a:pPr lvl="1" algn="just"/>
            <a:r>
              <a:rPr lang="en-US" sz="2600" dirty="0" smtClean="0">
                <a:sym typeface="Symbol" pitchFamily="18" charset="2"/>
              </a:rPr>
              <a:t>x (S(x) </a:t>
            </a:r>
            <a:r>
              <a:rPr lang="en-US" sz="2600" dirty="0" smtClean="0">
                <a:cs typeface="Arial" charset="0"/>
                <a:sym typeface="Symbol" pitchFamily="18" charset="2"/>
              </a:rPr>
              <a:t> M</a:t>
            </a:r>
            <a:r>
              <a:rPr lang="en-US" sz="2600" dirty="0" smtClean="0">
                <a:sym typeface="Symbol" pitchFamily="18" charset="2"/>
              </a:rPr>
              <a:t>(x))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10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100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1000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1000"/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1000"/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1000"/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1000"/>
                                        <p:tgtEl>
                                          <p:spTgt spid="327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1000"/>
                                        <p:tgtEl>
                                          <p:spTgt spid="327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229600" cy="5791200"/>
          </a:xfrm>
        </p:spPr>
        <p:txBody>
          <a:bodyPr/>
          <a:lstStyle/>
          <a:p>
            <a:pPr marL="0">
              <a:buNone/>
            </a:pPr>
            <a:r>
              <a:rPr lang="en-US" dirty="0"/>
              <a:t>Consider: “Every student in this class has visited Canada or Mexico</a:t>
            </a:r>
            <a:r>
              <a:rPr lang="en-US" dirty="0" smtClean="0"/>
              <a:t>”</a:t>
            </a:r>
          </a:p>
          <a:p>
            <a:pPr lvl="1"/>
            <a:r>
              <a:rPr lang="en-US" dirty="0" smtClean="0"/>
              <a:t>S(x) be “x is a student in this class”</a:t>
            </a:r>
          </a:p>
          <a:p>
            <a:pPr lvl="1"/>
            <a:r>
              <a:rPr lang="en-US" dirty="0" smtClean="0"/>
              <a:t>M(x) be “x has visited Mexico”</a:t>
            </a:r>
          </a:p>
          <a:p>
            <a:pPr lvl="1"/>
            <a:r>
              <a:rPr lang="en-US" dirty="0" smtClean="0"/>
              <a:t>C(x) be “x has visited Canada”</a:t>
            </a:r>
          </a:p>
          <a:p>
            <a:endParaRPr lang="en-US" dirty="0"/>
          </a:p>
          <a:p>
            <a:r>
              <a:rPr lang="en-US" dirty="0">
                <a:sym typeface="Symbol" pitchFamily="18" charset="2"/>
              </a:rPr>
              <a:t>x (M(x)C(x)</a:t>
            </a:r>
          </a:p>
          <a:p>
            <a:pPr lvl="1"/>
            <a:r>
              <a:rPr lang="en-US" dirty="0">
                <a:sym typeface="Symbol" pitchFamily="18" charset="2"/>
              </a:rPr>
              <a:t>When the universe of discourse is all students</a:t>
            </a:r>
          </a:p>
          <a:p>
            <a:r>
              <a:rPr lang="en-US" dirty="0">
                <a:sym typeface="Symbol" pitchFamily="18" charset="2"/>
              </a:rPr>
              <a:t>x (S(x)</a:t>
            </a:r>
            <a:r>
              <a:rPr lang="en-US" dirty="0">
                <a:cs typeface="Arial" charset="0"/>
                <a:sym typeface="Symbol" pitchFamily="18" charset="2"/>
              </a:rPr>
              <a:t>→</a:t>
            </a:r>
            <a:r>
              <a:rPr lang="en-US" dirty="0">
                <a:sym typeface="Symbol" pitchFamily="18" charset="2"/>
              </a:rPr>
              <a:t>(M(x)C(x))</a:t>
            </a:r>
          </a:p>
          <a:p>
            <a:pPr lvl="1"/>
            <a:r>
              <a:rPr lang="en-US" dirty="0">
                <a:sym typeface="Symbol" pitchFamily="18" charset="2"/>
              </a:rPr>
              <a:t>When the universe of discourse is all people</a:t>
            </a:r>
          </a:p>
          <a:p>
            <a:r>
              <a:rPr lang="en-US" dirty="0">
                <a:sym typeface="Symbol" pitchFamily="18" charset="2"/>
              </a:rPr>
              <a:t>Why isn’t x (S(x)(M(x)C(x))) correct?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10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10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1000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1000"/>
                                        <p:tgtEl>
                                          <p:spTgt spid="34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1000"/>
                                        <p:tgtEl>
                                          <p:spTgt spid="34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229600" cy="5562600"/>
          </a:xfrm>
        </p:spPr>
        <p:txBody>
          <a:bodyPr/>
          <a:lstStyle/>
          <a:p>
            <a:pPr>
              <a:buNone/>
            </a:pPr>
            <a:r>
              <a:rPr lang="en-US" sz="28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NEGATING QUANTIFICATIONS</a:t>
            </a:r>
          </a:p>
          <a:p>
            <a:r>
              <a:rPr lang="en-US" sz="2800" dirty="0" smtClean="0"/>
              <a:t>To </a:t>
            </a:r>
            <a:r>
              <a:rPr lang="en-US" sz="2800" dirty="0"/>
              <a:t>negate a universal quantification:</a:t>
            </a:r>
          </a:p>
          <a:p>
            <a:pPr lvl="1"/>
            <a:r>
              <a:rPr lang="en-US" sz="2400" dirty="0"/>
              <a:t>You negate the propositional function</a:t>
            </a:r>
          </a:p>
          <a:p>
            <a:pPr lvl="1"/>
            <a:r>
              <a:rPr lang="en-US" sz="2400" dirty="0"/>
              <a:t>AND you change to an existential quantification</a:t>
            </a:r>
          </a:p>
          <a:p>
            <a:pPr lvl="1"/>
            <a:r>
              <a:rPr lang="en-US" sz="2400" dirty="0">
                <a:cs typeface="Arial" charset="0"/>
              </a:rPr>
              <a:t>¬</a:t>
            </a:r>
            <a:r>
              <a:rPr lang="en-US" sz="2400" dirty="0">
                <a:cs typeface="Arial" charset="0"/>
                <a:sym typeface="Symbol" pitchFamily="18" charset="2"/>
              </a:rPr>
              <a:t>x P(x) = x ¬P(x</a:t>
            </a:r>
            <a:r>
              <a:rPr lang="en-US" sz="2400" dirty="0" smtClean="0">
                <a:cs typeface="Arial" charset="0"/>
                <a:sym typeface="Symbol" pitchFamily="18" charset="2"/>
              </a:rPr>
              <a:t>)</a:t>
            </a:r>
            <a:endParaRPr lang="en-US" dirty="0">
              <a:cs typeface="Arial" charset="0"/>
              <a:sym typeface="Symbol" pitchFamily="18" charset="2"/>
            </a:endParaRPr>
          </a:p>
          <a:p>
            <a:pPr lvl="1">
              <a:buNone/>
            </a:pPr>
            <a:endParaRPr lang="en-US" sz="2400" dirty="0" smtClean="0">
              <a:cs typeface="Arial" charset="0"/>
              <a:sym typeface="Symbol" pitchFamily="18" charset="2"/>
            </a:endParaRPr>
          </a:p>
          <a:p>
            <a:r>
              <a:rPr lang="en-US" sz="2800" dirty="0" smtClean="0"/>
              <a:t>To negate An existential quantification:</a:t>
            </a:r>
          </a:p>
          <a:p>
            <a:pPr lvl="1"/>
            <a:r>
              <a:rPr lang="en-US" dirty="0" smtClean="0"/>
              <a:t>You negate the propositional function</a:t>
            </a:r>
          </a:p>
          <a:p>
            <a:pPr lvl="1"/>
            <a:r>
              <a:rPr lang="en-US" dirty="0" smtClean="0"/>
              <a:t>AND you change to a universal quantification</a:t>
            </a:r>
          </a:p>
          <a:p>
            <a:pPr lvl="1"/>
            <a:r>
              <a:rPr lang="en-US" dirty="0" smtClean="0">
                <a:cs typeface="Arial" charset="0"/>
              </a:rPr>
              <a:t>¬</a:t>
            </a:r>
            <a:r>
              <a:rPr lang="en-US" dirty="0" smtClean="0">
                <a:cs typeface="Arial" charset="0"/>
                <a:sym typeface="Symbol" pitchFamily="18" charset="2"/>
              </a:rPr>
              <a:t>  x P(x) =  x ¬P(x)</a:t>
            </a:r>
          </a:p>
          <a:p>
            <a:pPr lvl="1">
              <a:buNone/>
            </a:pPr>
            <a:endParaRPr lang="en-US" sz="2400" dirty="0" smtClean="0">
              <a:cs typeface="Arial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5" dur="10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10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7" dur="10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3" dur="10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0" dur="1000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6" dur="1000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2" dur="1000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8" dur="1000"/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153400" cy="5334000"/>
          </a:xfrm>
        </p:spPr>
        <p:txBody>
          <a:bodyPr>
            <a:normAutofit fontScale="92500" lnSpcReduction="20000"/>
          </a:bodyPr>
          <a:lstStyle/>
          <a:p>
            <a:pPr algn="just">
              <a:defRPr/>
            </a:pPr>
            <a:r>
              <a:rPr lang="en-US" sz="2800" dirty="0" smtClean="0">
                <a:sym typeface="Symbol" pitchFamily="18" charset="2"/>
              </a:rPr>
              <a:t>Every student in this </a:t>
            </a:r>
            <a:r>
              <a:rPr lang="en-US" sz="2800" smtClean="0">
                <a:sym typeface="Symbol" pitchFamily="18" charset="2"/>
              </a:rPr>
              <a:t>class has </a:t>
            </a:r>
            <a:r>
              <a:rPr lang="en-US" sz="2800" dirty="0" smtClean="0">
                <a:sym typeface="Symbol" pitchFamily="18" charset="2"/>
              </a:rPr>
              <a:t>taken calculus</a:t>
            </a:r>
          </a:p>
          <a:p>
            <a:pPr algn="just">
              <a:buNone/>
              <a:defRPr/>
            </a:pPr>
            <a:r>
              <a:rPr lang="en-US" sz="2800" dirty="0" smtClean="0">
                <a:sym typeface="Symbol" pitchFamily="18" charset="2"/>
              </a:rPr>
              <a:t>   Negation: There is a student in this class who has not taken a course in calculus</a:t>
            </a:r>
          </a:p>
          <a:p>
            <a:pPr algn="just" eaLnBrk="1" hangingPunct="1">
              <a:defRPr/>
            </a:pPr>
            <a:endParaRPr lang="en-US" sz="2800" dirty="0" smtClean="0">
              <a:sym typeface="Symbol" pitchFamily="18" charset="2"/>
            </a:endParaRPr>
          </a:p>
          <a:p>
            <a:pPr algn="just" eaLnBrk="1" hangingPunct="1">
              <a:defRPr/>
            </a:pPr>
            <a:r>
              <a:rPr lang="en-US" sz="2800" dirty="0" smtClean="0">
                <a:sym typeface="Symbol" pitchFamily="18" charset="2"/>
              </a:rPr>
              <a:t>There is a student in this class who has taken a course in calculus.</a:t>
            </a:r>
          </a:p>
          <a:p>
            <a:pPr algn="just">
              <a:buNone/>
              <a:defRPr/>
            </a:pPr>
            <a:r>
              <a:rPr lang="en-US" sz="2800" dirty="0" smtClean="0">
                <a:sym typeface="Symbol" pitchFamily="18" charset="2"/>
              </a:rPr>
              <a:t>    Negation: Every student in this class has not taken calculus</a:t>
            </a:r>
          </a:p>
          <a:p>
            <a:pPr algn="just">
              <a:buNone/>
              <a:defRPr/>
            </a:pPr>
            <a:endParaRPr lang="en-US" sz="2800" dirty="0" smtClean="0">
              <a:sym typeface="Symbol" pitchFamily="18" charset="2"/>
            </a:endParaRPr>
          </a:p>
          <a:p>
            <a:r>
              <a:rPr lang="en-US" sz="2800" dirty="0" smtClean="0"/>
              <a:t>What are the negations of the statements </a:t>
            </a:r>
            <a:r>
              <a:rPr lang="en-US" sz="2800" dirty="0" smtClean="0">
                <a:sym typeface="Symbol" pitchFamily="18" charset="2"/>
              </a:rPr>
              <a:t>x (x</a:t>
            </a:r>
            <a:r>
              <a:rPr lang="en-US" sz="2800" baseline="30000" dirty="0" smtClean="0">
                <a:sym typeface="Symbol" pitchFamily="18" charset="2"/>
              </a:rPr>
              <a:t>2 </a:t>
            </a:r>
            <a:r>
              <a:rPr lang="en-US" sz="2800" dirty="0" smtClean="0">
                <a:sym typeface="Symbol" pitchFamily="18" charset="2"/>
              </a:rPr>
              <a:t>&gt;x)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 and x (x</a:t>
            </a:r>
            <a:r>
              <a:rPr lang="en-US" sz="2800" baseline="30000" dirty="0" smtClean="0">
                <a:sym typeface="Symbol" pitchFamily="18" charset="2"/>
              </a:rPr>
              <a:t>2 </a:t>
            </a:r>
            <a:r>
              <a:rPr lang="en-US" sz="2800" dirty="0" smtClean="0">
                <a:sym typeface="Symbol" pitchFamily="18" charset="2"/>
              </a:rPr>
              <a:t>=2)</a:t>
            </a:r>
          </a:p>
          <a:p>
            <a:pPr>
              <a:buNone/>
            </a:pPr>
            <a:r>
              <a:rPr lang="en-US" sz="2800" dirty="0" err="1" smtClean="0">
                <a:sym typeface="Symbol" pitchFamily="18" charset="2"/>
              </a:rPr>
              <a:t>i</a:t>
            </a:r>
            <a:r>
              <a:rPr lang="en-US" sz="2800" dirty="0" smtClean="0">
                <a:sym typeface="Symbol" pitchFamily="18" charset="2"/>
              </a:rPr>
              <a:t>) x (x</a:t>
            </a:r>
            <a:r>
              <a:rPr lang="en-US" sz="2800" baseline="30000" dirty="0" smtClean="0">
                <a:sym typeface="Symbol" pitchFamily="18" charset="2"/>
              </a:rPr>
              <a:t>2 </a:t>
            </a:r>
            <a:r>
              <a:rPr lang="en-US" sz="2800" dirty="0" smtClean="0">
                <a:sym typeface="Symbol" pitchFamily="18" charset="2"/>
              </a:rPr>
              <a:t>≤x)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ii)  x (x</a:t>
            </a:r>
            <a:r>
              <a:rPr lang="en-US" sz="2800" baseline="30000" dirty="0" smtClean="0">
                <a:sym typeface="Symbol" pitchFamily="18" charset="2"/>
              </a:rPr>
              <a:t>2 </a:t>
            </a:r>
            <a:r>
              <a:rPr lang="en-US" sz="2800" dirty="0" smtClean="0">
                <a:sym typeface="Symbol" pitchFamily="18" charset="2"/>
              </a:rPr>
              <a:t>≠2)</a:t>
            </a:r>
          </a:p>
          <a:p>
            <a:pPr eaLnBrk="1" hangingPunct="1">
              <a:defRPr/>
            </a:pPr>
            <a:endParaRPr lang="en-US" sz="2800" dirty="0" smtClean="0">
              <a:solidFill>
                <a:srgbClr val="66FF33"/>
              </a:solidFill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19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19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319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319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319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319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319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319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1" grpId="0" uiExpand="1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8200"/>
            <a:ext cx="8229600" cy="5486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Translate the statements: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“All hummingbirds are richly colored”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“No large birds live on honey”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“Birds that do not live on honey are dull in color”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“Hummingbirds are small”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Assign our propositional functions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Let P(x) be “x is a hummingbird”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Let Q(x) be “x is large”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Let R(x) be “x lives on honey”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Let S(x) be “x is richly colored”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Let our universe of discourse be all birds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10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1000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1000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1000"/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1000"/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1000"/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8200"/>
            <a:ext cx="8229600" cy="5791200"/>
          </a:xfrm>
        </p:spPr>
        <p:txBody>
          <a:bodyPr/>
          <a:lstStyle/>
          <a:p>
            <a:pPr lvl="1">
              <a:lnSpc>
                <a:spcPct val="90000"/>
              </a:lnSpc>
            </a:pPr>
            <a:r>
              <a:rPr lang="en-US" sz="2600" dirty="0" smtClean="0"/>
              <a:t>“</a:t>
            </a:r>
            <a:r>
              <a:rPr lang="en-US" sz="2600" dirty="0"/>
              <a:t>All hummingbirds are richly colored”</a:t>
            </a:r>
          </a:p>
          <a:p>
            <a:pPr lvl="2">
              <a:lnSpc>
                <a:spcPct val="90000"/>
              </a:lnSpc>
            </a:pPr>
            <a:r>
              <a:rPr lang="en-US" sz="2600" dirty="0">
                <a:sym typeface="Symbol" pitchFamily="18" charset="2"/>
              </a:rPr>
              <a:t>x (P(x)</a:t>
            </a:r>
            <a:r>
              <a:rPr lang="en-US" sz="2600" dirty="0">
                <a:cs typeface="Arial" charset="0"/>
                <a:sym typeface="Symbol" pitchFamily="18" charset="2"/>
              </a:rPr>
              <a:t>→S(x))</a:t>
            </a:r>
          </a:p>
          <a:p>
            <a:pPr lvl="1">
              <a:lnSpc>
                <a:spcPct val="90000"/>
              </a:lnSpc>
            </a:pPr>
            <a:r>
              <a:rPr lang="en-US" sz="2600" dirty="0"/>
              <a:t>“No large birds live on honey”</a:t>
            </a:r>
          </a:p>
          <a:p>
            <a:pPr lvl="2">
              <a:lnSpc>
                <a:spcPct val="90000"/>
              </a:lnSpc>
            </a:pPr>
            <a:r>
              <a:rPr lang="en-US" sz="2600" dirty="0">
                <a:cs typeface="Arial" charset="0"/>
                <a:sym typeface="Symbol" pitchFamily="18" charset="2"/>
              </a:rPr>
              <a:t>¬</a:t>
            </a:r>
            <a:r>
              <a:rPr lang="en-US" sz="2600" dirty="0">
                <a:sym typeface="Symbol" pitchFamily="18" charset="2"/>
              </a:rPr>
              <a:t>x (Q(x)  R(x))</a:t>
            </a:r>
          </a:p>
          <a:p>
            <a:pPr lvl="2">
              <a:lnSpc>
                <a:spcPct val="90000"/>
              </a:lnSpc>
            </a:pPr>
            <a:r>
              <a:rPr lang="en-US" sz="2600" dirty="0">
                <a:sym typeface="Symbol" pitchFamily="18" charset="2"/>
              </a:rPr>
              <a:t>Alternatively: x (</a:t>
            </a:r>
            <a:r>
              <a:rPr lang="en-US" sz="2600" dirty="0">
                <a:cs typeface="Arial" charset="0"/>
                <a:sym typeface="Symbol" pitchFamily="18" charset="2"/>
              </a:rPr>
              <a:t>¬Q(x)  ¬R(x))</a:t>
            </a:r>
            <a:endParaRPr lang="en-US" sz="2600" dirty="0">
              <a:sym typeface="Symbol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sz="2600" dirty="0"/>
              <a:t>“Birds that do not live on honey are dull in color”</a:t>
            </a:r>
          </a:p>
          <a:p>
            <a:pPr lvl="2">
              <a:lnSpc>
                <a:spcPct val="90000"/>
              </a:lnSpc>
            </a:pPr>
            <a:r>
              <a:rPr lang="en-US" sz="2600" dirty="0">
                <a:sym typeface="Symbol" pitchFamily="18" charset="2"/>
              </a:rPr>
              <a:t>x (</a:t>
            </a:r>
            <a:r>
              <a:rPr lang="en-US" sz="2600" dirty="0">
                <a:cs typeface="Arial" charset="0"/>
                <a:sym typeface="Symbol" pitchFamily="18" charset="2"/>
              </a:rPr>
              <a:t>¬R(x) → ¬S(x))</a:t>
            </a:r>
            <a:endParaRPr lang="en-US" sz="2600" dirty="0"/>
          </a:p>
          <a:p>
            <a:pPr lvl="1">
              <a:lnSpc>
                <a:spcPct val="90000"/>
              </a:lnSpc>
            </a:pPr>
            <a:r>
              <a:rPr lang="en-US" sz="2600" dirty="0"/>
              <a:t>“Hummingbirds are small”</a:t>
            </a:r>
          </a:p>
          <a:p>
            <a:pPr lvl="2">
              <a:lnSpc>
                <a:spcPct val="90000"/>
              </a:lnSpc>
            </a:pPr>
            <a:r>
              <a:rPr lang="en-US" sz="2600" dirty="0">
                <a:sym typeface="Symbol" pitchFamily="18" charset="2"/>
              </a:rPr>
              <a:t>x (P(x) </a:t>
            </a:r>
            <a:r>
              <a:rPr lang="en-US" sz="2600" dirty="0">
                <a:cs typeface="Arial" charset="0"/>
                <a:sym typeface="Symbol" pitchFamily="18" charset="2"/>
              </a:rPr>
              <a:t>→ ¬Q(x))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1000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1000"/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1000"/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1000"/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1000"/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839200" cy="5562600"/>
          </a:xfrm>
        </p:spPr>
        <p:txBody>
          <a:bodyPr/>
          <a:lstStyle/>
          <a:p>
            <a:pPr algn="just">
              <a:buNone/>
            </a:pPr>
            <a:r>
              <a:rPr lang="en-US" dirty="0" smtClean="0"/>
              <a:t>Translating statements involving Nested Quantifiers</a:t>
            </a:r>
          </a:p>
          <a:p>
            <a:pPr algn="just"/>
            <a:endParaRPr lang="en-US" dirty="0" smtClean="0"/>
          </a:p>
          <a:p>
            <a:pPr marL="0" algn="just">
              <a:buNone/>
            </a:pPr>
            <a:r>
              <a:rPr lang="en-US" dirty="0" smtClean="0"/>
              <a:t>For the following the universe of discourse is real numbers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800" dirty="0" smtClean="0">
                <a:sym typeface="Symbol" pitchFamily="18" charset="2"/>
              </a:rPr>
              <a:t>Commutative law for addition: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800" dirty="0" smtClean="0">
                <a:sym typeface="Symbol" pitchFamily="18" charset="2"/>
              </a:rPr>
              <a:t>Associative law for addition: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800" dirty="0" smtClean="0">
                <a:sym typeface="Symbol" pitchFamily="18" charset="2"/>
              </a:rPr>
              <a:t>Existence of Additive inverse: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800" dirty="0" smtClean="0">
                <a:cs typeface="Arial" charset="0"/>
                <a:sym typeface="Symbol" pitchFamily="18" charset="2"/>
              </a:rPr>
              <a:t>The product of a positive and negative real number is negative:</a:t>
            </a:r>
          </a:p>
          <a:p>
            <a:pPr>
              <a:buNone/>
            </a:pPr>
            <a:r>
              <a:rPr lang="en-US" sz="2800" dirty="0" smtClean="0"/>
              <a:t>Find the negation of </a:t>
            </a:r>
            <a:r>
              <a:rPr lang="en-US" sz="2800" dirty="0" smtClean="0">
                <a:sym typeface="Symbol" pitchFamily="18" charset="2"/>
              </a:rPr>
              <a:t>x y(</a:t>
            </a:r>
            <a:r>
              <a:rPr lang="en-US" sz="2800" dirty="0" err="1" smtClean="0">
                <a:sym typeface="Symbol" pitchFamily="18" charset="2"/>
              </a:rPr>
              <a:t>xy</a:t>
            </a:r>
            <a:r>
              <a:rPr lang="en-US" sz="2800" dirty="0" smtClean="0">
                <a:sym typeface="Symbol" pitchFamily="18" charset="2"/>
              </a:rPr>
              <a:t>=1)</a:t>
            </a:r>
          </a:p>
          <a:p>
            <a:r>
              <a:rPr lang="en-US" sz="2800" dirty="0" smtClean="0">
                <a:sym typeface="Symbol" pitchFamily="18" charset="2"/>
              </a:rPr>
              <a:t> x  y(xy≠1)</a:t>
            </a:r>
          </a:p>
          <a:p>
            <a:pPr algn="just">
              <a:buFont typeface="Wingdings" pitchFamily="2" charset="2"/>
              <a:buChar char="Ø"/>
            </a:pPr>
            <a:endParaRPr lang="en-US" sz="2800" dirty="0" smtClean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334000" y="2286000"/>
            <a:ext cx="3505200" cy="457200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/>
          <a:p>
            <a:pPr marL="274320" lvl="0" indent="-274320" fontAlgn="auto">
              <a:spcAft>
                <a:spcPts val="0"/>
              </a:spcAft>
              <a:buClr>
                <a:schemeClr val="accent3"/>
              </a:buClr>
              <a:buSzPct val="95000"/>
            </a:pPr>
            <a:r>
              <a:rPr lang="en-US" dirty="0" smtClean="0">
                <a:solidFill>
                  <a:prstClr val="black"/>
                </a:solidFill>
                <a:effectLst/>
                <a:latin typeface="Constantia"/>
              </a:rPr>
              <a:t>x y(</a:t>
            </a:r>
            <a:r>
              <a:rPr lang="en-US" dirty="0" err="1" smtClean="0">
                <a:solidFill>
                  <a:prstClr val="black"/>
                </a:solidFill>
                <a:effectLst/>
                <a:latin typeface="Constantia"/>
              </a:rPr>
              <a:t>x+y</a:t>
            </a:r>
            <a:r>
              <a:rPr lang="en-US" dirty="0" smtClean="0">
                <a:solidFill>
                  <a:prstClr val="black"/>
                </a:solidFill>
                <a:effectLst/>
                <a:latin typeface="Constantia"/>
              </a:rPr>
              <a:t>=</a:t>
            </a:r>
            <a:r>
              <a:rPr lang="en-US" dirty="0" err="1" smtClean="0">
                <a:solidFill>
                  <a:prstClr val="black"/>
                </a:solidFill>
                <a:effectLst/>
                <a:latin typeface="Constantia"/>
              </a:rPr>
              <a:t>y+x</a:t>
            </a:r>
            <a:r>
              <a:rPr lang="en-US" dirty="0" smtClean="0">
                <a:solidFill>
                  <a:prstClr val="black"/>
                </a:solidFill>
                <a:effectLst/>
                <a:latin typeface="Constantia"/>
              </a:rPr>
              <a:t>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953000" y="2743200"/>
            <a:ext cx="4419600" cy="457200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/>
          <a:p>
            <a:pPr marL="274320" lvl="0" indent="-274320" fontAlgn="auto">
              <a:spcAft>
                <a:spcPts val="0"/>
              </a:spcAft>
              <a:buClr>
                <a:schemeClr val="accent3"/>
              </a:buClr>
              <a:buSzPct val="95000"/>
            </a:pPr>
            <a:r>
              <a:rPr lang="en-US" dirty="0" smtClean="0">
                <a:solidFill>
                  <a:prstClr val="black"/>
                </a:solidFill>
                <a:effectLst/>
                <a:latin typeface="Constantia"/>
              </a:rPr>
              <a:t>x y z(x+(</a:t>
            </a:r>
            <a:r>
              <a:rPr lang="en-US" dirty="0" err="1" smtClean="0">
                <a:solidFill>
                  <a:prstClr val="black"/>
                </a:solidFill>
                <a:effectLst/>
                <a:latin typeface="Constantia"/>
              </a:rPr>
              <a:t>y+z</a:t>
            </a:r>
            <a:r>
              <a:rPr lang="en-US" dirty="0" smtClean="0">
                <a:solidFill>
                  <a:prstClr val="black"/>
                </a:solidFill>
                <a:effectLst/>
                <a:latin typeface="Constantia"/>
              </a:rPr>
              <a:t>)=(</a:t>
            </a:r>
            <a:r>
              <a:rPr lang="en-US" dirty="0" err="1" smtClean="0">
                <a:solidFill>
                  <a:prstClr val="black"/>
                </a:solidFill>
                <a:effectLst/>
                <a:latin typeface="Constantia"/>
              </a:rPr>
              <a:t>x+y</a:t>
            </a:r>
            <a:r>
              <a:rPr lang="en-US" dirty="0" smtClean="0">
                <a:solidFill>
                  <a:prstClr val="black"/>
                </a:solidFill>
                <a:effectLst/>
                <a:latin typeface="Constantia"/>
              </a:rPr>
              <a:t>)+z)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257800" y="3276600"/>
            <a:ext cx="3505200" cy="457200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/>
          <a:p>
            <a:pPr marL="274320" lvl="0" indent="-274320" fontAlgn="auto">
              <a:spcAft>
                <a:spcPts val="0"/>
              </a:spcAft>
              <a:buClr>
                <a:schemeClr val="accent3"/>
              </a:buClr>
              <a:buSzPct val="95000"/>
            </a:pPr>
            <a:r>
              <a:rPr lang="en-US" dirty="0" smtClean="0">
                <a:solidFill>
                  <a:prstClr val="black"/>
                </a:solidFill>
                <a:effectLst/>
                <a:latin typeface="Constantia"/>
              </a:rPr>
              <a:t>x y(</a:t>
            </a:r>
            <a:r>
              <a:rPr lang="en-US" dirty="0" err="1" smtClean="0">
                <a:solidFill>
                  <a:prstClr val="black"/>
                </a:solidFill>
                <a:effectLst/>
                <a:latin typeface="Constantia"/>
              </a:rPr>
              <a:t>x+y</a:t>
            </a:r>
            <a:r>
              <a:rPr lang="en-US" dirty="0" smtClean="0">
                <a:solidFill>
                  <a:prstClr val="black"/>
                </a:solidFill>
                <a:effectLst/>
                <a:latin typeface="Constantia"/>
              </a:rPr>
              <a:t>=0)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057400" y="4191000"/>
            <a:ext cx="4953000" cy="457200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/>
          <a:p>
            <a:pPr marL="274320" indent="-274320" fontAlgn="auto">
              <a:spcAft>
                <a:spcPts val="0"/>
              </a:spcAft>
              <a:buClr>
                <a:schemeClr val="accent3"/>
              </a:buClr>
              <a:buSzPct val="95000"/>
            </a:pPr>
            <a:r>
              <a:rPr lang="en-US" sz="2400" dirty="0" smtClean="0">
                <a:solidFill>
                  <a:prstClr val="black"/>
                </a:solidFill>
                <a:effectLst/>
                <a:latin typeface="Constantia"/>
              </a:rPr>
              <a:t> x y((x&gt;0) (y&lt;0)</a:t>
            </a:r>
            <a:r>
              <a:rPr lang="en-US" dirty="0" smtClean="0">
                <a:solidFill>
                  <a:prstClr val="black"/>
                </a:solidFill>
                <a:effectLst/>
                <a:latin typeface="Constantia"/>
                <a:cs typeface="Arial" charset="0"/>
              </a:rPr>
              <a:t> → (</a:t>
            </a:r>
            <a:r>
              <a:rPr lang="en-US" dirty="0" err="1" smtClean="0">
                <a:solidFill>
                  <a:prstClr val="black"/>
                </a:solidFill>
                <a:effectLst/>
                <a:latin typeface="Constantia"/>
                <a:cs typeface="Arial" charset="0"/>
              </a:rPr>
              <a:t>xy</a:t>
            </a:r>
            <a:r>
              <a:rPr lang="en-US" dirty="0" smtClean="0">
                <a:solidFill>
                  <a:prstClr val="black"/>
                </a:solidFill>
                <a:effectLst/>
                <a:latin typeface="Constantia"/>
                <a:cs typeface="Arial" charset="0"/>
              </a:rPr>
              <a:t>&lt;0))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562600"/>
          </a:xfrm>
        </p:spPr>
        <p:txBody>
          <a:bodyPr/>
          <a:lstStyle/>
          <a:p>
            <a:pPr algn="just">
              <a:buNone/>
            </a:pPr>
            <a:r>
              <a:rPr lang="en-US" dirty="0" smtClean="0"/>
              <a:t>Translate the following statement into </a:t>
            </a:r>
            <a:r>
              <a:rPr lang="en-US" dirty="0" err="1" smtClean="0"/>
              <a:t>english</a:t>
            </a:r>
            <a:endParaRPr lang="en-US" dirty="0" smtClean="0"/>
          </a:p>
          <a:p>
            <a:pPr marL="0" algn="just">
              <a:buNone/>
            </a:pPr>
            <a:r>
              <a:rPr lang="en-US" sz="2800" dirty="0" smtClean="0">
                <a:sym typeface="Symbol" pitchFamily="18" charset="2"/>
              </a:rPr>
              <a:t>x (C(x) </a:t>
            </a:r>
            <a:r>
              <a:rPr lang="en-US" sz="2800" dirty="0" smtClean="0">
                <a:cs typeface="Arial" charset="0"/>
                <a:sym typeface="Symbol" pitchFamily="18" charset="2"/>
              </a:rPr>
              <a:t> </a:t>
            </a:r>
            <a:r>
              <a:rPr lang="en-US" sz="2800" dirty="0" smtClean="0">
                <a:sym typeface="Symbol" pitchFamily="18" charset="2"/>
              </a:rPr>
              <a:t>y(C(y)  F(</a:t>
            </a:r>
            <a:r>
              <a:rPr lang="en-US" sz="2800" dirty="0" err="1" smtClean="0">
                <a:sym typeface="Symbol" pitchFamily="18" charset="2"/>
              </a:rPr>
              <a:t>x,y</a:t>
            </a:r>
            <a:r>
              <a:rPr lang="en-US" sz="2800" dirty="0" smtClean="0">
                <a:sym typeface="Symbol" pitchFamily="18" charset="2"/>
              </a:rPr>
              <a:t>))) where C(x) is “x has a computer” and F(</a:t>
            </a:r>
            <a:r>
              <a:rPr lang="en-US" sz="2800" dirty="0" err="1" smtClean="0">
                <a:sym typeface="Symbol" pitchFamily="18" charset="2"/>
              </a:rPr>
              <a:t>x,y</a:t>
            </a:r>
            <a:r>
              <a:rPr lang="en-US" sz="2800" dirty="0" smtClean="0">
                <a:sym typeface="Symbol" pitchFamily="18" charset="2"/>
              </a:rPr>
              <a:t>) is “ x and y are friends”. </a:t>
            </a:r>
          </a:p>
          <a:p>
            <a:pPr marL="0" algn="just">
              <a:buNone/>
            </a:pPr>
            <a:r>
              <a:rPr lang="en-US" sz="2800" dirty="0" smtClean="0">
                <a:sym typeface="Symbol" pitchFamily="18" charset="2"/>
              </a:rPr>
              <a:t>Universe of discourse is all students in school</a:t>
            </a:r>
          </a:p>
          <a:p>
            <a:pPr>
              <a:buNone/>
            </a:pPr>
            <a:endParaRPr lang="en-US" sz="2800" dirty="0" smtClean="0">
              <a:sym typeface="Symbol" pitchFamily="18" charset="2"/>
            </a:endParaRPr>
          </a:p>
          <a:p>
            <a:pPr marL="0">
              <a:buNone/>
            </a:pPr>
            <a:r>
              <a:rPr lang="en-US" sz="2800" dirty="0" smtClean="0">
                <a:sym typeface="Symbol" pitchFamily="18" charset="2"/>
              </a:rPr>
              <a:t>For every student x in your school x has a computer or there is a student y such that has a computer and x and y are friends.</a:t>
            </a:r>
          </a:p>
          <a:p>
            <a:pPr marL="0">
              <a:buNone/>
            </a:pPr>
            <a:r>
              <a:rPr lang="en-US" sz="2800" dirty="0" smtClean="0">
                <a:sym typeface="Symbol" pitchFamily="18" charset="2"/>
              </a:rPr>
              <a:t>(Every student in your school has a computer or has a friend who has a computer)</a:t>
            </a:r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09600"/>
            <a:ext cx="8229600" cy="5715000"/>
          </a:xfrm>
        </p:spPr>
        <p:txBody>
          <a:bodyPr/>
          <a:lstStyle/>
          <a:p>
            <a:pPr algn="just">
              <a:buNone/>
            </a:pPr>
            <a:r>
              <a:rPr lang="en-US" altLang="zh-TW" dirty="0" smtClean="0">
                <a:ea typeface="新細明體" pitchFamily="18" charset="-120"/>
              </a:rPr>
              <a:t>ORDER OF QUANTIFIERS</a:t>
            </a:r>
          </a:p>
          <a:p>
            <a:pPr algn="just"/>
            <a:endParaRPr lang="en-US" altLang="zh-TW" dirty="0" smtClean="0">
              <a:ea typeface="新細明體" pitchFamily="18" charset="-120"/>
            </a:endParaRPr>
          </a:p>
          <a:p>
            <a:pPr algn="just"/>
            <a:r>
              <a:rPr lang="en-US" altLang="zh-TW" dirty="0" smtClean="0">
                <a:ea typeface="新細明體" pitchFamily="18" charset="-120"/>
              </a:rPr>
              <a:t>Is </a:t>
            </a:r>
            <a:r>
              <a:rPr lang="en-US" altLang="zh-TW" dirty="0">
                <a:ea typeface="新細明體" pitchFamily="18" charset="-120"/>
              </a:rPr>
              <a:t>order of quantifiers </a:t>
            </a:r>
            <a:r>
              <a:rPr lang="en-US" altLang="zh-TW" dirty="0" smtClean="0">
                <a:ea typeface="新細明體" pitchFamily="18" charset="-120"/>
              </a:rPr>
              <a:t>important?</a:t>
            </a:r>
          </a:p>
          <a:p>
            <a:pPr algn="just">
              <a:buNone/>
            </a:pPr>
            <a:r>
              <a:rPr lang="en-US" altLang="zh-TW" dirty="0" smtClean="0">
                <a:ea typeface="新細明體" pitchFamily="18" charset="-120"/>
              </a:rPr>
              <a:t>   Yes!  </a:t>
            </a:r>
            <a:r>
              <a:rPr lang="en-US" altLang="zh-TW" dirty="0">
                <a:ea typeface="新細明體" pitchFamily="18" charset="-120"/>
              </a:rPr>
              <a:t>unless all quantifiers are universal quantifiers or all are existential quantifiers</a:t>
            </a:r>
          </a:p>
          <a:p>
            <a:pPr lvl="1" algn="just"/>
            <a:r>
              <a:rPr lang="en-US" altLang="zh-TW" i="1" dirty="0">
                <a:ea typeface="新細明體" pitchFamily="18" charset="-120"/>
                <a:sym typeface="Symbol" pitchFamily="18" charset="2"/>
              </a:rPr>
              <a:t></a:t>
            </a:r>
            <a:r>
              <a:rPr lang="en-US" altLang="zh-TW" i="1" dirty="0" err="1">
                <a:ea typeface="新細明體" pitchFamily="18" charset="-120"/>
              </a:rPr>
              <a:t>x</a:t>
            </a:r>
            <a:r>
              <a:rPr lang="en-US" altLang="zh-TW" i="1" dirty="0" err="1">
                <a:ea typeface="新細明體" pitchFamily="18" charset="-120"/>
                <a:sym typeface="Symbol" pitchFamily="18" charset="2"/>
              </a:rPr>
              <a:t></a:t>
            </a:r>
            <a:r>
              <a:rPr lang="en-US" altLang="zh-TW" i="1" dirty="0" err="1">
                <a:ea typeface="新細明體" pitchFamily="18" charset="-120"/>
              </a:rPr>
              <a:t>y</a:t>
            </a:r>
            <a:r>
              <a:rPr lang="en-US" altLang="zh-TW" i="1" dirty="0">
                <a:ea typeface="新細明體" pitchFamily="18" charset="-120"/>
              </a:rPr>
              <a:t> P(x, y) vs. </a:t>
            </a:r>
            <a:r>
              <a:rPr lang="en-US" altLang="zh-TW" i="1" dirty="0">
                <a:ea typeface="新細明體" pitchFamily="18" charset="-120"/>
                <a:sym typeface="Symbol" pitchFamily="18" charset="2"/>
              </a:rPr>
              <a:t></a:t>
            </a:r>
            <a:r>
              <a:rPr lang="en-US" altLang="zh-TW" i="1" dirty="0" err="1">
                <a:ea typeface="新細明體" pitchFamily="18" charset="-120"/>
              </a:rPr>
              <a:t>y</a:t>
            </a:r>
            <a:r>
              <a:rPr lang="en-US" altLang="zh-TW" i="1" dirty="0" err="1">
                <a:ea typeface="新細明體" pitchFamily="18" charset="-120"/>
                <a:sym typeface="Symbol" pitchFamily="18" charset="2"/>
              </a:rPr>
              <a:t></a:t>
            </a:r>
            <a:r>
              <a:rPr lang="en-US" altLang="zh-TW" i="1" dirty="0" err="1">
                <a:ea typeface="新細明體" pitchFamily="18" charset="-120"/>
              </a:rPr>
              <a:t>x</a:t>
            </a:r>
            <a:r>
              <a:rPr lang="en-US" altLang="zh-TW" i="1" dirty="0">
                <a:ea typeface="新細明體" pitchFamily="18" charset="-120"/>
              </a:rPr>
              <a:t> P(x, y) </a:t>
            </a:r>
          </a:p>
          <a:p>
            <a:pPr lvl="2" algn="just"/>
            <a:r>
              <a:rPr lang="en-US" altLang="zh-TW" i="1" dirty="0">
                <a:ea typeface="新細明體" pitchFamily="18" charset="-120"/>
              </a:rPr>
              <a:t>P(</a:t>
            </a:r>
            <a:r>
              <a:rPr lang="en-US" altLang="zh-TW" i="1" dirty="0" err="1">
                <a:ea typeface="新細明體" pitchFamily="18" charset="-120"/>
              </a:rPr>
              <a:t>x,y</a:t>
            </a:r>
            <a:r>
              <a:rPr lang="en-US" altLang="zh-TW" i="1" dirty="0">
                <a:ea typeface="新細明體" pitchFamily="18" charset="-120"/>
              </a:rPr>
              <a:t>): “</a:t>
            </a:r>
            <a:r>
              <a:rPr lang="en-US" altLang="zh-TW" i="1" dirty="0" err="1">
                <a:ea typeface="新細明體" pitchFamily="18" charset="-120"/>
              </a:rPr>
              <a:t>x+y</a:t>
            </a:r>
            <a:r>
              <a:rPr lang="en-US" altLang="zh-TW" i="1" dirty="0">
                <a:ea typeface="新細明體" pitchFamily="18" charset="-120"/>
              </a:rPr>
              <a:t>=</a:t>
            </a:r>
            <a:r>
              <a:rPr lang="en-US" altLang="zh-TW" i="1" dirty="0" err="1">
                <a:ea typeface="新細明體" pitchFamily="18" charset="-120"/>
              </a:rPr>
              <a:t>y+x</a:t>
            </a:r>
            <a:r>
              <a:rPr lang="en-US" altLang="zh-TW" i="1" dirty="0">
                <a:ea typeface="新細明體" pitchFamily="18" charset="-120"/>
              </a:rPr>
              <a:t>”</a:t>
            </a:r>
          </a:p>
          <a:p>
            <a:pPr lvl="1" algn="just"/>
            <a:r>
              <a:rPr lang="en-US" altLang="zh-TW" i="1" dirty="0">
                <a:ea typeface="新細明體" pitchFamily="18" charset="-120"/>
                <a:sym typeface="Symbol" pitchFamily="18" charset="2"/>
              </a:rPr>
              <a:t></a:t>
            </a:r>
            <a:r>
              <a:rPr lang="en-US" altLang="zh-TW" i="1" dirty="0">
                <a:ea typeface="新細明體" pitchFamily="18" charset="-120"/>
              </a:rPr>
              <a:t>x </a:t>
            </a:r>
            <a:r>
              <a:rPr lang="en-US" altLang="zh-TW" dirty="0">
                <a:ea typeface="新細明體" pitchFamily="18" charset="-120"/>
                <a:sym typeface="Symbol" pitchFamily="18" charset="2"/>
              </a:rPr>
              <a:t></a:t>
            </a:r>
            <a:r>
              <a:rPr lang="en-US" altLang="zh-TW" i="1" dirty="0">
                <a:ea typeface="新細明體" pitchFamily="18" charset="-120"/>
              </a:rPr>
              <a:t>y Q(x, y) vs. </a:t>
            </a:r>
            <a:r>
              <a:rPr lang="en-US" altLang="zh-TW" dirty="0">
                <a:ea typeface="新細明體" pitchFamily="18" charset="-120"/>
                <a:sym typeface="Symbol" pitchFamily="18" charset="2"/>
              </a:rPr>
              <a:t></a:t>
            </a:r>
            <a:r>
              <a:rPr lang="en-US" altLang="zh-TW" i="1" dirty="0" err="1">
                <a:ea typeface="新細明體" pitchFamily="18" charset="-120"/>
              </a:rPr>
              <a:t>y</a:t>
            </a:r>
            <a:r>
              <a:rPr lang="en-US" altLang="zh-TW" i="1" dirty="0" err="1">
                <a:ea typeface="新細明體" pitchFamily="18" charset="-120"/>
                <a:sym typeface="Symbol" pitchFamily="18" charset="2"/>
              </a:rPr>
              <a:t></a:t>
            </a:r>
            <a:r>
              <a:rPr lang="en-US" altLang="zh-TW" i="1" dirty="0" err="1">
                <a:ea typeface="新細明體" pitchFamily="18" charset="-120"/>
              </a:rPr>
              <a:t>x</a:t>
            </a:r>
            <a:r>
              <a:rPr lang="en-US" altLang="zh-TW" i="1" dirty="0">
                <a:ea typeface="新細明體" pitchFamily="18" charset="-120"/>
              </a:rPr>
              <a:t> Q(x, y)</a:t>
            </a:r>
          </a:p>
          <a:p>
            <a:pPr lvl="2" algn="just"/>
            <a:r>
              <a:rPr lang="en-US" altLang="zh-TW" i="1" dirty="0">
                <a:ea typeface="新細明體" pitchFamily="18" charset="-120"/>
              </a:rPr>
              <a:t>Q(</a:t>
            </a:r>
            <a:r>
              <a:rPr lang="en-US" altLang="zh-TW" i="1" dirty="0" err="1">
                <a:ea typeface="新細明體" pitchFamily="18" charset="-120"/>
              </a:rPr>
              <a:t>x,y</a:t>
            </a:r>
            <a:r>
              <a:rPr lang="en-US" altLang="zh-TW" i="1" dirty="0">
                <a:ea typeface="新細明體" pitchFamily="18" charset="-120"/>
              </a:rPr>
              <a:t>): “</a:t>
            </a:r>
            <a:r>
              <a:rPr lang="en-US" altLang="zh-TW" i="1" dirty="0" err="1">
                <a:ea typeface="新細明體" pitchFamily="18" charset="-120"/>
              </a:rPr>
              <a:t>x+y</a:t>
            </a:r>
            <a:r>
              <a:rPr lang="en-US" altLang="zh-TW" i="1" dirty="0">
                <a:ea typeface="新細明體" pitchFamily="18" charset="-120"/>
              </a:rPr>
              <a:t>=0”</a:t>
            </a:r>
          </a:p>
          <a:p>
            <a:pPr lvl="1"/>
            <a:endParaRPr lang="en-US" altLang="zh-TW" i="1" dirty="0"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1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311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311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1000"/>
                                        <p:tgtEl>
                                          <p:spTgt spid="311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311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1000"/>
                                        <p:tgtEl>
                                          <p:spTgt spid="311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1000"/>
                                        <p:tgtEl>
                                          <p:spTgt spid="311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0"/>
            <a:ext cx="8305800" cy="627888"/>
          </a:xfrm>
        </p:spPr>
        <p:txBody>
          <a:bodyPr>
            <a:normAutofit/>
          </a:bodyPr>
          <a:lstStyle/>
          <a:p>
            <a:r>
              <a:rPr lang="en-US" altLang="zh-TW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新細明體" pitchFamily="18" charset="-120"/>
              </a:rPr>
              <a:t>Table : Quantification of Two variables</a:t>
            </a:r>
            <a:endParaRPr lang="en-US" altLang="zh-TW" sz="2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新細明體" pitchFamily="18" charset="-120"/>
            </a:endParaRPr>
          </a:p>
        </p:txBody>
      </p:sp>
      <p:pic>
        <p:nvPicPr>
          <p:cNvPr id="235523" name="Picture 3" descr="t01_4_001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t="21193" r="-139"/>
          <a:stretch>
            <a:fillRect/>
          </a:stretch>
        </p:blipFill>
        <p:spPr bwMode="auto">
          <a:xfrm>
            <a:off x="609600" y="2362200"/>
            <a:ext cx="7597155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235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5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35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3" dur="1000"/>
                                        <p:tgtEl>
                                          <p:spTgt spid="235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Custom 6">
      <a:dk1>
        <a:srgbClr val="72003D"/>
      </a:dk1>
      <a:lt1>
        <a:srgbClr val="75005F"/>
      </a:lt1>
      <a:dk2>
        <a:srgbClr val="FF99FF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10968</TotalTime>
  <Words>1654</Words>
  <Application>Microsoft Office PowerPoint</Application>
  <PresentationFormat>On-screen Show (4:3)</PresentationFormat>
  <Paragraphs>194</Paragraphs>
  <Slides>21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  <vt:variant>
        <vt:lpstr>Custom Shows</vt:lpstr>
      </vt:variant>
      <vt:variant>
        <vt:i4>1</vt:i4>
      </vt:variant>
    </vt:vector>
  </HeadingPairs>
  <TitlesOfParts>
    <vt:vector size="23" baseType="lpstr">
      <vt:lpstr>Flow</vt:lpstr>
      <vt:lpstr>Predicates and Quantifiers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Table : Quantification of Two variables</vt:lpstr>
      <vt:lpstr>Custom Show 1</vt:lpstr>
    </vt:vector>
  </TitlesOfParts>
  <Company>York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 Pomplun</dc:creator>
  <cp:lastModifiedBy>HP</cp:lastModifiedBy>
  <cp:revision>243</cp:revision>
  <dcterms:created xsi:type="dcterms:W3CDTF">2001-02-24T00:16:35Z</dcterms:created>
  <dcterms:modified xsi:type="dcterms:W3CDTF">2015-02-24T05:20:04Z</dcterms:modified>
</cp:coreProperties>
</file>