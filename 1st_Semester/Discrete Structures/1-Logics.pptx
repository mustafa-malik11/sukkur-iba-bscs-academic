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316" r:id="rId2"/>
    <p:sldId id="317" r:id="rId3"/>
    <p:sldId id="339" r:id="rId4"/>
    <p:sldId id="319" r:id="rId5"/>
    <p:sldId id="345" r:id="rId6"/>
    <p:sldId id="346" r:id="rId7"/>
    <p:sldId id="347" r:id="rId8"/>
    <p:sldId id="320" r:id="rId9"/>
    <p:sldId id="349" r:id="rId10"/>
    <p:sldId id="355" r:id="rId11"/>
    <p:sldId id="356" r:id="rId12"/>
    <p:sldId id="322" r:id="rId13"/>
    <p:sldId id="357" r:id="rId14"/>
    <p:sldId id="358" r:id="rId15"/>
    <p:sldId id="325" r:id="rId16"/>
    <p:sldId id="359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15" r:id="rId25"/>
    <p:sldId id="335" r:id="rId26"/>
    <p:sldId id="360" r:id="rId27"/>
    <p:sldId id="336" r:id="rId28"/>
    <p:sldId id="361" r:id="rId29"/>
    <p:sldId id="362" r:id="rId30"/>
    <p:sldId id="382" r:id="rId31"/>
    <p:sldId id="338" r:id="rId32"/>
    <p:sldId id="363" r:id="rId33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CA"/>
    </a:defPPr>
    <a:lvl1pPr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1pPr>
    <a:lvl2pPr marL="4572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2pPr>
    <a:lvl3pPr marL="9144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3pPr>
    <a:lvl4pPr marL="13716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4pPr>
    <a:lvl5pPr marL="1828800" algn="l" rtl="0" fontAlgn="base">
      <a:spcBef>
        <a:spcPct val="20000"/>
      </a:spcBef>
      <a:spcAft>
        <a:spcPct val="0"/>
      </a:spcAft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5pPr>
    <a:lvl6pPr marL="22860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6pPr>
    <a:lvl7pPr marL="27432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7pPr>
    <a:lvl8pPr marL="32004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8pPr>
    <a:lvl9pPr marL="3657600" algn="l" defTabSz="914400" rtl="0" eaLnBrk="1" latinLnBrk="0" hangingPunct="1">
      <a:defRPr sz="2800" kern="1200">
        <a:solidFill>
          <a:srgbClr val="FFFF00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omic Sans MS" pitchFamily="66" charset="0"/>
        <a:ea typeface="+mn-ea"/>
        <a:cs typeface="+mn-cs"/>
        <a:sym typeface="Symbol" pitchFamily="18" charset="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FF"/>
    <a:srgbClr val="00CC00"/>
    <a:srgbClr val="FF3300"/>
    <a:srgbClr val="66FF33"/>
    <a:srgbClr val="00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5" autoAdjust="0"/>
    <p:restoredTop sz="90929"/>
  </p:normalViewPr>
  <p:slideViewPr>
    <p:cSldViewPr>
      <p:cViewPr varScale="1">
        <p:scale>
          <a:sx n="98" d="100"/>
          <a:sy n="98" d="100"/>
        </p:scale>
        <p:origin x="135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77A112-BAB3-48E2-8C6B-03945F003C99}" type="datetimeFigureOut">
              <a:rPr lang="en-US"/>
              <a:pPr>
                <a:defRPr/>
              </a:pPr>
              <a:t>2/9/2017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94B48B-80CC-465B-8DA4-AF72EA287F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72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424761D2-6B99-4A5F-A82A-3BACA6AE0B5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76315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6BC0A2-CC07-4ACA-A0DB-C3CFB309EBAA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260AA0-0669-4126-B4D9-A79F583096E9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EECD52-4D58-449F-A47D-FC09C27B2651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188AE5-1CDC-4336-BF52-0E6362246B4D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DADAE5-353A-411D-847E-4DAB6F1CD6E1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5DFE19-C106-4FF0-A912-11F5CED32BDB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F46B92-805C-4373-8AD1-B5196888E5F2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CD72B7-9688-4FFF-B101-216203F90F6C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2658422A-CD8B-47F9-B450-C5468E22A1A8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3F374-61B2-49F7-9B3A-E4CCB7C0F844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B07D19-BBF7-4582-A657-94E8F5CCC39B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B7655F-ACC2-4BFC-90C8-70F8FE038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AEBC3B-C501-49AF-AC61-BAA2C4ABCD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66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566863"/>
            <a:ext cx="7772400" cy="45291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Discussion #10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0EFB8D-D931-40DB-BD77-367CAA4988CF}" type="slidenum">
              <a:rPr lang="en-US"/>
              <a:pPr>
                <a:defRPr/>
              </a:pPr>
              <a:t>‹#›</a:t>
            </a:fld>
            <a:r>
              <a:rPr lang="en-US"/>
              <a:t>/19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January 29, 2013</a:t>
            </a:r>
            <a:endParaRPr lang="en-CA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Applied Discrete Mathematics                                                   Week 1: Logic and Sets</a:t>
            </a:r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878B78F6-A932-4FAA-9CC9-1C60908B615B}" type="slidenum">
              <a:rPr lang="en-CA" smtClean="0"/>
              <a:pPr>
                <a:defRPr/>
              </a:pPr>
              <a:t>‹#›</a:t>
            </a:fld>
            <a:endParaRPr lang="en-CA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600200"/>
            <a:ext cx="7772400" cy="19335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dirty="0"/>
              <a:t>Chapter 1: The Foundations: Logic, Sets and Functions</a:t>
            </a:r>
          </a:p>
        </p:txBody>
      </p:sp>
      <p:sp>
        <p:nvSpPr>
          <p:cNvPr id="614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95BB35-6DB3-462F-8028-8270179B2264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533400"/>
            <a:ext cx="88392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algn="ctr">
              <a:lnSpc>
                <a:spcPct val="90000"/>
              </a:lnSpc>
              <a:buNone/>
            </a:pPr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Proposition:</a:t>
            </a:r>
          </a:p>
          <a:p>
            <a:pPr marL="0" algn="just" eaLnBrk="1" hangingPunct="1">
              <a:lnSpc>
                <a:spcPct val="90000"/>
              </a:lnSpc>
              <a:buNone/>
            </a:pPr>
            <a:r>
              <a:rPr lang="en-US" dirty="0"/>
              <a:t>A </a:t>
            </a:r>
            <a:r>
              <a:rPr lang="en-US" b="1" dirty="0"/>
              <a:t>proposition</a:t>
            </a:r>
            <a:r>
              <a:rPr lang="en-US" dirty="0"/>
              <a:t> is a statement that is either </a:t>
            </a:r>
            <a:r>
              <a:rPr lang="en-US" i="1" u="sng" dirty="0"/>
              <a:t>true</a:t>
            </a:r>
            <a:r>
              <a:rPr lang="en-US" dirty="0"/>
              <a:t> or </a:t>
            </a:r>
            <a:r>
              <a:rPr lang="en-US" i="1" u="sng" dirty="0"/>
              <a:t>false</a:t>
            </a:r>
            <a:r>
              <a:rPr lang="en-US" dirty="0"/>
              <a:t>, but </a:t>
            </a:r>
            <a:r>
              <a:rPr lang="en-US" i="1" u="sng" dirty="0"/>
              <a:t>not both</a:t>
            </a:r>
            <a:r>
              <a:rPr lang="en-US" dirty="0"/>
              <a:t>.</a:t>
            </a:r>
          </a:p>
          <a:p>
            <a:pPr marL="0" algn="just" eaLnBrk="1" hangingPunct="1">
              <a:lnSpc>
                <a:spcPct val="90000"/>
              </a:lnSpc>
              <a:buNone/>
            </a:pPr>
            <a:endParaRPr lang="en-US" dirty="0"/>
          </a:p>
          <a:p>
            <a:pPr marL="0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dirty="0"/>
              <a:t>Statements are declarative sentences.</a:t>
            </a:r>
          </a:p>
          <a:p>
            <a:pPr marL="0" algn="just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en-US" dirty="0"/>
          </a:p>
          <a:p>
            <a:pPr marL="0"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Propositional Logic:</a:t>
            </a:r>
          </a:p>
          <a:p>
            <a:pPr marL="0" algn="just">
              <a:lnSpc>
                <a:spcPct val="90000"/>
              </a:lnSpc>
              <a:buNone/>
            </a:pPr>
            <a:r>
              <a:rPr lang="en-US" dirty="0"/>
              <a:t>The area of logic that deals with propositions.</a:t>
            </a:r>
          </a:p>
          <a:p>
            <a:pPr marL="0" algn="just" eaLnBrk="1" hangingPunct="1">
              <a:lnSpc>
                <a:spcPct val="90000"/>
              </a:lnSpc>
              <a:buNone/>
            </a:pPr>
            <a:endParaRPr lang="en-US" dirty="0"/>
          </a:p>
          <a:p>
            <a:pPr marL="0" eaLnBrk="1" hangingPunct="1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179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6EF9FC-4294-4853-96CE-89347551F35D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229600" cy="914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3200" dirty="0"/>
              <a:t>“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Elephants are bigger than mice</a:t>
            </a:r>
            <a:r>
              <a:rPr lang="en-US" sz="3200" dirty="0"/>
              <a:t>.”</a:t>
            </a:r>
            <a:endParaRPr lang="en-US" sz="2800" dirty="0"/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1pPr>
            <a:lvl2pPr marL="742950" indent="-28575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2pPr>
            <a:lvl3pPr marL="11430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3pPr>
            <a:lvl4pPr marL="16002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4pPr>
            <a:lvl5pPr marL="20574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9pPr>
          </a:lstStyle>
          <a:p>
            <a:pPr eaLnBrk="1" hangingPunct="1"/>
            <a:fld id="{7FC5A135-3FF0-4A86-B185-00098F6E3B60}" type="slidenum">
              <a:rPr lang="en-CA" sz="1400" smtClean="0">
                <a:solidFill>
                  <a:srgbClr val="00CCFF"/>
                </a:solidFill>
                <a:latin typeface="Times New Roman" pitchFamily="18" charset="0"/>
              </a:rPr>
              <a:pPr eaLnBrk="1" hangingPunct="1"/>
              <a:t>3</a:t>
            </a:fld>
            <a:endParaRPr lang="en-CA" sz="1400">
              <a:solidFill>
                <a:srgbClr val="00CCFF"/>
              </a:solidFill>
              <a:latin typeface="Times New Roman" pitchFamily="18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57200" y="1752600"/>
            <a:ext cx="441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statement?</a:t>
            </a:r>
          </a:p>
          <a:p>
            <a:pPr marL="342900" indent="-342900"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proposition?</a:t>
            </a:r>
          </a:p>
          <a:p>
            <a:pPr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What is the truth value </a:t>
            </a:r>
          </a:p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of the proposition?</a:t>
            </a:r>
          </a:p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5715000" y="1752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yes</a:t>
            </a: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457200" y="3429000"/>
            <a:ext cx="441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5715000" y="2895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yes</a:t>
            </a: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5715000" y="41910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bldLvl="2" autoUpdateAnimBg="0"/>
      <p:bldP spid="55300" grpId="0" uiExpand="1" build="p" bldLvl="2" autoUpdateAnimBg="0"/>
      <p:bldP spid="55301" grpId="0" build="p" bldLvl="2" autoUpdateAnimBg="0"/>
      <p:bldP spid="55302" grpId="0" build="p" bldLvl="2" autoUpdateAnimBg="0"/>
      <p:bldP spid="55303" grpId="0" build="p" bldLvl="2" autoUpdateAnimBg="0"/>
      <p:bldP spid="55305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NEGATION</a:t>
            </a:r>
            <a:r>
              <a:rPr lang="en-US" sz="3200" dirty="0"/>
              <a:t> (Unary Operator)</a:t>
            </a:r>
            <a:endParaRPr lang="en-US" sz="3000" u="sng" dirty="0"/>
          </a:p>
          <a:p>
            <a:pPr marL="0">
              <a:buNone/>
            </a:pPr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a proposition. The negation of </a:t>
            </a:r>
            <a:r>
              <a:rPr lang="en-US" i="1" dirty="0"/>
              <a:t>p</a:t>
            </a:r>
            <a:r>
              <a:rPr lang="en-US" dirty="0"/>
              <a:t>, denoted by ¬</a:t>
            </a:r>
            <a:r>
              <a:rPr lang="en-US" i="1" dirty="0"/>
              <a:t>p</a:t>
            </a:r>
            <a:r>
              <a:rPr lang="en-US" dirty="0"/>
              <a:t>, is the statement  </a:t>
            </a:r>
            <a:r>
              <a:rPr lang="en-US" u="sng" dirty="0"/>
              <a:t>“It is not the case that </a:t>
            </a:r>
            <a:r>
              <a:rPr lang="en-US" i="1" u="sng" dirty="0"/>
              <a:t>p</a:t>
            </a:r>
            <a:r>
              <a:rPr lang="en-US" u="sng" dirty="0"/>
              <a:t>.”</a:t>
            </a:r>
          </a:p>
          <a:p>
            <a:pPr marL="0">
              <a:buFont typeface="Wingdings" pitchFamily="2" charset="2"/>
              <a:buChar char="Ø"/>
            </a:pPr>
            <a:r>
              <a:rPr lang="en-US" dirty="0"/>
              <a:t>The proposition ¬</a:t>
            </a:r>
            <a:r>
              <a:rPr lang="en-US" i="1" dirty="0"/>
              <a:t>p</a:t>
            </a:r>
            <a:r>
              <a:rPr lang="en-US" dirty="0"/>
              <a:t> is read as “not </a:t>
            </a:r>
            <a:r>
              <a:rPr lang="en-US" i="1" dirty="0"/>
              <a:t>p</a:t>
            </a:r>
            <a:r>
              <a:rPr lang="en-US" dirty="0"/>
              <a:t>.”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en-US" sz="2800" dirty="0"/>
              <a:t>Examples</a:t>
            </a:r>
          </a:p>
          <a:p>
            <a:pPr lvl="1" algn="just" eaLnBrk="1" hangingPunct="1"/>
            <a:r>
              <a:rPr lang="en-US" sz="2800" i="1" dirty="0"/>
              <a:t>p</a:t>
            </a:r>
            <a:r>
              <a:rPr lang="en-US" sz="2800" dirty="0"/>
              <a:t>:Today is Friday.</a:t>
            </a:r>
          </a:p>
          <a:p>
            <a:pPr lvl="1" algn="just"/>
            <a:r>
              <a:rPr lang="en-US" sz="2800" dirty="0"/>
              <a:t>¬</a:t>
            </a:r>
            <a:r>
              <a:rPr lang="en-US" sz="2800" i="1" dirty="0"/>
              <a:t>p: </a:t>
            </a:r>
            <a:r>
              <a:rPr lang="en-US" sz="2800" dirty="0"/>
              <a:t>Today is not Friday.</a:t>
            </a:r>
          </a:p>
          <a:p>
            <a:pPr lvl="1" algn="just">
              <a:buNone/>
            </a:pPr>
            <a:r>
              <a:rPr lang="en-US" sz="2800" dirty="0"/>
              <a:t>                    or</a:t>
            </a:r>
          </a:p>
          <a:p>
            <a:pPr lvl="1" algn="just">
              <a:buNone/>
            </a:pPr>
            <a:r>
              <a:rPr lang="en-US" sz="2800" dirty="0"/>
              <a:t>         It is not Friday today.</a:t>
            </a:r>
          </a:p>
          <a:p>
            <a:pPr marL="0" lvl="1" algn="just">
              <a:buFont typeface="Wingdings" pitchFamily="2" charset="2"/>
              <a:buChar char="Ø"/>
            </a:pPr>
            <a:r>
              <a:rPr lang="en-US" sz="2800" dirty="0"/>
              <a:t>Truth tables are used to display relationships between the truth value of propositions.</a:t>
            </a:r>
          </a:p>
          <a:p>
            <a:pPr lvl="1" algn="just" eaLnBrk="1" hangingPunct="1"/>
            <a:endParaRPr lang="en-US" sz="2000" dirty="0"/>
          </a:p>
          <a:p>
            <a:pPr lvl="1" algn="just" eaLnBrk="1" hangingPunct="1"/>
            <a:endParaRPr lang="en-US" sz="2000" dirty="0"/>
          </a:p>
          <a:p>
            <a:pPr lvl="1" algn="just" eaLnBrk="1" hangingPunct="1"/>
            <a:endParaRPr lang="en-US" sz="2000" dirty="0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9224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4EFE4F-70D6-4AAE-8179-4797A12EE723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229600" cy="914400"/>
          </a:xfrm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“520 &lt; 111”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1pPr>
            <a:lvl2pPr marL="742950" indent="-28575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2pPr>
            <a:lvl3pPr marL="11430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3pPr>
            <a:lvl4pPr marL="16002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4pPr>
            <a:lvl5pPr marL="20574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9pPr>
          </a:lstStyle>
          <a:p>
            <a:pPr eaLnBrk="1" hangingPunct="1"/>
            <a:fld id="{7FC5A135-3FF0-4A86-B185-00098F6E3B60}" type="slidenum">
              <a:rPr lang="en-CA" sz="1400" smtClean="0">
                <a:solidFill>
                  <a:srgbClr val="00CCFF"/>
                </a:solidFill>
                <a:latin typeface="Times New Roman" pitchFamily="18" charset="0"/>
              </a:rPr>
              <a:pPr eaLnBrk="1" hangingPunct="1"/>
              <a:t>5</a:t>
            </a:fld>
            <a:endParaRPr lang="en-CA" sz="1400">
              <a:solidFill>
                <a:srgbClr val="00CCFF"/>
              </a:solidFill>
              <a:latin typeface="Times New Roman" pitchFamily="18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57200" y="1752600"/>
            <a:ext cx="441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statement?</a:t>
            </a:r>
          </a:p>
          <a:p>
            <a:pPr marL="342900" indent="-342900"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proposition?</a:t>
            </a:r>
          </a:p>
          <a:p>
            <a:pPr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What is the truth value </a:t>
            </a:r>
          </a:p>
          <a:p>
            <a:pPr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of the proposition?</a:t>
            </a:r>
          </a:p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5715000" y="1752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yes</a:t>
            </a: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457200" y="3429000"/>
            <a:ext cx="441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5715000" y="2895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yes</a:t>
            </a: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5715000" y="41910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false</a:t>
            </a:r>
            <a:endParaRPr lang="en-US" sz="3200" dirty="0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55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bldLvl="2" autoUpdateAnimBg="0"/>
      <p:bldP spid="55300" grpId="0" build="p" bldLvl="2" autoUpdateAnimBg="0"/>
      <p:bldP spid="55301" grpId="0" build="p" bldLvl="2" autoUpdateAnimBg="0"/>
      <p:bldP spid="55302" grpId="0" build="p" bldLvl="2" autoUpdateAnimBg="0"/>
      <p:bldP spid="55303" grpId="0" build="p" bldLvl="2" autoUpdateAnimBg="0"/>
      <p:bldP spid="55305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229600" cy="914400"/>
          </a:xfrm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“y &gt; 5”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1pPr>
            <a:lvl2pPr marL="742950" indent="-28575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2pPr>
            <a:lvl3pPr marL="11430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3pPr>
            <a:lvl4pPr marL="16002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4pPr>
            <a:lvl5pPr marL="20574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9pPr>
          </a:lstStyle>
          <a:p>
            <a:pPr eaLnBrk="1" hangingPunct="1"/>
            <a:fld id="{7FC5A135-3FF0-4A86-B185-00098F6E3B60}" type="slidenum">
              <a:rPr lang="en-CA" sz="1400" smtClean="0">
                <a:solidFill>
                  <a:srgbClr val="00CCFF"/>
                </a:solidFill>
                <a:latin typeface="Times New Roman" pitchFamily="18" charset="0"/>
              </a:rPr>
              <a:pPr eaLnBrk="1" hangingPunct="1"/>
              <a:t>6</a:t>
            </a:fld>
            <a:endParaRPr lang="en-CA" sz="1400">
              <a:solidFill>
                <a:srgbClr val="00CCFF"/>
              </a:solidFill>
              <a:latin typeface="Times New Roman" pitchFamily="18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57200" y="1752600"/>
            <a:ext cx="502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statement?</a:t>
            </a:r>
          </a:p>
          <a:p>
            <a:pPr marL="342900" indent="-342900"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proposition?</a:t>
            </a:r>
          </a:p>
          <a:p>
            <a:pPr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 algn="just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Its truth value depends on the value of y, but this value is not specified.</a:t>
            </a:r>
          </a:p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5715000" y="1752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yes</a:t>
            </a: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457200" y="3429000"/>
            <a:ext cx="441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5715000" y="2895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no</a:t>
            </a:r>
            <a:endParaRPr lang="en-US" sz="3200" dirty="0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bldLvl="2" autoUpdateAnimBg="0"/>
      <p:bldP spid="55300" grpId="0" build="p" bldLvl="2" autoUpdateAnimBg="0"/>
      <p:bldP spid="55301" grpId="0" build="p" bldLvl="2" autoUpdateAnimBg="0"/>
      <p:bldP spid="55303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229600" cy="914400"/>
          </a:xfrm>
        </p:spPr>
        <p:txBody>
          <a:bodyPr/>
          <a:lstStyle/>
          <a:p>
            <a:pPr algn="ctr"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“What time is it?”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1pPr>
            <a:lvl2pPr marL="742950" indent="-28575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2pPr>
            <a:lvl3pPr marL="11430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3pPr>
            <a:lvl4pPr marL="16002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4pPr>
            <a:lvl5pPr marL="20574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9pPr>
          </a:lstStyle>
          <a:p>
            <a:pPr eaLnBrk="1" hangingPunct="1"/>
            <a:fld id="{7FC5A135-3FF0-4A86-B185-00098F6E3B60}" type="slidenum">
              <a:rPr lang="en-CA" sz="1400" smtClean="0">
                <a:solidFill>
                  <a:srgbClr val="00CCFF"/>
                </a:solidFill>
                <a:latin typeface="Times New Roman" pitchFamily="18" charset="0"/>
              </a:rPr>
              <a:pPr eaLnBrk="1" hangingPunct="1"/>
              <a:t>7</a:t>
            </a:fld>
            <a:endParaRPr lang="en-CA" sz="1400">
              <a:solidFill>
                <a:srgbClr val="00CCFF"/>
              </a:solidFill>
              <a:latin typeface="Times New Roman" pitchFamily="18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57200" y="1752600"/>
            <a:ext cx="502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statement?</a:t>
            </a:r>
          </a:p>
          <a:p>
            <a:pPr marL="342900" indent="-342900"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 marL="342900" indent="-342900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Is this a proposition?</a:t>
            </a:r>
          </a:p>
          <a:p>
            <a:pPr>
              <a:defRPr/>
            </a:pPr>
            <a:endParaRPr lang="en-US" sz="3200" dirty="0">
              <a:solidFill>
                <a:schemeClr val="tx1"/>
              </a:solidFill>
              <a:effectLst/>
              <a:latin typeface="Constantia" pitchFamily="18" charset="0"/>
            </a:endParaRPr>
          </a:p>
          <a:p>
            <a:pPr algn="just">
              <a:defRPr/>
            </a:pPr>
            <a:r>
              <a:rPr lang="en-US" sz="3200" dirty="0">
                <a:solidFill>
                  <a:schemeClr val="tx1"/>
                </a:solidFill>
                <a:effectLst/>
                <a:latin typeface="Constantia" pitchFamily="18" charset="0"/>
              </a:rPr>
              <a:t>A proposition has to be a statement.</a:t>
            </a:r>
          </a:p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5715000" y="1752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no</a:t>
            </a:r>
            <a:endParaRPr lang="en-US" sz="3200" dirty="0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marL="342900" indent="-342900">
              <a:defRPr/>
            </a:pPr>
            <a:endParaRPr lang="en-US" sz="3200" dirty="0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457200" y="3429000"/>
            <a:ext cx="441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5715000" y="2895600"/>
            <a:ext cx="114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defRPr/>
            </a:pPr>
            <a:r>
              <a:rPr lang="en-US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no</a:t>
            </a:r>
            <a:endParaRPr lang="en-US" sz="3200" dirty="0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bldLvl="2" autoUpdateAnimBg="0"/>
      <p:bldP spid="55300" grpId="0" build="p" bldLvl="2" autoUpdateAnimBg="0"/>
      <p:bldP spid="55301" grpId="0" build="p" bldLvl="2" autoUpdateAnimBg="0"/>
      <p:bldP spid="55303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382000" cy="52578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Truth table:</a:t>
            </a:r>
            <a:endParaRPr lang="en-US" sz="2800" b="1" dirty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sz="28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algn="just" eaLnBrk="1" hangingPunct="1">
              <a:buFont typeface="Wingdings" pitchFamily="2" charset="2"/>
              <a:buChar char="Ø"/>
            </a:pPr>
            <a:r>
              <a:rPr lang="en-US" sz="2800" b="1" i="1" u="sng" dirty="0"/>
              <a:t>Logical operators</a:t>
            </a:r>
            <a:r>
              <a:rPr lang="en-US" sz="2800" b="1" i="1" dirty="0"/>
              <a:t> </a:t>
            </a:r>
            <a:r>
              <a:rPr lang="en-US" sz="2800" dirty="0"/>
              <a:t>are used to form new propositions from two or more existing propositions. The logical operators are also called </a:t>
            </a:r>
            <a:r>
              <a:rPr lang="en-US" sz="2800" b="1" i="1" u="sng" dirty="0"/>
              <a:t>connectives</a:t>
            </a:r>
            <a:r>
              <a:rPr lang="en-US" sz="2000" b="1" i="1" u="sng" dirty="0"/>
              <a:t>.</a:t>
            </a:r>
          </a:p>
          <a:p>
            <a:pPr lvl="1" eaLnBrk="1" hangingPunct="1"/>
            <a:endParaRPr lang="en-US" sz="1800" dirty="0">
              <a:solidFill>
                <a:schemeClr val="hlink"/>
              </a:solidFill>
            </a:endParaRPr>
          </a:p>
          <a:p>
            <a:pPr lvl="1" eaLnBrk="1" hangingPunct="1"/>
            <a:endParaRPr lang="en-US" sz="1800" dirty="0">
              <a:solidFill>
                <a:schemeClr val="hlink"/>
              </a:solidFill>
            </a:endParaRPr>
          </a:p>
          <a:p>
            <a:pPr lvl="1" eaLnBrk="1" hangingPunct="1"/>
            <a:endParaRPr lang="en-US" sz="2300" dirty="0"/>
          </a:p>
          <a:p>
            <a:pPr lvl="1" eaLnBrk="1" hangingPunct="1"/>
            <a:endParaRPr lang="en-US" sz="23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13358" name="Group 46"/>
          <p:cNvGraphicFramePr>
            <a:graphicFrameLocks noGrp="1"/>
          </p:cNvGraphicFramePr>
          <p:nvPr>
            <p:ph sz="half" idx="2"/>
          </p:nvPr>
        </p:nvGraphicFramePr>
        <p:xfrm>
          <a:off x="2667000" y="1909445"/>
          <a:ext cx="3352800" cy="1900555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1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Truth Table for the Negation of a Proposition.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¬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58" name="Slide Number Placeholder 1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F1A6A5-78AC-4EAE-956E-51CB412EE19E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itchFamily="18" charset="0"/>
              </a:rPr>
              <a:t>LOGICAL OPERATORS (CONNECTIVES)</a:t>
            </a:r>
            <a:endParaRPr lang="en-CA" sz="2800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itchFamily="18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153400" cy="46482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25000"/>
              </a:spcBef>
              <a:spcAft>
                <a:spcPct val="4000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Conjunction 	(AND)</a:t>
            </a:r>
          </a:p>
          <a:p>
            <a:pPr marL="0" indent="0" eaLnBrk="1" hangingPunct="1">
              <a:lnSpc>
                <a:spcPct val="90000"/>
              </a:lnSpc>
              <a:spcBef>
                <a:spcPct val="25000"/>
              </a:spcBef>
              <a:buFont typeface="Wingdings" pitchFamily="2" charset="2"/>
              <a:buChar char="Ø"/>
              <a:defRPr/>
            </a:pPr>
            <a:r>
              <a:rPr lang="en-US" sz="2800" dirty="0"/>
              <a:t> Disjunction 	(OR)</a:t>
            </a:r>
          </a:p>
          <a:p>
            <a:pPr marL="0" indent="0" eaLnBrk="1" hangingPunct="1">
              <a:lnSpc>
                <a:spcPct val="90000"/>
              </a:lnSpc>
              <a:spcBef>
                <a:spcPct val="25000"/>
              </a:spcBef>
              <a:buFont typeface="Wingdings" pitchFamily="2" charset="2"/>
              <a:buChar char="Ø"/>
              <a:defRPr/>
            </a:pPr>
            <a:r>
              <a:rPr lang="en-US" sz="2800" dirty="0"/>
              <a:t> Exclusive or 	(XOR)</a:t>
            </a:r>
          </a:p>
          <a:p>
            <a:pPr marL="0" indent="0" eaLnBrk="1" hangingPunct="1">
              <a:lnSpc>
                <a:spcPct val="90000"/>
              </a:lnSpc>
              <a:spcBef>
                <a:spcPct val="25000"/>
              </a:spcBef>
              <a:buFont typeface="Wingdings" pitchFamily="2" charset="2"/>
              <a:buChar char="Ø"/>
              <a:defRPr/>
            </a:pPr>
            <a:r>
              <a:rPr lang="en-US" sz="2800" dirty="0"/>
              <a:t> Implication        (if – then)</a:t>
            </a:r>
          </a:p>
          <a:p>
            <a:pPr marL="0" indent="0" eaLnBrk="1" hangingPunct="1">
              <a:lnSpc>
                <a:spcPct val="90000"/>
              </a:lnSpc>
              <a:spcBef>
                <a:spcPct val="25000"/>
              </a:spcBef>
              <a:spcAft>
                <a:spcPct val="40000"/>
              </a:spcAft>
              <a:buFont typeface="Wingdings" pitchFamily="2" charset="2"/>
              <a:buChar char="Ø"/>
              <a:defRPr/>
            </a:pPr>
            <a:r>
              <a:rPr lang="en-US" sz="2800" dirty="0"/>
              <a:t> </a:t>
            </a:r>
            <a:r>
              <a:rPr lang="en-US" sz="2800" dirty="0" err="1"/>
              <a:t>Biconditional</a:t>
            </a:r>
            <a:r>
              <a:rPr lang="en-US" sz="2800" dirty="0"/>
              <a:t>  	(if and only if)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1pPr>
            <a:lvl2pPr marL="742950" indent="-28575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2pPr>
            <a:lvl3pPr marL="11430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3pPr>
            <a:lvl4pPr marL="16002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4pPr>
            <a:lvl5pPr marL="2057400" indent="-228600" eaLnBrk="0" hangingPunct="0"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rgbClr val="FFFF00"/>
                </a:solidFill>
                <a:latin typeface="Comic Sans MS" pitchFamily="66" charset="0"/>
                <a:sym typeface="Symbol" pitchFamily="18" charset="2"/>
              </a:defRPr>
            </a:lvl9pPr>
          </a:lstStyle>
          <a:p>
            <a:pPr eaLnBrk="1" hangingPunct="1"/>
            <a:fld id="{6F5506BF-B126-4F6A-AE03-D1A552A1BF54}" type="slidenum">
              <a:rPr lang="en-CA" sz="1400" smtClean="0">
                <a:solidFill>
                  <a:srgbClr val="00CCFF"/>
                </a:solidFill>
                <a:latin typeface="Times New Roman" pitchFamily="18" charset="0"/>
              </a:rPr>
              <a:pPr eaLnBrk="1" hangingPunct="1"/>
              <a:t>9</a:t>
            </a:fld>
            <a:endParaRPr lang="en-CA" sz="1400">
              <a:solidFill>
                <a:srgbClr val="00CCFF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uiExpand="1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533400"/>
            <a:ext cx="86868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CONJUNCTION</a:t>
            </a:r>
            <a:r>
              <a:rPr 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: (Binary Operator)</a:t>
            </a:r>
            <a:endParaRPr lang="en-US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>
              <a:buNone/>
            </a:pPr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be propositions. The </a:t>
            </a:r>
            <a:r>
              <a:rPr lang="en-US" i="1" u="sng" dirty="0"/>
              <a:t>conjunction</a:t>
            </a:r>
            <a:r>
              <a:rPr lang="en-US" dirty="0"/>
              <a:t> of </a:t>
            </a:r>
            <a:r>
              <a:rPr lang="en-US" i="1" dirty="0"/>
              <a:t>p </a:t>
            </a:r>
            <a:r>
              <a:rPr lang="en-US" dirty="0"/>
              <a:t>and </a:t>
            </a:r>
            <a:r>
              <a:rPr lang="en-US" i="1" dirty="0"/>
              <a:t>q</a:t>
            </a:r>
            <a:r>
              <a:rPr lang="en-US" dirty="0"/>
              <a:t>, denoted by </a:t>
            </a:r>
            <a:r>
              <a:rPr lang="en-US" i="1" dirty="0"/>
              <a:t>p</a:t>
            </a:r>
            <a:r>
              <a:rPr lang="el-GR" dirty="0"/>
              <a:t>Λ</a:t>
            </a:r>
            <a:r>
              <a:rPr lang="en-US" i="1" dirty="0"/>
              <a:t>q</a:t>
            </a:r>
            <a:r>
              <a:rPr lang="en-US" dirty="0"/>
              <a:t>, is the proposition “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” which is true when both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 </a:t>
            </a:r>
            <a:r>
              <a:rPr lang="en-US" dirty="0"/>
              <a:t>are true and is false otherwise. 		</a:t>
            </a:r>
          </a:p>
          <a:p>
            <a:pPr eaLnBrk="1" hangingPunct="1"/>
            <a:endParaRPr lang="en-US" sz="2800" dirty="0"/>
          </a:p>
          <a:p>
            <a:pPr eaLnBrk="1" hangingPunct="1">
              <a:buNone/>
            </a:pPr>
            <a:r>
              <a:rPr lang="en-US" sz="2800" dirty="0"/>
              <a:t>Examples</a:t>
            </a:r>
          </a:p>
          <a:p>
            <a:pPr eaLnBrk="1" hangingPunct="1">
              <a:buNone/>
            </a:pPr>
            <a:r>
              <a:rPr lang="en-US" sz="2800" i="1" dirty="0"/>
              <a:t>p</a:t>
            </a:r>
            <a:r>
              <a:rPr lang="en-US" sz="2800" dirty="0"/>
              <a:t>:“Today is Friday.” </a:t>
            </a:r>
          </a:p>
          <a:p>
            <a:pPr eaLnBrk="1" hangingPunct="1">
              <a:buNone/>
            </a:pPr>
            <a:r>
              <a:rPr lang="en-US" sz="2800" i="1" dirty="0"/>
              <a:t>q</a:t>
            </a:r>
            <a:r>
              <a:rPr lang="en-US" sz="2800" dirty="0"/>
              <a:t>:“It is raining today.”</a:t>
            </a:r>
          </a:p>
          <a:p>
            <a:pPr>
              <a:buNone/>
            </a:pPr>
            <a:r>
              <a:rPr lang="en-US" sz="2800" i="1" dirty="0"/>
              <a:t>p </a:t>
            </a:r>
            <a:r>
              <a:rPr lang="el-GR" sz="2800" dirty="0">
                <a:cs typeface="Arial" charset="0"/>
              </a:rPr>
              <a:t>Λ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i="1" dirty="0"/>
              <a:t>q</a:t>
            </a:r>
            <a:r>
              <a:rPr lang="en-US" sz="2800" dirty="0"/>
              <a:t>: “Today is Friday  and it is raining today”.</a:t>
            </a:r>
            <a:r>
              <a:rPr lang="en-US" sz="2800" i="1" dirty="0"/>
              <a:t> </a:t>
            </a: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The proposition is true on rainy Fridays.</a:t>
            </a:r>
          </a:p>
          <a:p>
            <a:pPr lvl="1" eaLnBrk="1" hangingPunct="1">
              <a:buFont typeface="Wingdings" pitchFamily="2" charset="2"/>
              <a:buNone/>
            </a:pPr>
            <a:endParaRPr lang="en-US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447800" y="4387850"/>
            <a:ext cx="6858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	</a:t>
            </a:r>
          </a:p>
        </p:txBody>
      </p:sp>
      <p:sp>
        <p:nvSpPr>
          <p:cNvPr id="1127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185782-A8F2-4A47-B98D-1E1256A2AF0B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3820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Truth table :</a:t>
            </a:r>
            <a:endParaRPr lang="en-US" sz="2800" b="1" dirty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sz="28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lvl="1" eaLnBrk="1" hangingPunct="1"/>
            <a:endParaRPr lang="en-US" sz="1800" dirty="0">
              <a:solidFill>
                <a:schemeClr val="hlink"/>
              </a:solidFill>
            </a:endParaRPr>
          </a:p>
          <a:p>
            <a:pPr lvl="1" eaLnBrk="1" hangingPunct="1"/>
            <a:endParaRPr lang="en-US" sz="1800" dirty="0">
              <a:solidFill>
                <a:schemeClr val="hlink"/>
              </a:solidFill>
            </a:endParaRPr>
          </a:p>
          <a:p>
            <a:pPr lvl="1" eaLnBrk="1" hangingPunct="1"/>
            <a:endParaRPr lang="en-US" sz="2300" dirty="0"/>
          </a:p>
          <a:p>
            <a:pPr lvl="1" eaLnBrk="1" hangingPunct="1"/>
            <a:endParaRPr lang="en-US" sz="23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258" name="Slide Number Placeholder 1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F1A6A5-78AC-4EAE-956E-51CB412EE19E}" type="slidenum">
              <a:rPr lang="en-US"/>
              <a:pPr/>
              <a:t>11</a:t>
            </a:fld>
            <a:endParaRPr lang="en-US"/>
          </a:p>
        </p:txBody>
      </p:sp>
      <p:graphicFrame>
        <p:nvGraphicFramePr>
          <p:cNvPr id="6" name="Group 64"/>
          <p:cNvGraphicFramePr>
            <a:graphicFrameLocks/>
          </p:cNvGraphicFramePr>
          <p:nvPr/>
        </p:nvGraphicFramePr>
        <p:xfrm>
          <a:off x="3276600" y="1905000"/>
          <a:ext cx="2438400" cy="2895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2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Truth Table for the Conjunction of Two Propositions.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</a:t>
                      </a:r>
                      <a:r>
                        <a:rPr kumimoji="0" lang="el-G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Λ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     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      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F     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F     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62001"/>
            <a:ext cx="8610600" cy="57912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u="sng" dirty="0"/>
              <a:t>DISJUNCTION</a:t>
            </a:r>
            <a:r>
              <a:rPr lang="en-US" sz="2800" b="1" u="sng" dirty="0">
                <a:sym typeface="Wingdings" pitchFamily="2" charset="2"/>
              </a:rPr>
              <a:t>: (Binary Operator)</a:t>
            </a:r>
            <a:endParaRPr lang="en-US" sz="2800" b="1" u="sng" dirty="0"/>
          </a:p>
          <a:p>
            <a:pPr marL="0" algn="just">
              <a:buNone/>
            </a:pPr>
            <a:r>
              <a:rPr lang="en-US" sz="2800" dirty="0"/>
              <a:t>Let </a:t>
            </a:r>
            <a:r>
              <a:rPr lang="en-US" sz="2800" i="1" dirty="0"/>
              <a:t>p</a:t>
            </a:r>
            <a:r>
              <a:rPr lang="en-US" sz="2800" dirty="0"/>
              <a:t> and </a:t>
            </a:r>
            <a:r>
              <a:rPr lang="en-US" sz="2800" i="1" dirty="0"/>
              <a:t>q</a:t>
            </a:r>
            <a:r>
              <a:rPr lang="en-US" sz="2800" dirty="0"/>
              <a:t> be propositions. The </a:t>
            </a:r>
            <a:r>
              <a:rPr lang="en-US" sz="2800" i="1" u="sng" dirty="0"/>
              <a:t>disjunction</a:t>
            </a:r>
            <a:r>
              <a:rPr lang="en-US" sz="2800" dirty="0"/>
              <a:t> of </a:t>
            </a:r>
            <a:r>
              <a:rPr lang="en-US" sz="2800" i="1" dirty="0"/>
              <a:t>p </a:t>
            </a:r>
            <a:r>
              <a:rPr lang="en-US" sz="2800" dirty="0"/>
              <a:t>and </a:t>
            </a:r>
            <a:r>
              <a:rPr lang="en-US" sz="2800" i="1" dirty="0"/>
              <a:t>q</a:t>
            </a:r>
            <a:r>
              <a:rPr lang="en-US" sz="2800" dirty="0"/>
              <a:t>, denoted by </a:t>
            </a:r>
            <a:r>
              <a:rPr lang="en-US" sz="2800" i="1" dirty="0"/>
              <a:t>p</a:t>
            </a:r>
            <a:r>
              <a:rPr lang="el-GR" sz="2800" dirty="0">
                <a:cs typeface="Arial" charset="0"/>
              </a:rPr>
              <a:t> ν </a:t>
            </a:r>
            <a:r>
              <a:rPr lang="en-US" sz="2800" i="1" dirty="0"/>
              <a:t>q</a:t>
            </a:r>
            <a:r>
              <a:rPr lang="en-US" sz="2800" dirty="0"/>
              <a:t>, is the proposition “</a:t>
            </a:r>
            <a:r>
              <a:rPr lang="en-US" sz="2800" i="1" dirty="0"/>
              <a:t>p</a:t>
            </a:r>
            <a:r>
              <a:rPr lang="en-US" sz="2800" dirty="0"/>
              <a:t> or </a:t>
            </a:r>
            <a:r>
              <a:rPr lang="en-US" sz="2800" i="1" dirty="0"/>
              <a:t>q</a:t>
            </a:r>
            <a:r>
              <a:rPr lang="en-US" sz="2800" dirty="0"/>
              <a:t>” which is false when both </a:t>
            </a:r>
            <a:r>
              <a:rPr lang="en-US" sz="2800" i="1" dirty="0"/>
              <a:t>p</a:t>
            </a:r>
            <a:r>
              <a:rPr lang="en-US" sz="2800" dirty="0"/>
              <a:t> and </a:t>
            </a:r>
            <a:r>
              <a:rPr lang="en-US" sz="2800" i="1" dirty="0"/>
              <a:t>q </a:t>
            </a:r>
            <a:r>
              <a:rPr lang="en-US" sz="2800" dirty="0"/>
              <a:t>are false and is true otherwise. 	</a:t>
            </a:r>
          </a:p>
          <a:p>
            <a:pPr algn="just">
              <a:lnSpc>
                <a:spcPct val="90000"/>
              </a:lnSpc>
            </a:pPr>
            <a:endParaRPr lang="en-US" sz="2800" dirty="0"/>
          </a:p>
          <a:p>
            <a:pPr algn="just" eaLnBrk="1" hangingPunct="1">
              <a:lnSpc>
                <a:spcPct val="90000"/>
              </a:lnSpc>
            </a:pPr>
            <a:r>
              <a:rPr lang="en-US" sz="2800" dirty="0"/>
              <a:t>Note: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   </a:t>
            </a:r>
            <a:r>
              <a:rPr lang="en-US" sz="2800" i="1" dirty="0"/>
              <a:t>inclusive or</a:t>
            </a:r>
            <a:r>
              <a:rPr lang="en-US" sz="2800" dirty="0"/>
              <a:t> : The disjunction is true when at least one of           the two propositions is true.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800" dirty="0"/>
              <a:t>E.g. “Students who have taken calculus or computer science can take this class.” </a:t>
            </a:r>
          </a:p>
          <a:p>
            <a:pPr lvl="1" algn="just" eaLnBrk="1" hangingPunct="1">
              <a:lnSpc>
                <a:spcPct val="90000"/>
              </a:lnSpc>
            </a:pPr>
            <a:endParaRPr lang="en-US" sz="2800" dirty="0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i="1" dirty="0"/>
              <a:t>exclusive or </a:t>
            </a:r>
            <a:r>
              <a:rPr lang="en-US" sz="2800" dirty="0"/>
              <a:t>: The disjunction is true only when one of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The proposition is true.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/>
              <a:t>E.g. “Ice cream or pudding will be served after lunch.”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229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72C049-84DF-4612-9714-976BE00BBA3C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3820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Truth table :</a:t>
            </a:r>
            <a:endParaRPr lang="en-US" sz="2800" b="1" dirty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Char char="Ø"/>
            </a:pPr>
            <a:endParaRPr lang="en-US" sz="28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eaLnBrk="1" hangingPunct="1"/>
            <a:endParaRPr lang="en-US" sz="2000" dirty="0">
              <a:solidFill>
                <a:schemeClr val="hlink"/>
              </a:solidFill>
            </a:endParaRPr>
          </a:p>
          <a:p>
            <a:pPr lvl="1" eaLnBrk="1" hangingPunct="1"/>
            <a:endParaRPr lang="en-US" sz="1800" dirty="0">
              <a:solidFill>
                <a:schemeClr val="hlink"/>
              </a:solidFill>
            </a:endParaRPr>
          </a:p>
          <a:p>
            <a:pPr lvl="1" eaLnBrk="1" hangingPunct="1"/>
            <a:endParaRPr lang="en-US" sz="1800" dirty="0">
              <a:solidFill>
                <a:schemeClr val="hlink"/>
              </a:solidFill>
            </a:endParaRPr>
          </a:p>
          <a:p>
            <a:pPr lvl="1" eaLnBrk="1" hangingPunct="1"/>
            <a:endParaRPr lang="en-US" sz="2300" dirty="0"/>
          </a:p>
          <a:p>
            <a:pPr lvl="1" eaLnBrk="1" hangingPunct="1"/>
            <a:endParaRPr lang="en-US" sz="23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258" name="Slide Number Placeholder 1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F1A6A5-78AC-4EAE-956E-51CB412EE19E}" type="slidenum">
              <a:rPr lang="en-US"/>
              <a:pPr/>
              <a:t>13</a:t>
            </a:fld>
            <a:endParaRPr lang="en-US"/>
          </a:p>
        </p:txBody>
      </p:sp>
      <p:graphicFrame>
        <p:nvGraphicFramePr>
          <p:cNvPr id="7" name="Group 106"/>
          <p:cNvGraphicFramePr>
            <a:graphicFrameLocks noGrp="1"/>
          </p:cNvGraphicFramePr>
          <p:nvPr>
            <p:ph sz="quarter" idx="4294967295"/>
          </p:nvPr>
        </p:nvGraphicFramePr>
        <p:xfrm>
          <a:off x="1143000" y="2286000"/>
          <a:ext cx="2514600" cy="28956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6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Truth Table for the Disjunction of Two Propositions.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</a:t>
                      </a: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     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      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F     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F     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116"/>
          <p:cNvGraphicFramePr>
            <a:graphicFrameLocks noGrp="1"/>
          </p:cNvGraphicFramePr>
          <p:nvPr>
            <p:ph sz="quarter" idx="1"/>
          </p:nvPr>
        </p:nvGraphicFramePr>
        <p:xfrm>
          <a:off x="4419600" y="2286000"/>
          <a:ext cx="2971800" cy="2904173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Truth Table for the Exclusive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XOR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of Two Propositions.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 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     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      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F     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F     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98" name="Object 111"/>
          <p:cNvGraphicFramePr>
            <a:graphicFrameLocks noChangeAspect="1"/>
          </p:cNvGraphicFramePr>
          <p:nvPr/>
        </p:nvGraphicFramePr>
        <p:xfrm>
          <a:off x="6553200" y="3429000"/>
          <a:ext cx="2127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3" imgW="164880" imgH="177480" progId="Equation.3">
                  <p:embed/>
                </p:oleObj>
              </mc:Choice>
              <mc:Fallback>
                <p:oleObj name="Equation" r:id="rId3" imgW="164880" imgH="177480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429000"/>
                        <a:ext cx="21272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62001"/>
            <a:ext cx="8610600" cy="5791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u="sng" dirty="0"/>
              <a:t>CONDITIONAL STATEMENT:</a:t>
            </a:r>
          </a:p>
          <a:p>
            <a:pPr marL="0" lvl="1" indent="-274320">
              <a:buClr>
                <a:schemeClr val="accent3"/>
              </a:buClr>
              <a:buSzPct val="95000"/>
              <a:buNone/>
            </a:pPr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be propositions. The </a:t>
            </a:r>
            <a:r>
              <a:rPr lang="en-US" i="1" dirty="0"/>
              <a:t>conditional statement</a:t>
            </a:r>
            <a:r>
              <a:rPr lang="en-US" dirty="0"/>
              <a:t> </a:t>
            </a:r>
            <a:r>
              <a:rPr lang="en-US" i="1" dirty="0"/>
              <a:t>p </a:t>
            </a:r>
            <a:r>
              <a:rPr lang="en-US" dirty="0">
                <a:cs typeface="Arial" charset="0"/>
              </a:rPr>
              <a:t>→ </a:t>
            </a:r>
            <a:r>
              <a:rPr lang="en-US" i="1" dirty="0"/>
              <a:t>q</a:t>
            </a:r>
            <a:r>
              <a:rPr lang="en-US" dirty="0"/>
              <a:t>, is the proposition “if </a:t>
            </a:r>
            <a:r>
              <a:rPr lang="en-US" i="1" dirty="0"/>
              <a:t>p</a:t>
            </a:r>
            <a:r>
              <a:rPr lang="en-US" dirty="0"/>
              <a:t>, then </a:t>
            </a:r>
            <a:r>
              <a:rPr lang="en-US" i="1" dirty="0"/>
              <a:t>q</a:t>
            </a:r>
            <a:r>
              <a:rPr lang="en-US" dirty="0"/>
              <a:t>”  which is false when </a:t>
            </a:r>
            <a:r>
              <a:rPr lang="en-US" i="1" dirty="0"/>
              <a:t>p</a:t>
            </a:r>
            <a:r>
              <a:rPr lang="en-US" dirty="0"/>
              <a:t> is true and </a:t>
            </a:r>
            <a:r>
              <a:rPr lang="en-US" i="1" dirty="0"/>
              <a:t>q</a:t>
            </a:r>
            <a:r>
              <a:rPr lang="en-US" dirty="0"/>
              <a:t> is false, and true otherwise.</a:t>
            </a:r>
          </a:p>
          <a:p>
            <a:pPr marL="0" lvl="1" indent="-274320">
              <a:buClr>
                <a:schemeClr val="accent3"/>
              </a:buClr>
              <a:buSzPct val="95000"/>
              <a:buNone/>
            </a:pPr>
            <a:endParaRPr lang="en-US" dirty="0"/>
          </a:p>
          <a:p>
            <a:pPr marL="0" lvl="1" indent="-274320">
              <a:buClr>
                <a:schemeClr val="accent3"/>
              </a:buClr>
              <a:buSzPct val="95000"/>
              <a:buFont typeface="Wingdings" pitchFamily="2" charset="2"/>
              <a:buChar char="Ø"/>
            </a:pPr>
            <a:r>
              <a:rPr lang="en-US" i="1" dirty="0"/>
              <a:t>p</a:t>
            </a:r>
            <a:r>
              <a:rPr lang="en-US" dirty="0"/>
              <a:t> is called the </a:t>
            </a:r>
            <a:r>
              <a:rPr lang="en-US" i="1" dirty="0"/>
              <a:t>hypothesis</a:t>
            </a:r>
            <a:r>
              <a:rPr lang="en-US" dirty="0"/>
              <a:t> (or </a:t>
            </a:r>
            <a:r>
              <a:rPr lang="en-US" i="1" dirty="0"/>
              <a:t>antecedent</a:t>
            </a:r>
            <a:r>
              <a:rPr lang="en-US" dirty="0"/>
              <a:t> or</a:t>
            </a:r>
            <a:r>
              <a:rPr lang="en-US" i="1" dirty="0"/>
              <a:t> premise</a:t>
            </a:r>
            <a:r>
              <a:rPr lang="en-US" dirty="0"/>
              <a:t>) and </a:t>
            </a:r>
            <a:r>
              <a:rPr lang="en-US" i="1" dirty="0"/>
              <a:t>q</a:t>
            </a:r>
            <a:r>
              <a:rPr lang="en-US" dirty="0"/>
              <a:t> is called the </a:t>
            </a:r>
            <a:r>
              <a:rPr lang="en-US" i="1" dirty="0"/>
              <a:t>conclusion</a:t>
            </a:r>
            <a:r>
              <a:rPr lang="en-US" dirty="0"/>
              <a:t> (or </a:t>
            </a:r>
            <a:r>
              <a:rPr lang="en-US" i="1" dirty="0"/>
              <a:t>consequence</a:t>
            </a:r>
            <a:r>
              <a:rPr lang="en-US" dirty="0"/>
              <a:t>). 	</a:t>
            </a:r>
          </a:p>
          <a:p>
            <a:pPr marL="0" lvl="1" indent="-274320">
              <a:buClr>
                <a:schemeClr val="accent3"/>
              </a:buClr>
              <a:buSzPct val="95000"/>
              <a:buNone/>
            </a:pPr>
            <a:endParaRPr lang="en-US" dirty="0"/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Wingdings" pitchFamily="2" charset="2"/>
              <a:buChar char="l"/>
            </a:pPr>
            <a:r>
              <a:rPr lang="en-US" sz="2000" dirty="0"/>
              <a:t>Example: “If I am elected, then I will lower taxes.”        </a:t>
            </a:r>
            <a:r>
              <a:rPr lang="en-US" sz="2000" i="1" dirty="0"/>
              <a:t>p</a:t>
            </a:r>
            <a:r>
              <a:rPr lang="en-US" sz="2000" dirty="0"/>
              <a:t> → </a:t>
            </a:r>
            <a:r>
              <a:rPr lang="en-US" sz="2000" i="1" dirty="0"/>
              <a:t>q</a:t>
            </a:r>
            <a:endParaRPr lang="en-US" sz="2000" dirty="0"/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None/>
            </a:pPr>
            <a:r>
              <a:rPr lang="en-US" sz="2500" dirty="0">
                <a:solidFill>
                  <a:schemeClr val="hlink"/>
                </a:solidFill>
                <a:cs typeface="Arial" charset="0"/>
              </a:rPr>
              <a:t>	</a:t>
            </a:r>
            <a:endParaRPr lang="en-US" sz="2000" dirty="0">
              <a:solidFill>
                <a:schemeClr val="hlink"/>
              </a:solidFill>
              <a:cs typeface="Arial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None/>
            </a:pPr>
            <a:r>
              <a:rPr lang="en-US" sz="2000" dirty="0">
                <a:solidFill>
                  <a:schemeClr val="hlink"/>
                </a:solidFill>
                <a:cs typeface="Arial" charset="0"/>
              </a:rPr>
              <a:t>		</a:t>
            </a:r>
            <a:r>
              <a:rPr lang="en-US" sz="2000" dirty="0">
                <a:cs typeface="Arial" charset="0"/>
              </a:rPr>
              <a:t>elected,  lower taxes.                     	  T      </a:t>
            </a:r>
            <a:r>
              <a:rPr lang="en-US" sz="2000" dirty="0" err="1">
                <a:cs typeface="Arial" charset="0"/>
              </a:rPr>
              <a:t>T</a:t>
            </a:r>
            <a:r>
              <a:rPr lang="en-US" sz="2000" dirty="0">
                <a:cs typeface="Arial" charset="0"/>
              </a:rPr>
              <a:t>   | T</a:t>
            </a: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None/>
            </a:pPr>
            <a:r>
              <a:rPr lang="en-US" sz="2000" dirty="0">
                <a:solidFill>
                  <a:schemeClr val="hlink"/>
                </a:solidFill>
                <a:cs typeface="Arial" charset="0"/>
              </a:rPr>
              <a:t>		</a:t>
            </a:r>
            <a:r>
              <a:rPr lang="en-US" sz="2000" dirty="0">
                <a:cs typeface="Arial" charset="0"/>
              </a:rPr>
              <a:t>not elected, lower taxes.                   F      T	  | T</a:t>
            </a: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None/>
            </a:pPr>
            <a:r>
              <a:rPr lang="en-US" sz="2000" dirty="0">
                <a:cs typeface="Arial" charset="0"/>
              </a:rPr>
              <a:t>		not elected, not lower taxes.            F      </a:t>
            </a:r>
            <a:r>
              <a:rPr lang="en-US" sz="2000" dirty="0" err="1">
                <a:cs typeface="Arial" charset="0"/>
              </a:rPr>
              <a:t>F</a:t>
            </a:r>
            <a:r>
              <a:rPr lang="en-US" sz="2000" dirty="0">
                <a:cs typeface="Arial" charset="0"/>
              </a:rPr>
              <a:t>	  | T</a:t>
            </a: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None/>
            </a:pPr>
            <a:r>
              <a:rPr lang="en-US" sz="2000" dirty="0">
                <a:cs typeface="Arial" charset="0"/>
              </a:rPr>
              <a:t>		elected, not lower taxes.                   T      F	  | F </a:t>
            </a:r>
            <a:r>
              <a:rPr lang="en-US" dirty="0"/>
              <a:t>	</a:t>
            </a:r>
          </a:p>
          <a:p>
            <a:pPr marL="0">
              <a:buNone/>
            </a:pPr>
            <a:endParaRPr lang="en-US" sz="20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229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72C049-84DF-4612-9714-976BE00BBA3C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762000"/>
            <a:ext cx="8610600" cy="5714999"/>
          </a:xfrm>
        </p:spPr>
        <p:txBody>
          <a:bodyPr>
            <a:normAutofit lnSpcReduction="10000"/>
          </a:bodyPr>
          <a:lstStyle/>
          <a:p>
            <a:pPr algn="just" eaLnBrk="1" hangingPunct="1">
              <a:buNone/>
            </a:pPr>
            <a:r>
              <a:rPr lang="en-US" dirty="0"/>
              <a:t>Example:</a:t>
            </a:r>
          </a:p>
          <a:p>
            <a:pPr marL="0" algn="just" eaLnBrk="1" hangingPunct="1">
              <a:buNone/>
            </a:pPr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the statement “Maria learns discrete mathematics.” and </a:t>
            </a:r>
            <a:r>
              <a:rPr lang="en-US" i="1" dirty="0"/>
              <a:t>q</a:t>
            </a:r>
            <a:r>
              <a:rPr lang="en-US" dirty="0"/>
              <a:t> the statement “Maria will find a good job.” Express the statement </a:t>
            </a:r>
            <a:r>
              <a:rPr lang="en-US" i="1" dirty="0"/>
              <a:t>p</a:t>
            </a:r>
            <a:r>
              <a:rPr lang="en-US" dirty="0"/>
              <a:t> → </a:t>
            </a:r>
            <a:r>
              <a:rPr lang="en-US" i="1" dirty="0"/>
              <a:t>q</a:t>
            </a:r>
            <a:r>
              <a:rPr lang="en-US" dirty="0"/>
              <a:t> as a statement in English. 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rabicPeriod"/>
            </a:pPr>
            <a:r>
              <a:rPr lang="en-US" dirty="0"/>
              <a:t>“If Maria learns discrete mathematics, then she will find a 	good job.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rabicPeriod"/>
            </a:pPr>
            <a:r>
              <a:rPr lang="en-US" dirty="0"/>
              <a:t>“Maria will find a good job if she learns discrete 	mathematics.”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rabicPeriod"/>
            </a:pPr>
            <a:r>
              <a:rPr lang="en-US" dirty="0"/>
              <a:t>“For Maria to get a good job, it is sufficient for her to 	learn discrete mathematics.”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rabicPeriod"/>
            </a:pPr>
            <a:r>
              <a:rPr lang="en-US" dirty="0"/>
              <a:t>“Maria will find a good job unless she does not learn 	discrete mathematics.”</a:t>
            </a:r>
          </a:p>
          <a:p>
            <a:pPr lvl="1" eaLnBrk="1" hangingPunct="1"/>
            <a:endParaRPr lang="en-US" sz="2000" dirty="0"/>
          </a:p>
          <a:p>
            <a:pPr lvl="1" eaLnBrk="1" hangingPunct="1">
              <a:buFont typeface="Wingdings" pitchFamily="2" charset="2"/>
              <a:buNone/>
            </a:pPr>
            <a:endParaRPr lang="en-US" sz="23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331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1D8B50-12EE-4E5C-B872-51F9AA7C6F9C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486400"/>
          </a:xfrm>
        </p:spPr>
        <p:txBody>
          <a:bodyPr/>
          <a:lstStyle/>
          <a:p>
            <a:pPr>
              <a:buNone/>
            </a:pPr>
            <a:endParaRPr lang="en-US" sz="2800" dirty="0"/>
          </a:p>
          <a:p>
            <a:r>
              <a:rPr lang="en-US" sz="2800" dirty="0"/>
              <a:t>If </a:t>
            </a:r>
            <a:r>
              <a:rPr lang="en-US" sz="2800" i="1" dirty="0"/>
              <a:t>p</a:t>
            </a:r>
            <a:r>
              <a:rPr lang="en-US" sz="2800" dirty="0"/>
              <a:t> then </a:t>
            </a:r>
            <a:r>
              <a:rPr lang="en-US" sz="2800" i="1" dirty="0"/>
              <a:t>q</a:t>
            </a:r>
            <a:r>
              <a:rPr lang="en-US" sz="2800" dirty="0"/>
              <a:t> </a:t>
            </a:r>
          </a:p>
          <a:p>
            <a:r>
              <a:rPr lang="en-US" sz="2800" i="1" dirty="0"/>
              <a:t>p</a:t>
            </a:r>
            <a:r>
              <a:rPr lang="en-US" sz="2800" dirty="0"/>
              <a:t> implies </a:t>
            </a:r>
            <a:r>
              <a:rPr lang="en-US" sz="2800" i="1" dirty="0"/>
              <a:t>q</a:t>
            </a:r>
          </a:p>
          <a:p>
            <a:r>
              <a:rPr lang="en-US" sz="2800" i="1" dirty="0"/>
              <a:t>q</a:t>
            </a:r>
            <a:r>
              <a:rPr lang="en-US" sz="2800" dirty="0"/>
              <a:t> if </a:t>
            </a:r>
            <a:r>
              <a:rPr lang="en-US" sz="2800" i="1" dirty="0"/>
              <a:t>p</a:t>
            </a:r>
          </a:p>
          <a:p>
            <a:r>
              <a:rPr lang="en-US" sz="2800" i="1" dirty="0"/>
              <a:t>q</a:t>
            </a:r>
            <a:r>
              <a:rPr lang="en-US" sz="2800" dirty="0"/>
              <a:t> whenever </a:t>
            </a:r>
            <a:r>
              <a:rPr lang="en-US" sz="2800" i="1" dirty="0"/>
              <a:t>p</a:t>
            </a:r>
            <a:endParaRPr lang="en-US" sz="2800" dirty="0"/>
          </a:p>
          <a:p>
            <a:r>
              <a:rPr lang="en-US" sz="2800" i="1" dirty="0"/>
              <a:t>p</a:t>
            </a:r>
            <a:r>
              <a:rPr lang="en-US" sz="2800" dirty="0"/>
              <a:t> is sufficient for </a:t>
            </a:r>
            <a:r>
              <a:rPr lang="en-US" sz="2800" i="1" dirty="0"/>
              <a:t>q</a:t>
            </a:r>
            <a:r>
              <a:rPr lang="en-US" sz="2800" dirty="0"/>
              <a:t> </a:t>
            </a:r>
          </a:p>
          <a:p>
            <a:r>
              <a:rPr lang="en-US" sz="2800" i="1" dirty="0"/>
              <a:t>q</a:t>
            </a:r>
            <a:r>
              <a:rPr lang="en-US" sz="2800" dirty="0"/>
              <a:t> is necessary for </a:t>
            </a:r>
            <a:r>
              <a:rPr lang="en-US" sz="2800" i="1" dirty="0"/>
              <a:t>p</a:t>
            </a:r>
          </a:p>
          <a:p>
            <a:r>
              <a:rPr lang="en-US" sz="2800" i="1" dirty="0"/>
              <a:t>p </a:t>
            </a:r>
            <a:r>
              <a:rPr lang="en-US" sz="2800" dirty="0"/>
              <a:t>only if </a:t>
            </a:r>
            <a:r>
              <a:rPr lang="en-US" sz="2800" i="1" dirty="0"/>
              <a:t>q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260AA0-0669-4126-B4D9-A79F583096E9}" type="slidenum">
              <a:rPr lang="en-CA" smtClean="0"/>
              <a:pPr>
                <a:defRPr/>
              </a:pPr>
              <a:t>16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1"/>
            <a:ext cx="8610600" cy="5791199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dirty="0"/>
              <a:t>Other conditional statements:</a:t>
            </a:r>
          </a:p>
          <a:p>
            <a:pPr lvl="1" eaLnBrk="1" hangingPunct="1"/>
            <a:r>
              <a:rPr lang="en-US" sz="2800" dirty="0"/>
              <a:t>Converse of </a:t>
            </a:r>
            <a:r>
              <a:rPr lang="en-US" sz="2800" i="1" dirty="0"/>
              <a:t>p</a:t>
            </a:r>
            <a:r>
              <a:rPr lang="en-US" sz="2800" dirty="0"/>
              <a:t> → </a:t>
            </a:r>
            <a:r>
              <a:rPr lang="en-US" sz="2800" i="1" dirty="0"/>
              <a:t>q</a:t>
            </a:r>
            <a:r>
              <a:rPr lang="en-US" sz="2800" dirty="0"/>
              <a:t> : </a:t>
            </a:r>
            <a:r>
              <a:rPr lang="en-US" sz="2800" i="1" dirty="0"/>
              <a:t>q</a:t>
            </a:r>
            <a:r>
              <a:rPr lang="en-US" sz="2800" dirty="0"/>
              <a:t> → </a:t>
            </a:r>
            <a:r>
              <a:rPr lang="en-US" sz="2800" i="1" dirty="0"/>
              <a:t>p</a:t>
            </a:r>
          </a:p>
          <a:p>
            <a:pPr lvl="1" eaLnBrk="1" hangingPunct="1"/>
            <a:r>
              <a:rPr lang="en-US" sz="2800" dirty="0" err="1"/>
              <a:t>Contrapositive</a:t>
            </a:r>
            <a:r>
              <a:rPr lang="en-US" sz="2800" dirty="0"/>
              <a:t> of </a:t>
            </a:r>
            <a:r>
              <a:rPr lang="en-US" sz="2800" i="1" dirty="0"/>
              <a:t>p</a:t>
            </a:r>
            <a:r>
              <a:rPr lang="en-US" sz="2800" dirty="0"/>
              <a:t> → </a:t>
            </a:r>
            <a:r>
              <a:rPr lang="en-US" sz="2800" i="1" dirty="0"/>
              <a:t>q</a:t>
            </a:r>
            <a:r>
              <a:rPr lang="en-US" sz="2800" dirty="0"/>
              <a:t> : ¬ </a:t>
            </a:r>
            <a:r>
              <a:rPr lang="en-US" sz="2800" i="1" dirty="0"/>
              <a:t>q</a:t>
            </a:r>
            <a:r>
              <a:rPr lang="en-US" sz="2800" dirty="0"/>
              <a:t> → ¬ </a:t>
            </a:r>
            <a:r>
              <a:rPr lang="en-US" sz="2800" i="1" dirty="0"/>
              <a:t>p</a:t>
            </a:r>
          </a:p>
          <a:p>
            <a:pPr lvl="1" eaLnBrk="1" hangingPunct="1"/>
            <a:r>
              <a:rPr lang="en-US" sz="2800" dirty="0"/>
              <a:t>Inverse of </a:t>
            </a:r>
            <a:r>
              <a:rPr lang="en-US" sz="2800" i="1" dirty="0"/>
              <a:t>p</a:t>
            </a:r>
            <a:r>
              <a:rPr lang="en-US" sz="2800" dirty="0"/>
              <a:t> → </a:t>
            </a:r>
            <a:r>
              <a:rPr lang="en-US" sz="2800" i="1" dirty="0"/>
              <a:t>q</a:t>
            </a:r>
            <a:r>
              <a:rPr lang="en-US" sz="2800" dirty="0"/>
              <a:t> : ¬ </a:t>
            </a:r>
            <a:r>
              <a:rPr lang="en-US" sz="2800" i="1" dirty="0"/>
              <a:t>p</a:t>
            </a:r>
            <a:r>
              <a:rPr lang="en-US" sz="2800" dirty="0"/>
              <a:t> → ¬ </a:t>
            </a:r>
            <a:r>
              <a:rPr lang="en-US" sz="2800" i="1" dirty="0"/>
              <a:t>q</a:t>
            </a:r>
          </a:p>
          <a:p>
            <a:pPr lvl="1" eaLnBrk="1" hangingPunct="1">
              <a:buNone/>
            </a:pPr>
            <a:endParaRPr lang="en-US" sz="2800" i="1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The statement and its </a:t>
            </a:r>
            <a:r>
              <a:rPr lang="en-US" dirty="0" err="1"/>
              <a:t>contrapositive</a:t>
            </a:r>
            <a:r>
              <a:rPr lang="en-US" dirty="0"/>
              <a:t> are equivalent.</a:t>
            </a:r>
          </a:p>
          <a:p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Converse and inverse of a statement are equivalent</a:t>
            </a:r>
          </a:p>
          <a:p>
            <a:pPr lvl="1" eaLnBrk="1" hangingPunct="1">
              <a:buNone/>
            </a:pPr>
            <a:endParaRPr lang="en-US" sz="2000" dirty="0"/>
          </a:p>
          <a:p>
            <a:pPr lvl="1" eaLnBrk="1" hangingPunct="1"/>
            <a:endParaRPr lang="en-US" sz="2000" dirty="0"/>
          </a:p>
          <a:p>
            <a:pPr lvl="1" eaLnBrk="1" hangingPunct="1">
              <a:buFont typeface="Wingdings" pitchFamily="2" charset="2"/>
              <a:buNone/>
            </a:pPr>
            <a:endParaRPr lang="en-US" sz="23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34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BF90384-06C0-486D-B86B-83EBE7DEE789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534400" cy="594360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BICONDITIONAL STATEMENT:</a:t>
            </a:r>
          </a:p>
          <a:p>
            <a:pPr marL="0" algn="just">
              <a:buNone/>
            </a:pPr>
            <a:r>
              <a:rPr lang="en-US" sz="2800" dirty="0"/>
              <a:t>Let </a:t>
            </a:r>
            <a:r>
              <a:rPr lang="en-US" sz="2800" i="1" dirty="0"/>
              <a:t>p</a:t>
            </a:r>
            <a:r>
              <a:rPr lang="en-US" sz="2800" dirty="0"/>
              <a:t> and </a:t>
            </a:r>
            <a:r>
              <a:rPr lang="en-US" sz="2800" i="1" dirty="0"/>
              <a:t>q</a:t>
            </a:r>
            <a:r>
              <a:rPr lang="en-US" sz="2800" dirty="0"/>
              <a:t> be propositions. The </a:t>
            </a:r>
            <a:r>
              <a:rPr lang="en-US" sz="2800" i="1" dirty="0" err="1"/>
              <a:t>biconditional</a:t>
            </a:r>
            <a:r>
              <a:rPr lang="en-US" sz="2800" i="1" dirty="0"/>
              <a:t> statement</a:t>
            </a:r>
            <a:r>
              <a:rPr lang="en-US" sz="2800" dirty="0"/>
              <a:t> </a:t>
            </a:r>
          </a:p>
          <a:p>
            <a:pPr marL="0" algn="just">
              <a:buNone/>
            </a:pPr>
            <a:r>
              <a:rPr lang="en-US" sz="2800" i="1" dirty="0"/>
              <a:t>p </a:t>
            </a:r>
            <a:r>
              <a:rPr lang="en-US" sz="2800" dirty="0">
                <a:cs typeface="Arial" charset="0"/>
              </a:rPr>
              <a:t>↔</a:t>
            </a:r>
            <a:r>
              <a:rPr lang="en-US" sz="2800" dirty="0"/>
              <a:t> </a:t>
            </a:r>
            <a:r>
              <a:rPr lang="en-US" sz="2800" i="1" dirty="0"/>
              <a:t>q </a:t>
            </a:r>
            <a:r>
              <a:rPr lang="en-US" sz="2800" dirty="0"/>
              <a:t>is the proposition “</a:t>
            </a:r>
            <a:r>
              <a:rPr lang="en-US" sz="2800" i="1" dirty="0"/>
              <a:t>p</a:t>
            </a:r>
            <a:r>
              <a:rPr lang="en-US" sz="2800" dirty="0"/>
              <a:t> if and only if </a:t>
            </a:r>
            <a:r>
              <a:rPr lang="en-US" sz="2800" i="1" dirty="0"/>
              <a:t>q</a:t>
            </a:r>
            <a:r>
              <a:rPr lang="en-US" sz="2800" dirty="0"/>
              <a:t>” which</a:t>
            </a:r>
            <a:r>
              <a:rPr lang="en-US" sz="2800" i="1" dirty="0"/>
              <a:t> </a:t>
            </a:r>
            <a:r>
              <a:rPr lang="en-US" sz="2800" dirty="0"/>
              <a:t>is true when </a:t>
            </a:r>
            <a:r>
              <a:rPr lang="en-US" sz="2800" i="1" dirty="0"/>
              <a:t>p</a:t>
            </a:r>
            <a:r>
              <a:rPr lang="en-US" sz="2800" dirty="0"/>
              <a:t> and </a:t>
            </a:r>
            <a:r>
              <a:rPr lang="en-US" sz="2800" i="1" dirty="0"/>
              <a:t>q</a:t>
            </a:r>
            <a:r>
              <a:rPr lang="en-US" sz="2800" dirty="0"/>
              <a:t> have the same truth values, and is false otherwise. </a:t>
            </a:r>
          </a:p>
          <a:p>
            <a:pPr eaLnBrk="1" hangingPunct="1">
              <a:lnSpc>
                <a:spcPct val="90000"/>
              </a:lnSpc>
            </a:pPr>
            <a:endParaRPr lang="en-US" sz="2800" i="1" dirty="0"/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i="1" dirty="0"/>
              <a:t>p </a:t>
            </a:r>
            <a:r>
              <a:rPr lang="en-US" sz="2800" dirty="0"/>
              <a:t>↔ </a:t>
            </a:r>
            <a:r>
              <a:rPr lang="en-US" sz="2800" i="1" dirty="0"/>
              <a:t>q </a:t>
            </a:r>
            <a:r>
              <a:rPr lang="en-US" sz="2800" dirty="0"/>
              <a:t>has the same truth value as</a:t>
            </a:r>
            <a:r>
              <a:rPr lang="en-US" sz="2800" i="1" dirty="0"/>
              <a:t> (p </a:t>
            </a:r>
            <a:r>
              <a:rPr lang="en-US" sz="2800" dirty="0"/>
              <a:t>→</a:t>
            </a:r>
            <a:r>
              <a:rPr lang="en-US" sz="2800" i="1" dirty="0"/>
              <a:t> q) </a:t>
            </a:r>
            <a:r>
              <a:rPr lang="el-GR" sz="2800" dirty="0"/>
              <a:t>Λ</a:t>
            </a:r>
            <a:r>
              <a:rPr lang="en-US" sz="2800" dirty="0"/>
              <a:t> </a:t>
            </a:r>
            <a:r>
              <a:rPr lang="en-US" sz="2800" i="1" dirty="0"/>
              <a:t>(q </a:t>
            </a:r>
            <a:r>
              <a:rPr lang="en-US" sz="2800" dirty="0"/>
              <a:t>→</a:t>
            </a:r>
            <a:r>
              <a:rPr lang="en-US" sz="2800" i="1" dirty="0"/>
              <a:t> p) </a:t>
            </a:r>
            <a:endParaRPr lang="en-US" sz="2800" dirty="0"/>
          </a:p>
          <a:p>
            <a:pPr algn="just" eaLnBrk="1" hangingPunct="1">
              <a:lnSpc>
                <a:spcPct val="90000"/>
              </a:lnSpc>
              <a:buNone/>
            </a:pPr>
            <a:endParaRPr lang="en-US" sz="28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sz="2800" dirty="0"/>
              <a:t>Example: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800" dirty="0"/>
              <a:t>Let </a:t>
            </a:r>
            <a:r>
              <a:rPr lang="en-US" sz="2800" i="1" dirty="0"/>
              <a:t>p</a:t>
            </a:r>
            <a:r>
              <a:rPr lang="en-US" sz="2800" dirty="0"/>
              <a:t> be the statement “You can take the flight” and let </a:t>
            </a:r>
            <a:r>
              <a:rPr lang="en-US" sz="2800" i="1" dirty="0"/>
              <a:t>q</a:t>
            </a:r>
            <a:r>
              <a:rPr lang="en-US" sz="2800" dirty="0">
                <a:solidFill>
                  <a:schemeClr val="hlink"/>
                </a:solidFill>
              </a:rPr>
              <a:t> </a:t>
            </a:r>
            <a:r>
              <a:rPr lang="en-US" sz="2800" dirty="0"/>
              <a:t>be the</a:t>
            </a:r>
            <a:r>
              <a:rPr lang="en-US" sz="2800" dirty="0">
                <a:solidFill>
                  <a:schemeClr val="hlink"/>
                </a:solidFill>
              </a:rPr>
              <a:t> </a:t>
            </a:r>
            <a:r>
              <a:rPr lang="en-US" sz="2800" dirty="0"/>
              <a:t>statement “You buy a ticket.”</a:t>
            </a:r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sz="2800" dirty="0"/>
              <a:t>   </a:t>
            </a:r>
            <a:r>
              <a:rPr lang="en-US" sz="2800" i="1" dirty="0"/>
              <a:t>p </a:t>
            </a:r>
            <a:r>
              <a:rPr lang="en-US" sz="2800" dirty="0"/>
              <a:t>↔ </a:t>
            </a:r>
            <a:r>
              <a:rPr lang="en-US" sz="2800" i="1" dirty="0"/>
              <a:t>q: </a:t>
            </a:r>
            <a:r>
              <a:rPr lang="en-US" sz="2800" dirty="0"/>
              <a:t>“You can take the flight if and only if you buy a ticket.”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3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536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F55D51-6EFC-45AF-8265-2BB55DC7CBA4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99" name="Group 51"/>
          <p:cNvGraphicFramePr>
            <a:graphicFrameLocks noGrp="1"/>
          </p:cNvGraphicFramePr>
          <p:nvPr>
            <p:ph sz="quarter" idx="3"/>
          </p:nvPr>
        </p:nvGraphicFramePr>
        <p:xfrm>
          <a:off x="3048000" y="685800"/>
          <a:ext cx="2895600" cy="283464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2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Truth Table for the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Biconditional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↔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    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↔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      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       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F       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F      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400" name="Text Box 30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6401" name="Slide Number Placeholder 1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6B7B2F-DF23-4362-A10F-7D258764705E}" type="slidenum">
              <a:rPr lang="en-US"/>
              <a:pPr/>
              <a:t>19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3736741"/>
            <a:ext cx="8229600" cy="104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“ p is necessary and sufficient for q”</a:t>
            </a:r>
          </a:p>
          <a:p>
            <a:pPr algn="just"/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“If p then q and conversely”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153400" cy="58674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Ø"/>
            </a:pPr>
            <a:r>
              <a:rPr lang="en-US" sz="2400" dirty="0"/>
              <a:t>Connectives can be used to build up complicated compound propositions involving any number of propositional variables.</a:t>
            </a:r>
          </a:p>
          <a:p>
            <a:pPr algn="just" eaLnBrk="1" hangingPunct="1">
              <a:buNone/>
            </a:pPr>
            <a:endParaRPr lang="en-US" sz="2400" dirty="0"/>
          </a:p>
          <a:p>
            <a:pPr marL="0" algn="just" eaLnBrk="1" hangingPunct="1">
              <a:buNone/>
            </a:pPr>
            <a:r>
              <a:rPr lang="en-US" sz="2400" dirty="0"/>
              <a:t>Example: Construct the truth table of the compound proposition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dirty="0"/>
              <a:t>			(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el-GR" sz="2400" dirty="0"/>
              <a:t>ν</a:t>
            </a:r>
            <a:r>
              <a:rPr lang="en-US" sz="2400" dirty="0"/>
              <a:t> ¬</a:t>
            </a:r>
            <a:r>
              <a:rPr lang="en-US" sz="2400" i="1" dirty="0"/>
              <a:t>q</a:t>
            </a:r>
            <a:r>
              <a:rPr lang="en-US" sz="2400" dirty="0"/>
              <a:t>) → (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el-GR" sz="2400" dirty="0"/>
              <a:t>Λ</a:t>
            </a:r>
            <a:r>
              <a:rPr lang="en-US" sz="2400" dirty="0"/>
              <a:t> </a:t>
            </a:r>
            <a:r>
              <a:rPr lang="en-US" sz="2400" i="1" dirty="0"/>
              <a:t>q</a:t>
            </a:r>
            <a:r>
              <a:rPr lang="en-US" sz="2400" dirty="0"/>
              <a:t>)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1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8773" name="Group 101"/>
          <p:cNvGraphicFramePr>
            <a:graphicFrameLocks noGrp="1"/>
          </p:cNvGraphicFramePr>
          <p:nvPr>
            <p:ph sz="half" idx="2"/>
          </p:nvPr>
        </p:nvGraphicFramePr>
        <p:xfrm>
          <a:off x="1066800" y="3788727"/>
          <a:ext cx="6858000" cy="2459673"/>
        </p:xfrm>
        <a:graphic>
          <a:graphicData uri="http://schemas.openxmlformats.org/drawingml/2006/table">
            <a:tbl>
              <a:tblPr/>
              <a:tblGrid>
                <a:gridCol w="124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Truth Table of 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¬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→ 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Λ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¬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¬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Λ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¬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→ 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Λ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    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    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     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    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36" name="Slide Number Placeholder 2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0F380F8-77F7-427B-846C-454095A9AADF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38200"/>
            <a:ext cx="8153400" cy="5791200"/>
          </a:xfrm>
        </p:spPr>
        <p:txBody>
          <a:bodyPr/>
          <a:lstStyle/>
          <a:p>
            <a:pPr>
              <a:buNone/>
            </a:pPr>
            <a:r>
              <a:rPr 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PRECEDENCE OF LOGICAL OPERATORS</a:t>
            </a:r>
          </a:p>
          <a:p>
            <a:pPr eaLnBrk="1" hangingPunct="1"/>
            <a:endParaRPr lang="en-US" sz="2000" dirty="0"/>
          </a:p>
          <a:p>
            <a:pPr eaLnBrk="1" hangingPunct="1">
              <a:buFont typeface="Wingdings" pitchFamily="2" charset="2"/>
              <a:buChar char="Ø"/>
            </a:pPr>
            <a:r>
              <a:rPr lang="en-US" sz="2000" dirty="0"/>
              <a:t>Parentheses  are used to specify the order in which logical operators in a compound proposition are to be applied.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2000" dirty="0"/>
              <a:t>To reduce the number of parentheses, the precedence order is defined for logical operators.</a:t>
            </a:r>
            <a:endParaRPr lang="en-US" sz="2100" dirty="0"/>
          </a:p>
          <a:p>
            <a:pPr lvl="1" eaLnBrk="1" hangingPunct="1">
              <a:buFont typeface="Wingdings" pitchFamily="2" charset="2"/>
              <a:buNone/>
            </a:pPr>
            <a:endParaRPr lang="en-US" sz="21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31800" name="Group 56"/>
          <p:cNvGraphicFramePr>
            <a:graphicFrameLocks noGrp="1"/>
          </p:cNvGraphicFramePr>
          <p:nvPr>
            <p:ph sz="half" idx="2"/>
          </p:nvPr>
        </p:nvGraphicFramePr>
        <p:xfrm>
          <a:off x="762000" y="3200400"/>
          <a:ext cx="4572000" cy="2835593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Precedence of Logical Operators.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Precedence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¬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Λ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→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↔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58" name="Slide Number Placeholder 2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A36B0C-D7C2-40DB-8592-39BB66E42812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762000"/>
            <a:ext cx="81534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TRANSLATING ENGLISH SENTENCES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None/>
            </a:pPr>
            <a:endParaRPr lang="en-US" sz="2000" dirty="0"/>
          </a:p>
          <a:p>
            <a:pPr marL="0" eaLnBrk="1" hangingPunct="1">
              <a:buNone/>
            </a:pPr>
            <a:r>
              <a:rPr lang="en-US" dirty="0"/>
              <a:t>Example: How can this English sentence be translated into a logical expression?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	“</a:t>
            </a:r>
            <a:r>
              <a:rPr lang="en-US" dirty="0"/>
              <a:t>You cannot ride the roller coaster if you are under 4 feet tall unless you are older than 16 years old.”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>
              <a:buNone/>
            </a:pPr>
            <a:r>
              <a:rPr lang="en-US" i="1" dirty="0"/>
              <a:t>p</a:t>
            </a:r>
            <a:r>
              <a:rPr lang="en-US" dirty="0"/>
              <a:t>: You can ride the roller coaster.</a:t>
            </a:r>
          </a:p>
          <a:p>
            <a:pPr>
              <a:buNone/>
            </a:pPr>
            <a:r>
              <a:rPr lang="en-US" i="1" dirty="0"/>
              <a:t>q</a:t>
            </a:r>
            <a:r>
              <a:rPr lang="en-US" dirty="0"/>
              <a:t>: You are under 4 feet tall.</a:t>
            </a:r>
          </a:p>
          <a:p>
            <a:pPr>
              <a:buNone/>
            </a:pPr>
            <a:r>
              <a:rPr lang="en-US" i="1" dirty="0"/>
              <a:t>r</a:t>
            </a:r>
            <a:r>
              <a:rPr lang="en-US" dirty="0"/>
              <a:t>: You are older than 16 years old.</a:t>
            </a:r>
          </a:p>
          <a:p>
            <a:pPr lvl="1" algn="ctr">
              <a:buNone/>
            </a:pPr>
            <a:r>
              <a:rPr lang="en-US" sz="2600" dirty="0"/>
              <a:t>(</a:t>
            </a:r>
            <a:r>
              <a:rPr lang="en-US" sz="2600" i="1" dirty="0"/>
              <a:t>q</a:t>
            </a:r>
            <a:r>
              <a:rPr lang="en-US" sz="2600" dirty="0"/>
              <a:t> </a:t>
            </a:r>
            <a:r>
              <a:rPr lang="el-GR" sz="2600" dirty="0"/>
              <a:t>Λ</a:t>
            </a:r>
            <a:r>
              <a:rPr lang="en-US" sz="2600" dirty="0"/>
              <a:t> ¬ </a:t>
            </a:r>
            <a:r>
              <a:rPr lang="en-US" sz="2600" i="1" dirty="0"/>
              <a:t>r</a:t>
            </a:r>
            <a:r>
              <a:rPr lang="en-US" sz="2600" dirty="0"/>
              <a:t>) → ¬</a:t>
            </a:r>
            <a:r>
              <a:rPr lang="en-US" sz="2600" i="1" dirty="0"/>
              <a:t>p</a:t>
            </a:r>
            <a:endParaRPr lang="en-US" sz="26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524000" y="1066800"/>
            <a:ext cx="655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sz="2800" u="sng" dirty="0">
              <a:solidFill>
                <a:srgbClr val="339933"/>
              </a:solidFill>
            </a:endParaRPr>
          </a:p>
        </p:txBody>
      </p:sp>
      <p:sp>
        <p:nvSpPr>
          <p:cNvPr id="1946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5D283E-EFCF-4928-A3F4-119CD992D0B2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685800"/>
            <a:ext cx="8305800" cy="5715000"/>
          </a:xfrm>
        </p:spPr>
        <p:txBody>
          <a:bodyPr>
            <a:normAutofit/>
          </a:bodyPr>
          <a:lstStyle/>
          <a:p>
            <a:pPr marL="0" eaLnBrk="1" hangingPunct="1">
              <a:buNone/>
            </a:pPr>
            <a:r>
              <a:rPr lang="en-US" dirty="0"/>
              <a:t>Example: How can this English sentence be translated into a logical expression?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		“You can access the Internet from campus only if you are a computer science major or you are not a freshman.”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>
              <a:buNone/>
            </a:pPr>
            <a:r>
              <a:rPr lang="en-US" i="1" dirty="0"/>
              <a:t>p</a:t>
            </a:r>
            <a:r>
              <a:rPr lang="en-US" dirty="0"/>
              <a:t>: You can access the Internet from campus.</a:t>
            </a:r>
          </a:p>
          <a:p>
            <a:pPr>
              <a:buNone/>
            </a:pPr>
            <a:r>
              <a:rPr lang="en-US" i="1" dirty="0"/>
              <a:t>q</a:t>
            </a:r>
            <a:r>
              <a:rPr lang="en-US" dirty="0"/>
              <a:t>: You are a computer science major.</a:t>
            </a:r>
          </a:p>
          <a:p>
            <a:pPr>
              <a:buNone/>
            </a:pPr>
            <a:r>
              <a:rPr lang="en-US" i="1" dirty="0"/>
              <a:t>r</a:t>
            </a:r>
            <a:r>
              <a:rPr lang="en-US" dirty="0"/>
              <a:t>: You are a freshman.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i="1" dirty="0"/>
              <a:t>p</a:t>
            </a:r>
            <a:r>
              <a:rPr lang="en-US" dirty="0"/>
              <a:t> → (</a:t>
            </a:r>
            <a:r>
              <a:rPr lang="en-US" i="1" dirty="0"/>
              <a:t>q</a:t>
            </a:r>
            <a:r>
              <a:rPr lang="en-US" dirty="0"/>
              <a:t> </a:t>
            </a:r>
            <a:r>
              <a:rPr lang="el-GR" dirty="0"/>
              <a:t>ν</a:t>
            </a:r>
            <a:r>
              <a:rPr lang="en-US" dirty="0"/>
              <a:t> ¬</a:t>
            </a:r>
            <a:r>
              <a:rPr lang="en-US" i="1" dirty="0"/>
              <a:t>r</a:t>
            </a:r>
            <a:r>
              <a:rPr lang="en-US" dirty="0"/>
              <a:t>)</a:t>
            </a:r>
          </a:p>
          <a:p>
            <a:pPr>
              <a:buNone/>
            </a:pPr>
            <a:endParaRPr lang="en-US" sz="2100" dirty="0"/>
          </a:p>
          <a:p>
            <a:pPr lvl="1" eaLnBrk="1" hangingPunct="1">
              <a:buFont typeface="Wingdings" pitchFamily="2" charset="2"/>
              <a:buNone/>
            </a:pPr>
            <a:endParaRPr lang="en-US" sz="2100" dirty="0">
              <a:solidFill>
                <a:schemeClr val="hlink"/>
              </a:solidFill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48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F43376-2ECA-42C9-8A6E-9EB053A0762A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PUZZLES</a:t>
            </a:r>
          </a:p>
          <a:p>
            <a:pPr marL="0">
              <a:buNone/>
            </a:pPr>
            <a:r>
              <a:rPr lang="en-US" sz="2800" dirty="0"/>
              <a:t>You visit an island where there are two kinds of inhabitants, knights, who always tell the truth, and knaves, who always lie. You encounter two people </a:t>
            </a:r>
            <a:r>
              <a:rPr lang="en-US" sz="2800" i="1" dirty="0"/>
              <a:t>A</a:t>
            </a:r>
            <a:r>
              <a:rPr lang="en-US" sz="2800" dirty="0"/>
              <a:t> and </a:t>
            </a:r>
            <a:r>
              <a:rPr lang="en-US" sz="2800" i="1" dirty="0"/>
              <a:t>B</a:t>
            </a:r>
            <a:r>
              <a:rPr lang="en-US" sz="2800" dirty="0"/>
              <a:t>. </a:t>
            </a:r>
            <a:r>
              <a:rPr lang="en-US" sz="2800" i="1" dirty="0"/>
              <a:t>A</a:t>
            </a:r>
            <a:r>
              <a:rPr lang="en-US" sz="2800" dirty="0"/>
              <a:t> says “ </a:t>
            </a:r>
            <a:r>
              <a:rPr lang="en-US" sz="2800" i="1" dirty="0"/>
              <a:t>B</a:t>
            </a:r>
            <a:r>
              <a:rPr lang="en-US" sz="2800" dirty="0"/>
              <a:t> is a knight” and </a:t>
            </a:r>
            <a:r>
              <a:rPr lang="en-US" sz="2800" i="1" dirty="0"/>
              <a:t>B</a:t>
            </a:r>
            <a:r>
              <a:rPr lang="en-US" sz="2800" dirty="0"/>
              <a:t> says “ the two of us are opposite types”. What are </a:t>
            </a:r>
            <a:r>
              <a:rPr lang="en-US" sz="2800" i="1" dirty="0"/>
              <a:t>A</a:t>
            </a:r>
            <a:r>
              <a:rPr lang="en-US" sz="2800" dirty="0"/>
              <a:t> and </a:t>
            </a:r>
            <a:r>
              <a:rPr lang="en-US" sz="2800" i="1" dirty="0"/>
              <a:t>B</a:t>
            </a:r>
            <a:r>
              <a:rPr lang="en-US" sz="2800" dirty="0"/>
              <a:t>?</a:t>
            </a:r>
          </a:p>
          <a:p>
            <a:pPr marL="0">
              <a:buNone/>
            </a:pPr>
            <a:endParaRPr lang="en-US" sz="2800" dirty="0"/>
          </a:p>
          <a:p>
            <a:pPr marL="0">
              <a:buNone/>
            </a:pPr>
            <a:r>
              <a:rPr lang="en-US" sz="2800" dirty="0"/>
              <a:t>Let </a:t>
            </a:r>
            <a:r>
              <a:rPr lang="en-US" sz="2800" i="1" dirty="0"/>
              <a:t>p: A</a:t>
            </a:r>
            <a:r>
              <a:rPr lang="en-US" sz="2800" dirty="0"/>
              <a:t> is a knight</a:t>
            </a:r>
          </a:p>
          <a:p>
            <a:pPr marL="0">
              <a:buNone/>
            </a:pPr>
            <a:r>
              <a:rPr lang="en-US" sz="2800" i="1" dirty="0"/>
              <a:t>       q:</a:t>
            </a:r>
            <a:r>
              <a:rPr lang="en-US" sz="2800" dirty="0"/>
              <a:t> </a:t>
            </a:r>
            <a:r>
              <a:rPr lang="en-US" sz="2800" i="1" dirty="0"/>
              <a:t>B</a:t>
            </a:r>
            <a:r>
              <a:rPr lang="en-US" sz="2800" dirty="0"/>
              <a:t> is a knight</a:t>
            </a:r>
          </a:p>
          <a:p>
            <a:pPr marL="0">
              <a:buNone/>
            </a:pPr>
            <a:endParaRPr lang="en-US" sz="2800" dirty="0"/>
          </a:p>
          <a:p>
            <a:pPr marL="0">
              <a:buNone/>
            </a:pPr>
            <a:r>
              <a:rPr lang="en-US" sz="2800" dirty="0"/>
              <a:t>Suppose </a:t>
            </a:r>
            <a:r>
              <a:rPr lang="en-US" sz="2800" i="1" dirty="0"/>
              <a:t>p</a:t>
            </a:r>
            <a:r>
              <a:rPr lang="en-US" sz="2800" dirty="0"/>
              <a:t> is true, </a:t>
            </a:r>
          </a:p>
          <a:p>
            <a:pPr marL="0">
              <a:buNone/>
            </a:pPr>
            <a:r>
              <a:rPr lang="en-US" sz="2800" i="1" dirty="0"/>
              <a:t>A</a:t>
            </a:r>
            <a:r>
              <a:rPr lang="en-US" sz="2800" dirty="0"/>
              <a:t>’s statement that </a:t>
            </a:r>
            <a:r>
              <a:rPr lang="en-US" sz="2800" i="1" dirty="0"/>
              <a:t>B</a:t>
            </a:r>
            <a:r>
              <a:rPr lang="en-US" sz="2800" dirty="0"/>
              <a:t> is a knight is true. </a:t>
            </a:r>
          </a:p>
          <a:p>
            <a:pPr marL="0">
              <a:buNone/>
            </a:pPr>
            <a:r>
              <a:rPr lang="en-US" sz="2800" dirty="0"/>
              <a:t>Contradiction with </a:t>
            </a:r>
            <a:r>
              <a:rPr lang="en-US" sz="2800" i="1" dirty="0"/>
              <a:t>B</a:t>
            </a:r>
            <a:r>
              <a:rPr lang="en-US" sz="2800" dirty="0"/>
              <a:t>’s statement, therefore </a:t>
            </a:r>
            <a:r>
              <a:rPr lang="en-US" sz="2800" i="1" dirty="0"/>
              <a:t>p </a:t>
            </a:r>
            <a:r>
              <a:rPr lang="en-US" sz="2800" dirty="0"/>
              <a:t>is false.</a:t>
            </a:r>
          </a:p>
          <a:p>
            <a:pPr marL="0">
              <a:buNone/>
            </a:pPr>
            <a:r>
              <a:rPr lang="en-US" sz="2800" dirty="0"/>
              <a:t>Suppose </a:t>
            </a:r>
            <a:r>
              <a:rPr lang="en-US" sz="2800" i="1" dirty="0"/>
              <a:t>p</a:t>
            </a:r>
            <a:r>
              <a:rPr lang="en-US" sz="2800" dirty="0"/>
              <a:t> is false, then </a:t>
            </a:r>
            <a:r>
              <a:rPr lang="en-US" sz="2800" i="1" dirty="0"/>
              <a:t>q</a:t>
            </a:r>
            <a:r>
              <a:rPr lang="en-US" sz="2800" dirty="0"/>
              <a:t> is false i.e. </a:t>
            </a:r>
            <a:r>
              <a:rPr lang="en-US" sz="2800" i="1" dirty="0"/>
              <a:t>B </a:t>
            </a:r>
            <a:r>
              <a:rPr lang="en-US" sz="2800" dirty="0"/>
              <a:t>is also a knave. </a:t>
            </a:r>
          </a:p>
          <a:p>
            <a:pPr marL="0">
              <a:buNone/>
            </a:pPr>
            <a:r>
              <a:rPr lang="en-US" sz="2800" dirty="0"/>
              <a:t>Therefore </a:t>
            </a:r>
            <a:r>
              <a:rPr lang="en-US" sz="2800" i="1" dirty="0"/>
              <a:t>B</a:t>
            </a:r>
            <a:r>
              <a:rPr lang="en-US" sz="2800" dirty="0"/>
              <a:t>’s statement is also false. </a:t>
            </a:r>
            <a:r>
              <a:rPr lang="en-US" sz="2800" u="sng" dirty="0"/>
              <a:t>Both </a:t>
            </a:r>
            <a:r>
              <a:rPr lang="en-US" sz="2800" i="1" u="sng" dirty="0"/>
              <a:t>A</a:t>
            </a:r>
            <a:r>
              <a:rPr lang="en-US" sz="2800" u="sng" dirty="0"/>
              <a:t> and </a:t>
            </a:r>
            <a:r>
              <a:rPr lang="en-US" sz="2800" i="1" u="sng" dirty="0"/>
              <a:t>B</a:t>
            </a:r>
            <a:r>
              <a:rPr lang="en-US" sz="2800" u="sng" dirty="0"/>
              <a:t> are knaves.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260AA0-0669-4126-B4D9-A79F583096E9}" type="slidenum">
              <a:rPr lang="en-CA" smtClean="0"/>
              <a:pPr>
                <a:defRPr/>
              </a:pPr>
              <a:t>24</a:t>
            </a:fld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2533" name="Text Box 7"/>
          <p:cNvSpPr txBox="1">
            <a:spLocks noChangeArrowheads="1"/>
          </p:cNvSpPr>
          <p:nvPr/>
        </p:nvSpPr>
        <p:spPr bwMode="auto">
          <a:xfrm>
            <a:off x="533400" y="838200"/>
            <a:ext cx="82296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u="sng" dirty="0">
                <a:solidFill>
                  <a:schemeClr val="tx1"/>
                </a:solidFill>
                <a:latin typeface="+mn-lt"/>
              </a:rPr>
              <a:t>TAUTOLOGY:</a:t>
            </a:r>
          </a:p>
          <a:p>
            <a:pPr algn="just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A compound proposition that is always true, no matter what the truth values of the propositions that occurs in it, is called a</a:t>
            </a:r>
            <a:r>
              <a:rPr lang="en-US" i="1" dirty="0">
                <a:solidFill>
                  <a:schemeClr val="tx1"/>
                </a:solidFill>
                <a:effectLst/>
                <a:latin typeface="+mn-lt"/>
              </a:rPr>
              <a:t> tautology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algn="just">
              <a:spcBef>
                <a:spcPct val="50000"/>
              </a:spcBef>
            </a:pPr>
            <a:r>
              <a:rPr lang="en-US" u="sng" dirty="0">
                <a:solidFill>
                  <a:schemeClr val="tx1"/>
                </a:solidFill>
                <a:latin typeface="+mn-lt"/>
              </a:rPr>
              <a:t>CONTRADICTION:</a:t>
            </a:r>
          </a:p>
          <a:p>
            <a:pPr algn="just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A compound proposition that is always false is called a </a:t>
            </a:r>
            <a:r>
              <a:rPr lang="en-US" i="1" dirty="0">
                <a:solidFill>
                  <a:schemeClr val="tx1"/>
                </a:solidFill>
                <a:effectLst/>
                <a:latin typeface="+mn-lt"/>
              </a:rPr>
              <a:t>contradiction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algn="just">
              <a:spcBef>
                <a:spcPct val="50000"/>
              </a:spcBef>
            </a:pPr>
            <a:r>
              <a:rPr lang="en-US" u="sng" dirty="0">
                <a:solidFill>
                  <a:schemeClr val="tx1"/>
                </a:solidFill>
                <a:latin typeface="+mn-lt"/>
              </a:rPr>
              <a:t>CONTINGENCY:</a:t>
            </a:r>
          </a:p>
          <a:p>
            <a:pPr algn="just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A compound proposition that is neither a tautology or a contradiction is called a </a:t>
            </a:r>
            <a:r>
              <a:rPr lang="en-US" i="1" dirty="0">
                <a:solidFill>
                  <a:schemeClr val="tx1"/>
                </a:solidFill>
                <a:effectLst/>
                <a:latin typeface="+mn-lt"/>
              </a:rPr>
              <a:t>contingency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US" sz="2800" u="sng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553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F8BCC6-1688-40A7-8D02-01FB54B008B7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38952" name="Group 40"/>
          <p:cNvGraphicFramePr>
            <a:graphicFrameLocks noGrp="1"/>
          </p:cNvGraphicFramePr>
          <p:nvPr>
            <p:ph sz="half" idx="2"/>
          </p:nvPr>
        </p:nvGraphicFramePr>
        <p:xfrm>
          <a:off x="1828800" y="1295400"/>
          <a:ext cx="5410200" cy="1828801"/>
        </p:xfrm>
        <a:graphic>
          <a:graphicData uri="http://schemas.openxmlformats.org/drawingml/2006/table">
            <a:tbl>
              <a:tblPr/>
              <a:tblGrid>
                <a:gridCol w="982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Examples of a Tautology and a Contradiction.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¬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¬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Λ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¬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53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F8BCC6-1688-40A7-8D02-01FB54B008B7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41089" name="Group 129"/>
          <p:cNvGraphicFramePr>
            <a:graphicFrameLocks noGrp="1"/>
          </p:cNvGraphicFramePr>
          <p:nvPr>
            <p:ph sz="half" idx="2"/>
          </p:nvPr>
        </p:nvGraphicFramePr>
        <p:xfrm>
          <a:off x="2362200" y="3429000"/>
          <a:ext cx="4876800" cy="2286000"/>
        </p:xfrm>
        <a:graphic>
          <a:graphicData uri="http://schemas.openxmlformats.org/drawingml/2006/table">
            <a:tbl>
              <a:tblPr/>
              <a:tblGrid>
                <a:gridCol w="70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579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Truth Tables for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¬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→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D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3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¬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¬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ν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→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81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80" name="Rectangle 28"/>
          <p:cNvSpPr>
            <a:spLocks noGrp="1" noChangeArrowheads="1"/>
          </p:cNvSpPr>
          <p:nvPr>
            <p:ph type="body" idx="1"/>
          </p:nvPr>
        </p:nvSpPr>
        <p:spPr>
          <a:xfrm>
            <a:off x="609600" y="609600"/>
            <a:ext cx="8305800" cy="2667000"/>
          </a:xfrm>
          <a:noFill/>
        </p:spPr>
        <p:txBody>
          <a:bodyPr>
            <a:normAutofit lnSpcReduction="10000"/>
          </a:bodyPr>
          <a:lstStyle/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sz="2600" dirty="0"/>
              <a:t>The compound propositions </a:t>
            </a:r>
            <a:r>
              <a:rPr lang="en-US" sz="2600" i="1" dirty="0"/>
              <a:t>p</a:t>
            </a:r>
            <a:r>
              <a:rPr lang="en-US" sz="2600" dirty="0"/>
              <a:t> and </a:t>
            </a:r>
            <a:r>
              <a:rPr lang="en-US" sz="2600" i="1" dirty="0"/>
              <a:t>q</a:t>
            </a:r>
            <a:r>
              <a:rPr lang="en-US" sz="2600" dirty="0"/>
              <a:t> are called </a:t>
            </a:r>
            <a:r>
              <a:rPr lang="en-US" sz="2600" i="1" dirty="0"/>
              <a:t>logically equivalent</a:t>
            </a:r>
            <a:r>
              <a:rPr lang="en-US" sz="2600" dirty="0"/>
              <a:t> if </a:t>
            </a:r>
            <a:r>
              <a:rPr lang="en-US" sz="2600" i="1" dirty="0"/>
              <a:t>p </a:t>
            </a:r>
            <a:r>
              <a:rPr lang="en-US" sz="2600" dirty="0"/>
              <a:t>↔ </a:t>
            </a:r>
            <a:r>
              <a:rPr lang="en-US" sz="2600" i="1" dirty="0"/>
              <a:t>q</a:t>
            </a:r>
            <a:r>
              <a:rPr lang="en-US" sz="2600" dirty="0"/>
              <a:t> is a tautology. </a:t>
            </a:r>
          </a:p>
          <a:p>
            <a:pPr marL="274320" lvl="1" indent="-274320">
              <a:buClr>
                <a:schemeClr val="accent3"/>
              </a:buClr>
              <a:buSzPct val="95000"/>
              <a:buNone/>
            </a:pPr>
            <a:r>
              <a:rPr lang="en-US" sz="2600" dirty="0"/>
              <a:t>    Notation </a:t>
            </a:r>
            <a:r>
              <a:rPr lang="en-US" sz="2600" i="1" dirty="0"/>
              <a:t>p</a:t>
            </a:r>
            <a:r>
              <a:rPr lang="en-US" sz="2600" dirty="0"/>
              <a:t> </a:t>
            </a:r>
            <a:r>
              <a:rPr lang="en-US" sz="2600" dirty="0">
                <a:cs typeface="Arial" charset="0"/>
              </a:rPr>
              <a:t>≡ </a:t>
            </a:r>
            <a:r>
              <a:rPr lang="en-US" sz="2600" i="1" dirty="0"/>
              <a:t>q</a:t>
            </a:r>
            <a:endParaRPr lang="en-US" sz="2600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Example: Show that ¬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l-GR" dirty="0"/>
              <a:t>ν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 → </a:t>
            </a:r>
            <a:r>
              <a:rPr lang="en-US" i="1" dirty="0"/>
              <a:t>q</a:t>
            </a:r>
            <a:r>
              <a:rPr lang="en-US" dirty="0"/>
              <a:t> are logically equivalent.</a:t>
            </a:r>
          </a:p>
        </p:txBody>
      </p:sp>
      <p:sp>
        <p:nvSpPr>
          <p:cNvPr id="23581" name="Slide Number Placeholder 3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62674A-869A-45E3-B2F9-38DB90418717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14401"/>
            <a:ext cx="77724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Logical Equivalences</a:t>
            </a:r>
          </a:p>
        </p:txBody>
      </p:sp>
      <p:sp>
        <p:nvSpPr>
          <p:cNvPr id="4103" name="Line 24"/>
          <p:cNvSpPr>
            <a:spLocks noChangeShapeType="1"/>
          </p:cNvSpPr>
          <p:nvPr/>
        </p:nvSpPr>
        <p:spPr bwMode="auto">
          <a:xfrm>
            <a:off x="685800" y="2209800"/>
            <a:ext cx="7772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685800" y="2209800"/>
            <a:ext cx="7772400" cy="517525"/>
            <a:chOff x="432" y="779"/>
            <a:chExt cx="4896" cy="326"/>
          </a:xfrm>
        </p:grpSpPr>
        <p:sp>
          <p:nvSpPr>
            <p:cNvPr id="4125" name="Rectangle 5"/>
            <p:cNvSpPr>
              <a:spLocks noChangeArrowheads="1"/>
            </p:cNvSpPr>
            <p:nvPr/>
          </p:nvSpPr>
          <p:spPr bwMode="auto">
            <a:xfrm>
              <a:off x="2880" y="779"/>
              <a:ext cx="244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Name</a:t>
              </a:r>
            </a:p>
          </p:txBody>
        </p:sp>
        <p:sp>
          <p:nvSpPr>
            <p:cNvPr id="4126" name="Rectangle 4"/>
            <p:cNvSpPr>
              <a:spLocks noChangeArrowheads="1"/>
            </p:cNvSpPr>
            <p:nvPr/>
          </p:nvSpPr>
          <p:spPr bwMode="auto">
            <a:xfrm>
              <a:off x="432" y="779"/>
              <a:ext cx="244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sz="2800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Law</a:t>
              </a:r>
            </a:p>
          </p:txBody>
        </p:sp>
        <p:sp>
          <p:nvSpPr>
            <p:cNvPr id="4127" name="Line 25"/>
            <p:cNvSpPr>
              <a:spLocks noChangeShapeType="1"/>
            </p:cNvSpPr>
            <p:nvPr/>
          </p:nvSpPr>
          <p:spPr bwMode="auto">
            <a:xfrm>
              <a:off x="432" y="1105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685800" y="2690813"/>
            <a:ext cx="7772400" cy="1030287"/>
            <a:chOff x="432" y="1754"/>
            <a:chExt cx="4896" cy="649"/>
          </a:xfrm>
        </p:grpSpPr>
        <p:sp>
          <p:nvSpPr>
            <p:cNvPr id="4122" name="Rectangle 9"/>
            <p:cNvSpPr>
              <a:spLocks noChangeArrowheads="1"/>
            </p:cNvSpPr>
            <p:nvPr/>
          </p:nvSpPr>
          <p:spPr bwMode="auto">
            <a:xfrm>
              <a:off x="2880" y="1754"/>
              <a:ext cx="2448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Identity laws</a:t>
              </a:r>
            </a:p>
          </p:txBody>
        </p:sp>
        <p:sp>
          <p:nvSpPr>
            <p:cNvPr id="4123" name="Rectangle 8"/>
            <p:cNvSpPr>
              <a:spLocks noChangeArrowheads="1"/>
            </p:cNvSpPr>
            <p:nvPr/>
          </p:nvSpPr>
          <p:spPr bwMode="auto">
            <a:xfrm>
              <a:off x="432" y="1754"/>
              <a:ext cx="2448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 F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endParaRPr lang="en-US" dirty="0">
                <a:solidFill>
                  <a:schemeClr val="tx1"/>
                </a:solidFill>
                <a:effectLst/>
                <a:latin typeface="Constantia" pitchFamily="18" charset="0"/>
              </a:endParaRPr>
            </a:p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 T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endParaRPr lang="en-US" dirty="0">
                <a:solidFill>
                  <a:schemeClr val="tx1"/>
                </a:solidFill>
                <a:effectLst/>
                <a:latin typeface="Constantia" pitchFamily="18" charset="0"/>
              </a:endParaRPr>
            </a:p>
          </p:txBody>
        </p:sp>
        <p:sp>
          <p:nvSpPr>
            <p:cNvPr id="4124" name="Line 26"/>
            <p:cNvSpPr>
              <a:spLocks noChangeShapeType="1"/>
            </p:cNvSpPr>
            <p:nvPr/>
          </p:nvSpPr>
          <p:spPr bwMode="auto">
            <a:xfrm>
              <a:off x="432" y="1754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685800" y="3721100"/>
            <a:ext cx="7772400" cy="1030288"/>
            <a:chOff x="432" y="2403"/>
            <a:chExt cx="4896" cy="649"/>
          </a:xfrm>
        </p:grpSpPr>
        <p:sp>
          <p:nvSpPr>
            <p:cNvPr id="4119" name="Rectangle 11"/>
            <p:cNvSpPr>
              <a:spLocks noChangeArrowheads="1"/>
            </p:cNvSpPr>
            <p:nvPr/>
          </p:nvSpPr>
          <p:spPr bwMode="auto">
            <a:xfrm>
              <a:off x="2880" y="2403"/>
              <a:ext cx="2448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Domination laws</a:t>
              </a:r>
            </a:p>
          </p:txBody>
        </p:sp>
        <p:sp>
          <p:nvSpPr>
            <p:cNvPr id="4120" name="Rectangle 10"/>
            <p:cNvSpPr>
              <a:spLocks noChangeArrowheads="1"/>
            </p:cNvSpPr>
            <p:nvPr/>
          </p:nvSpPr>
          <p:spPr bwMode="auto">
            <a:xfrm>
              <a:off x="432" y="2403"/>
              <a:ext cx="2448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 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 T  T</a:t>
              </a:r>
            </a:p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 F  F</a:t>
              </a:r>
            </a:p>
          </p:txBody>
        </p:sp>
        <p:sp>
          <p:nvSpPr>
            <p:cNvPr id="4121" name="Line 27"/>
            <p:cNvSpPr>
              <a:spLocks noChangeShapeType="1"/>
            </p:cNvSpPr>
            <p:nvPr/>
          </p:nvSpPr>
          <p:spPr bwMode="auto">
            <a:xfrm>
              <a:off x="432" y="2403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685800" y="4751388"/>
            <a:ext cx="7772400" cy="1030287"/>
            <a:chOff x="432" y="3052"/>
            <a:chExt cx="4896" cy="649"/>
          </a:xfrm>
        </p:grpSpPr>
        <p:sp>
          <p:nvSpPr>
            <p:cNvPr id="4116" name="Rectangle 13"/>
            <p:cNvSpPr>
              <a:spLocks noChangeArrowheads="1"/>
            </p:cNvSpPr>
            <p:nvPr/>
          </p:nvSpPr>
          <p:spPr bwMode="auto">
            <a:xfrm>
              <a:off x="2880" y="3052"/>
              <a:ext cx="2448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Idempotent laws</a:t>
              </a:r>
            </a:p>
          </p:txBody>
        </p:sp>
        <p:sp>
          <p:nvSpPr>
            <p:cNvPr id="4117" name="Rectangle 12"/>
            <p:cNvSpPr>
              <a:spLocks noChangeArrowheads="1"/>
            </p:cNvSpPr>
            <p:nvPr/>
          </p:nvSpPr>
          <p:spPr bwMode="auto">
            <a:xfrm>
              <a:off x="432" y="3052"/>
              <a:ext cx="2448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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</a:p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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</a:p>
          </p:txBody>
        </p:sp>
        <p:sp>
          <p:nvSpPr>
            <p:cNvPr id="4118" name="Line 28"/>
            <p:cNvSpPr>
              <a:spLocks noChangeShapeType="1"/>
            </p:cNvSpPr>
            <p:nvPr/>
          </p:nvSpPr>
          <p:spPr bwMode="auto">
            <a:xfrm>
              <a:off x="432" y="3052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685800" y="5781675"/>
            <a:ext cx="7772400" cy="517525"/>
            <a:chOff x="432" y="3701"/>
            <a:chExt cx="4896" cy="326"/>
          </a:xfrm>
        </p:grpSpPr>
        <p:sp>
          <p:nvSpPr>
            <p:cNvPr id="4113" name="Rectangle 15"/>
            <p:cNvSpPr>
              <a:spLocks noChangeArrowheads="1"/>
            </p:cNvSpPr>
            <p:nvPr/>
          </p:nvSpPr>
          <p:spPr bwMode="auto">
            <a:xfrm>
              <a:off x="2880" y="3701"/>
              <a:ext cx="244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Double-negation law</a:t>
              </a:r>
            </a:p>
          </p:txBody>
        </p:sp>
        <p:sp>
          <p:nvSpPr>
            <p:cNvPr id="4114" name="Rectangle 14"/>
            <p:cNvSpPr>
              <a:spLocks noChangeArrowheads="1"/>
            </p:cNvSpPr>
            <p:nvPr/>
          </p:nvSpPr>
          <p:spPr bwMode="auto">
            <a:xfrm>
              <a:off x="432" y="3701"/>
              <a:ext cx="244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(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p</a:t>
              </a:r>
              <a:r>
                <a:rPr lang="en-US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)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endParaRPr lang="en-US" dirty="0">
                <a:solidFill>
                  <a:schemeClr val="tx1"/>
                </a:solidFill>
                <a:effectLst/>
                <a:latin typeface="Constantia" pitchFamily="18" charset="0"/>
              </a:endParaRPr>
            </a:p>
          </p:txBody>
        </p:sp>
        <p:sp>
          <p:nvSpPr>
            <p:cNvPr id="4115" name="Line 29"/>
            <p:cNvSpPr>
              <a:spLocks noChangeShapeType="1"/>
            </p:cNvSpPr>
            <p:nvPr/>
          </p:nvSpPr>
          <p:spPr bwMode="auto">
            <a:xfrm>
              <a:off x="432" y="3701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9" name="Line 34"/>
          <p:cNvSpPr>
            <a:spLocks noChangeShapeType="1"/>
          </p:cNvSpPr>
          <p:nvPr/>
        </p:nvSpPr>
        <p:spPr bwMode="auto">
          <a:xfrm>
            <a:off x="685800" y="6299200"/>
            <a:ext cx="7772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0" name="Line 35"/>
          <p:cNvSpPr>
            <a:spLocks noChangeShapeType="1"/>
          </p:cNvSpPr>
          <p:nvPr/>
        </p:nvSpPr>
        <p:spPr bwMode="auto">
          <a:xfrm>
            <a:off x="685800" y="2209800"/>
            <a:ext cx="0" cy="4114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1" name="Line 36"/>
          <p:cNvSpPr>
            <a:spLocks noChangeShapeType="1"/>
          </p:cNvSpPr>
          <p:nvPr/>
        </p:nvSpPr>
        <p:spPr bwMode="auto">
          <a:xfrm>
            <a:off x="4572000" y="2667000"/>
            <a:ext cx="0" cy="363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2" name="Line 37"/>
          <p:cNvSpPr>
            <a:spLocks noChangeShapeType="1"/>
          </p:cNvSpPr>
          <p:nvPr/>
        </p:nvSpPr>
        <p:spPr bwMode="auto">
          <a:xfrm>
            <a:off x="8458200" y="2209800"/>
            <a:ext cx="0" cy="4089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76275" y="1058863"/>
            <a:ext cx="8188325" cy="1030287"/>
            <a:chOff x="426" y="721"/>
            <a:chExt cx="5158" cy="649"/>
          </a:xfrm>
        </p:grpSpPr>
        <p:sp>
          <p:nvSpPr>
            <p:cNvPr id="5150" name="Rectangle 12"/>
            <p:cNvSpPr>
              <a:spLocks noChangeArrowheads="1"/>
            </p:cNvSpPr>
            <p:nvPr/>
          </p:nvSpPr>
          <p:spPr bwMode="auto">
            <a:xfrm>
              <a:off x="3719" y="721"/>
              <a:ext cx="1865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Commutative laws</a:t>
              </a:r>
            </a:p>
          </p:txBody>
        </p:sp>
        <p:sp>
          <p:nvSpPr>
            <p:cNvPr id="5151" name="Rectangle 13"/>
            <p:cNvSpPr>
              <a:spLocks noChangeArrowheads="1"/>
            </p:cNvSpPr>
            <p:nvPr/>
          </p:nvSpPr>
          <p:spPr bwMode="auto">
            <a:xfrm>
              <a:off x="426" y="721"/>
              <a:ext cx="3293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+mn-lt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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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5126" name="Rectangle 14"/>
          <p:cNvSpPr>
            <a:spLocks noChangeArrowheads="1"/>
          </p:cNvSpPr>
          <p:nvPr/>
        </p:nvSpPr>
        <p:spPr bwMode="auto">
          <a:xfrm>
            <a:off x="5903913" y="541338"/>
            <a:ext cx="2960687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Name</a:t>
            </a:r>
          </a:p>
        </p:txBody>
      </p:sp>
      <p:sp>
        <p:nvSpPr>
          <p:cNvPr id="5127" name="Rectangle 15"/>
          <p:cNvSpPr>
            <a:spLocks noChangeArrowheads="1"/>
          </p:cNvSpPr>
          <p:nvPr/>
        </p:nvSpPr>
        <p:spPr bwMode="auto">
          <a:xfrm>
            <a:off x="685800" y="533400"/>
            <a:ext cx="52276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800" dirty="0">
                <a:solidFill>
                  <a:schemeClr val="tx1"/>
                </a:solidFill>
                <a:effectLst/>
                <a:latin typeface="+mn-lt"/>
              </a:rPr>
              <a:t>Law</a:t>
            </a:r>
          </a:p>
        </p:txBody>
      </p:sp>
      <p:sp>
        <p:nvSpPr>
          <p:cNvPr id="5128" name="Line 16"/>
          <p:cNvSpPr>
            <a:spLocks noChangeShapeType="1"/>
          </p:cNvSpPr>
          <p:nvPr/>
        </p:nvSpPr>
        <p:spPr bwMode="auto">
          <a:xfrm>
            <a:off x="676275" y="541338"/>
            <a:ext cx="81883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9" name="Line 17"/>
          <p:cNvSpPr>
            <a:spLocks noChangeShapeType="1"/>
          </p:cNvSpPr>
          <p:nvPr/>
        </p:nvSpPr>
        <p:spPr bwMode="auto">
          <a:xfrm>
            <a:off x="676275" y="1058863"/>
            <a:ext cx="8188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76275" y="2089150"/>
            <a:ext cx="8188325" cy="1030288"/>
            <a:chOff x="426" y="1370"/>
            <a:chExt cx="5158" cy="649"/>
          </a:xfrm>
        </p:grpSpPr>
        <p:sp>
          <p:nvSpPr>
            <p:cNvPr id="5147" name="Rectangle 10"/>
            <p:cNvSpPr>
              <a:spLocks noChangeArrowheads="1"/>
            </p:cNvSpPr>
            <p:nvPr/>
          </p:nvSpPr>
          <p:spPr bwMode="auto">
            <a:xfrm>
              <a:off x="3719" y="1370"/>
              <a:ext cx="1865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Associative laws</a:t>
              </a:r>
            </a:p>
          </p:txBody>
        </p:sp>
        <p:sp>
          <p:nvSpPr>
            <p:cNvPr id="5148" name="Rectangle 11"/>
            <p:cNvSpPr>
              <a:spLocks noChangeArrowheads="1"/>
            </p:cNvSpPr>
            <p:nvPr/>
          </p:nvSpPr>
          <p:spPr bwMode="auto">
            <a:xfrm>
              <a:off x="426" y="1370"/>
              <a:ext cx="3293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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+mn-lt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(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</a:t>
              </a:r>
            </a:p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(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</a:t>
              </a:r>
            </a:p>
          </p:txBody>
        </p:sp>
        <p:sp>
          <p:nvSpPr>
            <p:cNvPr id="5149" name="Line 18"/>
            <p:cNvSpPr>
              <a:spLocks noChangeShapeType="1"/>
            </p:cNvSpPr>
            <p:nvPr/>
          </p:nvSpPr>
          <p:spPr bwMode="auto">
            <a:xfrm>
              <a:off x="426" y="1370"/>
              <a:ext cx="5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676275" y="3119438"/>
            <a:ext cx="8188325" cy="1030287"/>
            <a:chOff x="426" y="2019"/>
            <a:chExt cx="5158" cy="649"/>
          </a:xfrm>
        </p:grpSpPr>
        <p:sp>
          <p:nvSpPr>
            <p:cNvPr id="5144" name="Rectangle 8"/>
            <p:cNvSpPr>
              <a:spLocks noChangeArrowheads="1"/>
            </p:cNvSpPr>
            <p:nvPr/>
          </p:nvSpPr>
          <p:spPr bwMode="auto">
            <a:xfrm>
              <a:off x="3719" y="2019"/>
              <a:ext cx="1865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Distributive laws</a:t>
              </a:r>
            </a:p>
            <a:p>
              <a:pPr>
                <a:spcBef>
                  <a:spcPct val="20000"/>
                </a:spcBef>
              </a:pPr>
              <a:endParaRPr lang="en-US" sz="2800" dirty="0"/>
            </a:p>
          </p:txBody>
        </p:sp>
        <p:sp>
          <p:nvSpPr>
            <p:cNvPr id="5145" name="Rectangle 9"/>
            <p:cNvSpPr>
              <a:spLocks noChangeArrowheads="1"/>
            </p:cNvSpPr>
            <p:nvPr/>
          </p:nvSpPr>
          <p:spPr bwMode="auto">
            <a:xfrm>
              <a:off x="426" y="2019"/>
              <a:ext cx="3293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 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(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</a:t>
              </a:r>
            </a:p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 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(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r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</a:t>
              </a:r>
            </a:p>
          </p:txBody>
        </p:sp>
        <p:sp>
          <p:nvSpPr>
            <p:cNvPr id="5146" name="Line 19"/>
            <p:cNvSpPr>
              <a:spLocks noChangeShapeType="1"/>
            </p:cNvSpPr>
            <p:nvPr/>
          </p:nvSpPr>
          <p:spPr bwMode="auto">
            <a:xfrm>
              <a:off x="426" y="2019"/>
              <a:ext cx="5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676275" y="4149725"/>
            <a:ext cx="8188325" cy="1030288"/>
            <a:chOff x="426" y="2668"/>
            <a:chExt cx="5158" cy="649"/>
          </a:xfrm>
        </p:grpSpPr>
        <p:sp>
          <p:nvSpPr>
            <p:cNvPr id="5141" name="Rectangle 39"/>
            <p:cNvSpPr>
              <a:spLocks noChangeArrowheads="1"/>
            </p:cNvSpPr>
            <p:nvPr/>
          </p:nvSpPr>
          <p:spPr bwMode="auto">
            <a:xfrm>
              <a:off x="3719" y="2668"/>
              <a:ext cx="1865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De Morgan’s laws</a:t>
              </a:r>
            </a:p>
            <a:p>
              <a:pPr>
                <a:spcBef>
                  <a:spcPct val="20000"/>
                </a:spcBef>
              </a:pPr>
              <a:endParaRPr lang="en-US" sz="2800" dirty="0"/>
            </a:p>
          </p:txBody>
        </p:sp>
        <p:sp>
          <p:nvSpPr>
            <p:cNvPr id="5142" name="Rectangle 37"/>
            <p:cNvSpPr>
              <a:spLocks noChangeArrowheads="1"/>
            </p:cNvSpPr>
            <p:nvPr/>
          </p:nvSpPr>
          <p:spPr bwMode="auto">
            <a:xfrm>
              <a:off x="426" y="2668"/>
              <a:ext cx="3293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(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 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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 q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(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 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 p 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 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 q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143" name="Line 20"/>
            <p:cNvSpPr>
              <a:spLocks noChangeShapeType="1"/>
            </p:cNvSpPr>
            <p:nvPr/>
          </p:nvSpPr>
          <p:spPr bwMode="auto">
            <a:xfrm>
              <a:off x="426" y="2668"/>
              <a:ext cx="5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3" name="Line 22"/>
          <p:cNvSpPr>
            <a:spLocks noChangeShapeType="1"/>
          </p:cNvSpPr>
          <p:nvPr/>
        </p:nvSpPr>
        <p:spPr bwMode="auto">
          <a:xfrm>
            <a:off x="676275" y="6210300"/>
            <a:ext cx="81883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4" name="Line 23"/>
          <p:cNvSpPr>
            <a:spLocks noChangeShapeType="1"/>
          </p:cNvSpPr>
          <p:nvPr/>
        </p:nvSpPr>
        <p:spPr bwMode="auto">
          <a:xfrm>
            <a:off x="676275" y="541338"/>
            <a:ext cx="0" cy="566896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5" name="Line 24"/>
          <p:cNvSpPr>
            <a:spLocks noChangeShapeType="1"/>
          </p:cNvSpPr>
          <p:nvPr/>
        </p:nvSpPr>
        <p:spPr bwMode="auto">
          <a:xfrm>
            <a:off x="5903913" y="541338"/>
            <a:ext cx="0" cy="5668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6" name="Line 25"/>
          <p:cNvSpPr>
            <a:spLocks noChangeShapeType="1"/>
          </p:cNvSpPr>
          <p:nvPr/>
        </p:nvSpPr>
        <p:spPr bwMode="auto">
          <a:xfrm>
            <a:off x="8864600" y="541338"/>
            <a:ext cx="0" cy="566896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676275" y="5180013"/>
            <a:ext cx="8188325" cy="1030287"/>
            <a:chOff x="426" y="3317"/>
            <a:chExt cx="5158" cy="649"/>
          </a:xfrm>
        </p:grpSpPr>
        <p:sp>
          <p:nvSpPr>
            <p:cNvPr id="5138" name="Rectangle 6"/>
            <p:cNvSpPr>
              <a:spLocks noChangeArrowheads="1"/>
            </p:cNvSpPr>
            <p:nvPr/>
          </p:nvSpPr>
          <p:spPr bwMode="auto">
            <a:xfrm>
              <a:off x="3719" y="3317"/>
              <a:ext cx="1865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Absorption laws</a:t>
              </a:r>
            </a:p>
          </p:txBody>
        </p:sp>
        <p:sp>
          <p:nvSpPr>
            <p:cNvPr id="5139" name="Rectangle 7"/>
            <p:cNvSpPr>
              <a:spLocks noChangeArrowheads="1"/>
            </p:cNvSpPr>
            <p:nvPr/>
          </p:nvSpPr>
          <p:spPr bwMode="auto">
            <a:xfrm>
              <a:off x="426" y="3317"/>
              <a:ext cx="3293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  <a:p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 (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  </a:t>
              </a:r>
              <a:r>
                <a:rPr lang="en-US" i="1" dirty="0">
                  <a:solidFill>
                    <a:prstClr val="black"/>
                  </a:solidFill>
                  <a:effectLst/>
                  <a:latin typeface="Constantia"/>
                </a:rPr>
                <a:t>q</a:t>
              </a:r>
              <a:r>
                <a:rPr lang="en-US" dirty="0">
                  <a:solidFill>
                    <a:schemeClr val="tx1"/>
                  </a:solidFill>
                  <a:effectLst/>
                  <a:latin typeface="+mn-lt"/>
                </a:rPr>
                <a:t>)  </a:t>
              </a:r>
              <a:r>
                <a:rPr lang="en-US" i="1" dirty="0">
                  <a:solidFill>
                    <a:schemeClr val="tx1"/>
                  </a:solidFill>
                  <a:effectLst/>
                  <a:latin typeface="Constantia" pitchFamily="18" charset="0"/>
                </a:rPr>
                <a:t>p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140" name="Line 38"/>
            <p:cNvSpPr>
              <a:spLocks noChangeShapeType="1"/>
            </p:cNvSpPr>
            <p:nvPr/>
          </p:nvSpPr>
          <p:spPr bwMode="auto">
            <a:xfrm>
              <a:off x="426" y="3317"/>
              <a:ext cx="5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Line 16"/>
          <p:cNvSpPr>
            <a:spLocks noChangeShapeType="1"/>
          </p:cNvSpPr>
          <p:nvPr/>
        </p:nvSpPr>
        <p:spPr bwMode="auto">
          <a:xfrm>
            <a:off x="685801" y="1905000"/>
            <a:ext cx="2971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3" name="Line 22"/>
          <p:cNvSpPr>
            <a:spLocks noChangeShapeType="1"/>
          </p:cNvSpPr>
          <p:nvPr/>
        </p:nvSpPr>
        <p:spPr bwMode="auto">
          <a:xfrm>
            <a:off x="685801" y="3810000"/>
            <a:ext cx="2971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4" name="Line 23"/>
          <p:cNvSpPr>
            <a:spLocks noChangeShapeType="1"/>
          </p:cNvSpPr>
          <p:nvPr/>
        </p:nvSpPr>
        <p:spPr bwMode="auto">
          <a:xfrm>
            <a:off x="685798" y="1905000"/>
            <a:ext cx="1" cy="1905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6" name="Line 25"/>
          <p:cNvSpPr>
            <a:spLocks noChangeShapeType="1"/>
          </p:cNvSpPr>
          <p:nvPr/>
        </p:nvSpPr>
        <p:spPr bwMode="auto">
          <a:xfrm>
            <a:off x="3657600" y="1905000"/>
            <a:ext cx="0" cy="1905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685800" y="990600"/>
            <a:ext cx="3886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  <a:effectLst/>
                <a:latin typeface="Constantia"/>
              </a:rPr>
              <a:t>Some useful logical Equivalences</a:t>
            </a:r>
            <a:endParaRPr lang="en-US" i="1" dirty="0">
              <a:solidFill>
                <a:prstClr val="black"/>
              </a:solidFill>
              <a:effectLst/>
              <a:latin typeface="Constantia"/>
            </a:endParaRPr>
          </a:p>
          <a:p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  p </a:t>
            </a:r>
            <a:r>
              <a:rPr lang="en-US" dirty="0">
                <a:solidFill>
                  <a:prstClr val="black"/>
                </a:solidFill>
                <a:effectLst/>
                <a:latin typeface="Constantia"/>
              </a:rPr>
              <a:t>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 T</a:t>
            </a:r>
          </a:p>
          <a:p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  p </a:t>
            </a:r>
            <a:r>
              <a:rPr lang="en-US" dirty="0">
                <a:solidFill>
                  <a:prstClr val="black"/>
                </a:solidFill>
                <a:effectLst/>
                <a:latin typeface="Constantia"/>
              </a:rPr>
              <a:t>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 F</a:t>
            </a:r>
          </a:p>
          <a:p>
            <a:r>
              <a:rPr lang="en-US" sz="2600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sz="2600" dirty="0">
                <a:solidFill>
                  <a:prstClr val="black"/>
                </a:solidFill>
                <a:effectLst/>
                <a:latin typeface="Constantia"/>
              </a:rPr>
              <a:t> → </a:t>
            </a:r>
            <a:r>
              <a:rPr lang="en-US" sz="2600" i="1" dirty="0">
                <a:solidFill>
                  <a:prstClr val="black"/>
                </a:solidFill>
                <a:effectLst/>
                <a:latin typeface="Constantia"/>
              </a:rPr>
              <a:t>q</a:t>
            </a:r>
            <a:r>
              <a:rPr lang="en-US" sz="2600" dirty="0">
                <a:solidFill>
                  <a:prstClr val="black"/>
                </a:solidFill>
                <a:effectLst/>
                <a:latin typeface="Constantia"/>
              </a:rPr>
              <a:t>   </a:t>
            </a:r>
            <a:r>
              <a:rPr lang="en-US" dirty="0">
                <a:solidFill>
                  <a:prstClr val="black"/>
                </a:solidFill>
                <a:effectLst/>
                <a:latin typeface="Constantia"/>
              </a:rPr>
              <a:t>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p  q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63246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5605" name="Rectangle 28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915400" cy="60960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2000" dirty="0"/>
              <a:t>Example: Show that ¬(</a:t>
            </a:r>
            <a:r>
              <a:rPr lang="en-US" sz="2000" i="1" dirty="0"/>
              <a:t>p</a:t>
            </a:r>
            <a:r>
              <a:rPr lang="en-US" sz="2000" dirty="0"/>
              <a:t> → </a:t>
            </a:r>
            <a:r>
              <a:rPr lang="en-US" sz="2000" i="1" dirty="0"/>
              <a:t>q</a:t>
            </a:r>
            <a:r>
              <a:rPr lang="en-US" sz="2000" dirty="0"/>
              <a:t> ) and </a:t>
            </a:r>
            <a:r>
              <a:rPr lang="en-US" sz="2000" i="1" dirty="0"/>
              <a:t>p</a:t>
            </a:r>
            <a:r>
              <a:rPr lang="en-US" sz="1600" dirty="0"/>
              <a:t> </a:t>
            </a:r>
            <a:r>
              <a:rPr lang="el-GR" sz="1600" dirty="0"/>
              <a:t>Λ</a:t>
            </a:r>
            <a:r>
              <a:rPr lang="en-US" sz="1600" dirty="0"/>
              <a:t> </a:t>
            </a:r>
            <a:r>
              <a:rPr lang="en-US" sz="2000" dirty="0"/>
              <a:t>¬</a:t>
            </a:r>
            <a:r>
              <a:rPr lang="en-US" sz="2000" i="1" dirty="0"/>
              <a:t>q  </a:t>
            </a:r>
            <a:r>
              <a:rPr lang="en-US" sz="2000" dirty="0"/>
              <a:t>are logically equivalent.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     Solution: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		 ¬(</a:t>
            </a:r>
            <a:r>
              <a:rPr lang="en-US" sz="2000" i="1" dirty="0"/>
              <a:t>p</a:t>
            </a:r>
            <a:r>
              <a:rPr lang="en-US" sz="2000" dirty="0"/>
              <a:t> → </a:t>
            </a:r>
            <a:r>
              <a:rPr lang="en-US" sz="2000" i="1" dirty="0"/>
              <a:t>q</a:t>
            </a:r>
            <a:r>
              <a:rPr lang="en-US" sz="2000" dirty="0"/>
              <a:t> ) </a:t>
            </a:r>
            <a:r>
              <a:rPr lang="en-US" sz="2000" dirty="0">
                <a:cs typeface="Arial" charset="0"/>
              </a:rPr>
              <a:t>≡ </a:t>
            </a:r>
            <a:r>
              <a:rPr lang="en-US" sz="2000" dirty="0"/>
              <a:t>¬(¬</a:t>
            </a:r>
            <a:r>
              <a:rPr lang="en-US" sz="2000" i="1" dirty="0"/>
              <a:t>p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			</a:t>
            </a:r>
            <a:r>
              <a:rPr lang="en-US" sz="2000" dirty="0">
                <a:cs typeface="Arial" charset="0"/>
              </a:rPr>
              <a:t>    ≡  </a:t>
            </a:r>
            <a:r>
              <a:rPr lang="en-US" sz="2000" dirty="0"/>
              <a:t>¬(¬</a:t>
            </a:r>
            <a:r>
              <a:rPr lang="en-US" sz="2000" i="1" dirty="0"/>
              <a:t>p</a:t>
            </a:r>
            <a:r>
              <a:rPr lang="en-US" sz="2000" dirty="0"/>
              <a:t>) </a:t>
            </a:r>
            <a:r>
              <a:rPr lang="el-GR" sz="1600" dirty="0"/>
              <a:t>Λ</a:t>
            </a:r>
            <a:r>
              <a:rPr lang="en-US" sz="1600" dirty="0"/>
              <a:t> </a:t>
            </a:r>
            <a:r>
              <a:rPr lang="en-US" sz="2000" dirty="0"/>
              <a:t>¬</a:t>
            </a:r>
            <a:r>
              <a:rPr lang="en-US" sz="2000" i="1" dirty="0"/>
              <a:t>q 		            De Morgan’s law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i="1" dirty="0"/>
              <a:t>			    </a:t>
            </a:r>
            <a:r>
              <a:rPr lang="en-US" sz="2000" dirty="0">
                <a:cs typeface="Arial" charset="0"/>
              </a:rPr>
              <a:t>≡  </a:t>
            </a:r>
            <a:r>
              <a:rPr lang="en-US" sz="2000" i="1" dirty="0"/>
              <a:t>p</a:t>
            </a:r>
            <a:r>
              <a:rPr lang="en-US" sz="1600" dirty="0"/>
              <a:t> </a:t>
            </a:r>
            <a:r>
              <a:rPr lang="el-GR" sz="1600" dirty="0"/>
              <a:t>Λ</a:t>
            </a:r>
            <a:r>
              <a:rPr lang="en-US" sz="1600" dirty="0"/>
              <a:t> </a:t>
            </a:r>
            <a:r>
              <a:rPr lang="en-US" sz="2000" dirty="0"/>
              <a:t>¬</a:t>
            </a:r>
            <a:r>
              <a:rPr lang="en-US" sz="2000" i="1" dirty="0"/>
              <a:t>q 		           Double negation law</a:t>
            </a:r>
          </a:p>
          <a:p>
            <a:pPr eaLnBrk="1" hangingPunct="1"/>
            <a:endParaRPr lang="en-US" sz="2000" i="1" dirty="0"/>
          </a:p>
          <a:p>
            <a:pPr eaLnBrk="1" hangingPunct="1"/>
            <a:r>
              <a:rPr lang="en-US" sz="2000" i="1" dirty="0"/>
              <a:t>Example: Show that (p</a:t>
            </a:r>
            <a:r>
              <a:rPr lang="en-US" sz="1600" dirty="0"/>
              <a:t> </a:t>
            </a:r>
            <a:r>
              <a:rPr lang="el-GR" sz="1600" dirty="0"/>
              <a:t>Λ</a:t>
            </a:r>
            <a:r>
              <a:rPr lang="en-US" sz="1600" dirty="0"/>
              <a:t> </a:t>
            </a:r>
            <a:r>
              <a:rPr lang="en-US" sz="2000" i="1" dirty="0"/>
              <a:t>q)</a:t>
            </a:r>
            <a:r>
              <a:rPr lang="en-US" sz="2000" dirty="0"/>
              <a:t> → (</a:t>
            </a:r>
            <a:r>
              <a:rPr lang="en-US" sz="2000" i="1" dirty="0"/>
              <a:t>p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is a tautology.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	Solution: To show that this statement is a tautology, we will use logical equivalences to demonstrate that it is logically equivalent to T.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	</a:t>
            </a:r>
            <a:r>
              <a:rPr lang="en-US" sz="2000" i="1" dirty="0"/>
              <a:t>(p</a:t>
            </a:r>
            <a:r>
              <a:rPr lang="en-US" sz="1600" dirty="0"/>
              <a:t> </a:t>
            </a:r>
            <a:r>
              <a:rPr lang="el-GR" sz="1600" dirty="0"/>
              <a:t>Λ</a:t>
            </a:r>
            <a:r>
              <a:rPr lang="en-US" sz="1600" dirty="0"/>
              <a:t> </a:t>
            </a:r>
            <a:r>
              <a:rPr lang="en-US" sz="2000" i="1" dirty="0"/>
              <a:t>q)</a:t>
            </a:r>
            <a:r>
              <a:rPr lang="en-US" sz="2000" dirty="0"/>
              <a:t> → (</a:t>
            </a:r>
            <a:r>
              <a:rPr lang="en-US" sz="2000" i="1" dirty="0"/>
              <a:t>p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</a:t>
            </a:r>
            <a:r>
              <a:rPr lang="en-US" sz="2000" dirty="0">
                <a:cs typeface="Arial" charset="0"/>
              </a:rPr>
              <a:t>≡ </a:t>
            </a:r>
            <a:r>
              <a:rPr lang="en-US" sz="2000" dirty="0"/>
              <a:t>¬</a:t>
            </a:r>
            <a:r>
              <a:rPr lang="en-US" sz="2000" dirty="0">
                <a:cs typeface="Arial" charset="0"/>
              </a:rPr>
              <a:t>(</a:t>
            </a:r>
            <a:r>
              <a:rPr lang="en-US" sz="2000" i="1" dirty="0"/>
              <a:t>p</a:t>
            </a:r>
            <a:r>
              <a:rPr lang="en-US" sz="1600" dirty="0"/>
              <a:t> </a:t>
            </a:r>
            <a:r>
              <a:rPr lang="el-GR" sz="1600" dirty="0"/>
              <a:t>Λ</a:t>
            </a:r>
            <a:r>
              <a:rPr lang="en-US" sz="1600" dirty="0"/>
              <a:t> </a:t>
            </a:r>
            <a:r>
              <a:rPr lang="en-US" sz="2000" i="1" dirty="0"/>
              <a:t>q) </a:t>
            </a:r>
            <a:r>
              <a:rPr lang="el-GR" sz="2000" dirty="0"/>
              <a:t>ν</a:t>
            </a:r>
            <a:r>
              <a:rPr lang="en-US" sz="2000" dirty="0"/>
              <a:t> (</a:t>
            </a:r>
            <a:r>
              <a:rPr lang="en-US" sz="2000" i="1" dirty="0"/>
              <a:t>p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 			      </a:t>
            </a:r>
            <a:r>
              <a:rPr lang="en-US" sz="2000" dirty="0">
                <a:cs typeface="Arial" charset="0"/>
              </a:rPr>
              <a:t>≡ (</a:t>
            </a:r>
            <a:r>
              <a:rPr lang="en-US" sz="2000" dirty="0"/>
              <a:t>¬</a:t>
            </a:r>
            <a:r>
              <a:rPr lang="en-US" sz="2000" i="1" dirty="0"/>
              <a:t> p</a:t>
            </a:r>
            <a:r>
              <a:rPr lang="en-US" sz="1600" dirty="0"/>
              <a:t> </a:t>
            </a:r>
            <a:r>
              <a:rPr lang="el-GR" sz="2000" dirty="0"/>
              <a:t>ν</a:t>
            </a:r>
            <a:r>
              <a:rPr lang="el-GR" sz="1600" dirty="0"/>
              <a:t> </a:t>
            </a:r>
            <a:r>
              <a:rPr lang="en-US" sz="2000" dirty="0"/>
              <a:t>¬</a:t>
            </a:r>
            <a:r>
              <a:rPr lang="en-US" sz="2000" i="1" dirty="0"/>
              <a:t>q) </a:t>
            </a:r>
            <a:r>
              <a:rPr lang="el-GR" sz="2000" dirty="0"/>
              <a:t>ν</a:t>
            </a:r>
            <a:r>
              <a:rPr lang="en-US" sz="2000" dirty="0"/>
              <a:t> (</a:t>
            </a:r>
            <a:r>
              <a:rPr lang="en-US" sz="2000" i="1" dirty="0"/>
              <a:t>p</a:t>
            </a:r>
            <a:r>
              <a:rPr lang="en-US" sz="2000" dirty="0"/>
              <a:t> </a:t>
            </a:r>
            <a:r>
              <a:rPr lang="el-GR" sz="2000" dirty="0"/>
              <a:t>ν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  </a:t>
            </a:r>
            <a:r>
              <a:rPr lang="en-US" sz="2000" i="1" dirty="0"/>
              <a:t>         De Morgan’s law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			      </a:t>
            </a:r>
            <a:r>
              <a:rPr lang="en-US" sz="2000" dirty="0">
                <a:cs typeface="Arial" charset="0"/>
              </a:rPr>
              <a:t>≡ (</a:t>
            </a:r>
            <a:r>
              <a:rPr lang="en-US" sz="2000" dirty="0"/>
              <a:t>¬</a:t>
            </a:r>
            <a:r>
              <a:rPr lang="en-US" sz="2000" i="1" dirty="0"/>
              <a:t> p</a:t>
            </a:r>
            <a:r>
              <a:rPr lang="en-US" sz="2000" dirty="0"/>
              <a:t> </a:t>
            </a:r>
            <a:r>
              <a:rPr lang="el-GR" sz="2000" dirty="0"/>
              <a:t>ν </a:t>
            </a:r>
            <a:r>
              <a:rPr lang="en-US" sz="2000" i="1" dirty="0"/>
              <a:t>p) </a:t>
            </a:r>
            <a:r>
              <a:rPr lang="el-GR" sz="2000" dirty="0"/>
              <a:t>ν</a:t>
            </a:r>
            <a:r>
              <a:rPr lang="en-US" sz="2000" dirty="0"/>
              <a:t> </a:t>
            </a:r>
            <a:r>
              <a:rPr lang="en-US" sz="2000" dirty="0">
                <a:cs typeface="Arial" charset="0"/>
              </a:rPr>
              <a:t>(</a:t>
            </a:r>
            <a:r>
              <a:rPr lang="en-US" sz="2000" dirty="0"/>
              <a:t>¬</a:t>
            </a:r>
            <a:r>
              <a:rPr lang="en-US" sz="2000" i="1" dirty="0"/>
              <a:t> q</a:t>
            </a:r>
            <a:r>
              <a:rPr lang="en-US" sz="2000" dirty="0"/>
              <a:t> </a:t>
            </a:r>
            <a:r>
              <a:rPr lang="el-GR" sz="2000" dirty="0"/>
              <a:t>ν </a:t>
            </a:r>
            <a:r>
              <a:rPr lang="en-US" sz="2000" i="1" dirty="0"/>
              <a:t>q)           Associative and  Commutative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i="1" dirty="0"/>
              <a:t>                                                                                    law </a:t>
            </a: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			      </a:t>
            </a:r>
            <a:r>
              <a:rPr lang="en-US" sz="2000" dirty="0">
                <a:cs typeface="Arial" charset="0"/>
              </a:rPr>
              <a:t>≡ T</a:t>
            </a:r>
            <a:r>
              <a:rPr lang="el-GR" sz="2000" dirty="0"/>
              <a:t> ν</a:t>
            </a:r>
            <a:r>
              <a:rPr lang="en-US" sz="2000" dirty="0">
                <a:cs typeface="Arial" charset="0"/>
              </a:rPr>
              <a:t> T		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>
                <a:cs typeface="Arial" charset="0"/>
              </a:rPr>
              <a:t>			      ≡ T</a:t>
            </a:r>
            <a:endParaRPr lang="en-US" sz="2000" dirty="0"/>
          </a:p>
        </p:txBody>
      </p:sp>
      <p:sp>
        <p:nvSpPr>
          <p:cNvPr id="2560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FDDB22-FA2F-4551-A595-9A2092D8D960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25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256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256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1000"/>
                                        <p:tgtEl>
                                          <p:spTgt spid="256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1000"/>
                                        <p:tgtEl>
                                          <p:spTgt spid="256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1000"/>
                                        <p:tgtEl>
                                          <p:spTgt spid="256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1000"/>
                                        <p:tgtEl>
                                          <p:spTgt spid="256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1000"/>
                                        <p:tgtEl>
                                          <p:spTgt spid="256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Text Box 11"/>
          <p:cNvSpPr txBox="1">
            <a:spLocks noChangeArrowheads="1"/>
          </p:cNvSpPr>
          <p:nvPr/>
        </p:nvSpPr>
        <p:spPr bwMode="auto">
          <a:xfrm>
            <a:off x="457200" y="685800"/>
            <a:ext cx="8458200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Prove Absorption Laws</a:t>
            </a:r>
            <a:endParaRPr lang="en-US" sz="280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tx1"/>
                </a:solidFill>
                <a:effectLst/>
                <a:latin typeface="+mn-lt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 (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 </a:t>
            </a:r>
            <a:r>
              <a:rPr lang="en-US" i="1" dirty="0">
                <a:solidFill>
                  <a:schemeClr val="tx1"/>
                </a:solidFill>
                <a:effectLst/>
                <a:latin typeface="+mn-lt"/>
              </a:rPr>
              <a:t>q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) 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endParaRPr lang="en-US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 (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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q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) 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endParaRPr lang="en-US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en-US" sz="2800" dirty="0">
                <a:solidFill>
                  <a:schemeClr val="tx1"/>
                </a:solidFill>
                <a:effectLst/>
                <a:latin typeface="+mn-lt"/>
              </a:rPr>
              <a:t>Proof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    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 (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 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q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)       (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 T)  (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 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q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)		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		         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 (T 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q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)			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		         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 T			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		          </a:t>
            </a:r>
            <a:r>
              <a:rPr lang="en-US" i="1" dirty="0">
                <a:solidFill>
                  <a:prstClr val="black"/>
                </a:solidFill>
                <a:effectLst/>
                <a:latin typeface="Constantia"/>
              </a:rPr>
              <a:t>p </a:t>
            </a:r>
            <a:r>
              <a:rPr lang="en-US" dirty="0"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			</a:t>
            </a:r>
            <a:r>
              <a:rPr lang="en-US" dirty="0">
                <a:sym typeface="Symbol" pitchFamily="18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9568</TotalTime>
  <Words>1631</Words>
  <Application>Microsoft Office PowerPoint</Application>
  <PresentationFormat>On-screen Show (4:3)</PresentationFormat>
  <Paragraphs>443</Paragraphs>
  <Slides>32</Slides>
  <Notes>0</Notes>
  <HiddenSlides>0</HiddenSlides>
  <MMClips>0</MMClips>
  <ScaleCrop>false</ScaleCrop>
  <HeadingPairs>
    <vt:vector size="10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  <vt:variant>
        <vt:lpstr>Custom Shows</vt:lpstr>
      </vt:variant>
      <vt:variant>
        <vt:i4>1</vt:i4>
      </vt:variant>
    </vt:vector>
  </HeadingPairs>
  <TitlesOfParts>
    <vt:vector size="43" baseType="lpstr">
      <vt:lpstr>Arial</vt:lpstr>
      <vt:lpstr>Calibri</vt:lpstr>
      <vt:lpstr>Comic Sans MS</vt:lpstr>
      <vt:lpstr>Constantia</vt:lpstr>
      <vt:lpstr>Symbol</vt:lpstr>
      <vt:lpstr>Times New Roman</vt:lpstr>
      <vt:lpstr>Wingdings</vt:lpstr>
      <vt:lpstr>Wingdings 2</vt:lpstr>
      <vt:lpstr>Flow</vt:lpstr>
      <vt:lpstr>Equation</vt:lpstr>
      <vt:lpstr>Chapter 1: The Foundations: Logic, Sets and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OPERATORS (CONNECTIVES)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Equivalences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Pomplun</dc:creator>
  <cp:lastModifiedBy>Dr Asif Raza Khan</cp:lastModifiedBy>
  <cp:revision>196</cp:revision>
  <dcterms:created xsi:type="dcterms:W3CDTF">2001-02-24T00:16:35Z</dcterms:created>
  <dcterms:modified xsi:type="dcterms:W3CDTF">2017-02-09T10:11:42Z</dcterms:modified>
</cp:coreProperties>
</file>